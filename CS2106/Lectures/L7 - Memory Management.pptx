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2"/>
  </p:notesMasterIdLst>
  <p:sldIdLst>
    <p:sldId id="256" r:id="rId2"/>
    <p:sldId id="257" r:id="rId3"/>
    <p:sldId id="344" r:id="rId4"/>
    <p:sldId id="346" r:id="rId5"/>
    <p:sldId id="345" r:id="rId6"/>
    <p:sldId id="347" r:id="rId7"/>
    <p:sldId id="348" r:id="rId8"/>
    <p:sldId id="349" r:id="rId9"/>
    <p:sldId id="350" r:id="rId10"/>
    <p:sldId id="386" r:id="rId11"/>
    <p:sldId id="351" r:id="rId12"/>
    <p:sldId id="353" r:id="rId13"/>
    <p:sldId id="355" r:id="rId14"/>
    <p:sldId id="357" r:id="rId15"/>
    <p:sldId id="358" r:id="rId16"/>
    <p:sldId id="359" r:id="rId17"/>
    <p:sldId id="387" r:id="rId18"/>
    <p:sldId id="361" r:id="rId19"/>
    <p:sldId id="362" r:id="rId20"/>
    <p:sldId id="354" r:id="rId21"/>
    <p:sldId id="363" r:id="rId22"/>
    <p:sldId id="364" r:id="rId23"/>
    <p:sldId id="366" r:id="rId24"/>
    <p:sldId id="367" r:id="rId25"/>
    <p:sldId id="368" r:id="rId26"/>
    <p:sldId id="365" r:id="rId27"/>
    <p:sldId id="369" r:id="rId28"/>
    <p:sldId id="370" r:id="rId29"/>
    <p:sldId id="371" r:id="rId30"/>
    <p:sldId id="373" r:id="rId31"/>
    <p:sldId id="372" r:id="rId32"/>
    <p:sldId id="374" r:id="rId33"/>
    <p:sldId id="375" r:id="rId34"/>
    <p:sldId id="380" r:id="rId35"/>
    <p:sldId id="381" r:id="rId36"/>
    <p:sldId id="382" r:id="rId37"/>
    <p:sldId id="383" r:id="rId38"/>
    <p:sldId id="384" r:id="rId39"/>
    <p:sldId id="385" r:id="rId40"/>
    <p:sldId id="258" r:id="rId4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3300"/>
    <a:srgbClr val="FFFFCC"/>
    <a:srgbClr val="000000"/>
    <a:srgbClr val="0033CC"/>
    <a:srgbClr val="00CCFF"/>
    <a:srgbClr val="FF9900"/>
    <a:srgbClr val="008000"/>
    <a:srgbClr val="33CC33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72"/>
  </p:normalViewPr>
  <p:slideViewPr>
    <p:cSldViewPr>
      <p:cViewPr varScale="1">
        <p:scale>
          <a:sx n="65" d="100"/>
          <a:sy n="65" d="100"/>
        </p:scale>
        <p:origin x="957" y="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>
        <a:xfrm>
          <a:off x="411480" y="2909"/>
          <a:ext cx="5760720" cy="64944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Memory Abstraction</a:t>
          </a:r>
          <a:endParaRPr lang="en-SG" i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83BFCB57-C366-44E3-B365-883B15D97E80}">
      <dgm:prSet phldrT="[Text]"/>
      <dgm:spPr>
        <a:xfrm>
          <a:off x="0" y="4412865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20423033"/>
              <a:satOff val="-23986"/>
              <a:lumOff val="9216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Use of secondary storage as an extended memory region</a:t>
          </a:r>
        </a:p>
      </dgm:t>
    </dgm:pt>
    <dgm:pt modelId="{A9D7315B-10E0-4498-93FF-7BA17AD5EC32}">
      <dgm:prSet phldrT="[Text]"/>
      <dgm:spPr>
        <a:xfrm>
          <a:off x="411480" y="4088144"/>
          <a:ext cx="5760720" cy="649440"/>
        </a:xfrm>
        <a:prstGeom prst="roundRect">
          <a:avLst/>
        </a:prstGeom>
        <a:solidFill>
          <a:srgbClr val="956251">
            <a:hueOff val="20423033"/>
            <a:satOff val="-23986"/>
            <a:lumOff val="921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Virtual Memory Management</a:t>
          </a:r>
        </a:p>
      </dgm:t>
    </dgm:pt>
    <dgm:pt modelId="{629E6291-5915-48D4-84DA-D2564F76CE1A}" type="sibTrans" cxnId="{57C1FBAB-1562-476A-9D0A-63DE039CDB64}">
      <dgm:prSet/>
      <dgm:spPr/>
      <dgm:t>
        <a:bodyPr/>
        <a:lstStyle/>
        <a:p>
          <a:endParaRPr lang="en-SG"/>
        </a:p>
      </dgm:t>
    </dgm:pt>
    <dgm:pt modelId="{5BD0B889-081C-4127-A4B1-0ECA06158BD4}" type="parTrans" cxnId="{57C1FBAB-1562-476A-9D0A-63DE039CDB64}">
      <dgm:prSet/>
      <dgm:spPr/>
      <dgm:t>
        <a:bodyPr/>
        <a:lstStyle/>
        <a:p>
          <a:endParaRPr lang="en-SG"/>
        </a:p>
      </dgm:t>
    </dgm:pt>
    <dgm:pt modelId="{CEABAEEF-63EA-4619-B998-D444AEBDAC97}" type="sibTrans" cxnId="{A0B4D926-D3B4-4DCD-A583-4A098BDC2C24}">
      <dgm:prSet/>
      <dgm:spPr/>
      <dgm:t>
        <a:bodyPr/>
        <a:lstStyle/>
        <a:p>
          <a:endParaRPr lang="en-SG"/>
        </a:p>
      </dgm:t>
    </dgm:pt>
    <dgm:pt modelId="{4838A1BB-7700-446B-BF50-5FA0C967DF62}" type="parTrans" cxnId="{A0B4D926-D3B4-4DCD-A583-4A098BDC2C24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>
        <a:xfrm>
          <a:off x="0" y="3051120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and managing memory in disjoint areas </a:t>
          </a:r>
        </a:p>
      </dgm:t>
    </dgm:pt>
    <dgm:pt modelId="{EF4B8792-D5EF-485A-8EE2-1935F7CF0D5E}">
      <dgm:prSet phldrT="[Text]"/>
      <dgm:spPr>
        <a:xfrm>
          <a:off x="411480" y="2726399"/>
          <a:ext cx="5760720" cy="64944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Disjoint Memory Allocation</a:t>
          </a:r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>
        <a:xfrm>
          <a:off x="0" y="1689374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 and managing continuous chunk of memory</a:t>
          </a:r>
        </a:p>
      </dgm:t>
    </dgm:pt>
    <dgm:pt modelId="{19DC1100-A47E-4304-88BE-A5CACB459841}">
      <dgm:prSet phldrT="[Text]"/>
      <dgm:spPr>
        <a:xfrm>
          <a:off x="411480" y="1364654"/>
          <a:ext cx="5760720" cy="64944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Contiguous Memory Allocation</a:t>
          </a:r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>
        <a:xfrm>
          <a:off x="0" y="327629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Presenting a logical interface for memory accesses</a:t>
          </a:r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4"/>
      <dgm:spPr/>
    </dgm:pt>
    <dgm:pt modelId="{A0F1045D-1404-448F-A99E-5A525546E0A0}" type="pres">
      <dgm:prSet presAssocID="{847970C8-E53C-4B4F-BDE3-D67933E28B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4">
        <dgm:presLayoutVars>
          <dgm:bulletEnabled val="1"/>
        </dgm:presLayoutVars>
      </dgm:prSet>
      <dgm:spPr/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4"/>
      <dgm:spPr/>
    </dgm:pt>
    <dgm:pt modelId="{5F21E593-7E76-4519-9E50-0F90DEFA97F1}" type="pres">
      <dgm:prSet presAssocID="{19DC1100-A47E-4304-88BE-A5CACB4598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4">
        <dgm:presLayoutVars>
          <dgm:bulletEnabled val="1"/>
        </dgm:presLayoutVars>
      </dgm:prSet>
      <dgm:spPr/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4"/>
      <dgm:spPr/>
    </dgm:pt>
    <dgm:pt modelId="{9A6DF595-0921-4B96-89D8-7C40037CDB5A}" type="pres">
      <dgm:prSet presAssocID="{EF4B8792-D5EF-485A-8EE2-1935F7CF0D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4">
        <dgm:presLayoutVars>
          <dgm:bulletEnabled val="1"/>
        </dgm:presLayoutVars>
      </dgm:prSet>
      <dgm:spPr/>
    </dgm:pt>
    <dgm:pt modelId="{5081CA64-A45F-4916-B02B-9B2865237E03}" type="pres">
      <dgm:prSet presAssocID="{59622511-87E2-4056-982C-B62CFAD4A894}" presName="spaceBetweenRectangles" presStyleCnt="0"/>
      <dgm:spPr/>
    </dgm:pt>
    <dgm:pt modelId="{F20BF198-CC47-4D8A-9F63-AC800671345B}" type="pres">
      <dgm:prSet presAssocID="{A9D7315B-10E0-4498-93FF-7BA17AD5EC32}" presName="parentLin" presStyleCnt="0"/>
      <dgm:spPr/>
    </dgm:pt>
    <dgm:pt modelId="{4F067A41-7A59-45F7-B6B1-CEDCBF9A44E1}" type="pres">
      <dgm:prSet presAssocID="{A9D7315B-10E0-4498-93FF-7BA17AD5EC32}" presName="parentLeftMargin" presStyleLbl="node1" presStyleIdx="2" presStyleCnt="4"/>
      <dgm:spPr/>
    </dgm:pt>
    <dgm:pt modelId="{F6A65EFE-1807-4F2C-894E-605C3C8AC652}" type="pres">
      <dgm:prSet presAssocID="{A9D7315B-10E0-4498-93FF-7BA17AD5EC3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2A5C7C6-5E58-4264-9B43-0BAA55FB148C}" type="pres">
      <dgm:prSet presAssocID="{A9D7315B-10E0-4498-93FF-7BA17AD5EC32}" presName="negativeSpace" presStyleCnt="0"/>
      <dgm:spPr/>
    </dgm:pt>
    <dgm:pt modelId="{BA67F212-3F26-4FE0-B59D-98A3840EC922}" type="pres">
      <dgm:prSet presAssocID="{A9D7315B-10E0-4498-93FF-7BA17AD5EC3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DB4960A-7FE3-47CA-B2D3-EEBF06CE90DD}" type="presOf" srcId="{A9D7315B-10E0-4498-93FF-7BA17AD5EC32}" destId="{F6A65EFE-1807-4F2C-894E-605C3C8AC652}" srcOrd="1" destOrd="0" presId="urn:microsoft.com/office/officeart/2005/8/layout/list1"/>
    <dgm:cxn modelId="{85811314-70F3-4812-A5D4-D600ADA38B5E}" type="presOf" srcId="{83BFCB57-C366-44E3-B365-883B15D97E80}" destId="{BA67F212-3F26-4FE0-B59D-98A3840EC922}" srcOrd="0" destOrd="0" presId="urn:microsoft.com/office/officeart/2005/8/layout/list1"/>
    <dgm:cxn modelId="{B24B4D17-EF21-47A3-AD12-2B8FE3CA11A1}" type="presOf" srcId="{5043C3C8-A7DE-48BE-9BE5-92701A01077B}" destId="{9452430F-0D41-48E6-9EFF-D0BD9AF10AE5}" srcOrd="0" destOrd="0" presId="urn:microsoft.com/office/officeart/2005/8/layout/list1"/>
    <dgm:cxn modelId="{A0B4D926-D3B4-4DCD-A583-4A098BDC2C24}" srcId="{A9D7315B-10E0-4498-93FF-7BA17AD5EC32}" destId="{83BFCB57-C366-44E3-B365-883B15D97E80}" srcOrd="0" destOrd="0" parTransId="{4838A1BB-7700-446B-BF50-5FA0C967DF62}" sibTransId="{CEABAEEF-63EA-4619-B998-D444AEBDAC97}"/>
    <dgm:cxn modelId="{F8DEBF2B-897F-4482-BB18-7B642D313666}" type="presOf" srcId="{19DC1100-A47E-4304-88BE-A5CACB459841}" destId="{365DDBCD-6A59-4480-BDDD-74ED4A644E1F}" srcOrd="0" destOrd="0" presId="urn:microsoft.com/office/officeart/2005/8/layout/list1"/>
    <dgm:cxn modelId="{DB76B72E-8CD7-48CF-8C32-D6A04B6A6955}" type="presOf" srcId="{19DC1100-A47E-4304-88BE-A5CACB459841}" destId="{5F21E593-7E76-4519-9E50-0F90DEFA97F1}" srcOrd="1" destOrd="0" presId="urn:microsoft.com/office/officeart/2005/8/layout/list1"/>
    <dgm:cxn modelId="{CCE9C263-B5D4-41B8-90F7-610DB51B2D17}" type="presOf" srcId="{1FC04C6F-8784-40EB-853D-8978CEBD1172}" destId="{8762BDF2-D115-4DEA-80D9-B7EB6FE8ACA3}" srcOrd="0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297AA648-B6B9-4A23-8A82-52F31E150AC2}" type="presOf" srcId="{EF4B8792-D5EF-485A-8EE2-1935F7CF0D5E}" destId="{9A6DF595-0921-4B96-89D8-7C40037CDB5A}" srcOrd="1" destOrd="0" presId="urn:microsoft.com/office/officeart/2005/8/layout/list1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BC039A86-2DB0-405A-8722-FE77E664886A}" type="presOf" srcId="{847970C8-E53C-4B4F-BDE3-D67933E28B0C}" destId="{F2C4E387-D0C4-4D15-A5DB-6C2950D6552B}" srcOrd="0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9DF79892-7C05-40C0-93E2-A8CF2614C6B6}" type="presOf" srcId="{847970C8-E53C-4B4F-BDE3-D67933E28B0C}" destId="{A0F1045D-1404-448F-A99E-5A525546E0A0}" srcOrd="1" destOrd="0" presId="urn:microsoft.com/office/officeart/2005/8/layout/list1"/>
    <dgm:cxn modelId="{FBFE699B-8351-4B37-89FA-B2E69D4CBECD}" type="presOf" srcId="{41F1EDFC-F582-438B-B8E7-28751069B10F}" destId="{F8862E14-A98C-400C-98A6-DF9C25DE3A1D}" srcOrd="0" destOrd="0" presId="urn:microsoft.com/office/officeart/2005/8/layout/list1"/>
    <dgm:cxn modelId="{57C1FBAB-1562-476A-9D0A-63DE039CDB64}" srcId="{1FC04C6F-8784-40EB-853D-8978CEBD1172}" destId="{A9D7315B-10E0-4498-93FF-7BA17AD5EC32}" srcOrd="3" destOrd="0" parTransId="{5BD0B889-081C-4127-A4B1-0ECA06158BD4}" sibTransId="{629E6291-5915-48D4-84DA-D2564F76CE1A}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D30BBCB6-BBED-4B17-A182-54A70579F87E}" type="presOf" srcId="{BCF558FE-1165-405B-9AE0-862FCD667211}" destId="{76DFFF08-9C74-4D9A-B9A5-AFC5EBEC37F1}" srcOrd="0" destOrd="0" presId="urn:microsoft.com/office/officeart/2005/8/layout/list1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7F2EEED9-996E-4DB9-89F4-8E200B27F3C8}" type="presOf" srcId="{A9D7315B-10E0-4498-93FF-7BA17AD5EC32}" destId="{4F067A41-7A59-45F7-B6B1-CEDCBF9A44E1}" srcOrd="0" destOrd="0" presId="urn:microsoft.com/office/officeart/2005/8/layout/list1"/>
    <dgm:cxn modelId="{4063B7FF-FAC7-4062-90C4-CF78F38BA35A}" type="presOf" srcId="{EF4B8792-D5EF-485A-8EE2-1935F7CF0D5E}" destId="{F9A3B8BB-320B-43A5-8B55-882361E8B62A}" srcOrd="0" destOrd="0" presId="urn:microsoft.com/office/officeart/2005/8/layout/list1"/>
    <dgm:cxn modelId="{2BE4D11C-B8E2-4E5B-B361-BD9FCE6BCA6F}" type="presParOf" srcId="{8762BDF2-D115-4DEA-80D9-B7EB6FE8ACA3}" destId="{36326D2F-11A1-4EDB-BBF9-91F15A675029}" srcOrd="0" destOrd="0" presId="urn:microsoft.com/office/officeart/2005/8/layout/list1"/>
    <dgm:cxn modelId="{FE512FD0-EC18-4E1B-86DD-2A288F1CEA6F}" type="presParOf" srcId="{36326D2F-11A1-4EDB-BBF9-91F15A675029}" destId="{F2C4E387-D0C4-4D15-A5DB-6C2950D6552B}" srcOrd="0" destOrd="0" presId="urn:microsoft.com/office/officeart/2005/8/layout/list1"/>
    <dgm:cxn modelId="{1FDF9D08-FC07-4D33-8671-A5C0C80F6D31}" type="presParOf" srcId="{36326D2F-11A1-4EDB-BBF9-91F15A675029}" destId="{A0F1045D-1404-448F-A99E-5A525546E0A0}" srcOrd="1" destOrd="0" presId="urn:microsoft.com/office/officeart/2005/8/layout/list1"/>
    <dgm:cxn modelId="{53D0FB8B-F2FA-45AF-919E-BA724BBF34C4}" type="presParOf" srcId="{8762BDF2-D115-4DEA-80D9-B7EB6FE8ACA3}" destId="{A46106B0-1DDD-4A32-8A4A-B8BCD6C252D7}" srcOrd="1" destOrd="0" presId="urn:microsoft.com/office/officeart/2005/8/layout/list1"/>
    <dgm:cxn modelId="{5B78392D-E92A-4E56-B43D-26FFBFB88DD7}" type="presParOf" srcId="{8762BDF2-D115-4DEA-80D9-B7EB6FE8ACA3}" destId="{F8862E14-A98C-400C-98A6-DF9C25DE3A1D}" srcOrd="2" destOrd="0" presId="urn:microsoft.com/office/officeart/2005/8/layout/list1"/>
    <dgm:cxn modelId="{A654F0C0-ACA6-4085-AAC9-ED5334C0AD89}" type="presParOf" srcId="{8762BDF2-D115-4DEA-80D9-B7EB6FE8ACA3}" destId="{C1A842E3-2D5C-48B1-9B3A-0CF91061E0E8}" srcOrd="3" destOrd="0" presId="urn:microsoft.com/office/officeart/2005/8/layout/list1"/>
    <dgm:cxn modelId="{F9768816-F1A8-48B0-94C4-B6C91D8AFDBF}" type="presParOf" srcId="{8762BDF2-D115-4DEA-80D9-B7EB6FE8ACA3}" destId="{5AC5264A-BD87-4ADA-805A-CAD87053C504}" srcOrd="4" destOrd="0" presId="urn:microsoft.com/office/officeart/2005/8/layout/list1"/>
    <dgm:cxn modelId="{D7B7F1F5-06C7-43EC-A277-2A2A9064756E}" type="presParOf" srcId="{5AC5264A-BD87-4ADA-805A-CAD87053C504}" destId="{365DDBCD-6A59-4480-BDDD-74ED4A644E1F}" srcOrd="0" destOrd="0" presId="urn:microsoft.com/office/officeart/2005/8/layout/list1"/>
    <dgm:cxn modelId="{30C2FFFC-A780-48D7-A21D-5447DF7AA45F}" type="presParOf" srcId="{5AC5264A-BD87-4ADA-805A-CAD87053C504}" destId="{5F21E593-7E76-4519-9E50-0F90DEFA97F1}" srcOrd="1" destOrd="0" presId="urn:microsoft.com/office/officeart/2005/8/layout/list1"/>
    <dgm:cxn modelId="{9D8BE109-942F-4AAE-8BAE-175C01B8B911}" type="presParOf" srcId="{8762BDF2-D115-4DEA-80D9-B7EB6FE8ACA3}" destId="{C52FA751-86C5-407F-8C80-698997DA5D1E}" srcOrd="5" destOrd="0" presId="urn:microsoft.com/office/officeart/2005/8/layout/list1"/>
    <dgm:cxn modelId="{450533E9-B1AF-4A39-B353-10A0F329625F}" type="presParOf" srcId="{8762BDF2-D115-4DEA-80D9-B7EB6FE8ACA3}" destId="{9452430F-0D41-48E6-9EFF-D0BD9AF10AE5}" srcOrd="6" destOrd="0" presId="urn:microsoft.com/office/officeart/2005/8/layout/list1"/>
    <dgm:cxn modelId="{F4CD23A3-DBD8-4BA2-AA2A-857F10D77746}" type="presParOf" srcId="{8762BDF2-D115-4DEA-80D9-B7EB6FE8ACA3}" destId="{3788BD41-D0EE-4029-ADAB-6981B3F2E61A}" srcOrd="7" destOrd="0" presId="urn:microsoft.com/office/officeart/2005/8/layout/list1"/>
    <dgm:cxn modelId="{93DD03FD-9306-4B1E-9713-BC41AFEF46C2}" type="presParOf" srcId="{8762BDF2-D115-4DEA-80D9-B7EB6FE8ACA3}" destId="{64A41BB2-7EFA-4810-8102-ED601E93EA83}" srcOrd="8" destOrd="0" presId="urn:microsoft.com/office/officeart/2005/8/layout/list1"/>
    <dgm:cxn modelId="{FE669F3A-9781-4650-9447-E333D3BAF5F0}" type="presParOf" srcId="{64A41BB2-7EFA-4810-8102-ED601E93EA83}" destId="{F9A3B8BB-320B-43A5-8B55-882361E8B62A}" srcOrd="0" destOrd="0" presId="urn:microsoft.com/office/officeart/2005/8/layout/list1"/>
    <dgm:cxn modelId="{9D496191-4036-4F31-BCA4-54A8D8CAEEED}" type="presParOf" srcId="{64A41BB2-7EFA-4810-8102-ED601E93EA83}" destId="{9A6DF595-0921-4B96-89D8-7C40037CDB5A}" srcOrd="1" destOrd="0" presId="urn:microsoft.com/office/officeart/2005/8/layout/list1"/>
    <dgm:cxn modelId="{EA5B5213-758F-4293-BEB0-43B5A66CEA6D}" type="presParOf" srcId="{8762BDF2-D115-4DEA-80D9-B7EB6FE8ACA3}" destId="{F61EB1A3-3FF9-4005-91D4-E626EBCD91B5}" srcOrd="9" destOrd="0" presId="urn:microsoft.com/office/officeart/2005/8/layout/list1"/>
    <dgm:cxn modelId="{8816D11B-6CF0-4316-BDE4-2088D3C12C64}" type="presParOf" srcId="{8762BDF2-D115-4DEA-80D9-B7EB6FE8ACA3}" destId="{76DFFF08-9C74-4D9A-B9A5-AFC5EBEC37F1}" srcOrd="10" destOrd="0" presId="urn:microsoft.com/office/officeart/2005/8/layout/list1"/>
    <dgm:cxn modelId="{263AB4AF-BD12-4A4A-8356-6A45C311743F}" type="presParOf" srcId="{8762BDF2-D115-4DEA-80D9-B7EB6FE8ACA3}" destId="{5081CA64-A45F-4916-B02B-9B2865237E03}" srcOrd="11" destOrd="0" presId="urn:microsoft.com/office/officeart/2005/8/layout/list1"/>
    <dgm:cxn modelId="{50348DB2-B1BA-44DD-B187-01E5FAB96DDF}" type="presParOf" srcId="{8762BDF2-D115-4DEA-80D9-B7EB6FE8ACA3}" destId="{F20BF198-CC47-4D8A-9F63-AC800671345B}" srcOrd="12" destOrd="0" presId="urn:microsoft.com/office/officeart/2005/8/layout/list1"/>
    <dgm:cxn modelId="{F2914DEF-A82B-41EF-BCD6-236BA9F465FC}" type="presParOf" srcId="{F20BF198-CC47-4D8A-9F63-AC800671345B}" destId="{4F067A41-7A59-45F7-B6B1-CEDCBF9A44E1}" srcOrd="0" destOrd="0" presId="urn:microsoft.com/office/officeart/2005/8/layout/list1"/>
    <dgm:cxn modelId="{63D06EEA-EC77-43A8-8BA2-8565CAF54D50}" type="presParOf" srcId="{F20BF198-CC47-4D8A-9F63-AC800671345B}" destId="{F6A65EFE-1807-4F2C-894E-605C3C8AC652}" srcOrd="1" destOrd="0" presId="urn:microsoft.com/office/officeart/2005/8/layout/list1"/>
    <dgm:cxn modelId="{7FFA68FD-BF98-44AD-B5AA-E39CE6DEA722}" type="presParOf" srcId="{8762BDF2-D115-4DEA-80D9-B7EB6FE8ACA3}" destId="{12A5C7C6-5E58-4264-9B43-0BAA55FB148C}" srcOrd="13" destOrd="0" presId="urn:microsoft.com/office/officeart/2005/8/layout/list1"/>
    <dgm:cxn modelId="{E7DFBEFC-9333-41EB-AE22-CD1AF70FEE17}" type="presParOf" srcId="{8762BDF2-D115-4DEA-80D9-B7EB6FE8ACA3}" destId="{BA67F212-3F26-4FE0-B59D-98A3840EC92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331496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Presenting a logical interface for memory accesses</a:t>
          </a:r>
        </a:p>
      </dsp:txBody>
      <dsp:txXfrm>
        <a:off x="0" y="331496"/>
        <a:ext cx="8229600" cy="876487"/>
      </dsp:txXfrm>
    </dsp:sp>
    <dsp:sp modelId="{A0F1045D-1404-448F-A99E-5A525546E0A0}">
      <dsp:nvSpPr>
        <dsp:cNvPr id="0" name=""/>
        <dsp:cNvSpPr/>
      </dsp:nvSpPr>
      <dsp:spPr>
        <a:xfrm>
          <a:off x="411480" y="21536"/>
          <a:ext cx="5760719" cy="61992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Memory Abstraction</a:t>
          </a:r>
          <a:endParaRPr lang="en-SG" sz="2100" i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41742" y="51798"/>
        <a:ext cx="5700195" cy="559396"/>
      </dsp:txXfrm>
    </dsp:sp>
    <dsp:sp modelId="{9452430F-0D41-48E6-9EFF-D0BD9AF10AE5}">
      <dsp:nvSpPr>
        <dsp:cNvPr id="0" name=""/>
        <dsp:cNvSpPr/>
      </dsp:nvSpPr>
      <dsp:spPr>
        <a:xfrm>
          <a:off x="0" y="1631343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 and managing continuous chunk of memory</a:t>
          </a:r>
        </a:p>
      </dsp:txBody>
      <dsp:txXfrm>
        <a:off x="0" y="1631343"/>
        <a:ext cx="8229600" cy="876487"/>
      </dsp:txXfrm>
    </dsp:sp>
    <dsp:sp modelId="{5F21E593-7E76-4519-9E50-0F90DEFA97F1}">
      <dsp:nvSpPr>
        <dsp:cNvPr id="0" name=""/>
        <dsp:cNvSpPr/>
      </dsp:nvSpPr>
      <dsp:spPr>
        <a:xfrm>
          <a:off x="411480" y="1321383"/>
          <a:ext cx="5760719" cy="61992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Contiguous Memory Allocation</a:t>
          </a:r>
        </a:p>
      </dsp:txBody>
      <dsp:txXfrm>
        <a:off x="441742" y="1351645"/>
        <a:ext cx="5700195" cy="559396"/>
      </dsp:txXfrm>
    </dsp:sp>
    <dsp:sp modelId="{76DFFF08-9C74-4D9A-B9A5-AFC5EBEC37F1}">
      <dsp:nvSpPr>
        <dsp:cNvPr id="0" name=""/>
        <dsp:cNvSpPr/>
      </dsp:nvSpPr>
      <dsp:spPr>
        <a:xfrm>
          <a:off x="0" y="2931191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and managing memory in disjoint areas </a:t>
          </a:r>
        </a:p>
      </dsp:txBody>
      <dsp:txXfrm>
        <a:off x="0" y="2931191"/>
        <a:ext cx="8229600" cy="876487"/>
      </dsp:txXfrm>
    </dsp:sp>
    <dsp:sp modelId="{9A6DF595-0921-4B96-89D8-7C40037CDB5A}">
      <dsp:nvSpPr>
        <dsp:cNvPr id="0" name=""/>
        <dsp:cNvSpPr/>
      </dsp:nvSpPr>
      <dsp:spPr>
        <a:xfrm>
          <a:off x="411480" y="2621231"/>
          <a:ext cx="5760719" cy="61992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Disjoint Memory Allocation</a:t>
          </a:r>
        </a:p>
      </dsp:txBody>
      <dsp:txXfrm>
        <a:off x="441742" y="2651493"/>
        <a:ext cx="5700195" cy="559396"/>
      </dsp:txXfrm>
    </dsp:sp>
    <dsp:sp modelId="{BA67F212-3F26-4FE0-B59D-98A3840EC922}">
      <dsp:nvSpPr>
        <dsp:cNvPr id="0" name=""/>
        <dsp:cNvSpPr/>
      </dsp:nvSpPr>
      <dsp:spPr>
        <a:xfrm>
          <a:off x="0" y="4231038"/>
          <a:ext cx="8229600" cy="11576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20423033"/>
              <a:satOff val="-23986"/>
              <a:lumOff val="9216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Use of secondary storage as an extended memory region</a:t>
          </a:r>
        </a:p>
      </dsp:txBody>
      <dsp:txXfrm>
        <a:off x="0" y="4231038"/>
        <a:ext cx="8229600" cy="1157625"/>
      </dsp:txXfrm>
    </dsp:sp>
    <dsp:sp modelId="{F6A65EFE-1807-4F2C-894E-605C3C8AC652}">
      <dsp:nvSpPr>
        <dsp:cNvPr id="0" name=""/>
        <dsp:cNvSpPr/>
      </dsp:nvSpPr>
      <dsp:spPr>
        <a:xfrm>
          <a:off x="411480" y="3921078"/>
          <a:ext cx="5760719" cy="619920"/>
        </a:xfrm>
        <a:prstGeom prst="roundRect">
          <a:avLst/>
        </a:prstGeom>
        <a:solidFill>
          <a:srgbClr val="956251">
            <a:hueOff val="20423033"/>
            <a:satOff val="-23986"/>
            <a:lumOff val="921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Virtual Memory Management</a:t>
          </a:r>
        </a:p>
      </dsp:txBody>
      <dsp:txXfrm>
        <a:off x="441742" y="3951340"/>
        <a:ext cx="5700195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94" y="4560086"/>
            <a:ext cx="5852814" cy="432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531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0D2EB8-47C9-4BA0-80B0-A23C3FAF4CD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2187" cy="3600450"/>
          </a:xfrm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</p:spPr>
        <p:txBody>
          <a:bodyPr/>
          <a:lstStyle/>
          <a:p>
            <a:r>
              <a:rPr lang="en-US" altLang="en-US" dirty="0"/>
              <a:t>https://gist.github.com/jboner/2841832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226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</a:t>
            </a:r>
            <a:r>
              <a:rPr lang="en-US" baseline="0" dirty="0"/>
              <a:t> change to overhead is more appropriate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082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L7 -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Memory Abstraction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31702-7D57-4614-8356-D803A2A5D27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Basic of Memory:</a:t>
            </a:r>
          </a:p>
          <a:p>
            <a:pPr lvl="1"/>
            <a:r>
              <a:rPr lang="en-US" altLang="en-US"/>
              <a:t>Hardware</a:t>
            </a:r>
          </a:p>
          <a:p>
            <a:pPr lvl="1"/>
            <a:r>
              <a:rPr lang="en-US" altLang="en-US"/>
              <a:t>Memory usage of process</a:t>
            </a:r>
          </a:p>
          <a:p>
            <a:pPr lvl="1"/>
            <a:r>
              <a:rPr lang="en-US" altLang="en-US"/>
              <a:t>Role of OS</a:t>
            </a:r>
          </a:p>
          <a:p>
            <a:r>
              <a:rPr lang="en-US" altLang="en-US"/>
              <a:t>Memory abstractions:</a:t>
            </a:r>
          </a:p>
          <a:p>
            <a:pPr lvl="1"/>
            <a:r>
              <a:rPr lang="en-US" altLang="en-US"/>
              <a:t>Physical address</a:t>
            </a:r>
          </a:p>
          <a:p>
            <a:pPr lvl="1"/>
            <a:r>
              <a:rPr lang="en-US" altLang="en-US"/>
              <a:t>Logical address</a:t>
            </a:r>
          </a:p>
          <a:p>
            <a:r>
              <a:rPr lang="en-US" altLang="en-US"/>
              <a:t>Contiguous Memory Allocation:</a:t>
            </a:r>
          </a:p>
          <a:p>
            <a:pPr lvl="1"/>
            <a:r>
              <a:rPr lang="en-US" altLang="en-US"/>
              <a:t>Fixed Size Partition</a:t>
            </a:r>
          </a:p>
          <a:p>
            <a:pPr lvl="1"/>
            <a:r>
              <a:rPr lang="en-US" altLang="en-US"/>
              <a:t>Variable Size Partition</a:t>
            </a:r>
          </a:p>
          <a:p>
            <a:pPr lvl="2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7FC7D-5100-4A72-BB7B-13D256171AA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Memory Hardware</a:t>
            </a:r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5410200" cy="5486400"/>
          </a:xfrm>
        </p:spPr>
        <p:txBody>
          <a:bodyPr/>
          <a:lstStyle/>
          <a:p>
            <a:r>
              <a:rPr lang="en-US" altLang="en-US" dirty="0"/>
              <a:t>Physical memory storage:</a:t>
            </a:r>
          </a:p>
          <a:p>
            <a:pPr lvl="1"/>
            <a:r>
              <a:rPr lang="en-US" altLang="en-US" dirty="0"/>
              <a:t>Random Access Memory (RAM) </a:t>
            </a:r>
          </a:p>
          <a:p>
            <a:pPr lvl="1"/>
            <a:r>
              <a:rPr lang="en-US" altLang="en-US" dirty="0"/>
              <a:t>Can be treated as an array of bytes</a:t>
            </a:r>
          </a:p>
          <a:p>
            <a:pPr lvl="1"/>
            <a:r>
              <a:rPr lang="en-US" altLang="en-US" dirty="0"/>
              <a:t>Each byte has a unique index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/>
              <a:t>physical address</a:t>
            </a:r>
          </a:p>
          <a:p>
            <a:pPr marL="671512" lvl="2" indent="0">
              <a:buNone/>
            </a:pPr>
            <a:endParaRPr lang="en-US" altLang="en-US" b="1" dirty="0"/>
          </a:p>
          <a:p>
            <a:r>
              <a:rPr lang="en-US" altLang="en-US" dirty="0"/>
              <a:t>A contiguous memory region:</a:t>
            </a:r>
          </a:p>
          <a:p>
            <a:pPr lvl="1"/>
            <a:r>
              <a:rPr lang="en-US" altLang="en-US" dirty="0"/>
              <a:t>An interval of consecutive addresses</a:t>
            </a:r>
          </a:p>
        </p:txBody>
      </p:sp>
      <p:grpSp>
        <p:nvGrpSpPr>
          <p:cNvPr id="710680" name="Group 24"/>
          <p:cNvGrpSpPr>
            <a:grpSpLocks/>
          </p:cNvGrpSpPr>
          <p:nvPr/>
        </p:nvGrpSpPr>
        <p:grpSpPr bwMode="auto">
          <a:xfrm>
            <a:off x="6172200" y="1676400"/>
            <a:ext cx="2743200" cy="4081463"/>
            <a:chOff x="3936" y="945"/>
            <a:chExt cx="1728" cy="2571"/>
          </a:xfrm>
        </p:grpSpPr>
        <p:grpSp>
          <p:nvGrpSpPr>
            <p:cNvPr id="710679" name="Group 23"/>
            <p:cNvGrpSpPr>
              <a:grpSpLocks/>
            </p:cNvGrpSpPr>
            <p:nvPr/>
          </p:nvGrpSpPr>
          <p:grpSpPr bwMode="auto">
            <a:xfrm>
              <a:off x="3936" y="945"/>
              <a:ext cx="793" cy="2571"/>
              <a:chOff x="3752" y="945"/>
              <a:chExt cx="977" cy="2571"/>
            </a:xfrm>
          </p:grpSpPr>
          <p:sp>
            <p:nvSpPr>
              <p:cNvPr id="710660" name="Rectangle 4"/>
              <p:cNvSpPr>
                <a:spLocks noChangeArrowheads="1"/>
              </p:cNvSpPr>
              <p:nvPr/>
            </p:nvSpPr>
            <p:spPr bwMode="auto">
              <a:xfrm>
                <a:off x="3752" y="945"/>
                <a:ext cx="977" cy="367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0663" name="Rectangle 7"/>
              <p:cNvSpPr>
                <a:spLocks noChangeArrowheads="1"/>
              </p:cNvSpPr>
              <p:nvPr/>
            </p:nvSpPr>
            <p:spPr bwMode="auto">
              <a:xfrm>
                <a:off x="3752" y="1651"/>
                <a:ext cx="977" cy="1498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0666" name="Rectangle 10"/>
              <p:cNvSpPr>
                <a:spLocks noChangeArrowheads="1"/>
              </p:cNvSpPr>
              <p:nvPr/>
            </p:nvSpPr>
            <p:spPr bwMode="auto">
              <a:xfrm>
                <a:off x="3752" y="3149"/>
                <a:ext cx="977" cy="367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710667" name="Text Box 11"/>
            <p:cNvSpPr txBox="1">
              <a:spLocks noChangeArrowheads="1"/>
            </p:cNvSpPr>
            <p:nvPr/>
          </p:nvSpPr>
          <p:spPr bwMode="auto">
            <a:xfrm>
              <a:off x="4752" y="3216"/>
              <a:ext cx="465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n-1</a:t>
              </a:r>
            </a:p>
          </p:txBody>
        </p:sp>
        <p:sp>
          <p:nvSpPr>
            <p:cNvPr id="710669" name="Text Box 13"/>
            <p:cNvSpPr txBox="1">
              <a:spLocks noChangeArrowheads="1"/>
            </p:cNvSpPr>
            <p:nvPr/>
          </p:nvSpPr>
          <p:spPr bwMode="auto">
            <a:xfrm>
              <a:off x="4752" y="2448"/>
              <a:ext cx="465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endParaRPr lang="en-US" altLang="en-US" sz="2000" b="1" dirty="0">
                <a:latin typeface="Courier New" pitchFamily="49" charset="0"/>
              </a:endParaRPr>
            </a:p>
          </p:txBody>
        </p:sp>
        <p:sp>
          <p:nvSpPr>
            <p:cNvPr id="710670" name="Text Box 14"/>
            <p:cNvSpPr txBox="1">
              <a:spLocks noChangeArrowheads="1"/>
            </p:cNvSpPr>
            <p:nvPr/>
          </p:nvSpPr>
          <p:spPr bwMode="auto">
            <a:xfrm>
              <a:off x="4752" y="1008"/>
              <a:ext cx="46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710671" name="Text Box 15"/>
            <p:cNvSpPr txBox="1">
              <a:spLocks noChangeArrowheads="1"/>
            </p:cNvSpPr>
            <p:nvPr/>
          </p:nvSpPr>
          <p:spPr bwMode="auto">
            <a:xfrm>
              <a:off x="4752" y="1344"/>
              <a:ext cx="48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710672" name="Text Box 16"/>
            <p:cNvSpPr txBox="1">
              <a:spLocks noChangeArrowheads="1"/>
            </p:cNvSpPr>
            <p:nvPr/>
          </p:nvSpPr>
          <p:spPr bwMode="auto">
            <a:xfrm>
              <a:off x="4752" y="1680"/>
              <a:ext cx="48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>
                  <a:latin typeface="Courier New" pitchFamily="49" charset="0"/>
                </a:rPr>
                <a:t>.</a:t>
              </a:r>
            </a:p>
          </p:txBody>
        </p:sp>
        <p:sp>
          <p:nvSpPr>
            <p:cNvPr id="710673" name="Text Box 17"/>
            <p:cNvSpPr txBox="1">
              <a:spLocks noChangeArrowheads="1"/>
            </p:cNvSpPr>
            <p:nvPr/>
          </p:nvSpPr>
          <p:spPr bwMode="auto">
            <a:xfrm>
              <a:off x="4752" y="2064"/>
              <a:ext cx="48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>
                  <a:latin typeface="Courier New" pitchFamily="49" charset="0"/>
                </a:rPr>
                <a:t>.</a:t>
              </a:r>
            </a:p>
          </p:txBody>
        </p:sp>
        <p:sp>
          <p:nvSpPr>
            <p:cNvPr id="710674" name="Text Box 18"/>
            <p:cNvSpPr txBox="1">
              <a:spLocks noChangeArrowheads="1"/>
            </p:cNvSpPr>
            <p:nvPr/>
          </p:nvSpPr>
          <p:spPr bwMode="auto">
            <a:xfrm>
              <a:off x="4944" y="1680"/>
              <a:ext cx="720" cy="4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/>
                <a:t>physical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sz="1600"/>
                <a:t>addresses</a:t>
              </a:r>
            </a:p>
          </p:txBody>
        </p:sp>
        <p:sp>
          <p:nvSpPr>
            <p:cNvPr id="710675" name="Line 19"/>
            <p:cNvSpPr>
              <a:spLocks noChangeShapeType="1"/>
            </p:cNvSpPr>
            <p:nvPr/>
          </p:nvSpPr>
          <p:spPr bwMode="auto">
            <a:xfrm>
              <a:off x="5040" y="96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6" name="Line 20"/>
            <p:cNvSpPr>
              <a:spLocks noChangeShapeType="1"/>
            </p:cNvSpPr>
            <p:nvPr/>
          </p:nvSpPr>
          <p:spPr bwMode="auto">
            <a:xfrm>
              <a:off x="5088" y="350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7" name="Line 21"/>
            <p:cNvSpPr>
              <a:spLocks noChangeShapeType="1"/>
            </p:cNvSpPr>
            <p:nvPr/>
          </p:nvSpPr>
          <p:spPr bwMode="auto">
            <a:xfrm>
              <a:off x="5280" y="960"/>
              <a:ext cx="0" cy="6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8" name="Line 22"/>
            <p:cNvSpPr>
              <a:spLocks noChangeShapeType="1"/>
            </p:cNvSpPr>
            <p:nvPr/>
          </p:nvSpPr>
          <p:spPr bwMode="auto">
            <a:xfrm>
              <a:off x="5280" y="2112"/>
              <a:ext cx="0" cy="13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6172200" y="2233613"/>
            <a:ext cx="1258888" cy="58261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Memory Hierarchy</a:t>
            </a:r>
          </a:p>
        </p:txBody>
      </p:sp>
      <p:sp>
        <p:nvSpPr>
          <p:cNvPr id="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BEDC6-D133-4D88-84D0-66F1EC94AE56}" type="slidenum">
              <a:rPr lang="en-US" altLang="en-US"/>
              <a:pPr/>
              <a:t>4</a:t>
            </a:fld>
            <a:endParaRPr lang="en-US" altLang="en-US"/>
          </a:p>
        </p:txBody>
      </p:sp>
      <p:pic>
        <p:nvPicPr>
          <p:cNvPr id="1026" name="Picture 2" descr="http://web.cs.ucla.edu/classes/winter13/cs111/scribe/15b/scribe/memor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05800" cy="487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95800" y="6521450"/>
            <a:ext cx="41148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Source: http://www.as.techdata.eu/uk/products_and_solutions/storage/hierarchy.html/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Memory Usage of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CE2A4-2E0B-4772-B106-C956F841DB7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" name="Right Bracket 5"/>
          <p:cNvSpPr/>
          <p:nvPr/>
        </p:nvSpPr>
        <p:spPr>
          <a:xfrm flipH="1">
            <a:off x="1905000" y="1557827"/>
            <a:ext cx="209550" cy="4538173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604366"/>
            <a:ext cx="1295400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7679" y="2838805"/>
            <a:ext cx="2743200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global variables)</a:t>
            </a:r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30142" y="1721086"/>
            <a:ext cx="2743200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Text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instructions)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286000" y="1559251"/>
            <a:ext cx="2667000" cy="12192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1200" b="1" dirty="0">
              <a:latin typeface="Courier New" pitchFamily="49" charset="0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286000" y="1557827"/>
            <a:ext cx="2667000" cy="4533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286000" y="2773466"/>
            <a:ext cx="2667000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86000" y="5101127"/>
            <a:ext cx="2667000" cy="990600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68185" y="5134951"/>
            <a:ext cx="2861415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Stack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(for function invocations)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15" name="Right Bracket 14"/>
          <p:cNvSpPr/>
          <p:nvPr/>
        </p:nvSpPr>
        <p:spPr>
          <a:xfrm>
            <a:off x="5193708" y="2763496"/>
            <a:ext cx="228600" cy="990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6" name="Right Bracket 15"/>
          <p:cNvSpPr/>
          <p:nvPr/>
        </p:nvSpPr>
        <p:spPr>
          <a:xfrm>
            <a:off x="5189079" y="1557827"/>
            <a:ext cx="228600" cy="1186441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7" name="Right Bracket 16"/>
          <p:cNvSpPr/>
          <p:nvPr/>
        </p:nvSpPr>
        <p:spPr>
          <a:xfrm>
            <a:off x="5139585" y="5063027"/>
            <a:ext cx="228600" cy="990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10200" y="3839551"/>
            <a:ext cx="2861415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Heap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(for dynamic allocation)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19" name="Right Bracket 18"/>
          <p:cNvSpPr/>
          <p:nvPr/>
        </p:nvSpPr>
        <p:spPr>
          <a:xfrm>
            <a:off x="5181600" y="3767627"/>
            <a:ext cx="228600" cy="7620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2286000" y="3767627"/>
            <a:ext cx="2667000" cy="7620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CB556-03EC-4135-B795-554D526CECE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Binding of Memory Address</a:t>
            </a:r>
          </a:p>
        </p:txBody>
      </p:sp>
      <p:grpSp>
        <p:nvGrpSpPr>
          <p:cNvPr id="715803" name="Group 27"/>
          <p:cNvGrpSpPr>
            <a:grpSpLocks/>
          </p:cNvGrpSpPr>
          <p:nvPr/>
        </p:nvGrpSpPr>
        <p:grpSpPr bwMode="auto">
          <a:xfrm>
            <a:off x="5105400" y="1219200"/>
            <a:ext cx="3429000" cy="3429000"/>
            <a:chOff x="1632" y="1248"/>
            <a:chExt cx="2160" cy="2160"/>
          </a:xfrm>
        </p:grpSpPr>
        <p:grpSp>
          <p:nvGrpSpPr>
            <p:cNvPr id="715785" name="Group 9"/>
            <p:cNvGrpSpPr>
              <a:grpSpLocks/>
            </p:cNvGrpSpPr>
            <p:nvPr/>
          </p:nvGrpSpPr>
          <p:grpSpPr bwMode="auto">
            <a:xfrm>
              <a:off x="1824" y="1968"/>
              <a:ext cx="1968" cy="1440"/>
              <a:chOff x="2016" y="1968"/>
              <a:chExt cx="1968" cy="1440"/>
            </a:xfrm>
          </p:grpSpPr>
          <p:sp>
            <p:nvSpPr>
              <p:cNvPr id="715781" name="Rectangle 5"/>
              <p:cNvSpPr>
                <a:spLocks noChangeArrowheads="1"/>
              </p:cNvSpPr>
              <p:nvPr/>
            </p:nvSpPr>
            <p:spPr bwMode="auto">
              <a:xfrm>
                <a:off x="2496" y="2688"/>
                <a:ext cx="1488" cy="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call inc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715782" name="Text Box 6"/>
              <p:cNvSpPr txBox="1">
                <a:spLocks noChangeArrowheads="1"/>
              </p:cNvSpPr>
              <p:nvPr/>
            </p:nvSpPr>
            <p:spPr bwMode="auto">
              <a:xfrm>
                <a:off x="2016" y="26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Courier New" pitchFamily="49" charset="0"/>
                  </a:rPr>
                  <a:t>main()</a:t>
                </a:r>
              </a:p>
            </p:txBody>
          </p:sp>
          <p:sp>
            <p:nvSpPr>
              <p:cNvPr id="715783" name="Rectangle 7"/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1488" cy="7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lw</a:t>
                </a:r>
                <a:r>
                  <a:rPr lang="en-US" altLang="en-US" sz="1600" b="1" dirty="0">
                    <a:latin typeface="Courier New" pitchFamily="49" charset="0"/>
                  </a:rPr>
                  <a:t>    $1, [4096]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addi</a:t>
                </a:r>
                <a:r>
                  <a:rPr lang="en-US" altLang="en-US" sz="1600" b="1" dirty="0">
                    <a:latin typeface="Courier New" pitchFamily="49" charset="0"/>
                  </a:rPr>
                  <a:t>  $1, $1, 20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sw</a:t>
                </a:r>
                <a:r>
                  <a:rPr lang="en-US" altLang="en-US" sz="1600" b="1" dirty="0">
                    <a:latin typeface="Courier New" pitchFamily="49" charset="0"/>
                  </a:rPr>
                  <a:t>    $1, [4096]</a:t>
                </a:r>
              </a:p>
              <a:p>
                <a:r>
                  <a:rPr lang="en-US" altLang="en-US" sz="16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715784" name="Text Box 8"/>
              <p:cNvSpPr txBox="1">
                <a:spLocks noChangeArrowheads="1"/>
              </p:cNvSpPr>
              <p:nvPr/>
            </p:nvSpPr>
            <p:spPr bwMode="auto">
              <a:xfrm>
                <a:off x="2064" y="196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Courier New" pitchFamily="49" charset="0"/>
                  </a:rPr>
                  <a:t>inc()</a:t>
                </a:r>
              </a:p>
            </p:txBody>
          </p:sp>
        </p:grpSp>
        <p:sp>
          <p:nvSpPr>
            <p:cNvPr id="715791" name="Rectangle 15"/>
            <p:cNvSpPr>
              <a:spLocks noChangeArrowheads="1"/>
            </p:cNvSpPr>
            <p:nvPr/>
          </p:nvSpPr>
          <p:spPr bwMode="auto">
            <a:xfrm>
              <a:off x="2304" y="1248"/>
              <a:ext cx="1488" cy="7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715802" name="Text Box 26"/>
            <p:cNvSpPr txBox="1">
              <a:spLocks noChangeArrowheads="1"/>
            </p:cNvSpPr>
            <p:nvPr/>
          </p:nvSpPr>
          <p:spPr bwMode="auto">
            <a:xfrm>
              <a:off x="1632" y="1488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1600" b="1" dirty="0" err="1">
                  <a:latin typeface="Courier New" pitchFamily="49" charset="0"/>
                </a:rPr>
                <a:t>i</a:t>
              </a:r>
              <a:endParaRPr lang="en-US" altLang="en-US" sz="1600" b="1" dirty="0">
                <a:latin typeface="Courier New" pitchFamily="49" charset="0"/>
              </a:endParaRPr>
            </a:p>
          </p:txBody>
        </p:sp>
      </p:grpSp>
      <p:grpSp>
        <p:nvGrpSpPr>
          <p:cNvPr id="715824" name="Group 48"/>
          <p:cNvGrpSpPr>
            <a:grpSpLocks/>
          </p:cNvGrpSpPr>
          <p:nvPr/>
        </p:nvGrpSpPr>
        <p:grpSpPr bwMode="auto">
          <a:xfrm>
            <a:off x="381000" y="990600"/>
            <a:ext cx="2743200" cy="4114800"/>
            <a:chOff x="240" y="672"/>
            <a:chExt cx="1728" cy="2592"/>
          </a:xfrm>
        </p:grpSpPr>
        <p:sp>
          <p:nvSpPr>
            <p:cNvPr id="715780" name="Text Box 4"/>
            <p:cNvSpPr txBox="1">
              <a:spLocks noChangeArrowheads="1"/>
            </p:cNvSpPr>
            <p:nvPr/>
          </p:nvSpPr>
          <p:spPr bwMode="auto">
            <a:xfrm>
              <a:off x="240" y="672"/>
              <a:ext cx="1728" cy="232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b="1" dirty="0" err="1">
                  <a:latin typeface="Courier New" pitchFamily="49" charset="0"/>
                </a:rPr>
                <a:t>int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= 0;</a:t>
              </a:r>
            </a:p>
            <a:p>
              <a:pPr eaLnBrk="0" hangingPunct="0"/>
              <a:endParaRPr lang="en-US" altLang="en-US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void </a:t>
              </a:r>
              <a:r>
                <a:rPr lang="en-US" altLang="en-US" b="1" dirty="0" err="1">
                  <a:latin typeface="Courier New" pitchFamily="49" charset="0"/>
                </a:rPr>
                <a:t>inc</a:t>
              </a:r>
              <a:r>
                <a:rPr lang="en-US" altLang="en-US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=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+ 20;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}</a:t>
              </a:r>
            </a:p>
            <a:p>
              <a:pPr eaLnBrk="0" hangingPunct="0"/>
              <a:endParaRPr lang="en-US" altLang="en-US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b="1" dirty="0" err="1">
                  <a:latin typeface="Courier New" pitchFamily="49" charset="0"/>
                </a:rPr>
                <a:t>int</a:t>
              </a:r>
              <a:r>
                <a:rPr lang="en-US" altLang="en-US" b="1" dirty="0">
                  <a:latin typeface="Courier New" pitchFamily="49" charset="0"/>
                </a:rPr>
                <a:t> main()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</a:t>
              </a:r>
              <a:r>
                <a:rPr lang="en-US" altLang="en-US" b="1" dirty="0" err="1">
                  <a:latin typeface="Courier New" pitchFamily="49" charset="0"/>
                </a:rPr>
                <a:t>inc</a:t>
              </a:r>
              <a:r>
                <a:rPr lang="en-US" altLang="en-US" b="1" dirty="0">
                  <a:latin typeface="Courier New" pitchFamily="49" charset="0"/>
                </a:rPr>
                <a:t>();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...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...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715815" name="Rectangle 39"/>
            <p:cNvSpPr>
              <a:spLocks noChangeArrowheads="1"/>
            </p:cNvSpPr>
            <p:nvPr/>
          </p:nvSpPr>
          <p:spPr bwMode="auto">
            <a:xfrm>
              <a:off x="384" y="2976"/>
              <a:ext cx="1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Source Code</a:t>
              </a:r>
            </a:p>
          </p:txBody>
        </p:sp>
      </p:grpSp>
      <p:grpSp>
        <p:nvGrpSpPr>
          <p:cNvPr id="715819" name="Group 43"/>
          <p:cNvGrpSpPr>
            <a:grpSpLocks/>
          </p:cNvGrpSpPr>
          <p:nvPr/>
        </p:nvGrpSpPr>
        <p:grpSpPr bwMode="auto">
          <a:xfrm>
            <a:off x="3276600" y="2590800"/>
            <a:ext cx="2133600" cy="762000"/>
            <a:chOff x="2064" y="1632"/>
            <a:chExt cx="1152" cy="480"/>
          </a:xfrm>
        </p:grpSpPr>
        <p:sp>
          <p:nvSpPr>
            <p:cNvPr id="715817" name="AutoShape 41"/>
            <p:cNvSpPr>
              <a:spLocks noChangeArrowheads="1"/>
            </p:cNvSpPr>
            <p:nvPr/>
          </p:nvSpPr>
          <p:spPr bwMode="auto">
            <a:xfrm>
              <a:off x="2064" y="1632"/>
              <a:ext cx="1152" cy="480"/>
            </a:xfrm>
            <a:prstGeom prst="rightArrow">
              <a:avLst>
                <a:gd name="adj1" fmla="val 50000"/>
                <a:gd name="adj2" fmla="val 60000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15818" name="Rectangle 42"/>
            <p:cNvSpPr>
              <a:spLocks noChangeArrowheads="1"/>
            </p:cNvSpPr>
            <p:nvPr/>
          </p:nvSpPr>
          <p:spPr bwMode="auto">
            <a:xfrm>
              <a:off x="2160" y="1776"/>
              <a:ext cx="768" cy="192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Compile</a:t>
              </a:r>
            </a:p>
          </p:txBody>
        </p:sp>
      </p:grpSp>
      <p:sp>
        <p:nvSpPr>
          <p:cNvPr id="715822" name="Rectangle 46"/>
          <p:cNvSpPr>
            <a:spLocks noChangeArrowheads="1"/>
          </p:cNvSpPr>
          <p:nvPr/>
        </p:nvSpPr>
        <p:spPr bwMode="auto">
          <a:xfrm>
            <a:off x="6400800" y="4648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Executable</a:t>
            </a:r>
          </a:p>
        </p:txBody>
      </p:sp>
      <p:sp>
        <p:nvSpPr>
          <p:cNvPr id="715825" name="Text Box 49"/>
          <p:cNvSpPr txBox="1">
            <a:spLocks noChangeArrowheads="1"/>
          </p:cNvSpPr>
          <p:nvPr/>
        </p:nvSpPr>
        <p:spPr bwMode="auto">
          <a:xfrm>
            <a:off x="3467100" y="3162300"/>
            <a:ext cx="129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by Compiler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257800"/>
            <a:ext cx="8229600" cy="1219200"/>
          </a:xfrm>
        </p:spPr>
        <p:txBody>
          <a:bodyPr>
            <a:normAutofit fontScale="92500"/>
          </a:bodyPr>
          <a:lstStyle/>
          <a:p>
            <a:r>
              <a:rPr lang="en-SG" dirty="0"/>
              <a:t>Executable typically contains:</a:t>
            </a:r>
          </a:p>
          <a:p>
            <a:pPr lvl="1"/>
            <a:r>
              <a:rPr lang="en-SG" dirty="0"/>
              <a:t>Code (for text region), Data layout (for data region)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0B558D-707D-4CA5-8959-0FA0F65720B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Actual Execution </a:t>
            </a:r>
          </a:p>
        </p:txBody>
      </p:sp>
      <p:sp>
        <p:nvSpPr>
          <p:cNvPr id="717838" name="Rectangle 14"/>
          <p:cNvSpPr>
            <a:spLocks noChangeArrowheads="1"/>
          </p:cNvSpPr>
          <p:nvPr/>
        </p:nvSpPr>
        <p:spPr bwMode="auto">
          <a:xfrm>
            <a:off x="5518150" y="3569290"/>
            <a:ext cx="23622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600" b="1">
                <a:latin typeface="Courier New" pitchFamily="49" charset="0"/>
              </a:rPr>
              <a:t>...</a:t>
            </a:r>
          </a:p>
          <a:p>
            <a:r>
              <a:rPr lang="en-US" altLang="en-US" sz="1600" b="1">
                <a:latin typeface="Courier New" pitchFamily="49" charset="0"/>
              </a:rPr>
              <a:t>0</a:t>
            </a:r>
          </a:p>
          <a:p>
            <a:r>
              <a:rPr lang="en-US" altLang="en-US" sz="1600" b="1">
                <a:latin typeface="Courier New" pitchFamily="49" charset="0"/>
              </a:rPr>
              <a:t>...</a:t>
            </a:r>
          </a:p>
        </p:txBody>
      </p:sp>
      <p:sp>
        <p:nvSpPr>
          <p:cNvPr id="717839" name="Rectangle 15"/>
          <p:cNvSpPr>
            <a:spLocks noChangeArrowheads="1"/>
          </p:cNvSpPr>
          <p:nvPr/>
        </p:nvSpPr>
        <p:spPr bwMode="auto">
          <a:xfrm>
            <a:off x="5518150" y="5245690"/>
            <a:ext cx="2362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600" b="1" dirty="0">
                <a:latin typeface="Courier New" pitchFamily="49" charset="0"/>
              </a:rPr>
              <a:t>main() stack frame</a:t>
            </a:r>
          </a:p>
        </p:txBody>
      </p:sp>
      <p:sp>
        <p:nvSpPr>
          <p:cNvPr id="717840" name="Rectangle 16"/>
          <p:cNvSpPr>
            <a:spLocks noChangeArrowheads="1"/>
          </p:cNvSpPr>
          <p:nvPr/>
        </p:nvSpPr>
        <p:spPr bwMode="auto">
          <a:xfrm>
            <a:off x="5518150" y="4864690"/>
            <a:ext cx="2362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600" b="1" dirty="0" err="1">
                <a:latin typeface="Courier New" pitchFamily="49" charset="0"/>
              </a:rPr>
              <a:t>inc</a:t>
            </a:r>
            <a:r>
              <a:rPr lang="en-US" altLang="en-US" sz="1600" b="1" dirty="0">
                <a:latin typeface="Courier New" pitchFamily="49" charset="0"/>
              </a:rPr>
              <a:t>() stack frame</a:t>
            </a:r>
          </a:p>
        </p:txBody>
      </p:sp>
      <p:sp>
        <p:nvSpPr>
          <p:cNvPr id="717841" name="Rectangle 17"/>
          <p:cNvSpPr>
            <a:spLocks noChangeArrowheads="1"/>
          </p:cNvSpPr>
          <p:nvPr/>
        </p:nvSpPr>
        <p:spPr bwMode="auto">
          <a:xfrm>
            <a:off x="5518150" y="4331290"/>
            <a:ext cx="2362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i="1" dirty="0">
                <a:latin typeface="Courier New" pitchFamily="49" charset="0"/>
              </a:rPr>
              <a:t>...free memory...</a:t>
            </a:r>
          </a:p>
        </p:txBody>
      </p:sp>
      <p:sp>
        <p:nvSpPr>
          <p:cNvPr id="717843" name="Rectangle 19"/>
          <p:cNvSpPr>
            <a:spLocks noChangeArrowheads="1"/>
          </p:cNvSpPr>
          <p:nvPr/>
        </p:nvSpPr>
        <p:spPr bwMode="auto">
          <a:xfrm>
            <a:off x="5518150" y="5638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Main Memory</a:t>
            </a:r>
          </a:p>
        </p:txBody>
      </p:sp>
      <p:grpSp>
        <p:nvGrpSpPr>
          <p:cNvPr id="717849" name="Group 25"/>
          <p:cNvGrpSpPr>
            <a:grpSpLocks/>
          </p:cNvGrpSpPr>
          <p:nvPr/>
        </p:nvGrpSpPr>
        <p:grpSpPr bwMode="auto">
          <a:xfrm>
            <a:off x="2971800" y="2819400"/>
            <a:ext cx="2133600" cy="762000"/>
            <a:chOff x="2256" y="1920"/>
            <a:chExt cx="1248" cy="480"/>
          </a:xfrm>
        </p:grpSpPr>
        <p:sp>
          <p:nvSpPr>
            <p:cNvPr id="717847" name="AutoShape 23"/>
            <p:cNvSpPr>
              <a:spLocks noChangeArrowheads="1"/>
            </p:cNvSpPr>
            <p:nvPr/>
          </p:nvSpPr>
          <p:spPr bwMode="auto">
            <a:xfrm>
              <a:off x="2256" y="1920"/>
              <a:ext cx="1248" cy="480"/>
            </a:xfrm>
            <a:prstGeom prst="rightArrow">
              <a:avLst>
                <a:gd name="adj1" fmla="val 50000"/>
                <a:gd name="adj2" fmla="val 65000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17848" name="Rectangle 24"/>
            <p:cNvSpPr>
              <a:spLocks noChangeArrowheads="1"/>
            </p:cNvSpPr>
            <p:nvPr/>
          </p:nvSpPr>
          <p:spPr bwMode="auto">
            <a:xfrm>
              <a:off x="2304" y="2064"/>
              <a:ext cx="960" cy="192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Load and Run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058876" y="3581400"/>
            <a:ext cx="1002574" cy="768350"/>
            <a:chOff x="8001000" y="2584450"/>
            <a:chExt cx="1002574" cy="768350"/>
          </a:xfrm>
        </p:grpSpPr>
        <p:sp>
          <p:nvSpPr>
            <p:cNvPr id="717852" name="AutoShape 28"/>
            <p:cNvSpPr>
              <a:spLocks/>
            </p:cNvSpPr>
            <p:nvPr/>
          </p:nvSpPr>
          <p:spPr bwMode="auto">
            <a:xfrm>
              <a:off x="8001000" y="2584450"/>
              <a:ext cx="228600" cy="768350"/>
            </a:xfrm>
            <a:prstGeom prst="rightBrace">
              <a:avLst>
                <a:gd name="adj1" fmla="val 72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17854" name="Text Box 30"/>
            <p:cNvSpPr txBox="1">
              <a:spLocks noChangeArrowheads="1"/>
            </p:cNvSpPr>
            <p:nvPr/>
          </p:nvSpPr>
          <p:spPr bwMode="auto">
            <a:xfrm>
              <a:off x="8241574" y="2756285"/>
              <a:ext cx="762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/>
                <a:t>data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058876" y="1279865"/>
            <a:ext cx="1018359" cy="2286000"/>
            <a:chOff x="8001000" y="3352800"/>
            <a:chExt cx="1018359" cy="2286000"/>
          </a:xfrm>
        </p:grpSpPr>
        <p:sp>
          <p:nvSpPr>
            <p:cNvPr id="717853" name="AutoShape 29"/>
            <p:cNvSpPr>
              <a:spLocks/>
            </p:cNvSpPr>
            <p:nvPr/>
          </p:nvSpPr>
          <p:spPr bwMode="auto">
            <a:xfrm>
              <a:off x="8001000" y="3352800"/>
              <a:ext cx="228600" cy="2286000"/>
            </a:xfrm>
            <a:prstGeom prst="rightBrace">
              <a:avLst>
                <a:gd name="adj1" fmla="val 8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17855" name="Text Box 31"/>
            <p:cNvSpPr txBox="1">
              <a:spLocks noChangeArrowheads="1"/>
            </p:cNvSpPr>
            <p:nvPr/>
          </p:nvSpPr>
          <p:spPr bwMode="auto">
            <a:xfrm>
              <a:off x="8257359" y="4279900"/>
              <a:ext cx="762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/>
                <a:t>code</a:t>
              </a:r>
            </a:p>
          </p:txBody>
        </p:sp>
      </p:grpSp>
      <p:sp>
        <p:nvSpPr>
          <p:cNvPr id="717856" name="Text Box 32"/>
          <p:cNvSpPr txBox="1">
            <a:spLocks noChangeArrowheads="1"/>
          </p:cNvSpPr>
          <p:nvPr/>
        </p:nvSpPr>
        <p:spPr bwMode="auto">
          <a:xfrm>
            <a:off x="3352800" y="3657600"/>
            <a:ext cx="12954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by Operating System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571500" y="1638300"/>
            <a:ext cx="3429000" cy="3886200"/>
            <a:chOff x="-557349" y="1371600"/>
            <a:chExt cx="3429000" cy="3886200"/>
          </a:xfrm>
        </p:grpSpPr>
        <p:grpSp>
          <p:nvGrpSpPr>
            <p:cNvPr id="28" name="Group 27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29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32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3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34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5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31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36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181600" y="1140165"/>
            <a:ext cx="2698750" cy="2425700"/>
            <a:chOff x="5302704" y="2826657"/>
            <a:chExt cx="2698750" cy="2425700"/>
          </a:xfrm>
        </p:grpSpPr>
        <p:sp>
          <p:nvSpPr>
            <p:cNvPr id="40" name="Rectangle 5"/>
            <p:cNvSpPr>
              <a:spLocks noChangeArrowheads="1"/>
            </p:cNvSpPr>
            <p:nvPr/>
          </p:nvSpPr>
          <p:spPr bwMode="auto">
            <a:xfrm>
              <a:off x="5639254" y="4109357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call inc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41" name="Text Box 6"/>
            <p:cNvSpPr txBox="1">
              <a:spLocks noChangeArrowheads="1"/>
            </p:cNvSpPr>
            <p:nvPr/>
          </p:nvSpPr>
          <p:spPr bwMode="auto">
            <a:xfrm rot="16200000">
              <a:off x="4953454" y="4366532"/>
              <a:ext cx="1066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main()</a:t>
              </a: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5639254" y="2966357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[4096]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[4096]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auto">
            <a:xfrm rot="16200000">
              <a:off x="4937579" y="3191782"/>
              <a:ext cx="1066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Courier New" pitchFamily="49" charset="0"/>
                </a:rPr>
                <a:t>inc()</a:t>
              </a:r>
            </a:p>
          </p:txBody>
        </p:sp>
      </p:grpSp>
      <p:sp>
        <p:nvSpPr>
          <p:cNvPr id="45" name="Text Box 26"/>
          <p:cNvSpPr txBox="1">
            <a:spLocks noChangeArrowheads="1"/>
          </p:cNvSpPr>
          <p:nvPr/>
        </p:nvSpPr>
        <p:spPr bwMode="auto">
          <a:xfrm>
            <a:off x="4445363" y="3820115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en-US" sz="1600" b="1" dirty="0" err="1">
                <a:latin typeface="Courier New" pitchFamily="49" charset="0"/>
              </a:rPr>
              <a:t>i</a:t>
            </a:r>
            <a:endParaRPr lang="en-US" altLang="en-US" sz="1600" b="1" dirty="0">
              <a:latin typeface="Courier New" pitchFamily="49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8090989" y="4844960"/>
            <a:ext cx="1053010" cy="768350"/>
            <a:chOff x="8001000" y="2584450"/>
            <a:chExt cx="1053010" cy="768350"/>
          </a:xfrm>
        </p:grpSpPr>
        <p:sp>
          <p:nvSpPr>
            <p:cNvPr id="47" name="AutoShape 28"/>
            <p:cNvSpPr>
              <a:spLocks/>
            </p:cNvSpPr>
            <p:nvPr/>
          </p:nvSpPr>
          <p:spPr bwMode="auto">
            <a:xfrm>
              <a:off x="8001000" y="2584450"/>
              <a:ext cx="228600" cy="768350"/>
            </a:xfrm>
            <a:prstGeom prst="rightBrace">
              <a:avLst>
                <a:gd name="adj1" fmla="val 72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8" name="Text Box 30"/>
            <p:cNvSpPr txBox="1">
              <a:spLocks noChangeArrowheads="1"/>
            </p:cNvSpPr>
            <p:nvPr/>
          </p:nvSpPr>
          <p:spPr bwMode="auto">
            <a:xfrm>
              <a:off x="8241573" y="2756285"/>
              <a:ext cx="81243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/>
                <a:t>stack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A9F8F-4FEB-4F17-B7E9-294EFB3D2FD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Memory Usage: </a:t>
            </a:r>
            <a:r>
              <a:rPr lang="en-US" altLang="en-US" sz="3800" b="1" dirty="0"/>
              <a:t>Summary</a:t>
            </a:r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Generally, two types of data in a process: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Transient</a:t>
            </a:r>
            <a:r>
              <a:rPr lang="en-US" altLang="en-US" dirty="0"/>
              <a:t> Data:</a:t>
            </a:r>
            <a:endParaRPr lang="en-US" altLang="en-US" b="1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Valid only for a limited duration, e.g. during function call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e.g. parameter, local variable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/>
              <a:t>Persistent</a:t>
            </a:r>
            <a:r>
              <a:rPr lang="en-US" altLang="en-US" dirty="0"/>
              <a:t> Data:</a:t>
            </a:r>
            <a:endParaRPr lang="en-US" altLang="en-US" b="1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Valid for the duration of the program unless explicitly removed (if applicable)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e.g. global variable, constant variable, dynamically allocated memory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Both types of data sections can grow/shrink during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23A17-9E11-4070-80C6-CBB8D18D62A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Operating System: </a:t>
            </a:r>
            <a:r>
              <a:rPr lang="en-US" altLang="en-US" sz="3800" b="1" dirty="0"/>
              <a:t>Managing Memory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OS handles the following memory related tasks:</a:t>
            </a:r>
          </a:p>
          <a:p>
            <a:pPr lvl="1"/>
            <a:r>
              <a:rPr lang="en-US" altLang="en-US" dirty="0"/>
              <a:t>Allocate memory space to new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Manage memory space for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Protect memory space of process from each other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Provides memory related system calls to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Manage memory space for internal use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151721952"/>
              </p:ext>
            </p:extLst>
          </p:nvPr>
        </p:nvGraphicFramePr>
        <p:xfrm>
          <a:off x="381000" y="1066800"/>
          <a:ext cx="8229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3015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Memory Abstraction</a:t>
            </a:r>
          </a:p>
        </p:txBody>
      </p:sp>
      <p:sp>
        <p:nvSpPr>
          <p:cNvPr id="7219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You have to be logical!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B0F15-4B4F-4B6A-A1AF-4BFB58B0C11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Without Memory Abstraction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Suppose a process directly uses physical address:</a:t>
            </a:r>
          </a:p>
          <a:p>
            <a:pPr lvl="1"/>
            <a:r>
              <a:rPr lang="en-US" altLang="en-US" dirty="0"/>
              <a:t>i.e. no memory abstraction 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Using the example code, let us check:</a:t>
            </a:r>
          </a:p>
          <a:p>
            <a:pPr lvl="1"/>
            <a:r>
              <a:rPr lang="en-US" altLang="en-US" dirty="0"/>
              <a:t>How to access memory locations in a process?</a:t>
            </a:r>
          </a:p>
          <a:p>
            <a:pPr lvl="1"/>
            <a:r>
              <a:rPr lang="en-US" altLang="en-US" dirty="0"/>
              <a:t>Can multiple process share the physical memory correctly?</a:t>
            </a:r>
          </a:p>
          <a:p>
            <a:pPr lvl="1"/>
            <a:r>
              <a:rPr lang="en-US" altLang="en-US" dirty="0"/>
              <a:t>Can the address space of a process be protected easily?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3200400" y="1143000"/>
            <a:ext cx="2362200" cy="1143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lw</a:t>
            </a:r>
            <a:r>
              <a:rPr lang="en-US" altLang="en-US" sz="1600" b="1" dirty="0">
                <a:latin typeface="Courier New" pitchFamily="49" charset="0"/>
              </a:rPr>
              <a:t>    $1, [4096]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addi</a:t>
            </a:r>
            <a:r>
              <a:rPr lang="en-US" altLang="en-US" sz="1600" b="1" dirty="0">
                <a:latin typeface="Courier New" pitchFamily="49" charset="0"/>
              </a:rPr>
              <a:t>  $1, $1, 20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sw</a:t>
            </a:r>
            <a:r>
              <a:rPr lang="en-US" altLang="en-US" sz="1600" b="1" dirty="0">
                <a:latin typeface="Courier New" pitchFamily="49" charset="0"/>
              </a:rPr>
              <a:t>    $1, [4096]</a:t>
            </a:r>
          </a:p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200400" y="2286000"/>
            <a:ext cx="23622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600" b="1">
                <a:latin typeface="Courier New" pitchFamily="49" charset="0"/>
              </a:rPr>
              <a:t>...</a:t>
            </a:r>
          </a:p>
          <a:p>
            <a:r>
              <a:rPr lang="en-US" altLang="en-US" sz="1600" b="1">
                <a:latin typeface="Courier New" pitchFamily="49" charset="0"/>
              </a:rPr>
              <a:t>0</a:t>
            </a:r>
          </a:p>
          <a:p>
            <a:r>
              <a:rPr lang="en-US" altLang="en-US" sz="1600" b="1">
                <a:latin typeface="Courier New" pitchFamily="49" charset="0"/>
              </a:rPr>
              <a:t>...</a:t>
            </a:r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50F6D-C4AB-4AE6-AF45-DEC808F19478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Without Memory Abstraction: </a:t>
            </a:r>
            <a:r>
              <a:rPr lang="en-US" altLang="en-US" sz="3800" b="1" dirty="0">
                <a:solidFill>
                  <a:srgbClr val="003300"/>
                </a:solidFill>
              </a:rPr>
              <a:t>Pros</a:t>
            </a:r>
          </a:p>
        </p:txBody>
      </p:sp>
      <p:sp>
        <p:nvSpPr>
          <p:cNvPr id="727051" name="Rectangle 11"/>
          <p:cNvSpPr>
            <a:spLocks noChangeArrowheads="1"/>
          </p:cNvSpPr>
          <p:nvPr/>
        </p:nvSpPr>
        <p:spPr bwMode="auto">
          <a:xfrm>
            <a:off x="3365863" y="3380014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Main Memory</a:t>
            </a:r>
          </a:p>
        </p:txBody>
      </p:sp>
      <p:sp>
        <p:nvSpPr>
          <p:cNvPr id="727053" name="Rectangle 13"/>
          <p:cNvSpPr>
            <a:spLocks noChangeArrowheads="1"/>
          </p:cNvSpPr>
          <p:nvPr/>
        </p:nvSpPr>
        <p:spPr bwMode="auto">
          <a:xfrm>
            <a:off x="2552700" y="2438400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</a:p>
        </p:txBody>
      </p:sp>
      <p:sp>
        <p:nvSpPr>
          <p:cNvPr id="727054" name="Rectangle 14"/>
          <p:cNvSpPr>
            <a:spLocks noChangeArrowheads="1"/>
          </p:cNvSpPr>
          <p:nvPr/>
        </p:nvSpPr>
        <p:spPr bwMode="auto">
          <a:xfrm>
            <a:off x="1990997" y="3238500"/>
            <a:ext cx="121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dirty="0"/>
              <a:t>physical address</a:t>
            </a:r>
          </a:p>
        </p:txBody>
      </p:sp>
      <p:sp>
        <p:nvSpPr>
          <p:cNvPr id="727055" name="Oval 15"/>
          <p:cNvSpPr>
            <a:spLocks noChangeArrowheads="1"/>
          </p:cNvSpPr>
          <p:nvPr/>
        </p:nvSpPr>
        <p:spPr bwMode="auto">
          <a:xfrm>
            <a:off x="4572000" y="1246687"/>
            <a:ext cx="6858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27056" name="Freeform 16"/>
          <p:cNvSpPr>
            <a:spLocks/>
          </p:cNvSpPr>
          <p:nvPr/>
        </p:nvSpPr>
        <p:spPr bwMode="auto">
          <a:xfrm flipV="1">
            <a:off x="2388326" y="1447800"/>
            <a:ext cx="2145574" cy="1128713"/>
          </a:xfrm>
          <a:custGeom>
            <a:avLst/>
            <a:gdLst>
              <a:gd name="T0" fmla="*/ 928 w 928"/>
              <a:gd name="T1" fmla="*/ 480 h 480"/>
              <a:gd name="T2" fmla="*/ 112 w 928"/>
              <a:gd name="T3" fmla="*/ 336 h 480"/>
              <a:gd name="T4" fmla="*/ 256 w 928"/>
              <a:gd name="T5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28" h="480">
                <a:moveTo>
                  <a:pt x="928" y="480"/>
                </a:moveTo>
                <a:cubicBezTo>
                  <a:pt x="576" y="448"/>
                  <a:pt x="224" y="416"/>
                  <a:pt x="112" y="336"/>
                </a:cubicBezTo>
                <a:cubicBezTo>
                  <a:pt x="0" y="256"/>
                  <a:pt x="128" y="128"/>
                  <a:pt x="25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058" name="Freeform 18"/>
          <p:cNvSpPr>
            <a:spLocks/>
          </p:cNvSpPr>
          <p:nvPr/>
        </p:nvSpPr>
        <p:spPr bwMode="auto">
          <a:xfrm flipV="1">
            <a:off x="2381750" y="1933575"/>
            <a:ext cx="2145574" cy="642938"/>
          </a:xfrm>
          <a:custGeom>
            <a:avLst/>
            <a:gdLst>
              <a:gd name="T0" fmla="*/ 1078 w 1078"/>
              <a:gd name="T1" fmla="*/ 744 h 756"/>
              <a:gd name="T2" fmla="*/ 130 w 1078"/>
              <a:gd name="T3" fmla="*/ 632 h 756"/>
              <a:gd name="T4" fmla="*/ 300 w 1078"/>
              <a:gd name="T5" fmla="*/ 0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78" h="756">
                <a:moveTo>
                  <a:pt x="1078" y="744"/>
                </a:moveTo>
                <a:cubicBezTo>
                  <a:pt x="920" y="725"/>
                  <a:pt x="260" y="756"/>
                  <a:pt x="130" y="632"/>
                </a:cubicBezTo>
                <a:cubicBezTo>
                  <a:pt x="0" y="508"/>
                  <a:pt x="265" y="132"/>
                  <a:pt x="30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059" name="Text Box 19"/>
          <p:cNvSpPr txBox="1">
            <a:spLocks noChangeArrowheads="1"/>
          </p:cNvSpPr>
          <p:nvPr/>
        </p:nvSpPr>
        <p:spPr bwMode="auto">
          <a:xfrm>
            <a:off x="609600" y="1828800"/>
            <a:ext cx="1905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Address in program </a:t>
            </a:r>
            <a:r>
              <a:rPr lang="en-US" altLang="en-US" b="1"/>
              <a:t>== </a:t>
            </a:r>
            <a:r>
              <a:rPr lang="en-US" altLang="en-US"/>
              <a:t>actual physical address</a:t>
            </a:r>
          </a:p>
        </p:txBody>
      </p:sp>
      <p:sp>
        <p:nvSpPr>
          <p:cNvPr id="727060" name="AutoShape 20"/>
          <p:cNvSpPr>
            <a:spLocks/>
          </p:cNvSpPr>
          <p:nvPr/>
        </p:nvSpPr>
        <p:spPr bwMode="auto">
          <a:xfrm>
            <a:off x="5721577" y="1143000"/>
            <a:ext cx="228600" cy="1981200"/>
          </a:xfrm>
          <a:prstGeom prst="rightBrace">
            <a:avLst>
              <a:gd name="adj1" fmla="val 9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27061" name="Text Box 21"/>
          <p:cNvSpPr txBox="1">
            <a:spLocks noChangeArrowheads="1"/>
          </p:cNvSpPr>
          <p:nvPr/>
        </p:nvSpPr>
        <p:spPr bwMode="auto">
          <a:xfrm>
            <a:off x="6019800" y="22098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Process A</a:t>
            </a:r>
          </a:p>
        </p:txBody>
      </p:sp>
      <p:sp>
        <p:nvSpPr>
          <p:cNvPr id="727062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419100" y="4343400"/>
            <a:ext cx="8229600" cy="167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Memory access is straightforward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Address in program == Physical Address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No conversion/mapping is required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Address fixed during compilation time</a:t>
            </a:r>
          </a:p>
        </p:txBody>
      </p:sp>
      <p:sp>
        <p:nvSpPr>
          <p:cNvPr id="21" name="Oval 15"/>
          <p:cNvSpPr>
            <a:spLocks noChangeArrowheads="1"/>
          </p:cNvSpPr>
          <p:nvPr/>
        </p:nvSpPr>
        <p:spPr bwMode="auto">
          <a:xfrm>
            <a:off x="4533900" y="1790700"/>
            <a:ext cx="6858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84ED3-5632-4204-A0A3-6ABA9E94C9E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Without Memory Abstraction: </a:t>
            </a:r>
            <a:r>
              <a:rPr lang="en-US" altLang="en-US" sz="3800" b="1" dirty="0">
                <a:solidFill>
                  <a:schemeClr val="accent2"/>
                </a:solidFill>
              </a:rPr>
              <a:t>Cons</a:t>
            </a:r>
          </a:p>
        </p:txBody>
      </p:sp>
      <p:sp>
        <p:nvSpPr>
          <p:cNvPr id="730117" name="Rectangle 5"/>
          <p:cNvSpPr>
            <a:spLocks noChangeArrowheads="1"/>
          </p:cNvSpPr>
          <p:nvPr/>
        </p:nvSpPr>
        <p:spPr bwMode="auto">
          <a:xfrm>
            <a:off x="5181600" y="5751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Main Memory</a:t>
            </a:r>
          </a:p>
        </p:txBody>
      </p:sp>
      <p:sp>
        <p:nvSpPr>
          <p:cNvPr id="730118" name="Rectangle 6"/>
          <p:cNvSpPr>
            <a:spLocks noChangeArrowheads="1"/>
          </p:cNvSpPr>
          <p:nvPr/>
        </p:nvSpPr>
        <p:spPr bwMode="auto">
          <a:xfrm>
            <a:off x="4280263" y="1217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dirty="0"/>
              <a:t>0</a:t>
            </a:r>
          </a:p>
        </p:txBody>
      </p:sp>
      <p:sp>
        <p:nvSpPr>
          <p:cNvPr id="730120" name="Rectangle 8"/>
          <p:cNvSpPr>
            <a:spLocks noChangeArrowheads="1"/>
          </p:cNvSpPr>
          <p:nvPr/>
        </p:nvSpPr>
        <p:spPr bwMode="auto">
          <a:xfrm>
            <a:off x="3951236" y="5715000"/>
            <a:ext cx="124152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dirty="0"/>
              <a:t>physical address</a:t>
            </a:r>
          </a:p>
        </p:txBody>
      </p:sp>
      <p:sp>
        <p:nvSpPr>
          <p:cNvPr id="730128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3581400" cy="5257800"/>
          </a:xfrm>
        </p:spPr>
        <p:txBody>
          <a:bodyPr/>
          <a:lstStyle/>
          <a:p>
            <a:r>
              <a:rPr lang="en-US" altLang="en-US" dirty="0"/>
              <a:t>If two processes are occupying the same physical memory:</a:t>
            </a:r>
          </a:p>
          <a:p>
            <a:pPr lvl="1"/>
            <a:r>
              <a:rPr lang="en-US" altLang="en-US" dirty="0"/>
              <a:t>Conflicts: Both processes assume memory starts at 0!</a:t>
            </a:r>
          </a:p>
          <a:p>
            <a:pPr marL="344487" lvl="1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Hard to protect memory space!</a:t>
            </a:r>
          </a:p>
        </p:txBody>
      </p:sp>
      <p:sp>
        <p:nvSpPr>
          <p:cNvPr id="730139" name="AutoShape 27"/>
          <p:cNvSpPr>
            <a:spLocks noChangeArrowheads="1"/>
          </p:cNvSpPr>
          <p:nvPr/>
        </p:nvSpPr>
        <p:spPr bwMode="auto">
          <a:xfrm>
            <a:off x="4060927" y="2808275"/>
            <a:ext cx="381000" cy="457200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5029200" y="1341425"/>
            <a:ext cx="2362200" cy="1143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lw</a:t>
            </a:r>
            <a:r>
              <a:rPr lang="en-US" altLang="en-US" sz="1600" b="1" dirty="0">
                <a:latin typeface="Courier New" pitchFamily="49" charset="0"/>
              </a:rPr>
              <a:t>    $1, [4096]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addi</a:t>
            </a:r>
            <a:r>
              <a:rPr lang="en-US" altLang="en-US" sz="1600" b="1" dirty="0">
                <a:latin typeface="Courier New" pitchFamily="49" charset="0"/>
              </a:rPr>
              <a:t>  $1, $1, 20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sw</a:t>
            </a:r>
            <a:r>
              <a:rPr lang="en-US" altLang="en-US" sz="1600" b="1" dirty="0">
                <a:latin typeface="Courier New" pitchFamily="49" charset="0"/>
              </a:rPr>
              <a:t>    $1, [4096]</a:t>
            </a:r>
          </a:p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5029200" y="2484425"/>
            <a:ext cx="23622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600" b="1">
                <a:latin typeface="Courier New" pitchFamily="49" charset="0"/>
              </a:rPr>
              <a:t>...</a:t>
            </a:r>
          </a:p>
          <a:p>
            <a:r>
              <a:rPr lang="en-US" altLang="en-US" sz="1600" b="1">
                <a:latin typeface="Courier New" pitchFamily="49" charset="0"/>
              </a:rPr>
              <a:t>0</a:t>
            </a:r>
          </a:p>
          <a:p>
            <a:r>
              <a:rPr lang="en-US" altLang="en-US" sz="1600" b="1">
                <a:latin typeface="Courier New" pitchFamily="49" charset="0"/>
              </a:rPr>
              <a:t>...</a:t>
            </a: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4381500" y="2636825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</a:p>
        </p:txBody>
      </p:sp>
      <p:sp>
        <p:nvSpPr>
          <p:cNvPr id="32" name="Oval 15"/>
          <p:cNvSpPr>
            <a:spLocks noChangeArrowheads="1"/>
          </p:cNvSpPr>
          <p:nvPr/>
        </p:nvSpPr>
        <p:spPr bwMode="auto">
          <a:xfrm>
            <a:off x="6400800" y="1445112"/>
            <a:ext cx="6858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33" name="Freeform 16"/>
          <p:cNvSpPr>
            <a:spLocks/>
          </p:cNvSpPr>
          <p:nvPr/>
        </p:nvSpPr>
        <p:spPr bwMode="auto">
          <a:xfrm flipV="1">
            <a:off x="4217126" y="1646225"/>
            <a:ext cx="2145574" cy="1128713"/>
          </a:xfrm>
          <a:custGeom>
            <a:avLst/>
            <a:gdLst>
              <a:gd name="T0" fmla="*/ 928 w 928"/>
              <a:gd name="T1" fmla="*/ 480 h 480"/>
              <a:gd name="T2" fmla="*/ 112 w 928"/>
              <a:gd name="T3" fmla="*/ 336 h 480"/>
              <a:gd name="T4" fmla="*/ 256 w 928"/>
              <a:gd name="T5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28" h="480">
                <a:moveTo>
                  <a:pt x="928" y="480"/>
                </a:moveTo>
                <a:cubicBezTo>
                  <a:pt x="576" y="448"/>
                  <a:pt x="224" y="416"/>
                  <a:pt x="112" y="336"/>
                </a:cubicBezTo>
                <a:cubicBezTo>
                  <a:pt x="0" y="256"/>
                  <a:pt x="128" y="128"/>
                  <a:pt x="25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" name="Freeform 18"/>
          <p:cNvSpPr>
            <a:spLocks/>
          </p:cNvSpPr>
          <p:nvPr/>
        </p:nvSpPr>
        <p:spPr bwMode="auto">
          <a:xfrm flipV="1">
            <a:off x="4210550" y="2132000"/>
            <a:ext cx="2145574" cy="642938"/>
          </a:xfrm>
          <a:custGeom>
            <a:avLst/>
            <a:gdLst>
              <a:gd name="T0" fmla="*/ 1078 w 1078"/>
              <a:gd name="T1" fmla="*/ 744 h 756"/>
              <a:gd name="T2" fmla="*/ 130 w 1078"/>
              <a:gd name="T3" fmla="*/ 632 h 756"/>
              <a:gd name="T4" fmla="*/ 300 w 1078"/>
              <a:gd name="T5" fmla="*/ 0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78" h="756">
                <a:moveTo>
                  <a:pt x="1078" y="744"/>
                </a:moveTo>
                <a:cubicBezTo>
                  <a:pt x="920" y="725"/>
                  <a:pt x="260" y="756"/>
                  <a:pt x="130" y="632"/>
                </a:cubicBezTo>
                <a:cubicBezTo>
                  <a:pt x="0" y="508"/>
                  <a:pt x="265" y="132"/>
                  <a:pt x="30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" name="AutoShape 20"/>
          <p:cNvSpPr>
            <a:spLocks/>
          </p:cNvSpPr>
          <p:nvPr/>
        </p:nvSpPr>
        <p:spPr bwMode="auto">
          <a:xfrm>
            <a:off x="7550377" y="1341425"/>
            <a:ext cx="228600" cy="1981200"/>
          </a:xfrm>
          <a:prstGeom prst="rightBrace">
            <a:avLst>
              <a:gd name="adj1" fmla="val 9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48600" y="2408225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Process A</a:t>
            </a:r>
          </a:p>
        </p:txBody>
      </p:sp>
      <p:sp>
        <p:nvSpPr>
          <p:cNvPr id="37" name="Oval 15"/>
          <p:cNvSpPr>
            <a:spLocks noChangeArrowheads="1"/>
          </p:cNvSpPr>
          <p:nvPr/>
        </p:nvSpPr>
        <p:spPr bwMode="auto">
          <a:xfrm>
            <a:off x="6362700" y="1989125"/>
            <a:ext cx="6858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5029200" y="3322625"/>
            <a:ext cx="2362200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i="1" dirty="0">
                <a:latin typeface="Courier New" pitchFamily="49" charset="0"/>
              </a:rPr>
              <a:t>......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306389" y="3589325"/>
            <a:ext cx="5303520" cy="2114550"/>
            <a:chOff x="4306389" y="3589325"/>
            <a:chExt cx="5303520" cy="2114550"/>
          </a:xfrm>
        </p:grpSpPr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5029200" y="3722675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[4096]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[4096]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5029200" y="4865675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40" name="AutoShape 20"/>
            <p:cNvSpPr>
              <a:spLocks/>
            </p:cNvSpPr>
            <p:nvPr/>
          </p:nvSpPr>
          <p:spPr bwMode="auto">
            <a:xfrm>
              <a:off x="7559086" y="3722675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7857309" y="4789475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/>
                <a:t>Process B</a:t>
              </a:r>
            </a:p>
          </p:txBody>
        </p:sp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4306389" y="3589325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8000</a:t>
              </a:r>
            </a:p>
          </p:txBody>
        </p:sp>
        <p:sp>
          <p:nvSpPr>
            <p:cNvPr id="44" name="Rectangle 13"/>
            <p:cNvSpPr>
              <a:spLocks noChangeArrowheads="1"/>
            </p:cNvSpPr>
            <p:nvPr/>
          </p:nvSpPr>
          <p:spPr bwMode="auto">
            <a:xfrm>
              <a:off x="4381500" y="5027872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12096</a:t>
              </a:r>
            </a:p>
          </p:txBody>
        </p:sp>
      </p:grpSp>
      <p:sp>
        <p:nvSpPr>
          <p:cNvPr id="45" name="Oval 15"/>
          <p:cNvSpPr>
            <a:spLocks noChangeArrowheads="1"/>
          </p:cNvSpPr>
          <p:nvPr/>
        </p:nvSpPr>
        <p:spPr bwMode="auto">
          <a:xfrm>
            <a:off x="6376807" y="3864463"/>
            <a:ext cx="6858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46" name="Oval 15"/>
          <p:cNvSpPr>
            <a:spLocks noChangeArrowheads="1"/>
          </p:cNvSpPr>
          <p:nvPr/>
        </p:nvSpPr>
        <p:spPr bwMode="auto">
          <a:xfrm>
            <a:off x="6382250" y="4365069"/>
            <a:ext cx="6858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47" name="Freeform 16"/>
          <p:cNvSpPr>
            <a:spLocks/>
          </p:cNvSpPr>
          <p:nvPr/>
        </p:nvSpPr>
        <p:spPr bwMode="auto">
          <a:xfrm>
            <a:off x="4244363" y="3012519"/>
            <a:ext cx="2145574" cy="1036386"/>
          </a:xfrm>
          <a:custGeom>
            <a:avLst/>
            <a:gdLst>
              <a:gd name="T0" fmla="*/ 928 w 928"/>
              <a:gd name="T1" fmla="*/ 480 h 480"/>
              <a:gd name="T2" fmla="*/ 112 w 928"/>
              <a:gd name="T3" fmla="*/ 336 h 480"/>
              <a:gd name="T4" fmla="*/ 256 w 928"/>
              <a:gd name="T5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28" h="480">
                <a:moveTo>
                  <a:pt x="928" y="480"/>
                </a:moveTo>
                <a:cubicBezTo>
                  <a:pt x="576" y="448"/>
                  <a:pt x="224" y="416"/>
                  <a:pt x="112" y="336"/>
                </a:cubicBezTo>
                <a:cubicBezTo>
                  <a:pt x="0" y="256"/>
                  <a:pt x="128" y="128"/>
                  <a:pt x="25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" name="Freeform 18"/>
          <p:cNvSpPr>
            <a:spLocks/>
          </p:cNvSpPr>
          <p:nvPr/>
        </p:nvSpPr>
        <p:spPr bwMode="auto">
          <a:xfrm>
            <a:off x="4237787" y="3012519"/>
            <a:ext cx="2145574" cy="1522161"/>
          </a:xfrm>
          <a:custGeom>
            <a:avLst/>
            <a:gdLst>
              <a:gd name="T0" fmla="*/ 1078 w 1078"/>
              <a:gd name="T1" fmla="*/ 744 h 756"/>
              <a:gd name="T2" fmla="*/ 130 w 1078"/>
              <a:gd name="T3" fmla="*/ 632 h 756"/>
              <a:gd name="T4" fmla="*/ 300 w 1078"/>
              <a:gd name="T5" fmla="*/ 0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78" h="756">
                <a:moveTo>
                  <a:pt x="1078" y="744"/>
                </a:moveTo>
                <a:cubicBezTo>
                  <a:pt x="920" y="725"/>
                  <a:pt x="260" y="756"/>
                  <a:pt x="130" y="632"/>
                </a:cubicBezTo>
                <a:cubicBezTo>
                  <a:pt x="0" y="508"/>
                  <a:pt x="265" y="132"/>
                  <a:pt x="30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C09A7-9E6F-4897-A400-5AB386FC823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Attempt: </a:t>
            </a:r>
            <a:r>
              <a:rPr lang="en-US" altLang="en-US" sz="3800" b="1" dirty="0"/>
              <a:t>Address Relocation</a:t>
            </a:r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Recalculate the memory references when the process is loaded into memory:</a:t>
            </a:r>
          </a:p>
          <a:p>
            <a:pPr lvl="1"/>
            <a:r>
              <a:rPr lang="en-US" altLang="en-US" dirty="0"/>
              <a:t>e.g. Add an offset of </a:t>
            </a:r>
            <a:r>
              <a:rPr lang="en-US" altLang="en-US" b="1" dirty="0">
                <a:latin typeface="Courier New" pitchFamily="49" charset="0"/>
              </a:rPr>
              <a:t>8000</a:t>
            </a:r>
            <a:r>
              <a:rPr lang="en-US" altLang="en-US" dirty="0"/>
              <a:t> to </a:t>
            </a:r>
            <a:r>
              <a:rPr lang="en-US" altLang="en-US" b="1" i="1" dirty="0"/>
              <a:t>all memory references</a:t>
            </a:r>
            <a:r>
              <a:rPr lang="en-US" altLang="en-US" dirty="0"/>
              <a:t> in Process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Since Process </a:t>
            </a:r>
            <a:r>
              <a:rPr lang="en-US" altLang="en-US" sz="2600" b="1" dirty="0">
                <a:latin typeface="Courier New" pitchFamily="49" charset="0"/>
              </a:rPr>
              <a:t>B</a:t>
            </a:r>
            <a:r>
              <a:rPr lang="en-US" altLang="en-US" dirty="0"/>
              <a:t> is loaded at address </a:t>
            </a:r>
            <a:r>
              <a:rPr lang="en-US" altLang="en-US" sz="2600" b="1" dirty="0">
                <a:latin typeface="Courier New" pitchFamily="49" charset="0"/>
              </a:rPr>
              <a:t>8000</a:t>
            </a: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r>
              <a:rPr lang="en-US" altLang="en-US" b="1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altLang="en-US" dirty="0"/>
              <a:t>Slow loading time</a:t>
            </a:r>
          </a:p>
          <a:p>
            <a:pPr lvl="1"/>
            <a:r>
              <a:rPr lang="en-US" altLang="en-US" dirty="0"/>
              <a:t>Not easy to distinguish memory reference from normal integer constant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72287-B34D-478D-BD5E-F1E9DB1153A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 2: </a:t>
            </a:r>
            <a:r>
              <a:rPr lang="en-US" altLang="en-US" sz="3800" b="1" dirty="0">
                <a:solidFill>
                  <a:srgbClr val="C00000"/>
                </a:solidFill>
              </a:rPr>
              <a:t>Base</a:t>
            </a:r>
            <a:r>
              <a:rPr lang="en-US" altLang="en-US" sz="3800" b="1" dirty="0"/>
              <a:t> + </a:t>
            </a:r>
            <a:r>
              <a:rPr lang="en-US" altLang="en-US" sz="3800" b="1" dirty="0">
                <a:solidFill>
                  <a:srgbClr val="006600"/>
                </a:solidFill>
              </a:rPr>
              <a:t>Limit</a:t>
            </a:r>
            <a:r>
              <a:rPr lang="en-US" altLang="en-US" sz="3800" b="1" dirty="0"/>
              <a:t> Registers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Use a special register as the base of all memory references: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C00000"/>
                </a:solidFill>
              </a:rPr>
              <a:t>Base Register</a:t>
            </a:r>
            <a:endParaRPr lang="en-US" altLang="en-US" sz="2200" dirty="0">
              <a:solidFill>
                <a:srgbClr val="C00000"/>
              </a:solidFill>
            </a:endParaRPr>
          </a:p>
          <a:p>
            <a:pPr lvl="1"/>
            <a:r>
              <a:rPr lang="en-US" altLang="en-US" sz="2200" dirty="0"/>
              <a:t>During compilation time, all memory references are compiled as an offset from this register</a:t>
            </a:r>
          </a:p>
          <a:p>
            <a:pPr lvl="1"/>
            <a:r>
              <a:rPr lang="en-US" altLang="en-US" sz="2200" dirty="0"/>
              <a:t>At loading time, the base register is initialized to the starting address of the process memory space</a:t>
            </a:r>
          </a:p>
          <a:p>
            <a:pPr marL="801687" lvl="1" indent="-457200">
              <a:buFont typeface="+mj-lt"/>
              <a:buAutoNum type="arabicPeriod"/>
            </a:pPr>
            <a:endParaRPr lang="en-US" alt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Add another special register to indicate the range of the memory space of current process: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6600"/>
                </a:solidFill>
              </a:rPr>
              <a:t>Limit Register</a:t>
            </a:r>
            <a:endParaRPr lang="en-US" altLang="en-US" sz="2200" dirty="0">
              <a:solidFill>
                <a:srgbClr val="006600"/>
              </a:solidFill>
            </a:endParaRPr>
          </a:p>
          <a:p>
            <a:pPr lvl="1"/>
            <a:r>
              <a:rPr lang="en-US" altLang="en-US" sz="2200" dirty="0"/>
              <a:t>All memory access is checked against the limit to protect memory space integrity </a:t>
            </a:r>
          </a:p>
          <a:p>
            <a:pPr lvl="1"/>
            <a:endParaRPr lang="en-US" alt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-533400" y="1127125"/>
            <a:ext cx="3429000" cy="3886200"/>
            <a:chOff x="-557349" y="1371600"/>
            <a:chExt cx="3429000" cy="3886200"/>
          </a:xfrm>
        </p:grpSpPr>
        <p:grpSp>
          <p:nvGrpSpPr>
            <p:cNvPr id="32" name="Group 31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34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37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8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39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</a:t>
                  </a:r>
                  <a:r>
                    <a:rPr lang="en-US" altLang="en-US" sz="16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B+</a:t>
                  </a:r>
                  <a:r>
                    <a:rPr lang="en-US" altLang="en-US" sz="1600" b="1" dirty="0">
                      <a:latin typeface="Courier New" pitchFamily="49" charset="0"/>
                    </a:rPr>
                    <a:t>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</a:t>
                  </a:r>
                  <a:r>
                    <a:rPr lang="en-US" altLang="en-US" sz="16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B+</a:t>
                  </a:r>
                  <a:r>
                    <a:rPr lang="en-US" altLang="en-US" sz="1600" b="1" dirty="0">
                      <a:latin typeface="Courier New" pitchFamily="49" charset="0"/>
                    </a:rPr>
                    <a:t>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40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36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33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sp>
        <p:nvSpPr>
          <p:cNvPr id="44" name="Rectangle 45"/>
          <p:cNvSpPr>
            <a:spLocks noChangeArrowheads="1"/>
          </p:cNvSpPr>
          <p:nvPr/>
        </p:nvSpPr>
        <p:spPr bwMode="auto">
          <a:xfrm>
            <a:off x="2362200" y="4419600"/>
            <a:ext cx="381000" cy="9144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Base + Limit Register: Illustration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334000" y="59039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Main Memory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432663" y="1370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dirty="0"/>
              <a:t>0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103636" y="5867400"/>
            <a:ext cx="124152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dirty="0"/>
              <a:t>physical address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181600" y="1493825"/>
            <a:ext cx="2362200" cy="1143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lw</a:t>
            </a:r>
            <a:r>
              <a:rPr lang="en-US" altLang="en-US" sz="1600" b="1" dirty="0">
                <a:latin typeface="Courier New" pitchFamily="49" charset="0"/>
              </a:rPr>
              <a:t>    $1, [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B+</a:t>
            </a:r>
            <a:r>
              <a:rPr lang="en-US" altLang="en-US" sz="1600" b="1" dirty="0">
                <a:latin typeface="Courier New" pitchFamily="49" charset="0"/>
              </a:rPr>
              <a:t>4096]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addi</a:t>
            </a:r>
            <a:r>
              <a:rPr lang="en-US" altLang="en-US" sz="1600" b="1" dirty="0">
                <a:latin typeface="Courier New" pitchFamily="49" charset="0"/>
              </a:rPr>
              <a:t>  $1, $1, 20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sw</a:t>
            </a:r>
            <a:r>
              <a:rPr lang="en-US" altLang="en-US" sz="1600" b="1" dirty="0">
                <a:latin typeface="Courier New" pitchFamily="49" charset="0"/>
              </a:rPr>
              <a:t>    $1, [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B+</a:t>
            </a:r>
            <a:r>
              <a:rPr lang="en-US" altLang="en-US" sz="1600" b="1" dirty="0">
                <a:latin typeface="Courier New" pitchFamily="49" charset="0"/>
              </a:rPr>
              <a:t>4096]</a:t>
            </a:r>
          </a:p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5181600" y="2636825"/>
            <a:ext cx="23622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600" b="1">
                <a:latin typeface="Courier New" pitchFamily="49" charset="0"/>
              </a:rPr>
              <a:t>...</a:t>
            </a:r>
          </a:p>
          <a:p>
            <a:r>
              <a:rPr lang="en-US" altLang="en-US" sz="1600" b="1">
                <a:latin typeface="Courier New" pitchFamily="49" charset="0"/>
              </a:rPr>
              <a:t>0</a:t>
            </a:r>
          </a:p>
          <a:p>
            <a:r>
              <a:rPr lang="en-US" altLang="en-US" sz="1600" b="1">
                <a:latin typeface="Courier New" pitchFamily="49" charset="0"/>
              </a:rPr>
              <a:t>...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533900" y="2789225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</a:p>
        </p:txBody>
      </p:sp>
      <p:sp>
        <p:nvSpPr>
          <p:cNvPr id="17" name="AutoShape 20"/>
          <p:cNvSpPr>
            <a:spLocks/>
          </p:cNvSpPr>
          <p:nvPr/>
        </p:nvSpPr>
        <p:spPr bwMode="auto">
          <a:xfrm>
            <a:off x="7702777" y="1493825"/>
            <a:ext cx="228600" cy="1981200"/>
          </a:xfrm>
          <a:prstGeom prst="rightBrace">
            <a:avLst>
              <a:gd name="adj1" fmla="val 9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8001000" y="1480028"/>
            <a:ext cx="1143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Process A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5181600" y="3875075"/>
            <a:ext cx="2362200" cy="1143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lw</a:t>
            </a:r>
            <a:r>
              <a:rPr lang="en-US" altLang="en-US" sz="1600" b="1" dirty="0">
                <a:latin typeface="Courier New" pitchFamily="49" charset="0"/>
              </a:rPr>
              <a:t>    $1, [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B+</a:t>
            </a:r>
            <a:r>
              <a:rPr lang="en-US" altLang="en-US" sz="1600" b="1" dirty="0">
                <a:latin typeface="Courier New" pitchFamily="49" charset="0"/>
              </a:rPr>
              <a:t>4096]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addi</a:t>
            </a:r>
            <a:r>
              <a:rPr lang="en-US" altLang="en-US" sz="1600" b="1" dirty="0">
                <a:latin typeface="Courier New" pitchFamily="49" charset="0"/>
              </a:rPr>
              <a:t>  $1, $1, 20</a:t>
            </a:r>
          </a:p>
          <a:p>
            <a:r>
              <a:rPr lang="en-US" altLang="en-US" sz="1600" b="1" dirty="0" err="1">
                <a:latin typeface="Courier New" pitchFamily="49" charset="0"/>
              </a:rPr>
              <a:t>sw</a:t>
            </a:r>
            <a:r>
              <a:rPr lang="en-US" altLang="en-US" sz="1600" b="1" dirty="0">
                <a:latin typeface="Courier New" pitchFamily="49" charset="0"/>
              </a:rPr>
              <a:t>    $1, [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B+</a:t>
            </a:r>
            <a:r>
              <a:rPr lang="en-US" altLang="en-US" sz="1600" b="1" dirty="0">
                <a:latin typeface="Courier New" pitchFamily="49" charset="0"/>
              </a:rPr>
              <a:t>4096]</a:t>
            </a:r>
          </a:p>
          <a:p>
            <a:r>
              <a:rPr lang="en-US" altLang="en-US" sz="1600" b="1" dirty="0">
                <a:latin typeface="Courier New" pitchFamily="49" charset="0"/>
              </a:rPr>
              <a:t>...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5181600" y="5018075"/>
            <a:ext cx="23622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1600" b="1">
                <a:latin typeface="Courier New" pitchFamily="49" charset="0"/>
              </a:rPr>
              <a:t>...</a:t>
            </a:r>
          </a:p>
          <a:p>
            <a:r>
              <a:rPr lang="en-US" altLang="en-US" sz="1600" b="1">
                <a:latin typeface="Courier New" pitchFamily="49" charset="0"/>
              </a:rPr>
              <a:t>0</a:t>
            </a:r>
          </a:p>
          <a:p>
            <a:r>
              <a:rPr lang="en-US" altLang="en-US" sz="1600" b="1">
                <a:latin typeface="Courier New" pitchFamily="49" charset="0"/>
              </a:rPr>
              <a:t>...</a:t>
            </a:r>
          </a:p>
        </p:txBody>
      </p:sp>
      <p:sp>
        <p:nvSpPr>
          <p:cNvPr id="22" name="AutoShape 20"/>
          <p:cNvSpPr>
            <a:spLocks/>
          </p:cNvSpPr>
          <p:nvPr/>
        </p:nvSpPr>
        <p:spPr bwMode="auto">
          <a:xfrm>
            <a:off x="7711486" y="3875075"/>
            <a:ext cx="228600" cy="1981200"/>
          </a:xfrm>
          <a:prstGeom prst="rightBrace">
            <a:avLst>
              <a:gd name="adj1" fmla="val 9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8001000" y="3800244"/>
            <a:ext cx="11342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Process B</a:t>
            </a: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5181600" y="3475025"/>
            <a:ext cx="2362200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i="1" dirty="0">
                <a:latin typeface="Courier New" pitchFamily="49" charset="0"/>
              </a:rPr>
              <a:t>......</a:t>
            </a: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4458789" y="3741725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8000</a:t>
            </a: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4533900" y="5180272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12096</a:t>
            </a:r>
          </a:p>
        </p:txBody>
      </p:sp>
      <p:grpSp>
        <p:nvGrpSpPr>
          <p:cNvPr id="41" name="Group 42"/>
          <p:cNvGrpSpPr>
            <a:grpSpLocks/>
          </p:cNvGrpSpPr>
          <p:nvPr/>
        </p:nvGrpSpPr>
        <p:grpSpPr bwMode="auto">
          <a:xfrm>
            <a:off x="2362200" y="4800600"/>
            <a:ext cx="2133600" cy="762000"/>
            <a:chOff x="2256" y="1920"/>
            <a:chExt cx="1248" cy="480"/>
          </a:xfrm>
        </p:grpSpPr>
        <p:sp>
          <p:nvSpPr>
            <p:cNvPr id="42" name="AutoShape 43"/>
            <p:cNvSpPr>
              <a:spLocks noChangeArrowheads="1"/>
            </p:cNvSpPr>
            <p:nvPr/>
          </p:nvSpPr>
          <p:spPr bwMode="auto">
            <a:xfrm>
              <a:off x="2256" y="1920"/>
              <a:ext cx="1248" cy="480"/>
            </a:xfrm>
            <a:prstGeom prst="rightArrow">
              <a:avLst>
                <a:gd name="adj1" fmla="val 50000"/>
                <a:gd name="adj2" fmla="val 65000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2304" y="2064"/>
              <a:ext cx="960" cy="192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Load and Run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931377" y="2065325"/>
            <a:ext cx="1066800" cy="1371600"/>
            <a:chOff x="7620000" y="2057400"/>
            <a:chExt cx="1066800" cy="1371600"/>
          </a:xfrm>
        </p:grpSpPr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7772400" y="2362200"/>
              <a:ext cx="9144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0</a:t>
              </a:r>
            </a:p>
          </p:txBody>
        </p:sp>
        <p:sp>
          <p:nvSpPr>
            <p:cNvPr id="47" name="Text Box 39"/>
            <p:cNvSpPr txBox="1">
              <a:spLocks noChangeArrowheads="1"/>
            </p:cNvSpPr>
            <p:nvPr/>
          </p:nvSpPr>
          <p:spPr bwMode="auto">
            <a:xfrm>
              <a:off x="7620000" y="205740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Courier New" pitchFamily="49" charset="0"/>
                </a:rPr>
                <a:t>Base</a:t>
              </a: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7772400" y="3124200"/>
              <a:ext cx="914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5000</a:t>
              </a:r>
            </a:p>
          </p:txBody>
        </p:sp>
        <p:sp>
          <p:nvSpPr>
            <p:cNvPr id="49" name="Text Box 41"/>
            <p:cNvSpPr txBox="1">
              <a:spLocks noChangeArrowheads="1"/>
            </p:cNvSpPr>
            <p:nvPr/>
          </p:nvSpPr>
          <p:spPr bwMode="auto">
            <a:xfrm>
              <a:off x="7696200" y="281940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7931377" y="4510834"/>
            <a:ext cx="1066800" cy="1371600"/>
            <a:chOff x="7620000" y="2057400"/>
            <a:chExt cx="1066800" cy="1371600"/>
          </a:xfrm>
        </p:grpSpPr>
        <p:sp>
          <p:nvSpPr>
            <p:cNvPr id="51" name="Rectangle 38"/>
            <p:cNvSpPr>
              <a:spLocks noChangeArrowheads="1"/>
            </p:cNvSpPr>
            <p:nvPr/>
          </p:nvSpPr>
          <p:spPr bwMode="auto">
            <a:xfrm>
              <a:off x="7772400" y="2362200"/>
              <a:ext cx="9144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8000</a:t>
              </a:r>
            </a:p>
          </p:txBody>
        </p: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>
              <a:off x="7620000" y="205740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Courier New" pitchFamily="49" charset="0"/>
                </a:rPr>
                <a:t>Base</a:t>
              </a:r>
            </a:p>
          </p:txBody>
        </p:sp>
        <p:sp>
          <p:nvSpPr>
            <p:cNvPr id="53" name="Rectangle 40"/>
            <p:cNvSpPr>
              <a:spLocks noChangeArrowheads="1"/>
            </p:cNvSpPr>
            <p:nvPr/>
          </p:nvSpPr>
          <p:spPr bwMode="auto">
            <a:xfrm>
              <a:off x="7772400" y="3124200"/>
              <a:ext cx="914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13000</a:t>
              </a:r>
            </a:p>
          </p:txBody>
        </p:sp>
        <p:sp>
          <p:nvSpPr>
            <p:cNvPr id="54" name="Text Box 41"/>
            <p:cNvSpPr txBox="1">
              <a:spLocks noChangeArrowheads="1"/>
            </p:cNvSpPr>
            <p:nvPr/>
          </p:nvSpPr>
          <p:spPr bwMode="auto">
            <a:xfrm>
              <a:off x="7696200" y="281940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717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8F0E4-9A21-47CF-A150-A75ADE9211D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Base + Limit: </a:t>
            </a:r>
            <a:r>
              <a:rPr lang="en-US" altLang="en-US" sz="3800" b="1" dirty="0"/>
              <a:t>Summary</a:t>
            </a:r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altLang="en-US" dirty="0"/>
              <a:t>To access address </a:t>
            </a:r>
            <a:r>
              <a:rPr lang="en-US" altLang="en-US" dirty="0" err="1"/>
              <a:t>Adr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b="1" dirty="0">
                <a:latin typeface="Courier New" pitchFamily="49" charset="0"/>
              </a:rPr>
              <a:t>Actual = Base + </a:t>
            </a:r>
            <a:r>
              <a:rPr lang="en-US" altLang="en-US" b="1" dirty="0" err="1">
                <a:latin typeface="Courier New" pitchFamily="49" charset="0"/>
              </a:rPr>
              <a:t>Adr</a:t>
            </a:r>
            <a:endParaRPr lang="en-US" altLang="en-US" b="1" dirty="0">
              <a:latin typeface="Courier New" pitchFamily="49" charset="0"/>
            </a:endParaRPr>
          </a:p>
          <a:p>
            <a:pPr lvl="2"/>
            <a:r>
              <a:rPr lang="en-US" altLang="en-US" dirty="0"/>
              <a:t>Check </a:t>
            </a:r>
            <a:r>
              <a:rPr lang="en-US" altLang="en-US" b="1" dirty="0">
                <a:latin typeface="Courier New" pitchFamily="49" charset="0"/>
              </a:rPr>
              <a:t>Actual &lt; Limit</a:t>
            </a:r>
            <a:r>
              <a:rPr lang="en-US" altLang="en-US" dirty="0"/>
              <a:t> for validity </a:t>
            </a:r>
          </a:p>
          <a:p>
            <a:pPr lvl="1"/>
            <a:r>
              <a:rPr lang="en-US" altLang="en-US" dirty="0"/>
              <a:t>So, every memory access incurs an addition and a comparison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The idea is very useful:</a:t>
            </a:r>
          </a:p>
          <a:p>
            <a:pPr lvl="1"/>
            <a:r>
              <a:rPr lang="en-US" altLang="en-US" dirty="0"/>
              <a:t>Later generalized to segmentation mechanism</a:t>
            </a:r>
          </a:p>
          <a:p>
            <a:pPr lvl="1"/>
            <a:r>
              <a:rPr lang="en-US" altLang="en-US" dirty="0"/>
              <a:t>Provides a crude memory abstraction:</a:t>
            </a:r>
          </a:p>
          <a:p>
            <a:pPr lvl="2"/>
            <a:r>
              <a:rPr lang="en-US" altLang="en-US" dirty="0"/>
              <a:t>Address </a:t>
            </a:r>
            <a:r>
              <a:rPr lang="en-US" altLang="en-US" b="1" dirty="0">
                <a:latin typeface="Courier New" pitchFamily="49" charset="0"/>
              </a:rPr>
              <a:t>4096</a:t>
            </a:r>
            <a:r>
              <a:rPr lang="en-US" altLang="en-US" dirty="0"/>
              <a:t> in Process </a:t>
            </a:r>
            <a:r>
              <a:rPr lang="en-US" altLang="en-US" b="1" dirty="0">
                <a:latin typeface="Courier New" pitchFamily="49" charset="0"/>
              </a:rPr>
              <a:t>A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are no longer the same physical location!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98860-F810-4679-AF3D-B0203565FF49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Memory Abstraction: </a:t>
            </a:r>
            <a:r>
              <a:rPr lang="en-US" altLang="en-US" sz="3800" b="1" dirty="0">
                <a:solidFill>
                  <a:srgbClr val="006600"/>
                </a:solidFill>
              </a:rPr>
              <a:t>Logical Address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Embedding physical memory address in program is a bad idea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Give birth to the idea of</a:t>
            </a:r>
            <a:r>
              <a:rPr lang="en-US" altLang="en-US" dirty="0"/>
              <a:t> </a:t>
            </a:r>
            <a:r>
              <a:rPr lang="en-US" altLang="en-US" b="1" dirty="0"/>
              <a:t>logical address: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address == how the process view its memory space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address != Physical address in general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Instead a mapping between logical address and physical address is needed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Each process has a self-contained, independent logical memory space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Contiguous Memory Management</a:t>
            </a:r>
          </a:p>
        </p:txBody>
      </p:sp>
      <p:sp>
        <p:nvSpPr>
          <p:cNvPr id="7260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Chunk of continuous addresses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D6D7B-56E0-48DE-8615-F854836813E9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Contiguous Memory Management</a:t>
            </a:r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Process must be in memory during execution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Store Memory concept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Load-store Memory execution model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Let us assume: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Each process occupies a </a:t>
            </a:r>
            <a:r>
              <a:rPr lang="en-US" altLang="en-US" b="1" dirty="0"/>
              <a:t>contiguous memory region</a:t>
            </a:r>
            <a:r>
              <a:rPr lang="en-US" altLang="en-US" dirty="0"/>
              <a:t> </a:t>
            </a:r>
          </a:p>
          <a:p>
            <a:pPr marL="858837" lvl="1" indent="-514350">
              <a:buFont typeface="+mj-lt"/>
              <a:buAutoNum type="arabicPeriod"/>
            </a:pPr>
            <a:endParaRPr lang="en-US" altLang="en-US" sz="800" dirty="0"/>
          </a:p>
          <a:p>
            <a:pPr marL="858837" lvl="1" indent="-514350">
              <a:buFont typeface="+mj-lt"/>
              <a:buAutoNum type="arabicPeriod" startAt="2"/>
            </a:pPr>
            <a:r>
              <a:rPr lang="en-US" altLang="en-US" dirty="0"/>
              <a:t>The </a:t>
            </a:r>
            <a:r>
              <a:rPr lang="en-US" altLang="en-US" b="1" dirty="0"/>
              <a:t>physical memory is large enough </a:t>
            </a:r>
            <a:r>
              <a:rPr lang="en-US" altLang="en-US" dirty="0"/>
              <a:t>to contain one or more processes with complete memory space</a:t>
            </a:r>
          </a:p>
          <a:p>
            <a:pPr marL="344487" lvl="1" indent="0">
              <a:buNone/>
            </a:pPr>
            <a:endParaRPr lang="en-US" altLang="en-US" sz="800" dirty="0"/>
          </a:p>
          <a:p>
            <a:pPr lvl="1"/>
            <a:r>
              <a:rPr lang="en-US" altLang="en-US" dirty="0"/>
              <a:t>These assumptions will be removed in later topics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B7D5C-54CE-477F-8412-1BC9D5415FC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Multitasking, Context Switching &amp; Swapping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support multitasking:</a:t>
            </a:r>
          </a:p>
          <a:p>
            <a:pPr lvl="1"/>
            <a:r>
              <a:rPr lang="en-US" altLang="en-US" dirty="0"/>
              <a:t>Allow multiple processes in the physical memory at the same time</a:t>
            </a:r>
          </a:p>
          <a:p>
            <a:pPr lvl="1"/>
            <a:r>
              <a:rPr lang="en-US" altLang="en-US" dirty="0"/>
              <a:t>So that we can switch from one process to another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When the physical memory is full:</a:t>
            </a:r>
          </a:p>
          <a:p>
            <a:pPr lvl="1"/>
            <a:r>
              <a:rPr lang="en-US" altLang="en-US" dirty="0"/>
              <a:t>Free up memory by:</a:t>
            </a:r>
          </a:p>
          <a:p>
            <a:pPr lvl="2"/>
            <a:r>
              <a:rPr lang="en-US" altLang="en-US" dirty="0"/>
              <a:t>Removing terminated process</a:t>
            </a:r>
          </a:p>
          <a:p>
            <a:pPr lvl="2"/>
            <a:r>
              <a:rPr lang="en-US" altLang="en-US" dirty="0"/>
              <a:t>Swapping blocked process to secondary storage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E396-016B-4983-BF4E-3F8A24E25F3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Memory Partitioning</a:t>
            </a:r>
          </a:p>
        </p:txBody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Memory Partition:</a:t>
            </a:r>
          </a:p>
          <a:p>
            <a:pPr lvl="1"/>
            <a:r>
              <a:rPr lang="en-US" altLang="en-US" dirty="0"/>
              <a:t>The contiguous memory region allocated to a single process</a:t>
            </a:r>
            <a:endParaRPr lang="en-US" altLang="en-US" b="1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Two schemes of allocating partitions: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/>
              <a:t>Fixed-Size Partition</a:t>
            </a:r>
          </a:p>
          <a:p>
            <a:pPr lvl="2"/>
            <a:r>
              <a:rPr lang="en-US" altLang="en-US" dirty="0"/>
              <a:t>Physical memory is split into fixed number of partitions</a:t>
            </a:r>
          </a:p>
          <a:p>
            <a:pPr lvl="2"/>
            <a:r>
              <a:rPr lang="en-US" altLang="en-US" dirty="0"/>
              <a:t>A process will occupy one of the partitions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/>
              <a:t>Variable-Size Partition</a:t>
            </a:r>
          </a:p>
          <a:p>
            <a:pPr lvl="2"/>
            <a:r>
              <a:rPr lang="en-US" altLang="en-US" dirty="0"/>
              <a:t>Partition is created base on the actual size of process</a:t>
            </a:r>
          </a:p>
          <a:p>
            <a:pPr lvl="2"/>
            <a:r>
              <a:rPr lang="en-US" altLang="en-US" dirty="0"/>
              <a:t>OS keep track of the occupied and free memory regions </a:t>
            </a:r>
          </a:p>
          <a:p>
            <a:pPr lvl="3"/>
            <a:r>
              <a:rPr lang="en-US" altLang="en-US" dirty="0"/>
              <a:t>Perform splitting and merging when necessary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D1729-CC47-4D48-8E96-33A56793964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4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Fixed Partitioning: Illustration</a:t>
            </a:r>
          </a:p>
        </p:txBody>
      </p:sp>
      <p:sp>
        <p:nvSpPr>
          <p:cNvPr id="741380" name="Rectangle 4"/>
          <p:cNvSpPr>
            <a:spLocks noChangeArrowheads="1"/>
          </p:cNvSpPr>
          <p:nvPr/>
        </p:nvSpPr>
        <p:spPr bwMode="auto">
          <a:xfrm>
            <a:off x="457200" y="10668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4</a:t>
            </a:r>
          </a:p>
        </p:txBody>
      </p:sp>
      <p:sp>
        <p:nvSpPr>
          <p:cNvPr id="741381" name="Rectangle 5"/>
          <p:cNvSpPr>
            <a:spLocks noChangeArrowheads="1"/>
          </p:cNvSpPr>
          <p:nvPr/>
        </p:nvSpPr>
        <p:spPr bwMode="auto">
          <a:xfrm>
            <a:off x="457200" y="5943600"/>
            <a:ext cx="14478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41406" name="Rectangle 30"/>
          <p:cNvSpPr>
            <a:spLocks noChangeArrowheads="1"/>
          </p:cNvSpPr>
          <p:nvPr/>
        </p:nvSpPr>
        <p:spPr bwMode="auto">
          <a:xfrm>
            <a:off x="457200" y="22860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3</a:t>
            </a:r>
          </a:p>
        </p:txBody>
      </p:sp>
      <p:sp>
        <p:nvSpPr>
          <p:cNvPr id="741407" name="Rectangle 31"/>
          <p:cNvSpPr>
            <a:spLocks noChangeArrowheads="1"/>
          </p:cNvSpPr>
          <p:nvPr/>
        </p:nvSpPr>
        <p:spPr bwMode="auto">
          <a:xfrm>
            <a:off x="457200" y="35052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2</a:t>
            </a:r>
          </a:p>
        </p:txBody>
      </p:sp>
      <p:sp>
        <p:nvSpPr>
          <p:cNvPr id="741408" name="Rectangle 32"/>
          <p:cNvSpPr>
            <a:spLocks noChangeArrowheads="1"/>
          </p:cNvSpPr>
          <p:nvPr/>
        </p:nvSpPr>
        <p:spPr bwMode="auto">
          <a:xfrm>
            <a:off x="457200" y="47244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1</a:t>
            </a:r>
          </a:p>
        </p:txBody>
      </p:sp>
      <p:sp>
        <p:nvSpPr>
          <p:cNvPr id="741409" name="Rectangle 33"/>
          <p:cNvSpPr>
            <a:spLocks noChangeArrowheads="1"/>
          </p:cNvSpPr>
          <p:nvPr/>
        </p:nvSpPr>
        <p:spPr bwMode="auto">
          <a:xfrm>
            <a:off x="2514600" y="10668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4</a:t>
            </a:r>
          </a:p>
        </p:txBody>
      </p:sp>
      <p:sp>
        <p:nvSpPr>
          <p:cNvPr id="741410" name="Rectangle 34"/>
          <p:cNvSpPr>
            <a:spLocks noChangeArrowheads="1"/>
          </p:cNvSpPr>
          <p:nvPr/>
        </p:nvSpPr>
        <p:spPr bwMode="auto">
          <a:xfrm>
            <a:off x="2514600" y="5943600"/>
            <a:ext cx="14478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41411" name="Rectangle 35"/>
          <p:cNvSpPr>
            <a:spLocks noChangeArrowheads="1"/>
          </p:cNvSpPr>
          <p:nvPr/>
        </p:nvSpPr>
        <p:spPr bwMode="auto">
          <a:xfrm>
            <a:off x="2514600" y="22860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3</a:t>
            </a:r>
          </a:p>
        </p:txBody>
      </p:sp>
      <p:sp>
        <p:nvSpPr>
          <p:cNvPr id="741412" name="Rectangle 36"/>
          <p:cNvSpPr>
            <a:spLocks noChangeArrowheads="1"/>
          </p:cNvSpPr>
          <p:nvPr/>
        </p:nvSpPr>
        <p:spPr bwMode="auto">
          <a:xfrm>
            <a:off x="2514600" y="35052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2</a:t>
            </a:r>
          </a:p>
        </p:txBody>
      </p:sp>
      <p:sp>
        <p:nvSpPr>
          <p:cNvPr id="741413" name="Rectangle 37" descr="Wide downward diagonal"/>
          <p:cNvSpPr>
            <a:spLocks noChangeArrowheads="1"/>
          </p:cNvSpPr>
          <p:nvPr/>
        </p:nvSpPr>
        <p:spPr bwMode="auto">
          <a:xfrm>
            <a:off x="2514600" y="4724400"/>
            <a:ext cx="14478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1</a:t>
            </a:r>
          </a:p>
        </p:txBody>
      </p:sp>
      <p:sp>
        <p:nvSpPr>
          <p:cNvPr id="741379" name="Rectangle 3"/>
          <p:cNvSpPr>
            <a:spLocks noChangeArrowheads="1"/>
          </p:cNvSpPr>
          <p:nvPr/>
        </p:nvSpPr>
        <p:spPr bwMode="auto">
          <a:xfrm>
            <a:off x="2514600" y="4953000"/>
            <a:ext cx="1447800" cy="990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A</a:t>
            </a:r>
          </a:p>
        </p:txBody>
      </p:sp>
      <p:sp>
        <p:nvSpPr>
          <p:cNvPr id="741414" name="Rectangle 38"/>
          <p:cNvSpPr>
            <a:spLocks noChangeArrowheads="1"/>
          </p:cNvSpPr>
          <p:nvPr/>
        </p:nvSpPr>
        <p:spPr bwMode="auto">
          <a:xfrm>
            <a:off x="4572000" y="10668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4</a:t>
            </a:r>
          </a:p>
        </p:txBody>
      </p:sp>
      <p:sp>
        <p:nvSpPr>
          <p:cNvPr id="741415" name="Rectangle 39"/>
          <p:cNvSpPr>
            <a:spLocks noChangeArrowheads="1"/>
          </p:cNvSpPr>
          <p:nvPr/>
        </p:nvSpPr>
        <p:spPr bwMode="auto">
          <a:xfrm>
            <a:off x="4572000" y="5943600"/>
            <a:ext cx="14478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41416" name="Rectangle 40"/>
          <p:cNvSpPr>
            <a:spLocks noChangeArrowheads="1"/>
          </p:cNvSpPr>
          <p:nvPr/>
        </p:nvSpPr>
        <p:spPr bwMode="auto">
          <a:xfrm>
            <a:off x="4572000" y="2286000"/>
            <a:ext cx="1447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3</a:t>
            </a:r>
          </a:p>
        </p:txBody>
      </p:sp>
      <p:sp>
        <p:nvSpPr>
          <p:cNvPr id="741417" name="Rectangle 41" descr="Wide downward diagonal"/>
          <p:cNvSpPr>
            <a:spLocks noChangeArrowheads="1"/>
          </p:cNvSpPr>
          <p:nvPr/>
        </p:nvSpPr>
        <p:spPr bwMode="auto">
          <a:xfrm>
            <a:off x="4572000" y="3505200"/>
            <a:ext cx="14478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</a:t>
            </a:r>
          </a:p>
        </p:txBody>
      </p:sp>
      <p:sp>
        <p:nvSpPr>
          <p:cNvPr id="741418" name="Rectangle 42" descr="Wide downward diagonal"/>
          <p:cNvSpPr>
            <a:spLocks noChangeArrowheads="1"/>
          </p:cNvSpPr>
          <p:nvPr/>
        </p:nvSpPr>
        <p:spPr bwMode="auto">
          <a:xfrm>
            <a:off x="4572000" y="4724400"/>
            <a:ext cx="14478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 Partition 1</a:t>
            </a:r>
          </a:p>
        </p:txBody>
      </p:sp>
      <p:sp>
        <p:nvSpPr>
          <p:cNvPr id="741419" name="Rectangle 43"/>
          <p:cNvSpPr>
            <a:spLocks noChangeArrowheads="1"/>
          </p:cNvSpPr>
          <p:nvPr/>
        </p:nvSpPr>
        <p:spPr bwMode="auto">
          <a:xfrm>
            <a:off x="4572000" y="4953000"/>
            <a:ext cx="1447800" cy="990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A</a:t>
            </a:r>
          </a:p>
        </p:txBody>
      </p:sp>
      <p:sp>
        <p:nvSpPr>
          <p:cNvPr id="741420" name="Rectangle 44"/>
          <p:cNvSpPr>
            <a:spLocks noChangeArrowheads="1"/>
          </p:cNvSpPr>
          <p:nvPr/>
        </p:nvSpPr>
        <p:spPr bwMode="auto">
          <a:xfrm>
            <a:off x="4572000" y="4038600"/>
            <a:ext cx="1447800" cy="685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B</a:t>
            </a:r>
          </a:p>
        </p:txBody>
      </p:sp>
      <p:grpSp>
        <p:nvGrpSpPr>
          <p:cNvPr id="741432" name="Group 56"/>
          <p:cNvGrpSpPr>
            <a:grpSpLocks/>
          </p:cNvGrpSpPr>
          <p:nvPr/>
        </p:nvGrpSpPr>
        <p:grpSpPr bwMode="auto">
          <a:xfrm>
            <a:off x="6629400" y="1066800"/>
            <a:ext cx="1447800" cy="5410200"/>
            <a:chOff x="4224" y="672"/>
            <a:chExt cx="912" cy="3408"/>
          </a:xfrm>
        </p:grpSpPr>
        <p:sp>
          <p:nvSpPr>
            <p:cNvPr id="741421" name="Rectangle 45"/>
            <p:cNvSpPr>
              <a:spLocks noChangeArrowheads="1"/>
            </p:cNvSpPr>
            <p:nvPr/>
          </p:nvSpPr>
          <p:spPr bwMode="auto">
            <a:xfrm>
              <a:off x="4224" y="672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 Partition 4</a:t>
              </a:r>
            </a:p>
          </p:txBody>
        </p:sp>
        <p:sp>
          <p:nvSpPr>
            <p:cNvPr id="741422" name="Rectangle 46"/>
            <p:cNvSpPr>
              <a:spLocks noChangeArrowheads="1"/>
            </p:cNvSpPr>
            <p:nvPr/>
          </p:nvSpPr>
          <p:spPr bwMode="auto">
            <a:xfrm>
              <a:off x="4224" y="3744"/>
              <a:ext cx="912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OS</a:t>
              </a:r>
            </a:p>
          </p:txBody>
        </p:sp>
        <p:sp>
          <p:nvSpPr>
            <p:cNvPr id="741423" name="Rectangle 47"/>
            <p:cNvSpPr>
              <a:spLocks noChangeArrowheads="1"/>
            </p:cNvSpPr>
            <p:nvPr/>
          </p:nvSpPr>
          <p:spPr bwMode="auto">
            <a:xfrm>
              <a:off x="4224" y="1440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 Partition 3</a:t>
              </a:r>
            </a:p>
          </p:txBody>
        </p:sp>
        <p:sp>
          <p:nvSpPr>
            <p:cNvPr id="741424" name="Rectangle 48" descr="Wide downward diagonal"/>
            <p:cNvSpPr>
              <a:spLocks noChangeArrowheads="1"/>
            </p:cNvSpPr>
            <p:nvPr/>
          </p:nvSpPr>
          <p:spPr bwMode="auto">
            <a:xfrm>
              <a:off x="4224" y="2208"/>
              <a:ext cx="912" cy="768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 </a:t>
              </a:r>
            </a:p>
          </p:txBody>
        </p:sp>
        <p:sp>
          <p:nvSpPr>
            <p:cNvPr id="741425" name="Rectangle 49"/>
            <p:cNvSpPr>
              <a:spLocks noChangeArrowheads="1"/>
            </p:cNvSpPr>
            <p:nvPr/>
          </p:nvSpPr>
          <p:spPr bwMode="auto">
            <a:xfrm>
              <a:off x="4224" y="2976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 Partition 1</a:t>
              </a:r>
            </a:p>
          </p:txBody>
        </p:sp>
        <p:sp>
          <p:nvSpPr>
            <p:cNvPr id="741427" name="Rectangle 51"/>
            <p:cNvSpPr>
              <a:spLocks noChangeArrowheads="1"/>
            </p:cNvSpPr>
            <p:nvPr/>
          </p:nvSpPr>
          <p:spPr bwMode="auto">
            <a:xfrm>
              <a:off x="4224" y="2544"/>
              <a:ext cx="912" cy="43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itchFamily="49" charset="0"/>
                </a:rPr>
                <a:t>Process B</a:t>
              </a:r>
            </a:p>
          </p:txBody>
        </p:sp>
      </p:grpSp>
      <p:sp>
        <p:nvSpPr>
          <p:cNvPr id="741428" name="AutoShape 52"/>
          <p:cNvSpPr>
            <a:spLocks noChangeArrowheads="1"/>
          </p:cNvSpPr>
          <p:nvPr/>
        </p:nvSpPr>
        <p:spPr bwMode="auto">
          <a:xfrm>
            <a:off x="2057400" y="33528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41429" name="AutoShape 53"/>
          <p:cNvSpPr>
            <a:spLocks noChangeArrowheads="1"/>
          </p:cNvSpPr>
          <p:nvPr/>
        </p:nvSpPr>
        <p:spPr bwMode="auto">
          <a:xfrm>
            <a:off x="4114800" y="34290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41430" name="AutoShape 54"/>
          <p:cNvSpPr>
            <a:spLocks noChangeArrowheads="1"/>
          </p:cNvSpPr>
          <p:nvPr/>
        </p:nvSpPr>
        <p:spPr bwMode="auto">
          <a:xfrm>
            <a:off x="6248400" y="33528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41431" name="Rectangle 55"/>
          <p:cNvSpPr>
            <a:spLocks noChangeArrowheads="1"/>
          </p:cNvSpPr>
          <p:nvPr/>
        </p:nvSpPr>
        <p:spPr bwMode="auto">
          <a:xfrm>
            <a:off x="8153400" y="3352800"/>
            <a:ext cx="990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wasted</a:t>
            </a:r>
          </a:p>
          <a:p>
            <a:pPr algn="ctr"/>
            <a:r>
              <a:rPr lang="en-US" altLang="en-US" sz="1600" b="1"/>
              <a:t>memory space</a:t>
            </a:r>
          </a:p>
        </p:txBody>
      </p:sp>
      <p:sp>
        <p:nvSpPr>
          <p:cNvPr id="741433" name="AutoShape 57"/>
          <p:cNvSpPr>
            <a:spLocks/>
          </p:cNvSpPr>
          <p:nvPr/>
        </p:nvSpPr>
        <p:spPr bwMode="auto">
          <a:xfrm>
            <a:off x="8077200" y="3505200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98D143-F5EC-407E-A4F0-DA9DB6B6B10C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Fixed Partitioning: </a:t>
            </a:r>
            <a:r>
              <a:rPr lang="en-US" altLang="en-US" sz="3800" b="1" dirty="0"/>
              <a:t>Summary</a:t>
            </a:r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If a process does not occupy the whole partition: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Any left over space is wasted!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internal fragmentation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Easy to manage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to allocate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Every free partition is the same </a:t>
            </a:r>
            <a:r>
              <a:rPr lang="en-US" altLang="en-US" dirty="0">
                <a:sym typeface="Wingdings" pitchFamily="2" charset="2"/>
              </a:rPr>
              <a:t> </a:t>
            </a:r>
            <a:r>
              <a:rPr lang="en-US" altLang="en-US" dirty="0"/>
              <a:t>No need to choose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Partition size need be large enough to contain the largest of the processes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Smaller process will waste memory space </a:t>
            </a:r>
            <a:r>
              <a:rPr lang="en-US" altLang="en-US" dirty="0">
                <a:sym typeface="Wingdings" pitchFamily="2" charset="2"/>
              </a:rPr>
              <a:t> internal fragmentation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EBE5F-A4D2-46A4-BB5F-460B39CDA333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Dynamic Partitioning: Illustration</a:t>
            </a:r>
          </a:p>
        </p:txBody>
      </p:sp>
      <p:sp>
        <p:nvSpPr>
          <p:cNvPr id="739332" name="Rectangle 4"/>
          <p:cNvSpPr>
            <a:spLocks noChangeArrowheads="1"/>
          </p:cNvSpPr>
          <p:nvPr/>
        </p:nvSpPr>
        <p:spPr bwMode="auto">
          <a:xfrm>
            <a:off x="457200" y="4191000"/>
            <a:ext cx="1143000" cy="1219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A</a:t>
            </a:r>
          </a:p>
        </p:txBody>
      </p:sp>
      <p:sp>
        <p:nvSpPr>
          <p:cNvPr id="739333" name="Rectangle 5"/>
          <p:cNvSpPr>
            <a:spLocks noChangeArrowheads="1"/>
          </p:cNvSpPr>
          <p:nvPr/>
        </p:nvSpPr>
        <p:spPr bwMode="auto">
          <a:xfrm>
            <a:off x="457200" y="1295400"/>
            <a:ext cx="1143000" cy="2895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39334" name="Rectangle 6"/>
          <p:cNvSpPr>
            <a:spLocks noChangeArrowheads="1"/>
          </p:cNvSpPr>
          <p:nvPr/>
        </p:nvSpPr>
        <p:spPr bwMode="auto">
          <a:xfrm>
            <a:off x="457200" y="5410200"/>
            <a:ext cx="1143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39335" name="Rectangle 7"/>
          <p:cNvSpPr>
            <a:spLocks noChangeArrowheads="1"/>
          </p:cNvSpPr>
          <p:nvPr/>
        </p:nvSpPr>
        <p:spPr bwMode="auto">
          <a:xfrm>
            <a:off x="2133600" y="4191000"/>
            <a:ext cx="1143000" cy="1219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A</a:t>
            </a:r>
          </a:p>
        </p:txBody>
      </p:sp>
      <p:sp>
        <p:nvSpPr>
          <p:cNvPr id="739336" name="Rectangle 8"/>
          <p:cNvSpPr>
            <a:spLocks noChangeArrowheads="1"/>
          </p:cNvSpPr>
          <p:nvPr/>
        </p:nvSpPr>
        <p:spPr bwMode="auto">
          <a:xfrm>
            <a:off x="2133600" y="1295400"/>
            <a:ext cx="11430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39337" name="Rectangle 9"/>
          <p:cNvSpPr>
            <a:spLocks noChangeArrowheads="1"/>
          </p:cNvSpPr>
          <p:nvPr/>
        </p:nvSpPr>
        <p:spPr bwMode="auto">
          <a:xfrm>
            <a:off x="2133600" y="5410200"/>
            <a:ext cx="1143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39338" name="Rectangle 10"/>
          <p:cNvSpPr>
            <a:spLocks noChangeArrowheads="1"/>
          </p:cNvSpPr>
          <p:nvPr/>
        </p:nvSpPr>
        <p:spPr bwMode="auto">
          <a:xfrm>
            <a:off x="2133600" y="3505200"/>
            <a:ext cx="1143000" cy="685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B</a:t>
            </a:r>
          </a:p>
        </p:txBody>
      </p:sp>
      <p:sp>
        <p:nvSpPr>
          <p:cNvPr id="739339" name="Rectangle 11"/>
          <p:cNvSpPr>
            <a:spLocks noChangeArrowheads="1"/>
          </p:cNvSpPr>
          <p:nvPr/>
        </p:nvSpPr>
        <p:spPr bwMode="auto">
          <a:xfrm>
            <a:off x="3886200" y="4191000"/>
            <a:ext cx="1143000" cy="1219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A</a:t>
            </a:r>
          </a:p>
        </p:txBody>
      </p:sp>
      <p:sp>
        <p:nvSpPr>
          <p:cNvPr id="739340" name="Rectangle 12"/>
          <p:cNvSpPr>
            <a:spLocks noChangeArrowheads="1"/>
          </p:cNvSpPr>
          <p:nvPr/>
        </p:nvSpPr>
        <p:spPr bwMode="auto">
          <a:xfrm>
            <a:off x="3886200" y="1295400"/>
            <a:ext cx="11430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39341" name="Rectangle 13"/>
          <p:cNvSpPr>
            <a:spLocks noChangeArrowheads="1"/>
          </p:cNvSpPr>
          <p:nvPr/>
        </p:nvSpPr>
        <p:spPr bwMode="auto">
          <a:xfrm>
            <a:off x="3886200" y="5410200"/>
            <a:ext cx="1143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39342" name="Rectangle 14"/>
          <p:cNvSpPr>
            <a:spLocks noChangeArrowheads="1"/>
          </p:cNvSpPr>
          <p:nvPr/>
        </p:nvSpPr>
        <p:spPr bwMode="auto">
          <a:xfrm>
            <a:off x="3886200" y="3505200"/>
            <a:ext cx="1143000" cy="685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B</a:t>
            </a:r>
          </a:p>
        </p:txBody>
      </p:sp>
      <p:sp>
        <p:nvSpPr>
          <p:cNvPr id="739343" name="Rectangle 15"/>
          <p:cNvSpPr>
            <a:spLocks noChangeArrowheads="1"/>
          </p:cNvSpPr>
          <p:nvPr/>
        </p:nvSpPr>
        <p:spPr bwMode="auto">
          <a:xfrm>
            <a:off x="3886200" y="1905000"/>
            <a:ext cx="1143000" cy="1600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C</a:t>
            </a:r>
          </a:p>
        </p:txBody>
      </p:sp>
      <p:sp>
        <p:nvSpPr>
          <p:cNvPr id="739345" name="Rectangle 17"/>
          <p:cNvSpPr>
            <a:spLocks noChangeArrowheads="1"/>
          </p:cNvSpPr>
          <p:nvPr/>
        </p:nvSpPr>
        <p:spPr bwMode="auto">
          <a:xfrm>
            <a:off x="5638800" y="1295400"/>
            <a:ext cx="11430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39346" name="Rectangle 18"/>
          <p:cNvSpPr>
            <a:spLocks noChangeArrowheads="1"/>
          </p:cNvSpPr>
          <p:nvPr/>
        </p:nvSpPr>
        <p:spPr bwMode="auto">
          <a:xfrm>
            <a:off x="5638800" y="5410200"/>
            <a:ext cx="1143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39347" name="Rectangle 19"/>
          <p:cNvSpPr>
            <a:spLocks noChangeArrowheads="1"/>
          </p:cNvSpPr>
          <p:nvPr/>
        </p:nvSpPr>
        <p:spPr bwMode="auto">
          <a:xfrm>
            <a:off x="5638800" y="3505200"/>
            <a:ext cx="1143000" cy="685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B</a:t>
            </a:r>
          </a:p>
        </p:txBody>
      </p:sp>
      <p:sp>
        <p:nvSpPr>
          <p:cNvPr id="739348" name="Rectangle 20"/>
          <p:cNvSpPr>
            <a:spLocks noChangeArrowheads="1"/>
          </p:cNvSpPr>
          <p:nvPr/>
        </p:nvSpPr>
        <p:spPr bwMode="auto">
          <a:xfrm>
            <a:off x="5638800" y="1905000"/>
            <a:ext cx="1143000" cy="1600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C</a:t>
            </a:r>
          </a:p>
        </p:txBody>
      </p:sp>
      <p:sp>
        <p:nvSpPr>
          <p:cNvPr id="739349" name="Rectangle 21"/>
          <p:cNvSpPr>
            <a:spLocks noChangeArrowheads="1"/>
          </p:cNvSpPr>
          <p:nvPr/>
        </p:nvSpPr>
        <p:spPr bwMode="auto">
          <a:xfrm>
            <a:off x="5638800" y="4191000"/>
            <a:ext cx="11430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39350" name="Rectangle 22"/>
          <p:cNvSpPr>
            <a:spLocks noChangeArrowheads="1"/>
          </p:cNvSpPr>
          <p:nvPr/>
        </p:nvSpPr>
        <p:spPr bwMode="auto">
          <a:xfrm>
            <a:off x="7391400" y="1295400"/>
            <a:ext cx="11430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39351" name="Rectangle 23"/>
          <p:cNvSpPr>
            <a:spLocks noChangeArrowheads="1"/>
          </p:cNvSpPr>
          <p:nvPr/>
        </p:nvSpPr>
        <p:spPr bwMode="auto">
          <a:xfrm>
            <a:off x="7391400" y="5410200"/>
            <a:ext cx="1143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39352" name="Rectangle 24"/>
          <p:cNvSpPr>
            <a:spLocks noChangeArrowheads="1"/>
          </p:cNvSpPr>
          <p:nvPr/>
        </p:nvSpPr>
        <p:spPr bwMode="auto">
          <a:xfrm>
            <a:off x="7391400" y="3505200"/>
            <a:ext cx="1143000" cy="685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B</a:t>
            </a:r>
          </a:p>
        </p:txBody>
      </p:sp>
      <p:sp>
        <p:nvSpPr>
          <p:cNvPr id="739353" name="Rectangle 25"/>
          <p:cNvSpPr>
            <a:spLocks noChangeArrowheads="1"/>
          </p:cNvSpPr>
          <p:nvPr/>
        </p:nvSpPr>
        <p:spPr bwMode="auto">
          <a:xfrm>
            <a:off x="7391400" y="1905000"/>
            <a:ext cx="1143000" cy="1600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C</a:t>
            </a:r>
          </a:p>
        </p:txBody>
      </p:sp>
      <p:sp>
        <p:nvSpPr>
          <p:cNvPr id="739354" name="Rectangle 26"/>
          <p:cNvSpPr>
            <a:spLocks noChangeArrowheads="1"/>
          </p:cNvSpPr>
          <p:nvPr/>
        </p:nvSpPr>
        <p:spPr bwMode="auto">
          <a:xfrm>
            <a:off x="7391400" y="4191000"/>
            <a:ext cx="1143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39360" name="Rectangle 32"/>
          <p:cNvSpPr>
            <a:spLocks noChangeArrowheads="1"/>
          </p:cNvSpPr>
          <p:nvPr/>
        </p:nvSpPr>
        <p:spPr bwMode="auto">
          <a:xfrm>
            <a:off x="7391400" y="4648200"/>
            <a:ext cx="1143000" cy="7620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D</a:t>
            </a:r>
          </a:p>
        </p:txBody>
      </p:sp>
      <p:sp>
        <p:nvSpPr>
          <p:cNvPr id="739361" name="AutoShape 33"/>
          <p:cNvSpPr>
            <a:spLocks noChangeArrowheads="1"/>
          </p:cNvSpPr>
          <p:nvPr/>
        </p:nvSpPr>
        <p:spPr bwMode="auto">
          <a:xfrm>
            <a:off x="1752600" y="32004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39362" name="AutoShape 34"/>
          <p:cNvSpPr>
            <a:spLocks noChangeArrowheads="1"/>
          </p:cNvSpPr>
          <p:nvPr/>
        </p:nvSpPr>
        <p:spPr bwMode="auto">
          <a:xfrm>
            <a:off x="3429000" y="32004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39363" name="AutoShape 35"/>
          <p:cNvSpPr>
            <a:spLocks noChangeArrowheads="1"/>
          </p:cNvSpPr>
          <p:nvPr/>
        </p:nvSpPr>
        <p:spPr bwMode="auto">
          <a:xfrm>
            <a:off x="5181600" y="32004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39364" name="AutoShape 36"/>
          <p:cNvSpPr>
            <a:spLocks noChangeArrowheads="1"/>
          </p:cNvSpPr>
          <p:nvPr/>
        </p:nvSpPr>
        <p:spPr bwMode="auto">
          <a:xfrm>
            <a:off x="6934200" y="32004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0FDF1-C70D-4FB2-BD65-06B3E900D018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Dynamic Partitioning: </a:t>
            </a:r>
            <a:r>
              <a:rPr lang="en-US" altLang="en-US" sz="3800" b="1" dirty="0"/>
              <a:t>Summary</a:t>
            </a:r>
          </a:p>
        </p:txBody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Free memory space is known as </a:t>
            </a:r>
            <a:r>
              <a:rPr lang="en-US" altLang="en-US" b="1" dirty="0"/>
              <a:t>hole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With process creation/termination/swapping: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ym typeface="Wingdings" pitchFamily="2" charset="2"/>
              </a:rPr>
              <a:t>	 tend </a:t>
            </a:r>
            <a:r>
              <a:rPr lang="en-US" altLang="en-US" dirty="0"/>
              <a:t>to have a large number of holes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external fragmentation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Merging the holes by moving occupied partitions can create larger hole (more likely to be useful)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Flexible and remove internal fragmentation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maintain more information in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Takes more time to locate appropriate region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FECEF-D394-4575-BA6E-1528E18CECD0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Dynamic Partitioning: Allocation Algorithms</a:t>
            </a:r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Assuming the OS maintain a list of partitions and holes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Algorithm to locate partition of size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Search for hole with size </a:t>
            </a:r>
            <a:r>
              <a:rPr lang="en-US" altLang="en-US" sz="3000" b="1" dirty="0">
                <a:solidFill>
                  <a:srgbClr val="0033CC"/>
                </a:solidFill>
                <a:latin typeface="Courier New" pitchFamily="49" charset="0"/>
              </a:rPr>
              <a:t>M &gt;</a:t>
            </a:r>
            <a:r>
              <a:rPr lang="en-US" altLang="en-US" dirty="0"/>
              <a:t> </a:t>
            </a:r>
            <a:r>
              <a:rPr lang="en-US" altLang="en-US" sz="3000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. Several variants: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/>
              <a:t>First-Fit: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Take the first hole that is large enough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/>
              <a:t>Best-Fit: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Find the smallest hole that is large enough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/>
              <a:t>Worst-Fit: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Find the largest hole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Split the hole into</a:t>
            </a:r>
            <a:r>
              <a:rPr lang="en-US" altLang="en-US" sz="3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800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 and </a:t>
            </a:r>
            <a:r>
              <a:rPr lang="en-US" altLang="en-US" sz="2800" b="1" dirty="0">
                <a:solidFill>
                  <a:srgbClr val="0033CC"/>
                </a:solidFill>
                <a:latin typeface="Courier New" pitchFamily="49" charset="0"/>
              </a:rPr>
              <a:t>M-N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 will be the new partition</a:t>
            </a:r>
          </a:p>
          <a:p>
            <a:pPr lvl="2">
              <a:lnSpc>
                <a:spcPct val="90000"/>
              </a:lnSpc>
            </a:pP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M-N</a:t>
            </a:r>
            <a:r>
              <a:rPr lang="en-US" altLang="en-US" dirty="0"/>
              <a:t> will be the left over space </a:t>
            </a:r>
            <a:r>
              <a:rPr lang="en-US" altLang="en-US" dirty="0">
                <a:sym typeface="Wingdings" pitchFamily="2" charset="2"/>
              </a:rPr>
              <a:t> a new hole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0B6316-43F6-41A5-B273-A2A83504CCD1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4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Dynamic Partitioning: Merging and Compaction</a:t>
            </a:r>
          </a:p>
        </p:txBody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When an occupied partition is freed:</a:t>
            </a:r>
          </a:p>
          <a:p>
            <a:pPr lvl="1"/>
            <a:r>
              <a:rPr lang="en-US" altLang="en-US"/>
              <a:t>Merge with adjacent hole if possible</a:t>
            </a:r>
          </a:p>
          <a:p>
            <a:pPr lvl="1">
              <a:buFont typeface="Wingdings" pitchFamily="2" charset="2"/>
              <a:buNone/>
            </a:pPr>
            <a:endParaRPr lang="en-US" altLang="en-US"/>
          </a:p>
          <a:p>
            <a:r>
              <a:rPr lang="en-US" altLang="en-US"/>
              <a:t>Compaction can also be used:</a:t>
            </a:r>
          </a:p>
          <a:p>
            <a:pPr lvl="1"/>
            <a:r>
              <a:rPr lang="en-US" altLang="en-US"/>
              <a:t>Move the occupied partition around to create consolidate holes</a:t>
            </a:r>
          </a:p>
          <a:p>
            <a:pPr lvl="1"/>
            <a:r>
              <a:rPr lang="en-US" altLang="en-US"/>
              <a:t>Cannot be invoked too frequently as it is very time consuming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4AA621-B735-45D8-B781-46551B5BC7C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Dynamic Partitioning in Action: Example</a:t>
            </a:r>
          </a:p>
        </p:txBody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914400"/>
          </a:xfrm>
        </p:spPr>
        <p:txBody>
          <a:bodyPr/>
          <a:lstStyle/>
          <a:p>
            <a:r>
              <a:rPr lang="en-US" altLang="en-US" sz="2600"/>
              <a:t>OS maintains a linked list for partition info</a:t>
            </a:r>
          </a:p>
          <a:p>
            <a:pPr lvl="1"/>
            <a:r>
              <a:rPr lang="en-US" altLang="en-US" sz="2200"/>
              <a:t>First-Fit algorithm is used</a:t>
            </a:r>
          </a:p>
        </p:txBody>
      </p:sp>
      <p:grpSp>
        <p:nvGrpSpPr>
          <p:cNvPr id="747524" name="Group 4"/>
          <p:cNvGrpSpPr>
            <a:grpSpLocks/>
          </p:cNvGrpSpPr>
          <p:nvPr/>
        </p:nvGrpSpPr>
        <p:grpSpPr bwMode="auto">
          <a:xfrm>
            <a:off x="1219200" y="2895600"/>
            <a:ext cx="2514600" cy="457200"/>
            <a:chOff x="1536" y="1824"/>
            <a:chExt cx="1584" cy="288"/>
          </a:xfrm>
        </p:grpSpPr>
        <p:sp>
          <p:nvSpPr>
            <p:cNvPr id="747525" name="Rectangle 5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F</a:t>
              </a:r>
            </a:p>
          </p:txBody>
        </p:sp>
        <p:sp>
          <p:nvSpPr>
            <p:cNvPr id="747526" name="Rectangle 6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256</a:t>
              </a:r>
            </a:p>
          </p:txBody>
        </p:sp>
        <p:sp>
          <p:nvSpPr>
            <p:cNvPr id="747527" name="Rectangle 7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3840</a:t>
              </a:r>
            </a:p>
          </p:txBody>
        </p:sp>
        <p:sp>
          <p:nvSpPr>
            <p:cNvPr id="747528" name="Rectangle 8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7529" name="Text Box 9"/>
          <p:cNvSpPr txBox="1">
            <a:spLocks noChangeArrowheads="1"/>
          </p:cNvSpPr>
          <p:nvPr/>
        </p:nvSpPr>
        <p:spPr bwMode="auto">
          <a:xfrm>
            <a:off x="381000" y="1905000"/>
            <a:ext cx="1828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/>
              <a:t>Status:</a:t>
            </a:r>
            <a:br>
              <a:rPr lang="en-US" altLang="en-US" sz="1600"/>
            </a:br>
            <a:r>
              <a:rPr lang="en-US" altLang="en-US" sz="1600" b="1"/>
              <a:t>T</a:t>
            </a:r>
            <a:r>
              <a:rPr lang="en-US" altLang="en-US" sz="1600"/>
              <a:t>rue = occupied</a:t>
            </a:r>
            <a:br>
              <a:rPr lang="en-US" altLang="en-US" sz="1600"/>
            </a:br>
            <a:r>
              <a:rPr lang="en-US" altLang="en-US" sz="1600" b="1"/>
              <a:t>F</a:t>
            </a:r>
            <a:r>
              <a:rPr lang="en-US" altLang="en-US" sz="1600"/>
              <a:t>alse= hole</a:t>
            </a:r>
            <a:endParaRPr lang="en-US" altLang="en-US" sz="1600" b="1"/>
          </a:p>
        </p:txBody>
      </p:sp>
      <p:sp>
        <p:nvSpPr>
          <p:cNvPr id="747530" name="Line 10"/>
          <p:cNvSpPr>
            <a:spLocks noChangeShapeType="1"/>
          </p:cNvSpPr>
          <p:nvPr/>
        </p:nvSpPr>
        <p:spPr bwMode="auto">
          <a:xfrm>
            <a:off x="1066800" y="27432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47531" name="Line 11"/>
          <p:cNvSpPr>
            <a:spLocks noChangeShapeType="1"/>
          </p:cNvSpPr>
          <p:nvPr/>
        </p:nvSpPr>
        <p:spPr bwMode="auto">
          <a:xfrm flipV="1">
            <a:off x="2057400" y="25146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47532" name="Text Box 12"/>
          <p:cNvSpPr txBox="1">
            <a:spLocks noChangeArrowheads="1"/>
          </p:cNvSpPr>
          <p:nvPr/>
        </p:nvSpPr>
        <p:spPr bwMode="auto">
          <a:xfrm>
            <a:off x="2133600" y="1905000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/>
              <a:t>Start Address</a:t>
            </a:r>
            <a:endParaRPr lang="en-US" altLang="en-US" sz="1600" b="1"/>
          </a:p>
        </p:txBody>
      </p:sp>
      <p:sp>
        <p:nvSpPr>
          <p:cNvPr id="747533" name="Line 13"/>
          <p:cNvSpPr>
            <a:spLocks noChangeShapeType="1"/>
          </p:cNvSpPr>
          <p:nvPr/>
        </p:nvSpPr>
        <p:spPr bwMode="auto">
          <a:xfrm flipV="1">
            <a:off x="3048000" y="25146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47534" name="Text Box 14"/>
          <p:cNvSpPr txBox="1">
            <a:spLocks noChangeArrowheads="1"/>
          </p:cNvSpPr>
          <p:nvPr/>
        </p:nvSpPr>
        <p:spPr bwMode="auto">
          <a:xfrm>
            <a:off x="3276600" y="228600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/>
              <a:t>Length</a:t>
            </a:r>
            <a:endParaRPr lang="en-US" altLang="en-US" sz="1600" b="1"/>
          </a:p>
        </p:txBody>
      </p:sp>
      <p:sp>
        <p:nvSpPr>
          <p:cNvPr id="747535" name="Oval 15"/>
          <p:cNvSpPr>
            <a:spLocks noChangeArrowheads="1"/>
          </p:cNvSpPr>
          <p:nvPr/>
        </p:nvSpPr>
        <p:spPr bwMode="auto">
          <a:xfrm>
            <a:off x="304800" y="29718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T0</a:t>
            </a:r>
          </a:p>
        </p:txBody>
      </p:sp>
      <p:sp>
        <p:nvSpPr>
          <p:cNvPr id="747536" name="Rectangle 16"/>
          <p:cNvSpPr>
            <a:spLocks noChangeArrowheads="1"/>
          </p:cNvSpPr>
          <p:nvPr/>
        </p:nvSpPr>
        <p:spPr bwMode="auto">
          <a:xfrm>
            <a:off x="5867400" y="1752600"/>
            <a:ext cx="1143000" cy="411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47537" name="Rectangle 17"/>
          <p:cNvSpPr>
            <a:spLocks noChangeArrowheads="1"/>
          </p:cNvSpPr>
          <p:nvPr/>
        </p:nvSpPr>
        <p:spPr bwMode="auto">
          <a:xfrm>
            <a:off x="5867400" y="5867400"/>
            <a:ext cx="1143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47538" name="Rectangle 18"/>
          <p:cNvSpPr>
            <a:spLocks noChangeArrowheads="1"/>
          </p:cNvSpPr>
          <p:nvPr/>
        </p:nvSpPr>
        <p:spPr bwMode="auto">
          <a:xfrm>
            <a:off x="5181600" y="55626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256</a:t>
            </a:r>
          </a:p>
        </p:txBody>
      </p:sp>
      <p:sp>
        <p:nvSpPr>
          <p:cNvPr id="747539" name="Rectangle 19"/>
          <p:cNvSpPr>
            <a:spLocks noChangeArrowheads="1"/>
          </p:cNvSpPr>
          <p:nvPr/>
        </p:nvSpPr>
        <p:spPr bwMode="auto">
          <a:xfrm>
            <a:off x="5181600" y="17526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4095</a:t>
            </a:r>
          </a:p>
        </p:txBody>
      </p:sp>
      <p:grpSp>
        <p:nvGrpSpPr>
          <p:cNvPr id="747540" name="Group 20"/>
          <p:cNvGrpSpPr>
            <a:grpSpLocks/>
          </p:cNvGrpSpPr>
          <p:nvPr/>
        </p:nvGrpSpPr>
        <p:grpSpPr bwMode="auto">
          <a:xfrm>
            <a:off x="838200" y="4495800"/>
            <a:ext cx="2514600" cy="457200"/>
            <a:chOff x="1536" y="1824"/>
            <a:chExt cx="1584" cy="288"/>
          </a:xfrm>
        </p:grpSpPr>
        <p:sp>
          <p:nvSpPr>
            <p:cNvPr id="747541" name="Rectangle 21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T</a:t>
              </a:r>
            </a:p>
          </p:txBody>
        </p:sp>
        <p:sp>
          <p:nvSpPr>
            <p:cNvPr id="747542" name="Rectangle 22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256</a:t>
              </a:r>
            </a:p>
          </p:txBody>
        </p:sp>
        <p:sp>
          <p:nvSpPr>
            <p:cNvPr id="747543" name="Rectangle 23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512</a:t>
              </a:r>
            </a:p>
          </p:txBody>
        </p:sp>
        <p:sp>
          <p:nvSpPr>
            <p:cNvPr id="747544" name="Rectangle 24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7545" name="Text Box 25"/>
          <p:cNvSpPr txBox="1">
            <a:spLocks noChangeArrowheads="1"/>
          </p:cNvSpPr>
          <p:nvPr/>
        </p:nvSpPr>
        <p:spPr bwMode="auto">
          <a:xfrm>
            <a:off x="762000" y="4038600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Request: Process A (size 512)</a:t>
            </a:r>
          </a:p>
        </p:txBody>
      </p:sp>
      <p:sp>
        <p:nvSpPr>
          <p:cNvPr id="747546" name="Oval 26"/>
          <p:cNvSpPr>
            <a:spLocks noChangeArrowheads="1"/>
          </p:cNvSpPr>
          <p:nvPr/>
        </p:nvSpPr>
        <p:spPr bwMode="auto">
          <a:xfrm>
            <a:off x="304800" y="40386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T1</a:t>
            </a:r>
          </a:p>
        </p:txBody>
      </p:sp>
      <p:grpSp>
        <p:nvGrpSpPr>
          <p:cNvPr id="747547" name="Group 27"/>
          <p:cNvGrpSpPr>
            <a:grpSpLocks/>
          </p:cNvGrpSpPr>
          <p:nvPr/>
        </p:nvGrpSpPr>
        <p:grpSpPr bwMode="auto">
          <a:xfrm>
            <a:off x="2590800" y="5181600"/>
            <a:ext cx="2514600" cy="457200"/>
            <a:chOff x="1536" y="1824"/>
            <a:chExt cx="1584" cy="288"/>
          </a:xfrm>
        </p:grpSpPr>
        <p:sp>
          <p:nvSpPr>
            <p:cNvPr id="747548" name="Rectangle 28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F</a:t>
              </a:r>
            </a:p>
          </p:txBody>
        </p:sp>
        <p:sp>
          <p:nvSpPr>
            <p:cNvPr id="747549" name="Rectangle 29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768</a:t>
              </a:r>
            </a:p>
          </p:txBody>
        </p:sp>
        <p:sp>
          <p:nvSpPr>
            <p:cNvPr id="747550" name="Rectangle 30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3328</a:t>
              </a:r>
            </a:p>
          </p:txBody>
        </p:sp>
        <p:sp>
          <p:nvSpPr>
            <p:cNvPr id="747551" name="Rectangle 31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7552" name="Line 32"/>
          <p:cNvSpPr>
            <a:spLocks noChangeShapeType="1"/>
          </p:cNvSpPr>
          <p:nvPr/>
        </p:nvSpPr>
        <p:spPr bwMode="auto">
          <a:xfrm flipH="1">
            <a:off x="2819400" y="4876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47555" name="Rectangle 35"/>
          <p:cNvSpPr>
            <a:spLocks noChangeArrowheads="1"/>
          </p:cNvSpPr>
          <p:nvPr/>
        </p:nvSpPr>
        <p:spPr bwMode="auto">
          <a:xfrm>
            <a:off x="7696200" y="1752600"/>
            <a:ext cx="1143000" cy="2895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47556" name="Rectangle 36"/>
          <p:cNvSpPr>
            <a:spLocks noChangeArrowheads="1"/>
          </p:cNvSpPr>
          <p:nvPr/>
        </p:nvSpPr>
        <p:spPr bwMode="auto">
          <a:xfrm>
            <a:off x="7696200" y="5867400"/>
            <a:ext cx="1143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47557" name="Rectangle 37"/>
          <p:cNvSpPr>
            <a:spLocks noChangeArrowheads="1"/>
          </p:cNvSpPr>
          <p:nvPr/>
        </p:nvSpPr>
        <p:spPr bwMode="auto">
          <a:xfrm>
            <a:off x="7010400" y="55626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256</a:t>
            </a:r>
          </a:p>
        </p:txBody>
      </p:sp>
      <p:sp>
        <p:nvSpPr>
          <p:cNvPr id="747558" name="Rectangle 38"/>
          <p:cNvSpPr>
            <a:spLocks noChangeArrowheads="1"/>
          </p:cNvSpPr>
          <p:nvPr/>
        </p:nvSpPr>
        <p:spPr bwMode="auto">
          <a:xfrm>
            <a:off x="7010400" y="17526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4095</a:t>
            </a:r>
          </a:p>
        </p:txBody>
      </p:sp>
      <p:sp>
        <p:nvSpPr>
          <p:cNvPr id="747559" name="Rectangle 39"/>
          <p:cNvSpPr>
            <a:spLocks noChangeArrowheads="1"/>
          </p:cNvSpPr>
          <p:nvPr/>
        </p:nvSpPr>
        <p:spPr bwMode="auto">
          <a:xfrm>
            <a:off x="7696200" y="4648200"/>
            <a:ext cx="1143000" cy="1219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A</a:t>
            </a:r>
          </a:p>
        </p:txBody>
      </p:sp>
      <p:sp>
        <p:nvSpPr>
          <p:cNvPr id="747560" name="Rectangle 40"/>
          <p:cNvSpPr>
            <a:spLocks noChangeArrowheads="1"/>
          </p:cNvSpPr>
          <p:nvPr/>
        </p:nvSpPr>
        <p:spPr bwMode="auto">
          <a:xfrm>
            <a:off x="7010400" y="43434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768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A078A-87C5-4C46-8B80-F2216900D373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Dynamic Partitioning in Action: Example</a:t>
            </a:r>
          </a:p>
        </p:txBody>
      </p:sp>
      <p:grpSp>
        <p:nvGrpSpPr>
          <p:cNvPr id="746517" name="Group 21"/>
          <p:cNvGrpSpPr>
            <a:grpSpLocks/>
          </p:cNvGrpSpPr>
          <p:nvPr/>
        </p:nvGrpSpPr>
        <p:grpSpPr bwMode="auto">
          <a:xfrm>
            <a:off x="838200" y="1524000"/>
            <a:ext cx="2514600" cy="457200"/>
            <a:chOff x="1536" y="1824"/>
            <a:chExt cx="1584" cy="288"/>
          </a:xfrm>
        </p:grpSpPr>
        <p:sp>
          <p:nvSpPr>
            <p:cNvPr id="746518" name="Rectangle 22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T</a:t>
              </a:r>
            </a:p>
          </p:txBody>
        </p:sp>
        <p:sp>
          <p:nvSpPr>
            <p:cNvPr id="746519" name="Rectangle 23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256</a:t>
              </a:r>
            </a:p>
          </p:txBody>
        </p:sp>
        <p:sp>
          <p:nvSpPr>
            <p:cNvPr id="746520" name="Rectangle 24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512</a:t>
              </a:r>
            </a:p>
          </p:txBody>
        </p:sp>
        <p:sp>
          <p:nvSpPr>
            <p:cNvPr id="746521" name="Rectangle 25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6522" name="Text Box 26"/>
          <p:cNvSpPr txBox="1">
            <a:spLocks noChangeArrowheads="1"/>
          </p:cNvSpPr>
          <p:nvPr/>
        </p:nvSpPr>
        <p:spPr bwMode="auto">
          <a:xfrm>
            <a:off x="762000" y="1066800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Request: Process B (size 1024)</a:t>
            </a:r>
          </a:p>
        </p:txBody>
      </p:sp>
      <p:sp>
        <p:nvSpPr>
          <p:cNvPr id="746523" name="Oval 27"/>
          <p:cNvSpPr>
            <a:spLocks noChangeArrowheads="1"/>
          </p:cNvSpPr>
          <p:nvPr/>
        </p:nvSpPr>
        <p:spPr bwMode="auto">
          <a:xfrm>
            <a:off x="304800" y="10668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T2</a:t>
            </a:r>
          </a:p>
        </p:txBody>
      </p:sp>
      <p:grpSp>
        <p:nvGrpSpPr>
          <p:cNvPr id="746524" name="Group 28"/>
          <p:cNvGrpSpPr>
            <a:grpSpLocks/>
          </p:cNvGrpSpPr>
          <p:nvPr/>
        </p:nvGrpSpPr>
        <p:grpSpPr bwMode="auto">
          <a:xfrm>
            <a:off x="3505200" y="2133600"/>
            <a:ext cx="2514600" cy="457200"/>
            <a:chOff x="1536" y="1824"/>
            <a:chExt cx="1584" cy="288"/>
          </a:xfrm>
        </p:grpSpPr>
        <p:sp>
          <p:nvSpPr>
            <p:cNvPr id="746525" name="Rectangle 29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F</a:t>
              </a:r>
            </a:p>
          </p:txBody>
        </p:sp>
        <p:sp>
          <p:nvSpPr>
            <p:cNvPr id="746526" name="Rectangle 30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1792</a:t>
              </a:r>
            </a:p>
          </p:txBody>
        </p:sp>
        <p:sp>
          <p:nvSpPr>
            <p:cNvPr id="746527" name="Rectangle 31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2304</a:t>
              </a:r>
            </a:p>
          </p:txBody>
        </p:sp>
        <p:sp>
          <p:nvSpPr>
            <p:cNvPr id="746528" name="Rectangle 32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6529" name="Line 33"/>
          <p:cNvSpPr>
            <a:spLocks noChangeShapeType="1"/>
          </p:cNvSpPr>
          <p:nvPr/>
        </p:nvSpPr>
        <p:spPr bwMode="auto">
          <a:xfrm>
            <a:off x="3124200" y="1752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46532" name="Text Box 36"/>
          <p:cNvSpPr txBox="1">
            <a:spLocks noChangeArrowheads="1"/>
          </p:cNvSpPr>
          <p:nvPr/>
        </p:nvSpPr>
        <p:spPr bwMode="auto">
          <a:xfrm>
            <a:off x="762000" y="2895600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Free: Process A (not shown)</a:t>
            </a:r>
          </a:p>
        </p:txBody>
      </p:sp>
      <p:sp>
        <p:nvSpPr>
          <p:cNvPr id="746533" name="Oval 37"/>
          <p:cNvSpPr>
            <a:spLocks noChangeArrowheads="1"/>
          </p:cNvSpPr>
          <p:nvPr/>
        </p:nvSpPr>
        <p:spPr bwMode="auto">
          <a:xfrm>
            <a:off x="304800" y="28956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T3</a:t>
            </a:r>
          </a:p>
        </p:txBody>
      </p:sp>
      <p:grpSp>
        <p:nvGrpSpPr>
          <p:cNvPr id="746540" name="Group 44"/>
          <p:cNvGrpSpPr>
            <a:grpSpLocks/>
          </p:cNvGrpSpPr>
          <p:nvPr/>
        </p:nvGrpSpPr>
        <p:grpSpPr bwMode="auto">
          <a:xfrm>
            <a:off x="3581400" y="1524000"/>
            <a:ext cx="2514600" cy="457200"/>
            <a:chOff x="1536" y="1824"/>
            <a:chExt cx="1584" cy="288"/>
          </a:xfrm>
        </p:grpSpPr>
        <p:sp>
          <p:nvSpPr>
            <p:cNvPr id="746541" name="Rectangle 45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T</a:t>
              </a:r>
            </a:p>
          </p:txBody>
        </p:sp>
        <p:sp>
          <p:nvSpPr>
            <p:cNvPr id="746542" name="Rectangle 46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768</a:t>
              </a:r>
            </a:p>
          </p:txBody>
        </p:sp>
        <p:sp>
          <p:nvSpPr>
            <p:cNvPr id="746543" name="Rectangle 47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1024</a:t>
              </a:r>
            </a:p>
          </p:txBody>
        </p:sp>
        <p:sp>
          <p:nvSpPr>
            <p:cNvPr id="746544" name="Rectangle 48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6545" name="Line 49"/>
          <p:cNvSpPr>
            <a:spLocks noChangeShapeType="1"/>
          </p:cNvSpPr>
          <p:nvPr/>
        </p:nvSpPr>
        <p:spPr bwMode="auto">
          <a:xfrm flipH="1">
            <a:off x="3886200" y="1905000"/>
            <a:ext cx="1905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46546" name="Text Box 50"/>
          <p:cNvSpPr txBox="1">
            <a:spLocks noChangeArrowheads="1"/>
          </p:cNvSpPr>
          <p:nvPr/>
        </p:nvSpPr>
        <p:spPr bwMode="auto">
          <a:xfrm>
            <a:off x="762000" y="3886200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Request: Process C (size 640)</a:t>
            </a:r>
          </a:p>
        </p:txBody>
      </p:sp>
      <p:sp>
        <p:nvSpPr>
          <p:cNvPr id="746547" name="Oval 51"/>
          <p:cNvSpPr>
            <a:spLocks noChangeArrowheads="1"/>
          </p:cNvSpPr>
          <p:nvPr/>
        </p:nvSpPr>
        <p:spPr bwMode="auto">
          <a:xfrm>
            <a:off x="304800" y="38862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T4</a:t>
            </a:r>
          </a:p>
        </p:txBody>
      </p:sp>
      <p:grpSp>
        <p:nvGrpSpPr>
          <p:cNvPr id="746565" name="Group 69"/>
          <p:cNvGrpSpPr>
            <a:grpSpLocks/>
          </p:cNvGrpSpPr>
          <p:nvPr/>
        </p:nvGrpSpPr>
        <p:grpSpPr bwMode="auto">
          <a:xfrm>
            <a:off x="914400" y="4419600"/>
            <a:ext cx="2514600" cy="457200"/>
            <a:chOff x="1536" y="1824"/>
            <a:chExt cx="1584" cy="288"/>
          </a:xfrm>
        </p:grpSpPr>
        <p:sp>
          <p:nvSpPr>
            <p:cNvPr id="746566" name="Rectangle 70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F</a:t>
              </a:r>
            </a:p>
          </p:txBody>
        </p:sp>
        <p:sp>
          <p:nvSpPr>
            <p:cNvPr id="746567" name="Rectangle 71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256</a:t>
              </a:r>
            </a:p>
          </p:txBody>
        </p:sp>
        <p:sp>
          <p:nvSpPr>
            <p:cNvPr id="746568" name="Rectangle 72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512</a:t>
              </a:r>
            </a:p>
          </p:txBody>
        </p:sp>
        <p:sp>
          <p:nvSpPr>
            <p:cNvPr id="746569" name="Rectangle 73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746570" name="Group 74"/>
          <p:cNvGrpSpPr>
            <a:grpSpLocks/>
          </p:cNvGrpSpPr>
          <p:nvPr/>
        </p:nvGrpSpPr>
        <p:grpSpPr bwMode="auto">
          <a:xfrm>
            <a:off x="3581400" y="5257800"/>
            <a:ext cx="2514600" cy="457200"/>
            <a:chOff x="1536" y="1824"/>
            <a:chExt cx="1584" cy="288"/>
          </a:xfrm>
        </p:grpSpPr>
        <p:sp>
          <p:nvSpPr>
            <p:cNvPr id="746571" name="Rectangle 75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F</a:t>
              </a:r>
            </a:p>
          </p:txBody>
        </p:sp>
        <p:sp>
          <p:nvSpPr>
            <p:cNvPr id="746572" name="Rectangle 76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2432</a:t>
              </a:r>
            </a:p>
          </p:txBody>
        </p:sp>
        <p:sp>
          <p:nvSpPr>
            <p:cNvPr id="746573" name="Rectangle 77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1664</a:t>
              </a:r>
            </a:p>
          </p:txBody>
        </p:sp>
        <p:sp>
          <p:nvSpPr>
            <p:cNvPr id="746574" name="Rectangle 78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6575" name="Line 79"/>
          <p:cNvSpPr>
            <a:spLocks noChangeShapeType="1"/>
          </p:cNvSpPr>
          <p:nvPr/>
        </p:nvSpPr>
        <p:spPr bwMode="auto">
          <a:xfrm>
            <a:off x="32004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46576" name="Group 80"/>
          <p:cNvGrpSpPr>
            <a:grpSpLocks/>
          </p:cNvGrpSpPr>
          <p:nvPr/>
        </p:nvGrpSpPr>
        <p:grpSpPr bwMode="auto">
          <a:xfrm>
            <a:off x="3581400" y="4419600"/>
            <a:ext cx="2514600" cy="457200"/>
            <a:chOff x="1536" y="1824"/>
            <a:chExt cx="1584" cy="288"/>
          </a:xfrm>
        </p:grpSpPr>
        <p:sp>
          <p:nvSpPr>
            <p:cNvPr id="746577" name="Rectangle 81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T</a:t>
              </a:r>
            </a:p>
          </p:txBody>
        </p:sp>
        <p:sp>
          <p:nvSpPr>
            <p:cNvPr id="746578" name="Rectangle 82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768</a:t>
              </a:r>
            </a:p>
          </p:txBody>
        </p:sp>
        <p:sp>
          <p:nvSpPr>
            <p:cNvPr id="746579" name="Rectangle 83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1024</a:t>
              </a:r>
            </a:p>
          </p:txBody>
        </p:sp>
        <p:sp>
          <p:nvSpPr>
            <p:cNvPr id="746580" name="Rectangle 84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6581" name="Line 85"/>
          <p:cNvSpPr>
            <a:spLocks noChangeShapeType="1"/>
          </p:cNvSpPr>
          <p:nvPr/>
        </p:nvSpPr>
        <p:spPr bwMode="auto">
          <a:xfrm flipH="1">
            <a:off x="1219200" y="4724400"/>
            <a:ext cx="464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46582" name="Group 86"/>
          <p:cNvGrpSpPr>
            <a:grpSpLocks/>
          </p:cNvGrpSpPr>
          <p:nvPr/>
        </p:nvGrpSpPr>
        <p:grpSpPr bwMode="auto">
          <a:xfrm>
            <a:off x="914400" y="5257800"/>
            <a:ext cx="2514600" cy="457200"/>
            <a:chOff x="1536" y="1824"/>
            <a:chExt cx="1584" cy="288"/>
          </a:xfrm>
        </p:grpSpPr>
        <p:sp>
          <p:nvSpPr>
            <p:cNvPr id="746583" name="Rectangle 87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T</a:t>
              </a:r>
            </a:p>
          </p:txBody>
        </p:sp>
        <p:sp>
          <p:nvSpPr>
            <p:cNvPr id="746584" name="Rectangle 88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1792</a:t>
              </a:r>
            </a:p>
          </p:txBody>
        </p:sp>
        <p:sp>
          <p:nvSpPr>
            <p:cNvPr id="746585" name="Rectangle 89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640</a:t>
              </a:r>
            </a:p>
          </p:txBody>
        </p:sp>
        <p:sp>
          <p:nvSpPr>
            <p:cNvPr id="746586" name="Rectangle 90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746587" name="Line 91"/>
          <p:cNvSpPr>
            <a:spLocks noChangeShapeType="1"/>
          </p:cNvSpPr>
          <p:nvPr/>
        </p:nvSpPr>
        <p:spPr bwMode="auto">
          <a:xfrm>
            <a:off x="3200400" y="5486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46594" name="Rectangle 98"/>
          <p:cNvSpPr>
            <a:spLocks noChangeArrowheads="1"/>
          </p:cNvSpPr>
          <p:nvPr/>
        </p:nvSpPr>
        <p:spPr bwMode="auto">
          <a:xfrm>
            <a:off x="7467600" y="1295400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46595" name="Rectangle 99"/>
          <p:cNvSpPr>
            <a:spLocks noChangeArrowheads="1"/>
          </p:cNvSpPr>
          <p:nvPr/>
        </p:nvSpPr>
        <p:spPr bwMode="auto">
          <a:xfrm>
            <a:off x="7467600" y="5410200"/>
            <a:ext cx="1143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OS</a:t>
            </a:r>
          </a:p>
        </p:txBody>
      </p:sp>
      <p:sp>
        <p:nvSpPr>
          <p:cNvPr id="746596" name="Rectangle 100"/>
          <p:cNvSpPr>
            <a:spLocks noChangeArrowheads="1"/>
          </p:cNvSpPr>
          <p:nvPr/>
        </p:nvSpPr>
        <p:spPr bwMode="auto">
          <a:xfrm>
            <a:off x="6781800" y="51054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256</a:t>
            </a:r>
          </a:p>
        </p:txBody>
      </p:sp>
      <p:sp>
        <p:nvSpPr>
          <p:cNvPr id="746597" name="Rectangle 101"/>
          <p:cNvSpPr>
            <a:spLocks noChangeArrowheads="1"/>
          </p:cNvSpPr>
          <p:nvPr/>
        </p:nvSpPr>
        <p:spPr bwMode="auto">
          <a:xfrm>
            <a:off x="6781800" y="12192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4095</a:t>
            </a:r>
          </a:p>
        </p:txBody>
      </p:sp>
      <p:sp>
        <p:nvSpPr>
          <p:cNvPr id="746598" name="Rectangle 102"/>
          <p:cNvSpPr>
            <a:spLocks noChangeArrowheads="1"/>
          </p:cNvSpPr>
          <p:nvPr/>
        </p:nvSpPr>
        <p:spPr bwMode="auto">
          <a:xfrm>
            <a:off x="7467600" y="4419600"/>
            <a:ext cx="1143000" cy="990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Free Memory</a:t>
            </a:r>
          </a:p>
        </p:txBody>
      </p:sp>
      <p:sp>
        <p:nvSpPr>
          <p:cNvPr id="746599" name="Rectangle 103"/>
          <p:cNvSpPr>
            <a:spLocks noChangeArrowheads="1"/>
          </p:cNvSpPr>
          <p:nvPr/>
        </p:nvSpPr>
        <p:spPr bwMode="auto">
          <a:xfrm>
            <a:off x="6781800" y="41148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768</a:t>
            </a:r>
          </a:p>
        </p:txBody>
      </p:sp>
      <p:sp>
        <p:nvSpPr>
          <p:cNvPr id="746600" name="Rectangle 104"/>
          <p:cNvSpPr>
            <a:spLocks noChangeArrowheads="1"/>
          </p:cNvSpPr>
          <p:nvPr/>
        </p:nvSpPr>
        <p:spPr bwMode="auto">
          <a:xfrm>
            <a:off x="7467600" y="2895600"/>
            <a:ext cx="1143000" cy="15240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B</a:t>
            </a:r>
          </a:p>
        </p:txBody>
      </p:sp>
      <p:sp>
        <p:nvSpPr>
          <p:cNvPr id="746601" name="Rectangle 105"/>
          <p:cNvSpPr>
            <a:spLocks noChangeArrowheads="1"/>
          </p:cNvSpPr>
          <p:nvPr/>
        </p:nvSpPr>
        <p:spPr bwMode="auto">
          <a:xfrm>
            <a:off x="7467600" y="1828800"/>
            <a:ext cx="1143000" cy="1066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Process C</a:t>
            </a:r>
          </a:p>
        </p:txBody>
      </p:sp>
      <p:sp>
        <p:nvSpPr>
          <p:cNvPr id="746602" name="Rectangle 106"/>
          <p:cNvSpPr>
            <a:spLocks noChangeArrowheads="1"/>
          </p:cNvSpPr>
          <p:nvPr/>
        </p:nvSpPr>
        <p:spPr bwMode="auto">
          <a:xfrm>
            <a:off x="6781800" y="25908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1792</a:t>
            </a:r>
          </a:p>
        </p:txBody>
      </p:sp>
      <p:sp>
        <p:nvSpPr>
          <p:cNvPr id="746603" name="Rectangle 107"/>
          <p:cNvSpPr>
            <a:spLocks noChangeArrowheads="1"/>
          </p:cNvSpPr>
          <p:nvPr/>
        </p:nvSpPr>
        <p:spPr bwMode="auto">
          <a:xfrm>
            <a:off x="6781800" y="15240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/>
              <a:t>2432</a:t>
            </a:r>
          </a:p>
        </p:txBody>
      </p:sp>
      <p:sp>
        <p:nvSpPr>
          <p:cNvPr id="746604" name="Oval 108"/>
          <p:cNvSpPr>
            <a:spLocks noChangeArrowheads="1"/>
          </p:cNvSpPr>
          <p:nvPr/>
        </p:nvSpPr>
        <p:spPr bwMode="auto">
          <a:xfrm>
            <a:off x="7848600" y="60960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660F8-C74C-4B7B-BA39-50B711EC184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Dynamic Allocation Algorithm: </a:t>
            </a:r>
            <a:r>
              <a:rPr lang="en-US" altLang="en-US" sz="3400" b="1" dirty="0"/>
              <a:t>Buddy System</a:t>
            </a:r>
          </a:p>
        </p:txBody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/>
              <a:t>Buddy memory allocation provides efficient: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/>
              <a:t>Partition splitting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/>
              <a:t>Locating good match of free partition (hole)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/>
              <a:t>Partition de-allocation and coalescing</a:t>
            </a:r>
          </a:p>
          <a:p>
            <a:pPr marL="839788" lvl="1" indent="-495300">
              <a:buFont typeface="Wingdings" pitchFamily="2" charset="2"/>
              <a:buNone/>
            </a:pPr>
            <a:endParaRPr lang="en-US" altLang="en-US"/>
          </a:p>
          <a:p>
            <a:pPr marL="571500" indent="-571500"/>
            <a:r>
              <a:rPr lang="en-US" altLang="en-US"/>
              <a:t>Main idea: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/>
              <a:t>Free block is split into half repeatedly to meet request</a:t>
            </a:r>
          </a:p>
          <a:p>
            <a:pPr marL="1090613" lvl="2" indent="-419100"/>
            <a:r>
              <a:rPr lang="en-US" altLang="en-US"/>
              <a:t>The two halfs forms a sibling blocks (buddy blocks)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/>
              <a:t>When buddy blocks are both free</a:t>
            </a:r>
          </a:p>
          <a:p>
            <a:pPr marL="1090613" lvl="2" indent="-419100"/>
            <a:r>
              <a:rPr lang="en-US" altLang="en-US"/>
              <a:t>Can be merged to form larger block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57118-99DF-4C8E-BC47-29C23147E6CE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Buddy Blocks Illustration</a:t>
            </a:r>
          </a:p>
        </p:txBody>
      </p:sp>
      <p:sp>
        <p:nvSpPr>
          <p:cNvPr id="750596" name="Rectangle 4"/>
          <p:cNvSpPr>
            <a:spLocks noChangeArrowheads="1"/>
          </p:cNvSpPr>
          <p:nvPr/>
        </p:nvSpPr>
        <p:spPr bwMode="auto">
          <a:xfrm>
            <a:off x="609600" y="1143000"/>
            <a:ext cx="6781800" cy="533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/>
              <a:t>original memory size = 2</a:t>
            </a:r>
            <a:r>
              <a:rPr lang="en-US" altLang="en-US" sz="2400" b="1" baseline="30000"/>
              <a:t>k</a:t>
            </a:r>
          </a:p>
        </p:txBody>
      </p:sp>
      <p:sp>
        <p:nvSpPr>
          <p:cNvPr id="750597" name="Rectangle 5"/>
          <p:cNvSpPr>
            <a:spLocks noChangeArrowheads="1"/>
          </p:cNvSpPr>
          <p:nvPr/>
        </p:nvSpPr>
        <p:spPr bwMode="auto">
          <a:xfrm>
            <a:off x="457200" y="2209800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/>
              <a:t>2</a:t>
            </a:r>
            <a:r>
              <a:rPr lang="en-US" altLang="en-US" sz="2400" b="1" baseline="30000"/>
              <a:t>k </a:t>
            </a:r>
            <a:r>
              <a:rPr lang="en-US" altLang="en-US" sz="2400" b="1"/>
              <a:t>/ 2 = 2</a:t>
            </a:r>
            <a:r>
              <a:rPr lang="en-US" altLang="en-US" sz="2400" b="1" baseline="30000"/>
              <a:t>k-1</a:t>
            </a:r>
          </a:p>
        </p:txBody>
      </p:sp>
      <p:sp>
        <p:nvSpPr>
          <p:cNvPr id="750598" name="Rectangle 6"/>
          <p:cNvSpPr>
            <a:spLocks noChangeArrowheads="1"/>
          </p:cNvSpPr>
          <p:nvPr/>
        </p:nvSpPr>
        <p:spPr bwMode="auto">
          <a:xfrm>
            <a:off x="4191000" y="2209800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/>
              <a:t>2</a:t>
            </a:r>
            <a:r>
              <a:rPr lang="en-US" altLang="en-US" sz="2400" b="1" baseline="30000"/>
              <a:t>k-1</a:t>
            </a:r>
            <a:endParaRPr lang="en-US" altLang="en-US"/>
          </a:p>
        </p:txBody>
      </p:sp>
      <p:sp>
        <p:nvSpPr>
          <p:cNvPr id="750599" name="Rectangle 7"/>
          <p:cNvSpPr>
            <a:spLocks noChangeArrowheads="1"/>
          </p:cNvSpPr>
          <p:nvPr/>
        </p:nvSpPr>
        <p:spPr bwMode="auto">
          <a:xfrm>
            <a:off x="533400" y="3352800"/>
            <a:ext cx="1752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/>
              <a:t>2</a:t>
            </a:r>
            <a:r>
              <a:rPr lang="en-US" altLang="en-US" sz="2400" b="1" baseline="30000"/>
              <a:t>k-2</a:t>
            </a:r>
            <a:endParaRPr lang="en-US" altLang="en-US"/>
          </a:p>
        </p:txBody>
      </p:sp>
      <p:sp>
        <p:nvSpPr>
          <p:cNvPr id="750601" name="Rectangle 9"/>
          <p:cNvSpPr>
            <a:spLocks noChangeArrowheads="1"/>
          </p:cNvSpPr>
          <p:nvPr/>
        </p:nvSpPr>
        <p:spPr bwMode="auto">
          <a:xfrm>
            <a:off x="2667000" y="3352800"/>
            <a:ext cx="17526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/>
              <a:t>2</a:t>
            </a:r>
            <a:r>
              <a:rPr lang="en-US" altLang="en-US" sz="2400" b="1" baseline="30000"/>
              <a:t>k-2</a:t>
            </a:r>
          </a:p>
        </p:txBody>
      </p:sp>
      <p:sp>
        <p:nvSpPr>
          <p:cNvPr id="750602" name="Rectangle 10"/>
          <p:cNvSpPr>
            <a:spLocks noChangeArrowheads="1"/>
          </p:cNvSpPr>
          <p:nvPr/>
        </p:nvSpPr>
        <p:spPr bwMode="auto">
          <a:xfrm>
            <a:off x="2286000" y="4572000"/>
            <a:ext cx="9144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/>
              <a:t>2</a:t>
            </a:r>
            <a:r>
              <a:rPr lang="en-US" altLang="en-US" sz="2400" b="1" baseline="30000"/>
              <a:t>k-3</a:t>
            </a:r>
            <a:endParaRPr lang="en-US" altLang="en-US"/>
          </a:p>
        </p:txBody>
      </p:sp>
      <p:sp>
        <p:nvSpPr>
          <p:cNvPr id="750603" name="Rectangle 11"/>
          <p:cNvSpPr>
            <a:spLocks noChangeArrowheads="1"/>
          </p:cNvSpPr>
          <p:nvPr/>
        </p:nvSpPr>
        <p:spPr bwMode="auto">
          <a:xfrm>
            <a:off x="3962400" y="4572000"/>
            <a:ext cx="9144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/>
              <a:t>2</a:t>
            </a:r>
            <a:r>
              <a:rPr lang="en-US" altLang="en-US" sz="2400" b="1" baseline="30000"/>
              <a:t>k-3</a:t>
            </a:r>
          </a:p>
        </p:txBody>
      </p:sp>
      <p:sp>
        <p:nvSpPr>
          <p:cNvPr id="750604" name="Line 12"/>
          <p:cNvSpPr>
            <a:spLocks noChangeShapeType="1"/>
          </p:cNvSpPr>
          <p:nvPr/>
        </p:nvSpPr>
        <p:spPr bwMode="auto">
          <a:xfrm flipH="1">
            <a:off x="2133600" y="1676400"/>
            <a:ext cx="160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05" name="Line 13"/>
          <p:cNvSpPr>
            <a:spLocks noChangeShapeType="1"/>
          </p:cNvSpPr>
          <p:nvPr/>
        </p:nvSpPr>
        <p:spPr bwMode="auto">
          <a:xfrm>
            <a:off x="4876800" y="16764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06" name="Line 14"/>
          <p:cNvSpPr>
            <a:spLocks noChangeShapeType="1"/>
          </p:cNvSpPr>
          <p:nvPr/>
        </p:nvSpPr>
        <p:spPr bwMode="auto">
          <a:xfrm flipH="1">
            <a:off x="1371600" y="2743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07" name="Line 15"/>
          <p:cNvSpPr>
            <a:spLocks noChangeShapeType="1"/>
          </p:cNvSpPr>
          <p:nvPr/>
        </p:nvSpPr>
        <p:spPr bwMode="auto">
          <a:xfrm>
            <a:off x="3124200" y="2743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08" name="Line 16"/>
          <p:cNvSpPr>
            <a:spLocks noChangeShapeType="1"/>
          </p:cNvSpPr>
          <p:nvPr/>
        </p:nvSpPr>
        <p:spPr bwMode="auto">
          <a:xfrm flipH="1">
            <a:off x="2667000" y="38862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09" name="Line 17"/>
          <p:cNvSpPr>
            <a:spLocks noChangeShapeType="1"/>
          </p:cNvSpPr>
          <p:nvPr/>
        </p:nvSpPr>
        <p:spPr bwMode="auto">
          <a:xfrm>
            <a:off x="3886200" y="38862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50623" name="Group 31"/>
          <p:cNvGrpSpPr>
            <a:grpSpLocks/>
          </p:cNvGrpSpPr>
          <p:nvPr/>
        </p:nvGrpSpPr>
        <p:grpSpPr bwMode="auto">
          <a:xfrm>
            <a:off x="381000" y="5638800"/>
            <a:ext cx="7010400" cy="533400"/>
            <a:chOff x="576" y="3648"/>
            <a:chExt cx="4416" cy="336"/>
          </a:xfrm>
        </p:grpSpPr>
        <p:sp>
          <p:nvSpPr>
            <p:cNvPr id="750610" name="Rectangle 18"/>
            <p:cNvSpPr>
              <a:spLocks noChangeArrowheads="1"/>
            </p:cNvSpPr>
            <p:nvPr/>
          </p:nvSpPr>
          <p:spPr bwMode="auto">
            <a:xfrm>
              <a:off x="2832" y="3648"/>
              <a:ext cx="2160" cy="33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2</a:t>
              </a:r>
              <a:r>
                <a:rPr lang="en-US" altLang="en-US" sz="2400" b="1" baseline="30000"/>
                <a:t>k-1</a:t>
              </a:r>
              <a:endParaRPr lang="en-US" altLang="en-US"/>
            </a:p>
          </p:txBody>
        </p:sp>
        <p:sp>
          <p:nvSpPr>
            <p:cNvPr id="750611" name="Rectangle 19"/>
            <p:cNvSpPr>
              <a:spLocks noChangeArrowheads="1"/>
            </p:cNvSpPr>
            <p:nvPr/>
          </p:nvSpPr>
          <p:spPr bwMode="auto">
            <a:xfrm>
              <a:off x="576" y="3648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2</a:t>
              </a:r>
              <a:r>
                <a:rPr lang="en-US" altLang="en-US" sz="2400" b="1" baseline="30000"/>
                <a:t>k-2</a:t>
              </a:r>
              <a:endParaRPr lang="en-US" altLang="en-US"/>
            </a:p>
          </p:txBody>
        </p:sp>
        <p:sp>
          <p:nvSpPr>
            <p:cNvPr id="750612" name="Rectangle 20"/>
            <p:cNvSpPr>
              <a:spLocks noChangeArrowheads="1"/>
            </p:cNvSpPr>
            <p:nvPr/>
          </p:nvSpPr>
          <p:spPr bwMode="auto">
            <a:xfrm>
              <a:off x="1680" y="3648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2</a:t>
              </a:r>
              <a:r>
                <a:rPr lang="en-US" altLang="en-US" sz="2400" b="1" baseline="30000"/>
                <a:t>k-3</a:t>
              </a:r>
              <a:endParaRPr lang="en-US" altLang="en-US"/>
            </a:p>
          </p:txBody>
        </p:sp>
        <p:sp>
          <p:nvSpPr>
            <p:cNvPr id="750613" name="Rectangle 21"/>
            <p:cNvSpPr>
              <a:spLocks noChangeArrowheads="1"/>
            </p:cNvSpPr>
            <p:nvPr/>
          </p:nvSpPr>
          <p:spPr bwMode="auto">
            <a:xfrm>
              <a:off x="2256" y="3648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2</a:t>
              </a:r>
              <a:r>
                <a:rPr lang="en-US" altLang="en-US" sz="2400" b="1" baseline="30000"/>
                <a:t>k-3</a:t>
              </a:r>
            </a:p>
          </p:txBody>
        </p:sp>
      </p:grpSp>
      <p:sp>
        <p:nvSpPr>
          <p:cNvPr id="750614" name="Line 22"/>
          <p:cNvSpPr>
            <a:spLocks noChangeShapeType="1"/>
          </p:cNvSpPr>
          <p:nvPr/>
        </p:nvSpPr>
        <p:spPr bwMode="auto">
          <a:xfrm>
            <a:off x="1219200" y="3886200"/>
            <a:ext cx="45720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19" name="Line 27"/>
          <p:cNvSpPr>
            <a:spLocks noChangeShapeType="1"/>
          </p:cNvSpPr>
          <p:nvPr/>
        </p:nvSpPr>
        <p:spPr bwMode="auto">
          <a:xfrm flipH="1">
            <a:off x="2743200" y="51054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20" name="Line 28"/>
          <p:cNvSpPr>
            <a:spLocks noChangeShapeType="1"/>
          </p:cNvSpPr>
          <p:nvPr/>
        </p:nvSpPr>
        <p:spPr bwMode="auto">
          <a:xfrm flipH="1">
            <a:off x="3657600" y="51816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21" name="Line 29"/>
          <p:cNvSpPr>
            <a:spLocks noChangeShapeType="1"/>
          </p:cNvSpPr>
          <p:nvPr/>
        </p:nvSpPr>
        <p:spPr bwMode="auto">
          <a:xfrm flipH="1">
            <a:off x="6324600" y="2743200"/>
            <a:ext cx="304800" cy="2895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50622" name="Rectangle 30"/>
          <p:cNvSpPr>
            <a:spLocks noChangeArrowheads="1"/>
          </p:cNvSpPr>
          <p:nvPr/>
        </p:nvSpPr>
        <p:spPr bwMode="auto">
          <a:xfrm>
            <a:off x="7391400" y="5410200"/>
            <a:ext cx="152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/>
              <a:t>Actual partitions in memory</a:t>
            </a:r>
          </a:p>
        </p:txBody>
      </p:sp>
      <p:sp>
        <p:nvSpPr>
          <p:cNvPr id="750625" name="Rectangle 33"/>
          <p:cNvSpPr>
            <a:spLocks noChangeArrowheads="1"/>
          </p:cNvSpPr>
          <p:nvPr/>
        </p:nvSpPr>
        <p:spPr bwMode="auto">
          <a:xfrm>
            <a:off x="7620000" y="2209800"/>
            <a:ext cx="15240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/>
              <a:t>Logical relationship between blocks</a:t>
            </a:r>
          </a:p>
        </p:txBody>
      </p:sp>
      <p:sp>
        <p:nvSpPr>
          <p:cNvPr id="750626" name="AutoShape 34"/>
          <p:cNvSpPr>
            <a:spLocks/>
          </p:cNvSpPr>
          <p:nvPr/>
        </p:nvSpPr>
        <p:spPr bwMode="auto">
          <a:xfrm>
            <a:off x="7620000" y="1066800"/>
            <a:ext cx="152400" cy="4114800"/>
          </a:xfrm>
          <a:prstGeom prst="rightBrace">
            <a:avLst>
              <a:gd name="adj1" fmla="val 2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50627" name="Rectangle 35"/>
          <p:cNvSpPr>
            <a:spLocks noChangeArrowheads="1"/>
          </p:cNvSpPr>
          <p:nvPr/>
        </p:nvSpPr>
        <p:spPr bwMode="auto">
          <a:xfrm>
            <a:off x="3429000" y="1600200"/>
            <a:ext cx="152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i="1"/>
              <a:t>split in half</a:t>
            </a:r>
          </a:p>
        </p:txBody>
      </p:sp>
      <p:sp>
        <p:nvSpPr>
          <p:cNvPr id="750628" name="Rectangle 36"/>
          <p:cNvSpPr>
            <a:spLocks noChangeArrowheads="1"/>
          </p:cNvSpPr>
          <p:nvPr/>
        </p:nvSpPr>
        <p:spPr bwMode="auto">
          <a:xfrm>
            <a:off x="1676400" y="2667000"/>
            <a:ext cx="152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i="1"/>
              <a:t>split in half</a:t>
            </a:r>
          </a:p>
        </p:txBody>
      </p:sp>
      <p:sp>
        <p:nvSpPr>
          <p:cNvPr id="750629" name="Rectangle 37"/>
          <p:cNvSpPr>
            <a:spLocks noChangeArrowheads="1"/>
          </p:cNvSpPr>
          <p:nvPr/>
        </p:nvSpPr>
        <p:spPr bwMode="auto">
          <a:xfrm>
            <a:off x="2971800" y="3886200"/>
            <a:ext cx="1219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i="1"/>
              <a:t>split in half</a:t>
            </a:r>
          </a:p>
        </p:txBody>
      </p:sp>
      <p:sp>
        <p:nvSpPr>
          <p:cNvPr id="750630" name="Oval 38"/>
          <p:cNvSpPr>
            <a:spLocks noChangeArrowheads="1"/>
          </p:cNvSpPr>
          <p:nvPr/>
        </p:nvSpPr>
        <p:spPr bwMode="auto">
          <a:xfrm>
            <a:off x="1752600" y="4419600"/>
            <a:ext cx="3810000" cy="914400"/>
          </a:xfrm>
          <a:prstGeom prst="ellipse">
            <a:avLst/>
          </a:prstGeom>
          <a:noFill/>
          <a:ln w="9525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50631" name="Rectangle 39"/>
          <p:cNvSpPr>
            <a:spLocks noChangeArrowheads="1"/>
          </p:cNvSpPr>
          <p:nvPr/>
        </p:nvSpPr>
        <p:spPr bwMode="auto">
          <a:xfrm>
            <a:off x="4953000" y="4114800"/>
            <a:ext cx="121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400" i="1"/>
              <a:t>Buddy Blocks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92B30-7F94-4069-AC50-C6A1B8BBB81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Implementation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Keep an array </a:t>
            </a:r>
            <a:r>
              <a:rPr lang="en-US" altLang="en-US" b="1" dirty="0">
                <a:latin typeface="Courier New" pitchFamily="49" charset="0"/>
              </a:rPr>
              <a:t>A[0…K]</a:t>
            </a:r>
            <a:r>
              <a:rPr lang="en-US" altLang="en-US" dirty="0"/>
              <a:t>, where </a:t>
            </a:r>
            <a:r>
              <a:rPr lang="en-US" altLang="en-US" b="1" dirty="0">
                <a:latin typeface="Courier New" pitchFamily="49" charset="0"/>
              </a:rPr>
              <a:t>2</a:t>
            </a:r>
            <a:r>
              <a:rPr lang="en-US" altLang="en-US" b="1" baseline="30000" dirty="0">
                <a:latin typeface="Courier New" pitchFamily="49" charset="0"/>
              </a:rPr>
              <a:t>K</a:t>
            </a:r>
            <a:r>
              <a:rPr lang="en-US" altLang="en-US" dirty="0"/>
              <a:t> is the largest </a:t>
            </a:r>
            <a:r>
              <a:rPr lang="en-US" altLang="en-US" dirty="0" err="1"/>
              <a:t>allocatable</a:t>
            </a:r>
            <a:r>
              <a:rPr lang="en-US" altLang="en-US" dirty="0"/>
              <a:t> block size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array element </a:t>
            </a:r>
            <a:r>
              <a:rPr lang="en-US" altLang="en-US" b="1" dirty="0">
                <a:latin typeface="Courier New" pitchFamily="49" charset="0"/>
              </a:rPr>
              <a:t>A[J]</a:t>
            </a:r>
            <a:r>
              <a:rPr lang="en-US" altLang="en-US" dirty="0"/>
              <a:t> is a linked list which keep tracks of free block(s) of the size</a:t>
            </a:r>
            <a:r>
              <a:rPr lang="en-US" altLang="en-US" b="1" dirty="0">
                <a:latin typeface="Courier New" pitchFamily="49" charset="0"/>
              </a:rPr>
              <a:t> 2</a:t>
            </a:r>
            <a:r>
              <a:rPr lang="en-US" altLang="en-US" b="1" baseline="30000" dirty="0">
                <a:latin typeface="Courier New" pitchFamily="49" charset="0"/>
              </a:rPr>
              <a:t>J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free block is indicated just by the starting address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 actual implementation, there may be a smallest </a:t>
            </a:r>
            <a:r>
              <a:rPr lang="en-US" altLang="en-US" dirty="0" err="1"/>
              <a:t>allocatable</a:t>
            </a:r>
            <a:r>
              <a:rPr lang="en-US" altLang="en-US" dirty="0"/>
              <a:t> block size as well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block that is too small is not cost effective to manage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We will ignore this in the discussion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D73E6-1B4F-4134-994E-B0BCDF52BCD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Allocation Algorithm</a:t>
            </a: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dirty="0"/>
              <a:t>To allocate a block of size </a:t>
            </a:r>
            <a:r>
              <a:rPr lang="en-US" altLang="en-US" b="1" dirty="0">
                <a:solidFill>
                  <a:srgbClr val="0033CC"/>
                </a:solidFill>
              </a:rPr>
              <a:t>N</a:t>
            </a:r>
            <a:r>
              <a:rPr lang="en-US" altLang="en-US" dirty="0"/>
              <a:t>: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Find the smallest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such that </a:t>
            </a:r>
            <a:r>
              <a:rPr lang="en-US" altLang="en-US" b="1" dirty="0">
                <a:latin typeface="Courier New" pitchFamily="49" charset="0"/>
              </a:rPr>
              <a:t>2</a:t>
            </a:r>
            <a:r>
              <a:rPr lang="en-US" altLang="en-US" b="1" baseline="30000" dirty="0">
                <a:latin typeface="Courier New" pitchFamily="49" charset="0"/>
              </a:rPr>
              <a:t>S</a:t>
            </a:r>
            <a:r>
              <a:rPr lang="en-US" altLang="en-US" b="1" dirty="0">
                <a:latin typeface="Courier New" pitchFamily="49" charset="0"/>
              </a:rPr>
              <a:t> &gt;= N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Access </a:t>
            </a:r>
            <a:r>
              <a:rPr lang="en-US" altLang="en-US" b="1" dirty="0">
                <a:latin typeface="Courier New" pitchFamily="49" charset="0"/>
              </a:rPr>
              <a:t>A[S]</a:t>
            </a:r>
            <a:r>
              <a:rPr lang="en-US" altLang="en-US" dirty="0"/>
              <a:t> for a free block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 dirty="0"/>
              <a:t>If free block exists: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/>
              <a:t>Remove the block from free block list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/>
              <a:t>Allocate the block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 dirty="0"/>
              <a:t>Else</a:t>
            </a:r>
          </a:p>
          <a:p>
            <a:pPr marL="1090613" lvl="2" indent="-419100"/>
            <a:r>
              <a:rPr lang="en-US" altLang="en-US" dirty="0"/>
              <a:t>Find the smallest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R</a:t>
            </a:r>
            <a:r>
              <a:rPr lang="en-US" altLang="en-US" dirty="0"/>
              <a:t> from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S+1</a:t>
            </a:r>
            <a:r>
              <a:rPr lang="en-US" altLang="en-US" dirty="0">
                <a:solidFill>
                  <a:srgbClr val="0033CC"/>
                </a:solidFill>
              </a:rPr>
              <a:t> to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K</a:t>
            </a:r>
            <a:r>
              <a:rPr lang="en-US" altLang="en-US" dirty="0"/>
              <a:t>, such that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A[R]</a:t>
            </a:r>
            <a:r>
              <a:rPr lang="en-US" altLang="en-US" dirty="0"/>
              <a:t> has a free block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B</a:t>
            </a:r>
          </a:p>
          <a:p>
            <a:pPr marL="1090613" lvl="2" indent="-419100"/>
            <a:r>
              <a:rPr lang="en-US" altLang="en-US" dirty="0"/>
              <a:t>For (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R-1 to S</a:t>
            </a:r>
            <a:r>
              <a:rPr lang="en-US" altLang="en-US" dirty="0"/>
              <a:t>)</a:t>
            </a:r>
          </a:p>
          <a:p>
            <a:pPr marL="1404938" lvl="3" indent="-381000"/>
            <a:r>
              <a:rPr lang="en-US" altLang="en-US" dirty="0"/>
              <a:t>Repeatedly split </a:t>
            </a:r>
            <a:r>
              <a:rPr lang="en-US" altLang="en-US" b="1" dirty="0"/>
              <a:t>B</a:t>
            </a:r>
            <a:r>
              <a:rPr lang="en-US" altLang="en-US" dirty="0"/>
              <a:t>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 </a:t>
            </a:r>
            <a:r>
              <a:rPr lang="en-US" altLang="en-US" b="1" dirty="0">
                <a:latin typeface="Courier New" pitchFamily="49" charset="0"/>
              </a:rPr>
              <a:t>A[S...R-1]</a:t>
            </a:r>
            <a:r>
              <a:rPr lang="en-US" altLang="en-US" dirty="0"/>
              <a:t> has a new free block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 err="1"/>
              <a:t>Goto</a:t>
            </a:r>
            <a:r>
              <a:rPr lang="en-US" altLang="en-US" dirty="0"/>
              <a:t> Step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89B46-DE34-493D-AC38-FE075CCB9DD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Deallocation Algorithm</a:t>
            </a:r>
          </a:p>
        </p:txBody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/>
              <a:t>To free a block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: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Check in </a:t>
            </a:r>
            <a:r>
              <a:rPr lang="en-US" altLang="en-US" b="1">
                <a:latin typeface="Courier New" pitchFamily="49" charset="0"/>
              </a:rPr>
              <a:t>A[S]</a:t>
            </a:r>
            <a:r>
              <a:rPr lang="en-US" altLang="en-US"/>
              <a:t> , where </a:t>
            </a:r>
            <a:r>
              <a:rPr lang="en-US" altLang="en-US" b="1">
                <a:latin typeface="Courier New" pitchFamily="49" charset="0"/>
              </a:rPr>
              <a:t>2</a:t>
            </a:r>
            <a:r>
              <a:rPr lang="en-US" altLang="en-US" b="1" baseline="30000">
                <a:latin typeface="Courier New" pitchFamily="49" charset="0"/>
              </a:rPr>
              <a:t>S</a:t>
            </a:r>
            <a:r>
              <a:rPr lang="en-US" altLang="en-US" b="1">
                <a:latin typeface="Courier New" pitchFamily="49" charset="0"/>
              </a:rPr>
              <a:t> == size of B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If the buddy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C</a:t>
            </a:r>
            <a:r>
              <a:rPr lang="en-US" altLang="en-US"/>
              <a:t> of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exists (also free)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Remove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and C from list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Merge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and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C</a:t>
            </a:r>
            <a:r>
              <a:rPr lang="en-US" altLang="en-US"/>
              <a:t> to get a larger block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B'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Goto step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1</a:t>
            </a:r>
            <a:r>
              <a:rPr lang="en-US" altLang="en-US"/>
              <a:t>, where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 </a:t>
            </a:r>
            <a:r>
              <a:rPr lang="en-US" altLang="en-US" sz="3000">
                <a:solidFill>
                  <a:srgbClr val="0033CC"/>
                </a:solidFill>
                <a:latin typeface="Courier New" pitchFamily="49" charset="0"/>
                <a:sym typeface="Wingdings" pitchFamily="2" charset="2"/>
              </a:rPr>
              <a:t>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  <a:sym typeface="Wingdings" pitchFamily="2" charset="2"/>
              </a:rPr>
              <a:t> B'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Else  (buddy of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is not free yet)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/>
              <a:t>Insert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to the list in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A[S]</a:t>
            </a:r>
          </a:p>
          <a:p>
            <a:pPr marL="839788" lvl="1" indent="-495300">
              <a:buFont typeface="Wingdings" pitchFamily="2" charset="2"/>
              <a:buNone/>
            </a:pPr>
            <a:endParaRPr lang="en-US" altLang="en-US" sz="3000" b="1">
              <a:solidFill>
                <a:srgbClr val="0033CC"/>
              </a:solidFill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F9B8A-AA55-4B0F-8506-1525FA047137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Where is my Buddy?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/>
              <a:t>Observe that:</a:t>
            </a:r>
          </a:p>
          <a:p>
            <a:pPr lvl="1">
              <a:lnSpc>
                <a:spcPct val="80000"/>
              </a:lnSpc>
            </a:pPr>
            <a:r>
              <a:rPr lang="en-US" altLang="en-US" sz="2100"/>
              <a:t>Given block address </a:t>
            </a:r>
            <a:r>
              <a:rPr lang="en-US" altLang="en-US" sz="2100" b="1">
                <a:latin typeface="Courier New" pitchFamily="49" charset="0"/>
              </a:rPr>
              <a:t>A</a:t>
            </a:r>
            <a:r>
              <a:rPr lang="en-US" altLang="en-US" sz="2100"/>
              <a:t> is </a:t>
            </a:r>
            <a:r>
              <a:rPr lang="en-US" altLang="en-US" sz="2100" b="1">
                <a:latin typeface="Courier New" pitchFamily="49" charset="0"/>
              </a:rPr>
              <a:t>xxxx</a:t>
            </a:r>
            <a:r>
              <a:rPr lang="en-US" altLang="en-US" sz="2100" b="1">
                <a:solidFill>
                  <a:schemeClr val="tx2"/>
                </a:solidFill>
                <a:latin typeface="Courier New" pitchFamily="49" charset="0"/>
              </a:rPr>
              <a:t>0</a:t>
            </a:r>
            <a:r>
              <a:rPr lang="en-US" altLang="en-US" sz="2100">
                <a:latin typeface="Courier New" pitchFamily="49" charset="0"/>
              </a:rPr>
              <a:t>0..00</a:t>
            </a:r>
            <a:r>
              <a:rPr lang="en-US" altLang="en-US" sz="2100" baseline="-25000">
                <a:latin typeface="Courier New" pitchFamily="49" charset="0"/>
              </a:rPr>
              <a:t>2</a:t>
            </a:r>
          </a:p>
          <a:p>
            <a:pPr lvl="1">
              <a:lnSpc>
                <a:spcPct val="80000"/>
              </a:lnSpc>
            </a:pPr>
            <a:r>
              <a:rPr lang="en-US" altLang="en-US" sz="2100"/>
              <a:t>Get 2 blocks of half the size after splitting: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300"/>
              <a:t>		</a:t>
            </a:r>
            <a:r>
              <a:rPr lang="en-US" altLang="en-US" sz="2300" b="1">
                <a:latin typeface="Courier New" pitchFamily="49" charset="0"/>
              </a:rPr>
              <a:t>B</a:t>
            </a:r>
            <a:r>
              <a:rPr lang="en-US" altLang="en-US" sz="2300">
                <a:latin typeface="Courier New" pitchFamily="49" charset="0"/>
              </a:rPr>
              <a:t> = </a:t>
            </a:r>
            <a:r>
              <a:rPr lang="en-US" altLang="en-US" sz="2300" b="1">
                <a:latin typeface="Courier New" pitchFamily="49" charset="0"/>
              </a:rPr>
              <a:t>xxxxx</a:t>
            </a:r>
            <a:r>
              <a:rPr lang="en-US" altLang="en-US" sz="2300" b="1">
                <a:solidFill>
                  <a:schemeClr val="tx2"/>
                </a:solidFill>
                <a:latin typeface="Courier New" pitchFamily="49" charset="0"/>
              </a:rPr>
              <a:t>0</a:t>
            </a:r>
            <a:r>
              <a:rPr lang="en-US" altLang="en-US" sz="2300">
                <a:latin typeface="Courier New" pitchFamily="49" charset="0"/>
              </a:rPr>
              <a:t>..00</a:t>
            </a:r>
            <a:r>
              <a:rPr lang="en-US" altLang="en-US" sz="2300" baseline="-25000">
                <a:latin typeface="Courier New" pitchFamily="49" charset="0"/>
              </a:rPr>
              <a:t>2</a:t>
            </a:r>
            <a:r>
              <a:rPr lang="en-US" altLang="en-US" sz="2300" i="1"/>
              <a:t> </a:t>
            </a:r>
            <a:r>
              <a:rPr lang="en-US" altLang="en-US" sz="2300"/>
              <a:t>and </a:t>
            </a:r>
            <a:r>
              <a:rPr lang="en-US" altLang="en-US" sz="2300" b="1">
                <a:latin typeface="Courier New" pitchFamily="49" charset="0"/>
              </a:rPr>
              <a:t>C</a:t>
            </a:r>
            <a:r>
              <a:rPr lang="en-US" altLang="en-US" sz="2300">
                <a:latin typeface="Courier New" pitchFamily="49" charset="0"/>
              </a:rPr>
              <a:t> = </a:t>
            </a:r>
            <a:r>
              <a:rPr lang="en-US" altLang="en-US" sz="2300" b="1">
                <a:latin typeface="Courier New" pitchFamily="49" charset="0"/>
              </a:rPr>
              <a:t>xxxxx</a:t>
            </a:r>
            <a:r>
              <a:rPr lang="en-US" altLang="en-US" sz="2300" b="1">
                <a:solidFill>
                  <a:schemeClr val="tx2"/>
                </a:solidFill>
                <a:latin typeface="Courier New" pitchFamily="49" charset="0"/>
              </a:rPr>
              <a:t>1</a:t>
            </a:r>
            <a:r>
              <a:rPr lang="en-US" altLang="en-US" sz="2300">
                <a:latin typeface="Courier New" pitchFamily="49" charset="0"/>
              </a:rPr>
              <a:t>..00</a:t>
            </a:r>
            <a:r>
              <a:rPr lang="en-US" altLang="en-US" sz="2300" baseline="-25000">
                <a:latin typeface="Courier New" pitchFamily="49" charset="0"/>
              </a:rPr>
              <a:t>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300" baseline="-2500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60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altLang="en-US" b="1">
                <a:latin typeface="Courier New" pitchFamily="49" charset="0"/>
              </a:rPr>
              <a:t>A = 0 (000000</a:t>
            </a:r>
            <a:r>
              <a:rPr lang="en-US" altLang="en-US" sz="2100" b="1" baseline="-25000">
                <a:latin typeface="Courier New" pitchFamily="49" charset="0"/>
              </a:rPr>
              <a:t>2</a:t>
            </a:r>
            <a:r>
              <a:rPr lang="en-US" altLang="en-US" b="1">
                <a:latin typeface="Courier New" pitchFamily="49" charset="0"/>
              </a:rPr>
              <a:t>), size = 32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After splitting: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>
                <a:latin typeface="Courier New" pitchFamily="49" charset="0"/>
              </a:rPr>
              <a:t>B</a:t>
            </a:r>
            <a:r>
              <a:rPr lang="en-US" altLang="en-US" sz="2400">
                <a:latin typeface="Courier New" pitchFamily="49" charset="0"/>
              </a:rPr>
              <a:t> = 0  (</a:t>
            </a:r>
            <a:r>
              <a:rPr lang="en-US" altLang="en-US" sz="2400" b="1">
                <a:latin typeface="Courier New" pitchFamily="49" charset="0"/>
              </a:rPr>
              <a:t>0</a:t>
            </a:r>
            <a:r>
              <a:rPr lang="en-US" altLang="en-US" sz="2400" b="1">
                <a:solidFill>
                  <a:schemeClr val="tx2"/>
                </a:solidFill>
                <a:latin typeface="Courier New" pitchFamily="49" charset="0"/>
              </a:rPr>
              <a:t>0</a:t>
            </a:r>
            <a:r>
              <a:rPr lang="en-US" altLang="en-US" sz="2400">
                <a:latin typeface="Courier New" pitchFamily="49" charset="0"/>
              </a:rPr>
              <a:t>0000</a:t>
            </a:r>
            <a:r>
              <a:rPr lang="en-US" altLang="en-US" sz="1900" baseline="-25000">
                <a:latin typeface="Courier New" pitchFamily="49" charset="0"/>
              </a:rPr>
              <a:t>2</a:t>
            </a:r>
            <a:r>
              <a:rPr lang="en-US" altLang="en-US" sz="2400">
                <a:latin typeface="Courier New" pitchFamily="49" charset="0"/>
              </a:rPr>
              <a:t>), size = 16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>
                <a:latin typeface="Courier New" pitchFamily="49" charset="0"/>
              </a:rPr>
              <a:t>C</a:t>
            </a:r>
            <a:r>
              <a:rPr lang="en-US" altLang="en-US" sz="2400">
                <a:latin typeface="Courier New" pitchFamily="49" charset="0"/>
              </a:rPr>
              <a:t> = 16 (</a:t>
            </a:r>
            <a:r>
              <a:rPr lang="en-US" altLang="en-US" sz="2400" b="1">
                <a:latin typeface="Courier New" pitchFamily="49" charset="0"/>
              </a:rPr>
              <a:t>0</a:t>
            </a:r>
            <a:r>
              <a:rPr lang="en-US" altLang="en-US" sz="2400" b="1">
                <a:solidFill>
                  <a:schemeClr val="tx2"/>
                </a:solidFill>
                <a:latin typeface="Courier New" pitchFamily="49" charset="0"/>
              </a:rPr>
              <a:t>1</a:t>
            </a:r>
            <a:r>
              <a:rPr lang="en-US" altLang="en-US" sz="2400">
                <a:latin typeface="Courier New" pitchFamily="49" charset="0"/>
              </a:rPr>
              <a:t>0000</a:t>
            </a:r>
            <a:r>
              <a:rPr lang="en-US" altLang="en-US" sz="1900" baseline="-25000">
                <a:latin typeface="Courier New" pitchFamily="49" charset="0"/>
              </a:rPr>
              <a:t>2</a:t>
            </a:r>
            <a:r>
              <a:rPr lang="en-US" altLang="en-US" sz="2400">
                <a:latin typeface="Courier New" pitchFamily="49" charset="0"/>
              </a:rPr>
              <a:t>), size = 16</a:t>
            </a:r>
          </a:p>
          <a:p>
            <a:pPr>
              <a:lnSpc>
                <a:spcPct val="80000"/>
              </a:lnSpc>
            </a:pPr>
            <a:r>
              <a:rPr lang="en-US" altLang="en-US"/>
              <a:t>So, two blocks </a:t>
            </a:r>
            <a:r>
              <a:rPr lang="en-US" altLang="en-US" b="1">
                <a:latin typeface="Courier New" pitchFamily="49" charset="0"/>
              </a:rPr>
              <a:t>B</a:t>
            </a:r>
            <a:r>
              <a:rPr lang="en-US" altLang="en-US"/>
              <a:t> and </a:t>
            </a:r>
            <a:r>
              <a:rPr lang="en-US" altLang="en-US" b="1">
                <a:latin typeface="Courier New" pitchFamily="49" charset="0"/>
              </a:rPr>
              <a:t>C</a:t>
            </a:r>
            <a:r>
              <a:rPr lang="en-US" altLang="en-US"/>
              <a:t> are buddy of size </a:t>
            </a:r>
            <a:r>
              <a:rPr lang="en-US" altLang="en-US" b="1">
                <a:latin typeface="Courier New" pitchFamily="49" charset="0"/>
              </a:rPr>
              <a:t>S</a:t>
            </a:r>
            <a:r>
              <a:rPr lang="en-US" altLang="en-US"/>
              <a:t>, if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The </a:t>
            </a:r>
            <a:r>
              <a:rPr lang="en-US" altLang="en-US" sz="3000" b="1">
                <a:latin typeface="Courier New" pitchFamily="49" charset="0"/>
              </a:rPr>
              <a:t>S</a:t>
            </a:r>
            <a:r>
              <a:rPr lang="en-US" altLang="en-US" baseline="30000"/>
              <a:t>th</a:t>
            </a:r>
            <a:r>
              <a:rPr lang="en-US" altLang="en-US"/>
              <a:t> bit of </a:t>
            </a:r>
            <a:r>
              <a:rPr lang="en-US" altLang="en-US" sz="3000" b="1">
                <a:latin typeface="Courier New" pitchFamily="49" charset="0"/>
              </a:rPr>
              <a:t>B</a:t>
            </a:r>
            <a:r>
              <a:rPr lang="en-US" altLang="en-US"/>
              <a:t> and </a:t>
            </a:r>
            <a:r>
              <a:rPr lang="en-US" altLang="en-US" sz="3000" b="1">
                <a:latin typeface="Courier New" pitchFamily="49" charset="0"/>
              </a:rPr>
              <a:t>C</a:t>
            </a:r>
            <a:r>
              <a:rPr lang="en-US" altLang="en-US"/>
              <a:t> is a complement 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The leading bits up to </a:t>
            </a:r>
            <a:r>
              <a:rPr lang="en-US" altLang="en-US" sz="3000" b="1">
                <a:latin typeface="Courier New" pitchFamily="49" charset="0"/>
              </a:rPr>
              <a:t>S</a:t>
            </a:r>
            <a:r>
              <a:rPr lang="en-US" altLang="en-US" baseline="30000"/>
              <a:t>th</a:t>
            </a:r>
            <a:r>
              <a:rPr lang="en-US" altLang="en-US"/>
              <a:t> bit of </a:t>
            </a:r>
            <a:r>
              <a:rPr lang="en-US" altLang="en-US" sz="3000" b="1">
                <a:latin typeface="Courier New" pitchFamily="49" charset="0"/>
              </a:rPr>
              <a:t>B</a:t>
            </a:r>
            <a:r>
              <a:rPr lang="en-US" altLang="en-US"/>
              <a:t> and </a:t>
            </a:r>
            <a:r>
              <a:rPr lang="en-US" altLang="en-US" sz="3000" b="1">
                <a:latin typeface="Courier New" pitchFamily="49" charset="0"/>
              </a:rPr>
              <a:t>C</a:t>
            </a:r>
            <a:r>
              <a:rPr lang="en-US" altLang="en-US"/>
              <a:t> are the same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34F4FC-0702-45AF-90EC-15C26ED2C633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Buddy System: Example</a:t>
            </a:r>
          </a:p>
        </p:txBody>
      </p:sp>
      <p:sp>
        <p:nvSpPr>
          <p:cNvPr id="76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/>
              <a:t>Assume: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 the largest block is 512 (2</a:t>
            </a:r>
            <a:r>
              <a:rPr lang="en-US" altLang="en-US" sz="2200" baseline="30000"/>
              <a:t>9</a:t>
            </a:r>
            <a:r>
              <a:rPr lang="en-US" altLang="en-US" sz="2200"/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sz="2200"/>
              <a:t>Only one free block of size 512 initially</a:t>
            </a:r>
          </a:p>
        </p:txBody>
      </p:sp>
      <p:grpSp>
        <p:nvGrpSpPr>
          <p:cNvPr id="763926" name="Group 22"/>
          <p:cNvGrpSpPr>
            <a:grpSpLocks/>
          </p:cNvGrpSpPr>
          <p:nvPr/>
        </p:nvGrpSpPr>
        <p:grpSpPr bwMode="auto">
          <a:xfrm>
            <a:off x="914400" y="2362200"/>
            <a:ext cx="685800" cy="2667000"/>
            <a:chOff x="624" y="960"/>
            <a:chExt cx="432" cy="1680"/>
          </a:xfrm>
        </p:grpSpPr>
        <p:sp>
          <p:nvSpPr>
            <p:cNvPr id="763908" name="Rectangle 4"/>
            <p:cNvSpPr>
              <a:spLocks noChangeArrowheads="1"/>
            </p:cNvSpPr>
            <p:nvPr/>
          </p:nvSpPr>
          <p:spPr bwMode="auto">
            <a:xfrm>
              <a:off x="624" y="1536"/>
              <a:ext cx="432" cy="528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…</a:t>
              </a:r>
              <a:br>
                <a:rPr lang="en-US" altLang="en-US"/>
              </a:br>
              <a:r>
                <a:rPr lang="en-US" altLang="en-US"/>
                <a:t>…</a:t>
              </a:r>
              <a:br>
                <a:rPr lang="en-US" altLang="en-US"/>
              </a:br>
              <a:r>
                <a:rPr lang="en-US" altLang="en-US"/>
                <a:t>…</a:t>
              </a:r>
            </a:p>
          </p:txBody>
        </p:sp>
        <p:sp>
          <p:nvSpPr>
            <p:cNvPr id="763912" name="Rectangle 8"/>
            <p:cNvSpPr>
              <a:spLocks noChangeArrowheads="1"/>
            </p:cNvSpPr>
            <p:nvPr/>
          </p:nvSpPr>
          <p:spPr bwMode="auto">
            <a:xfrm>
              <a:off x="624" y="960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63920" name="Rectangle 16"/>
            <p:cNvSpPr>
              <a:spLocks noChangeArrowheads="1"/>
            </p:cNvSpPr>
            <p:nvPr/>
          </p:nvSpPr>
          <p:spPr bwMode="auto">
            <a:xfrm>
              <a:off x="624" y="1248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63921" name="Rectangle 17"/>
            <p:cNvSpPr>
              <a:spLocks noChangeArrowheads="1"/>
            </p:cNvSpPr>
            <p:nvPr/>
          </p:nvSpPr>
          <p:spPr bwMode="auto">
            <a:xfrm>
              <a:off x="624" y="2064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63922" name="Rectangle 18"/>
            <p:cNvSpPr>
              <a:spLocks noChangeArrowheads="1"/>
            </p:cNvSpPr>
            <p:nvPr/>
          </p:nvSpPr>
          <p:spPr bwMode="auto">
            <a:xfrm>
              <a:off x="624" y="2352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63923" name="Line 19"/>
            <p:cNvSpPr>
              <a:spLocks noChangeShapeType="1"/>
            </p:cNvSpPr>
            <p:nvPr/>
          </p:nvSpPr>
          <p:spPr bwMode="auto">
            <a:xfrm>
              <a:off x="624" y="1248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63924" name="Line 20"/>
            <p:cNvSpPr>
              <a:spLocks noChangeShapeType="1"/>
            </p:cNvSpPr>
            <p:nvPr/>
          </p:nvSpPr>
          <p:spPr bwMode="auto">
            <a:xfrm>
              <a:off x="624" y="2064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63925" name="Line 21"/>
            <p:cNvSpPr>
              <a:spLocks noChangeShapeType="1"/>
            </p:cNvSpPr>
            <p:nvPr/>
          </p:nvSpPr>
          <p:spPr bwMode="auto">
            <a:xfrm>
              <a:off x="624" y="2352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763927" name="Rectangle 23"/>
          <p:cNvSpPr>
            <a:spLocks noChangeArrowheads="1"/>
          </p:cNvSpPr>
          <p:nvPr/>
        </p:nvSpPr>
        <p:spPr bwMode="auto">
          <a:xfrm>
            <a:off x="304800" y="23622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A[9]</a:t>
            </a:r>
          </a:p>
        </p:txBody>
      </p:sp>
      <p:sp>
        <p:nvSpPr>
          <p:cNvPr id="763928" name="Rectangle 24"/>
          <p:cNvSpPr>
            <a:spLocks noChangeArrowheads="1"/>
          </p:cNvSpPr>
          <p:nvPr/>
        </p:nvSpPr>
        <p:spPr bwMode="auto">
          <a:xfrm>
            <a:off x="304800" y="28194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A[8]</a:t>
            </a:r>
          </a:p>
        </p:txBody>
      </p:sp>
      <p:sp>
        <p:nvSpPr>
          <p:cNvPr id="763929" name="Rectangle 25"/>
          <p:cNvSpPr>
            <a:spLocks noChangeArrowheads="1"/>
          </p:cNvSpPr>
          <p:nvPr/>
        </p:nvSpPr>
        <p:spPr bwMode="auto">
          <a:xfrm>
            <a:off x="304800" y="41910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A[1]</a:t>
            </a:r>
          </a:p>
        </p:txBody>
      </p:sp>
      <p:sp>
        <p:nvSpPr>
          <p:cNvPr id="763930" name="Rectangle 26"/>
          <p:cNvSpPr>
            <a:spLocks noChangeArrowheads="1"/>
          </p:cNvSpPr>
          <p:nvPr/>
        </p:nvSpPr>
        <p:spPr bwMode="auto">
          <a:xfrm>
            <a:off x="304800" y="46482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A[0]</a:t>
            </a:r>
          </a:p>
        </p:txBody>
      </p:sp>
      <p:sp>
        <p:nvSpPr>
          <p:cNvPr id="763931" name="Line 27"/>
          <p:cNvSpPr>
            <a:spLocks noChangeShapeType="1"/>
          </p:cNvSpPr>
          <p:nvPr/>
        </p:nvSpPr>
        <p:spPr bwMode="auto">
          <a:xfrm>
            <a:off x="1295400" y="2590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3932" name="Rectangle 28"/>
          <p:cNvSpPr>
            <a:spLocks noChangeArrowheads="1"/>
          </p:cNvSpPr>
          <p:nvPr/>
        </p:nvSpPr>
        <p:spPr bwMode="auto">
          <a:xfrm>
            <a:off x="1905000" y="2438400"/>
            <a:ext cx="6096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0</a:t>
            </a:r>
          </a:p>
        </p:txBody>
      </p:sp>
      <p:sp>
        <p:nvSpPr>
          <p:cNvPr id="763933" name="AutoShape 29"/>
          <p:cNvSpPr>
            <a:spLocks/>
          </p:cNvSpPr>
          <p:nvPr/>
        </p:nvSpPr>
        <p:spPr bwMode="auto">
          <a:xfrm>
            <a:off x="2286000" y="3200400"/>
            <a:ext cx="2362200" cy="609600"/>
          </a:xfrm>
          <a:prstGeom prst="accentCallout2">
            <a:avLst>
              <a:gd name="adj1" fmla="val 18750"/>
              <a:gd name="adj2" fmla="val -3227"/>
              <a:gd name="adj3" fmla="val 18750"/>
              <a:gd name="adj4" fmla="val -7727"/>
              <a:gd name="adj5" fmla="val -77343"/>
              <a:gd name="adj6" fmla="val -94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1"/>
              <a:t>Starting address = 0</a:t>
            </a:r>
            <a:br>
              <a:rPr lang="en-US" altLang="en-US" sz="1600" b="1"/>
            </a:br>
            <a:r>
              <a:rPr lang="en-US" altLang="en-US" sz="1600" b="1"/>
              <a:t>Size = 2</a:t>
            </a:r>
            <a:r>
              <a:rPr lang="en-US" altLang="en-US" sz="1600" b="1" baseline="30000"/>
              <a:t>9</a:t>
            </a:r>
          </a:p>
        </p:txBody>
      </p:sp>
      <p:sp>
        <p:nvSpPr>
          <p:cNvPr id="763934" name="AutoShape 30"/>
          <p:cNvSpPr>
            <a:spLocks/>
          </p:cNvSpPr>
          <p:nvPr/>
        </p:nvSpPr>
        <p:spPr bwMode="auto">
          <a:xfrm>
            <a:off x="2209800" y="4495800"/>
            <a:ext cx="2057400" cy="685800"/>
          </a:xfrm>
          <a:prstGeom prst="accentCallout2">
            <a:avLst>
              <a:gd name="adj1" fmla="val 16667"/>
              <a:gd name="adj2" fmla="val -3704"/>
              <a:gd name="adj3" fmla="val 16667"/>
              <a:gd name="adj4" fmla="val -19134"/>
              <a:gd name="adj5" fmla="val 29630"/>
              <a:gd name="adj6" fmla="val -3503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1"/>
              <a:t>NULL pointer to indicate no free block of this size</a:t>
            </a:r>
            <a:endParaRPr lang="en-US" altLang="en-US" sz="1600" b="1" baseline="30000"/>
          </a:p>
        </p:txBody>
      </p:sp>
      <p:sp>
        <p:nvSpPr>
          <p:cNvPr id="763935" name="Rectangle 31"/>
          <p:cNvSpPr>
            <a:spLocks noChangeArrowheads="1"/>
          </p:cNvSpPr>
          <p:nvPr/>
        </p:nvSpPr>
        <p:spPr bwMode="auto">
          <a:xfrm>
            <a:off x="685800" y="5867400"/>
            <a:ext cx="2590800" cy="304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Free Memory = 512</a:t>
            </a:r>
          </a:p>
        </p:txBody>
      </p:sp>
      <p:sp>
        <p:nvSpPr>
          <p:cNvPr id="763936" name="Text Box 32"/>
          <p:cNvSpPr txBox="1">
            <a:spLocks noChangeArrowheads="1"/>
          </p:cNvSpPr>
          <p:nvPr/>
        </p:nvSpPr>
        <p:spPr bwMode="auto">
          <a:xfrm>
            <a:off x="609600" y="55626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/>
              <a:t>0</a:t>
            </a:r>
          </a:p>
        </p:txBody>
      </p:sp>
      <p:sp>
        <p:nvSpPr>
          <p:cNvPr id="763937" name="Line 33"/>
          <p:cNvSpPr>
            <a:spLocks noChangeShapeType="1"/>
          </p:cNvSpPr>
          <p:nvPr/>
        </p:nvSpPr>
        <p:spPr bwMode="auto">
          <a:xfrm>
            <a:off x="4648200" y="22860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3938" name="Oval 34"/>
          <p:cNvSpPr>
            <a:spLocks noChangeArrowheads="1"/>
          </p:cNvSpPr>
          <p:nvPr/>
        </p:nvSpPr>
        <p:spPr bwMode="auto">
          <a:xfrm>
            <a:off x="4876800" y="22098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T1</a:t>
            </a:r>
          </a:p>
        </p:txBody>
      </p:sp>
      <p:sp>
        <p:nvSpPr>
          <p:cNvPr id="763939" name="Text Box 35"/>
          <p:cNvSpPr txBox="1">
            <a:spLocks noChangeArrowheads="1"/>
          </p:cNvSpPr>
          <p:nvPr/>
        </p:nvSpPr>
        <p:spPr bwMode="auto">
          <a:xfrm>
            <a:off x="5334000" y="2133600"/>
            <a:ext cx="34290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33CC"/>
                </a:solidFill>
              </a:rPr>
              <a:t>Request 100</a:t>
            </a:r>
          </a:p>
          <a:p>
            <a:pPr>
              <a:spcBef>
                <a:spcPct val="50000"/>
              </a:spcBef>
            </a:pPr>
            <a:r>
              <a:rPr lang="en-US" altLang="en-US" b="1"/>
              <a:t>Block P allocated at 0 </a:t>
            </a:r>
            <a:br>
              <a:rPr lang="en-US" altLang="en-US" b="1"/>
            </a:br>
            <a:r>
              <a:rPr lang="en-US" altLang="en-US" b="1"/>
              <a:t>size = 128</a:t>
            </a:r>
          </a:p>
        </p:txBody>
      </p:sp>
      <p:sp>
        <p:nvSpPr>
          <p:cNvPr id="763941" name="Rectangle 37"/>
          <p:cNvSpPr>
            <a:spLocks noChangeArrowheads="1"/>
          </p:cNvSpPr>
          <p:nvPr/>
        </p:nvSpPr>
        <p:spPr bwMode="auto">
          <a:xfrm>
            <a:off x="5562600" y="4648200"/>
            <a:ext cx="685800" cy="838200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…</a:t>
            </a:r>
            <a:br>
              <a:rPr lang="en-US" altLang="en-US"/>
            </a:br>
            <a:r>
              <a:rPr lang="en-US" altLang="en-US"/>
              <a:t>…</a:t>
            </a:r>
            <a:br>
              <a:rPr lang="en-US" altLang="en-US"/>
            </a:br>
            <a:r>
              <a:rPr lang="en-US" altLang="en-US"/>
              <a:t>…</a:t>
            </a:r>
          </a:p>
        </p:txBody>
      </p:sp>
      <p:sp>
        <p:nvSpPr>
          <p:cNvPr id="763942" name="Rectangle 38"/>
          <p:cNvSpPr>
            <a:spLocks noChangeArrowheads="1"/>
          </p:cNvSpPr>
          <p:nvPr/>
        </p:nvSpPr>
        <p:spPr bwMode="auto">
          <a:xfrm>
            <a:off x="5562600" y="32766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63943" name="Rectangle 39"/>
          <p:cNvSpPr>
            <a:spLocks noChangeArrowheads="1"/>
          </p:cNvSpPr>
          <p:nvPr/>
        </p:nvSpPr>
        <p:spPr bwMode="auto">
          <a:xfrm>
            <a:off x="5562600" y="37338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63945" name="Rectangle 41"/>
          <p:cNvSpPr>
            <a:spLocks noChangeArrowheads="1"/>
          </p:cNvSpPr>
          <p:nvPr/>
        </p:nvSpPr>
        <p:spPr bwMode="auto">
          <a:xfrm>
            <a:off x="5562600" y="54864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63947" name="Line 43"/>
          <p:cNvSpPr>
            <a:spLocks noChangeShapeType="1"/>
          </p:cNvSpPr>
          <p:nvPr/>
        </p:nvSpPr>
        <p:spPr bwMode="auto">
          <a:xfrm>
            <a:off x="5562600" y="32766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3948" name="Line 44"/>
          <p:cNvSpPr>
            <a:spLocks noChangeShapeType="1"/>
          </p:cNvSpPr>
          <p:nvPr/>
        </p:nvSpPr>
        <p:spPr bwMode="auto">
          <a:xfrm>
            <a:off x="5562600" y="54864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3949" name="Rectangle 45"/>
          <p:cNvSpPr>
            <a:spLocks noChangeArrowheads="1"/>
          </p:cNvSpPr>
          <p:nvPr/>
        </p:nvSpPr>
        <p:spPr bwMode="auto">
          <a:xfrm>
            <a:off x="4953000" y="32766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A[9]</a:t>
            </a:r>
          </a:p>
        </p:txBody>
      </p:sp>
      <p:sp>
        <p:nvSpPr>
          <p:cNvPr id="763950" name="Rectangle 46"/>
          <p:cNvSpPr>
            <a:spLocks noChangeArrowheads="1"/>
          </p:cNvSpPr>
          <p:nvPr/>
        </p:nvSpPr>
        <p:spPr bwMode="auto">
          <a:xfrm>
            <a:off x="4953000" y="37338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A[8]</a:t>
            </a:r>
          </a:p>
        </p:txBody>
      </p:sp>
      <p:sp>
        <p:nvSpPr>
          <p:cNvPr id="763952" name="Rectangle 48"/>
          <p:cNvSpPr>
            <a:spLocks noChangeArrowheads="1"/>
          </p:cNvSpPr>
          <p:nvPr/>
        </p:nvSpPr>
        <p:spPr bwMode="auto">
          <a:xfrm>
            <a:off x="4953000" y="55626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A[0]</a:t>
            </a:r>
          </a:p>
        </p:txBody>
      </p:sp>
      <p:sp>
        <p:nvSpPr>
          <p:cNvPr id="763953" name="Line 49"/>
          <p:cNvSpPr>
            <a:spLocks noChangeShapeType="1"/>
          </p:cNvSpPr>
          <p:nvPr/>
        </p:nvSpPr>
        <p:spPr bwMode="auto">
          <a:xfrm>
            <a:off x="5943600" y="3962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3954" name="Rectangle 50"/>
          <p:cNvSpPr>
            <a:spLocks noChangeArrowheads="1"/>
          </p:cNvSpPr>
          <p:nvPr/>
        </p:nvSpPr>
        <p:spPr bwMode="auto">
          <a:xfrm>
            <a:off x="6553200" y="3810000"/>
            <a:ext cx="6096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256</a:t>
            </a:r>
          </a:p>
        </p:txBody>
      </p:sp>
      <p:sp>
        <p:nvSpPr>
          <p:cNvPr id="763955" name="Rectangle 51"/>
          <p:cNvSpPr>
            <a:spLocks noChangeArrowheads="1"/>
          </p:cNvSpPr>
          <p:nvPr/>
        </p:nvSpPr>
        <p:spPr bwMode="auto">
          <a:xfrm>
            <a:off x="5562600" y="41910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63956" name="Rectangle 52"/>
          <p:cNvSpPr>
            <a:spLocks noChangeArrowheads="1"/>
          </p:cNvSpPr>
          <p:nvPr/>
        </p:nvSpPr>
        <p:spPr bwMode="auto">
          <a:xfrm>
            <a:off x="4953000" y="41910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A[7]</a:t>
            </a:r>
          </a:p>
        </p:txBody>
      </p:sp>
      <p:sp>
        <p:nvSpPr>
          <p:cNvPr id="763957" name="Line 53"/>
          <p:cNvSpPr>
            <a:spLocks noChangeShapeType="1"/>
          </p:cNvSpPr>
          <p:nvPr/>
        </p:nvSpPr>
        <p:spPr bwMode="auto">
          <a:xfrm>
            <a:off x="5943600" y="4419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3958" name="Rectangle 54"/>
          <p:cNvSpPr>
            <a:spLocks noChangeArrowheads="1"/>
          </p:cNvSpPr>
          <p:nvPr/>
        </p:nvSpPr>
        <p:spPr bwMode="auto">
          <a:xfrm>
            <a:off x="6553200" y="4267200"/>
            <a:ext cx="6096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128</a:t>
            </a:r>
          </a:p>
        </p:txBody>
      </p:sp>
      <p:sp>
        <p:nvSpPr>
          <p:cNvPr id="763959" name="Rectangle 55"/>
          <p:cNvSpPr>
            <a:spLocks noChangeArrowheads="1"/>
          </p:cNvSpPr>
          <p:nvPr/>
        </p:nvSpPr>
        <p:spPr bwMode="auto">
          <a:xfrm>
            <a:off x="6858000" y="6248400"/>
            <a:ext cx="1295400" cy="304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Free</a:t>
            </a:r>
          </a:p>
        </p:txBody>
      </p:sp>
      <p:sp>
        <p:nvSpPr>
          <p:cNvPr id="763961" name="Rectangle 57" descr="Divot"/>
          <p:cNvSpPr>
            <a:spLocks noChangeArrowheads="1"/>
          </p:cNvSpPr>
          <p:nvPr/>
        </p:nvSpPr>
        <p:spPr bwMode="auto">
          <a:xfrm>
            <a:off x="5486400" y="6248400"/>
            <a:ext cx="685800" cy="304800"/>
          </a:xfrm>
          <a:prstGeom prst="rect">
            <a:avLst/>
          </a:prstGeom>
          <a:pattFill prst="divot">
            <a:fgClr>
              <a:srgbClr val="33CC33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P</a:t>
            </a:r>
          </a:p>
        </p:txBody>
      </p:sp>
      <p:sp>
        <p:nvSpPr>
          <p:cNvPr id="763962" name="Rectangle 58"/>
          <p:cNvSpPr>
            <a:spLocks noChangeArrowheads="1"/>
          </p:cNvSpPr>
          <p:nvPr/>
        </p:nvSpPr>
        <p:spPr bwMode="auto">
          <a:xfrm>
            <a:off x="6172200" y="6248400"/>
            <a:ext cx="685800" cy="304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Free</a:t>
            </a:r>
          </a:p>
        </p:txBody>
      </p:sp>
      <p:sp>
        <p:nvSpPr>
          <p:cNvPr id="763963" name="Text Box 59"/>
          <p:cNvSpPr txBox="1">
            <a:spLocks noChangeArrowheads="1"/>
          </p:cNvSpPr>
          <p:nvPr/>
        </p:nvSpPr>
        <p:spPr bwMode="auto">
          <a:xfrm>
            <a:off x="5410200" y="59436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/>
              <a:t>0</a:t>
            </a:r>
          </a:p>
        </p:txBody>
      </p:sp>
      <p:sp>
        <p:nvSpPr>
          <p:cNvPr id="763964" name="Text Box 60"/>
          <p:cNvSpPr txBox="1">
            <a:spLocks noChangeArrowheads="1"/>
          </p:cNvSpPr>
          <p:nvPr/>
        </p:nvSpPr>
        <p:spPr bwMode="auto">
          <a:xfrm>
            <a:off x="6096000" y="594360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/>
              <a:t>128</a:t>
            </a:r>
          </a:p>
        </p:txBody>
      </p:sp>
      <p:sp>
        <p:nvSpPr>
          <p:cNvPr id="763965" name="Text Box 61"/>
          <p:cNvSpPr txBox="1">
            <a:spLocks noChangeArrowheads="1"/>
          </p:cNvSpPr>
          <p:nvPr/>
        </p:nvSpPr>
        <p:spPr bwMode="auto">
          <a:xfrm>
            <a:off x="6781800" y="594360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/>
              <a:t>256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CA6B7-9249-4E7B-ABF1-3719010E15E4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Buddy System: Example (cont)</a:t>
            </a:r>
          </a:p>
        </p:txBody>
      </p:sp>
      <p:sp>
        <p:nvSpPr>
          <p:cNvPr id="764952" name="Oval 24"/>
          <p:cNvSpPr>
            <a:spLocks noChangeArrowheads="1"/>
          </p:cNvSpPr>
          <p:nvPr/>
        </p:nvSpPr>
        <p:spPr bwMode="auto">
          <a:xfrm>
            <a:off x="609600" y="10668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T2</a:t>
            </a:r>
          </a:p>
        </p:txBody>
      </p:sp>
      <p:sp>
        <p:nvSpPr>
          <p:cNvPr id="764953" name="Text Box 25"/>
          <p:cNvSpPr txBox="1">
            <a:spLocks noChangeArrowheads="1"/>
          </p:cNvSpPr>
          <p:nvPr/>
        </p:nvSpPr>
        <p:spPr bwMode="auto">
          <a:xfrm>
            <a:off x="990600" y="1066800"/>
            <a:ext cx="34290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33CC"/>
                </a:solidFill>
              </a:rPr>
              <a:t>Request 250</a:t>
            </a:r>
          </a:p>
          <a:p>
            <a:pPr>
              <a:spcBef>
                <a:spcPct val="50000"/>
              </a:spcBef>
            </a:pPr>
            <a:r>
              <a:rPr lang="en-US" altLang="en-US" b="1"/>
              <a:t>Block Q allocated at 0 </a:t>
            </a:r>
            <a:br>
              <a:rPr lang="en-US" altLang="en-US" b="1"/>
            </a:br>
            <a:r>
              <a:rPr lang="en-US" altLang="en-US" b="1"/>
              <a:t>size = 128</a:t>
            </a:r>
          </a:p>
        </p:txBody>
      </p:sp>
      <p:grpSp>
        <p:nvGrpSpPr>
          <p:cNvPr id="764978" name="Group 50"/>
          <p:cNvGrpSpPr>
            <a:grpSpLocks/>
          </p:cNvGrpSpPr>
          <p:nvPr/>
        </p:nvGrpSpPr>
        <p:grpSpPr bwMode="auto">
          <a:xfrm>
            <a:off x="762000" y="5410200"/>
            <a:ext cx="2743200" cy="609600"/>
            <a:chOff x="720" y="3216"/>
            <a:chExt cx="1728" cy="384"/>
          </a:xfrm>
        </p:grpSpPr>
        <p:sp>
          <p:nvSpPr>
            <p:cNvPr id="764969" name="Rectangle 41" descr="Divot"/>
            <p:cNvSpPr>
              <a:spLocks noChangeArrowheads="1"/>
            </p:cNvSpPr>
            <p:nvPr/>
          </p:nvSpPr>
          <p:spPr bwMode="auto">
            <a:xfrm>
              <a:off x="1632" y="3408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Q</a:t>
              </a:r>
            </a:p>
          </p:txBody>
        </p:sp>
        <p:sp>
          <p:nvSpPr>
            <p:cNvPr id="764970" name="Rectangle 42" descr="Divot"/>
            <p:cNvSpPr>
              <a:spLocks noChangeArrowheads="1"/>
            </p:cNvSpPr>
            <p:nvPr/>
          </p:nvSpPr>
          <p:spPr bwMode="auto">
            <a:xfrm>
              <a:off x="768" y="3408"/>
              <a:ext cx="432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P</a:t>
              </a:r>
            </a:p>
          </p:txBody>
        </p:sp>
        <p:sp>
          <p:nvSpPr>
            <p:cNvPr id="764971" name="Rectangle 43"/>
            <p:cNvSpPr>
              <a:spLocks noChangeArrowheads="1"/>
            </p:cNvSpPr>
            <p:nvPr/>
          </p:nvSpPr>
          <p:spPr bwMode="auto">
            <a:xfrm>
              <a:off x="1200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Free</a:t>
              </a:r>
            </a:p>
          </p:txBody>
        </p:sp>
        <p:sp>
          <p:nvSpPr>
            <p:cNvPr id="764972" name="Text Box 44"/>
            <p:cNvSpPr txBox="1">
              <a:spLocks noChangeArrowheads="1"/>
            </p:cNvSpPr>
            <p:nvPr/>
          </p:nvSpPr>
          <p:spPr bwMode="auto">
            <a:xfrm>
              <a:off x="720" y="3216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/>
                <a:t>0</a:t>
              </a:r>
            </a:p>
          </p:txBody>
        </p:sp>
        <p:sp>
          <p:nvSpPr>
            <p:cNvPr id="764973" name="Text Box 45"/>
            <p:cNvSpPr txBox="1">
              <a:spLocks noChangeArrowheads="1"/>
            </p:cNvSpPr>
            <p:nvPr/>
          </p:nvSpPr>
          <p:spPr bwMode="auto">
            <a:xfrm>
              <a:off x="1152" y="3216"/>
              <a:ext cx="5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/>
                <a:t>128</a:t>
              </a:r>
            </a:p>
          </p:txBody>
        </p:sp>
        <p:sp>
          <p:nvSpPr>
            <p:cNvPr id="764974" name="Text Box 46"/>
            <p:cNvSpPr txBox="1">
              <a:spLocks noChangeArrowheads="1"/>
            </p:cNvSpPr>
            <p:nvPr/>
          </p:nvSpPr>
          <p:spPr bwMode="auto">
            <a:xfrm>
              <a:off x="1584" y="3216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/>
                <a:t>256</a:t>
              </a:r>
            </a:p>
          </p:txBody>
        </p:sp>
      </p:grpSp>
      <p:grpSp>
        <p:nvGrpSpPr>
          <p:cNvPr id="764977" name="Group 49"/>
          <p:cNvGrpSpPr>
            <a:grpSpLocks/>
          </p:cNvGrpSpPr>
          <p:nvPr/>
        </p:nvGrpSpPr>
        <p:grpSpPr bwMode="auto">
          <a:xfrm>
            <a:off x="685800" y="2362200"/>
            <a:ext cx="2209800" cy="2667000"/>
            <a:chOff x="432" y="1344"/>
            <a:chExt cx="1392" cy="1680"/>
          </a:xfrm>
        </p:grpSpPr>
        <p:sp>
          <p:nvSpPr>
            <p:cNvPr id="764954" name="Rectangle 26"/>
            <p:cNvSpPr>
              <a:spLocks noChangeArrowheads="1"/>
            </p:cNvSpPr>
            <p:nvPr/>
          </p:nvSpPr>
          <p:spPr bwMode="auto">
            <a:xfrm>
              <a:off x="816" y="2208"/>
              <a:ext cx="432" cy="528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…</a:t>
              </a:r>
              <a:br>
                <a:rPr lang="en-US" altLang="en-US"/>
              </a:br>
              <a:r>
                <a:rPr lang="en-US" altLang="en-US"/>
                <a:t>…</a:t>
              </a:r>
              <a:br>
                <a:rPr lang="en-US" altLang="en-US"/>
              </a:br>
              <a:r>
                <a:rPr lang="en-US" altLang="en-US"/>
                <a:t>…</a:t>
              </a:r>
            </a:p>
          </p:txBody>
        </p:sp>
        <p:sp>
          <p:nvSpPr>
            <p:cNvPr id="764955" name="Rectangle 27"/>
            <p:cNvSpPr>
              <a:spLocks noChangeArrowheads="1"/>
            </p:cNvSpPr>
            <p:nvPr/>
          </p:nvSpPr>
          <p:spPr bwMode="auto">
            <a:xfrm>
              <a:off x="816" y="1344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64956" name="Rectangle 28"/>
            <p:cNvSpPr>
              <a:spLocks noChangeArrowheads="1"/>
            </p:cNvSpPr>
            <p:nvPr/>
          </p:nvSpPr>
          <p:spPr bwMode="auto">
            <a:xfrm>
              <a:off x="816" y="1632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64957" name="Rectangle 29"/>
            <p:cNvSpPr>
              <a:spLocks noChangeArrowheads="1"/>
            </p:cNvSpPr>
            <p:nvPr/>
          </p:nvSpPr>
          <p:spPr bwMode="auto">
            <a:xfrm>
              <a:off x="816" y="2736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64958" name="Line 30"/>
            <p:cNvSpPr>
              <a:spLocks noChangeShapeType="1"/>
            </p:cNvSpPr>
            <p:nvPr/>
          </p:nvSpPr>
          <p:spPr bwMode="auto">
            <a:xfrm>
              <a:off x="816" y="1344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64959" name="Line 31"/>
            <p:cNvSpPr>
              <a:spLocks noChangeShapeType="1"/>
            </p:cNvSpPr>
            <p:nvPr/>
          </p:nvSpPr>
          <p:spPr bwMode="auto">
            <a:xfrm>
              <a:off x="816" y="2736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64960" name="Rectangle 32"/>
            <p:cNvSpPr>
              <a:spLocks noChangeArrowheads="1"/>
            </p:cNvSpPr>
            <p:nvPr/>
          </p:nvSpPr>
          <p:spPr bwMode="auto">
            <a:xfrm>
              <a:off x="432" y="1344"/>
              <a:ext cx="43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b="1"/>
                <a:t>A[9]</a:t>
              </a:r>
            </a:p>
          </p:txBody>
        </p:sp>
        <p:sp>
          <p:nvSpPr>
            <p:cNvPr id="764961" name="Rectangle 33"/>
            <p:cNvSpPr>
              <a:spLocks noChangeArrowheads="1"/>
            </p:cNvSpPr>
            <p:nvPr/>
          </p:nvSpPr>
          <p:spPr bwMode="auto">
            <a:xfrm>
              <a:off x="432" y="1632"/>
              <a:ext cx="43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b="1"/>
                <a:t>A[8]</a:t>
              </a:r>
            </a:p>
          </p:txBody>
        </p:sp>
        <p:sp>
          <p:nvSpPr>
            <p:cNvPr id="764962" name="Rectangle 34"/>
            <p:cNvSpPr>
              <a:spLocks noChangeArrowheads="1"/>
            </p:cNvSpPr>
            <p:nvPr/>
          </p:nvSpPr>
          <p:spPr bwMode="auto">
            <a:xfrm>
              <a:off x="432" y="2784"/>
              <a:ext cx="43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b="1"/>
                <a:t>A[0]</a:t>
              </a:r>
            </a:p>
          </p:txBody>
        </p:sp>
        <p:sp>
          <p:nvSpPr>
            <p:cNvPr id="764965" name="Rectangle 37"/>
            <p:cNvSpPr>
              <a:spLocks noChangeArrowheads="1"/>
            </p:cNvSpPr>
            <p:nvPr/>
          </p:nvSpPr>
          <p:spPr bwMode="auto">
            <a:xfrm>
              <a:off x="816" y="1920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64966" name="Rectangle 38"/>
            <p:cNvSpPr>
              <a:spLocks noChangeArrowheads="1"/>
            </p:cNvSpPr>
            <p:nvPr/>
          </p:nvSpPr>
          <p:spPr bwMode="auto">
            <a:xfrm>
              <a:off x="432" y="1920"/>
              <a:ext cx="43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b="1"/>
                <a:t>A[7]</a:t>
              </a:r>
            </a:p>
          </p:txBody>
        </p:sp>
        <p:sp>
          <p:nvSpPr>
            <p:cNvPr id="764967" name="Line 39"/>
            <p:cNvSpPr>
              <a:spLocks noChangeShapeType="1"/>
            </p:cNvSpPr>
            <p:nvPr/>
          </p:nvSpPr>
          <p:spPr bwMode="auto">
            <a:xfrm>
              <a:off x="1056" y="20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64968" name="Rectangle 40"/>
            <p:cNvSpPr>
              <a:spLocks noChangeArrowheads="1"/>
            </p:cNvSpPr>
            <p:nvPr/>
          </p:nvSpPr>
          <p:spPr bwMode="auto">
            <a:xfrm>
              <a:off x="1440" y="1968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128</a:t>
              </a:r>
            </a:p>
          </p:txBody>
        </p:sp>
        <p:sp>
          <p:nvSpPr>
            <p:cNvPr id="764976" name="Line 48"/>
            <p:cNvSpPr>
              <a:spLocks noChangeShapeType="1"/>
            </p:cNvSpPr>
            <p:nvPr/>
          </p:nvSpPr>
          <p:spPr bwMode="auto">
            <a:xfrm>
              <a:off x="816" y="1632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764979" name="Line 51"/>
          <p:cNvSpPr>
            <a:spLocks noChangeShapeType="1"/>
          </p:cNvSpPr>
          <p:nvPr/>
        </p:nvSpPr>
        <p:spPr bwMode="auto">
          <a:xfrm>
            <a:off x="4191000" y="1066800"/>
            <a:ext cx="0" cy="533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4980" name="Oval 52"/>
          <p:cNvSpPr>
            <a:spLocks noChangeArrowheads="1"/>
          </p:cNvSpPr>
          <p:nvPr/>
        </p:nvSpPr>
        <p:spPr bwMode="auto">
          <a:xfrm>
            <a:off x="4648200" y="10668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T3</a:t>
            </a:r>
          </a:p>
        </p:txBody>
      </p:sp>
      <p:sp>
        <p:nvSpPr>
          <p:cNvPr id="764981" name="Text Box 53"/>
          <p:cNvSpPr txBox="1">
            <a:spLocks noChangeArrowheads="1"/>
          </p:cNvSpPr>
          <p:nvPr/>
        </p:nvSpPr>
        <p:spPr bwMode="auto">
          <a:xfrm>
            <a:off x="5029200" y="1066800"/>
            <a:ext cx="3429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33CC"/>
                </a:solidFill>
              </a:rPr>
              <a:t>Free Block P</a:t>
            </a:r>
            <a:r>
              <a:rPr lang="en-US" altLang="en-US" b="1"/>
              <a:t> </a:t>
            </a:r>
          </a:p>
        </p:txBody>
      </p:sp>
      <p:grpSp>
        <p:nvGrpSpPr>
          <p:cNvPr id="765005" name="Group 77"/>
          <p:cNvGrpSpPr>
            <a:grpSpLocks/>
          </p:cNvGrpSpPr>
          <p:nvPr/>
        </p:nvGrpSpPr>
        <p:grpSpPr bwMode="auto">
          <a:xfrm>
            <a:off x="5105400" y="5410200"/>
            <a:ext cx="2743200" cy="609600"/>
            <a:chOff x="2976" y="3312"/>
            <a:chExt cx="1728" cy="384"/>
          </a:xfrm>
        </p:grpSpPr>
        <p:sp>
          <p:nvSpPr>
            <p:cNvPr id="764983" name="Rectangle 55" descr="Divot"/>
            <p:cNvSpPr>
              <a:spLocks noChangeArrowheads="1"/>
            </p:cNvSpPr>
            <p:nvPr/>
          </p:nvSpPr>
          <p:spPr bwMode="auto">
            <a:xfrm>
              <a:off x="3888" y="3504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/>
                <a:t>Q</a:t>
              </a:r>
            </a:p>
          </p:txBody>
        </p:sp>
        <p:sp>
          <p:nvSpPr>
            <p:cNvPr id="764985" name="Rectangle 57"/>
            <p:cNvSpPr>
              <a:spLocks noChangeArrowheads="1"/>
            </p:cNvSpPr>
            <p:nvPr/>
          </p:nvSpPr>
          <p:spPr bwMode="auto">
            <a:xfrm>
              <a:off x="3024" y="3504"/>
              <a:ext cx="864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Free</a:t>
              </a:r>
            </a:p>
          </p:txBody>
        </p:sp>
        <p:sp>
          <p:nvSpPr>
            <p:cNvPr id="764986" name="Text Box 58"/>
            <p:cNvSpPr txBox="1">
              <a:spLocks noChangeArrowheads="1"/>
            </p:cNvSpPr>
            <p:nvPr/>
          </p:nvSpPr>
          <p:spPr bwMode="auto">
            <a:xfrm>
              <a:off x="2976" y="3312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/>
                <a:t>0</a:t>
              </a:r>
            </a:p>
          </p:txBody>
        </p:sp>
        <p:sp>
          <p:nvSpPr>
            <p:cNvPr id="764988" name="Text Box 60"/>
            <p:cNvSpPr txBox="1">
              <a:spLocks noChangeArrowheads="1"/>
            </p:cNvSpPr>
            <p:nvPr/>
          </p:nvSpPr>
          <p:spPr bwMode="auto">
            <a:xfrm>
              <a:off x="3840" y="3312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/>
                <a:t>256</a:t>
              </a:r>
            </a:p>
          </p:txBody>
        </p:sp>
      </p:grpSp>
      <p:sp>
        <p:nvSpPr>
          <p:cNvPr id="764990" name="Rectangle 62"/>
          <p:cNvSpPr>
            <a:spLocks noChangeArrowheads="1"/>
          </p:cNvSpPr>
          <p:nvPr/>
        </p:nvSpPr>
        <p:spPr bwMode="auto">
          <a:xfrm>
            <a:off x="5486400" y="3581400"/>
            <a:ext cx="685800" cy="838200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…</a:t>
            </a:r>
            <a:br>
              <a:rPr lang="en-US" altLang="en-US"/>
            </a:br>
            <a:r>
              <a:rPr lang="en-US" altLang="en-US"/>
              <a:t>…</a:t>
            </a:r>
            <a:br>
              <a:rPr lang="en-US" altLang="en-US"/>
            </a:br>
            <a:r>
              <a:rPr lang="en-US" altLang="en-US"/>
              <a:t>…</a:t>
            </a:r>
          </a:p>
        </p:txBody>
      </p:sp>
      <p:sp>
        <p:nvSpPr>
          <p:cNvPr id="764991" name="Rectangle 63"/>
          <p:cNvSpPr>
            <a:spLocks noChangeArrowheads="1"/>
          </p:cNvSpPr>
          <p:nvPr/>
        </p:nvSpPr>
        <p:spPr bwMode="auto">
          <a:xfrm>
            <a:off x="5486400" y="22098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64992" name="Rectangle 64"/>
          <p:cNvSpPr>
            <a:spLocks noChangeArrowheads="1"/>
          </p:cNvSpPr>
          <p:nvPr/>
        </p:nvSpPr>
        <p:spPr bwMode="auto">
          <a:xfrm>
            <a:off x="5486400" y="26670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64993" name="Rectangle 65"/>
          <p:cNvSpPr>
            <a:spLocks noChangeArrowheads="1"/>
          </p:cNvSpPr>
          <p:nvPr/>
        </p:nvSpPr>
        <p:spPr bwMode="auto">
          <a:xfrm>
            <a:off x="5486400" y="44196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64994" name="Line 66"/>
          <p:cNvSpPr>
            <a:spLocks noChangeShapeType="1"/>
          </p:cNvSpPr>
          <p:nvPr/>
        </p:nvSpPr>
        <p:spPr bwMode="auto">
          <a:xfrm>
            <a:off x="5486400" y="22098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4995" name="Line 67"/>
          <p:cNvSpPr>
            <a:spLocks noChangeShapeType="1"/>
          </p:cNvSpPr>
          <p:nvPr/>
        </p:nvSpPr>
        <p:spPr bwMode="auto">
          <a:xfrm>
            <a:off x="5486400" y="44196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4996" name="Rectangle 68"/>
          <p:cNvSpPr>
            <a:spLocks noChangeArrowheads="1"/>
          </p:cNvSpPr>
          <p:nvPr/>
        </p:nvSpPr>
        <p:spPr bwMode="auto">
          <a:xfrm>
            <a:off x="4876800" y="22098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A[9]</a:t>
            </a:r>
          </a:p>
        </p:txBody>
      </p:sp>
      <p:sp>
        <p:nvSpPr>
          <p:cNvPr id="764997" name="Rectangle 69"/>
          <p:cNvSpPr>
            <a:spLocks noChangeArrowheads="1"/>
          </p:cNvSpPr>
          <p:nvPr/>
        </p:nvSpPr>
        <p:spPr bwMode="auto">
          <a:xfrm>
            <a:off x="4876800" y="26670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A[8]</a:t>
            </a:r>
          </a:p>
        </p:txBody>
      </p:sp>
      <p:sp>
        <p:nvSpPr>
          <p:cNvPr id="764998" name="Rectangle 70"/>
          <p:cNvSpPr>
            <a:spLocks noChangeArrowheads="1"/>
          </p:cNvSpPr>
          <p:nvPr/>
        </p:nvSpPr>
        <p:spPr bwMode="auto">
          <a:xfrm>
            <a:off x="4876800" y="44958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A[0]</a:t>
            </a:r>
          </a:p>
        </p:txBody>
      </p:sp>
      <p:sp>
        <p:nvSpPr>
          <p:cNvPr id="764999" name="Rectangle 71"/>
          <p:cNvSpPr>
            <a:spLocks noChangeArrowheads="1"/>
          </p:cNvSpPr>
          <p:nvPr/>
        </p:nvSpPr>
        <p:spPr bwMode="auto">
          <a:xfrm>
            <a:off x="5486400" y="31242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65000" name="Rectangle 72"/>
          <p:cNvSpPr>
            <a:spLocks noChangeArrowheads="1"/>
          </p:cNvSpPr>
          <p:nvPr/>
        </p:nvSpPr>
        <p:spPr bwMode="auto">
          <a:xfrm>
            <a:off x="4876800" y="31242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b="1"/>
              <a:t>A[7]</a:t>
            </a:r>
          </a:p>
        </p:txBody>
      </p:sp>
      <p:sp>
        <p:nvSpPr>
          <p:cNvPr id="765001" name="Line 73"/>
          <p:cNvSpPr>
            <a:spLocks noChangeShapeType="1"/>
          </p:cNvSpPr>
          <p:nvPr/>
        </p:nvSpPr>
        <p:spPr bwMode="auto">
          <a:xfrm>
            <a:off x="5867400" y="2895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65002" name="Rectangle 74"/>
          <p:cNvSpPr>
            <a:spLocks noChangeArrowheads="1"/>
          </p:cNvSpPr>
          <p:nvPr/>
        </p:nvSpPr>
        <p:spPr bwMode="auto">
          <a:xfrm>
            <a:off x="6477000" y="2743200"/>
            <a:ext cx="6096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0</a:t>
            </a:r>
          </a:p>
        </p:txBody>
      </p:sp>
      <p:sp>
        <p:nvSpPr>
          <p:cNvPr id="765004" name="Line 76"/>
          <p:cNvSpPr>
            <a:spLocks noChangeShapeType="1"/>
          </p:cNvSpPr>
          <p:nvPr/>
        </p:nvSpPr>
        <p:spPr bwMode="auto">
          <a:xfrm>
            <a:off x="5486400" y="31242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BA3E2-B62A-460B-BF94-835910FB4237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Relationship between:</a:t>
            </a:r>
          </a:p>
          <a:p>
            <a:pPr lvl="1"/>
            <a:r>
              <a:rPr lang="en-US" altLang="en-US" dirty="0"/>
              <a:t>OS, Process and Memory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Why memory abstraction is needed</a:t>
            </a:r>
          </a:p>
          <a:p>
            <a:pPr lvl="1"/>
            <a:r>
              <a:rPr lang="en-US" altLang="en-US" dirty="0"/>
              <a:t>The advantage of using logical address</a:t>
            </a:r>
          </a:p>
          <a:p>
            <a:endParaRPr lang="en-US" altLang="en-US" dirty="0"/>
          </a:p>
          <a:p>
            <a:r>
              <a:rPr lang="en-US" altLang="en-US" dirty="0"/>
              <a:t>By assuming process uses contiguous memory:</a:t>
            </a:r>
          </a:p>
          <a:p>
            <a:pPr lvl="1"/>
            <a:r>
              <a:rPr lang="en-US" altLang="en-US" dirty="0"/>
              <a:t>Various partition schemes are discussed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8343</TotalTime>
  <Words>2594</Words>
  <Application>Microsoft Office PowerPoint</Application>
  <PresentationFormat>On-screen Show (4:3)</PresentationFormat>
  <Paragraphs>674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Courier New</vt:lpstr>
      <vt:lpstr>Garamond</vt:lpstr>
      <vt:lpstr>Wingdings</vt:lpstr>
      <vt:lpstr>Edge</vt:lpstr>
      <vt:lpstr>Memory Management Memory Abstraction</vt:lpstr>
      <vt:lpstr>Overview</vt:lpstr>
      <vt:lpstr>Memory Hardware</vt:lpstr>
      <vt:lpstr>The Memory Hierarchy</vt:lpstr>
      <vt:lpstr>Recap: Memory Usage of Process</vt:lpstr>
      <vt:lpstr>Binding of Memory Address</vt:lpstr>
      <vt:lpstr>Actual Execution </vt:lpstr>
      <vt:lpstr>Memory Usage: Summary</vt:lpstr>
      <vt:lpstr>Operating System: Managing Memory</vt:lpstr>
      <vt:lpstr>Key Topics</vt:lpstr>
      <vt:lpstr>Memory Abstraction</vt:lpstr>
      <vt:lpstr>Without Memory Abstraction</vt:lpstr>
      <vt:lpstr>Without Memory Abstraction: Pros</vt:lpstr>
      <vt:lpstr>Without Memory Abstraction: Cons</vt:lpstr>
      <vt:lpstr>Fix Attempt: Address Relocation</vt:lpstr>
      <vt:lpstr>Fix Attempt 2: Base + Limit Registers</vt:lpstr>
      <vt:lpstr>Base + Limit Register: Illustration</vt:lpstr>
      <vt:lpstr>Base + Limit: Summary</vt:lpstr>
      <vt:lpstr>Memory Abstraction: Logical Address</vt:lpstr>
      <vt:lpstr>Contiguous Memory Management</vt:lpstr>
      <vt:lpstr>Contiguous Memory Management</vt:lpstr>
      <vt:lpstr>Multitasking, Context Switching &amp; Swapping</vt:lpstr>
      <vt:lpstr>Memory Partitioning</vt:lpstr>
      <vt:lpstr>Fixed Partitioning: Illustration</vt:lpstr>
      <vt:lpstr>Fixed Partitioning: Summary</vt:lpstr>
      <vt:lpstr>Dynamic Partitioning: Illustration</vt:lpstr>
      <vt:lpstr>Dynamic Partitioning: Summary</vt:lpstr>
      <vt:lpstr>Dynamic Partitioning: Allocation Algorithms</vt:lpstr>
      <vt:lpstr>Dynamic Partitioning: Merging and Compaction</vt:lpstr>
      <vt:lpstr>Dynamic Partitioning in Action: Example</vt:lpstr>
      <vt:lpstr>Dynamic Partitioning in Action: Example</vt:lpstr>
      <vt:lpstr>Dynamic Allocation Algorithm: Buddy System</vt:lpstr>
      <vt:lpstr>Buddy Blocks Illustration</vt:lpstr>
      <vt:lpstr>Buddy System: Implementation</vt:lpstr>
      <vt:lpstr>Buddy System: Allocation Algorithm</vt:lpstr>
      <vt:lpstr>Buddy System: Deallocation Algorithm</vt:lpstr>
      <vt:lpstr>Buddy System: Where is my Buddy?</vt:lpstr>
      <vt:lpstr>Buddy System: Example</vt:lpstr>
      <vt:lpstr>Buddy System: Example (cont)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686</cp:revision>
  <cp:lastPrinted>2017-10-01T16:09:47Z</cp:lastPrinted>
  <dcterms:created xsi:type="dcterms:W3CDTF">1601-01-01T00:00:00Z</dcterms:created>
  <dcterms:modified xsi:type="dcterms:W3CDTF">2025-10-13T10:05:23Z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