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  <p:sldMasterId id="2147483675" r:id="rId2"/>
  </p:sldMasterIdLst>
  <p:notesMasterIdLst>
    <p:notesMasterId r:id="rId53"/>
  </p:notesMasterIdLst>
  <p:sldIdLst>
    <p:sldId id="256" r:id="rId3"/>
    <p:sldId id="258" r:id="rId4"/>
    <p:sldId id="259" r:id="rId5"/>
    <p:sldId id="323" r:id="rId6"/>
    <p:sldId id="260" r:id="rId7"/>
    <p:sldId id="261" r:id="rId8"/>
    <p:sldId id="305" r:id="rId9"/>
    <p:sldId id="309" r:id="rId10"/>
    <p:sldId id="308" r:id="rId11"/>
    <p:sldId id="263" r:id="rId12"/>
    <p:sldId id="325" r:id="rId13"/>
    <p:sldId id="310" r:id="rId14"/>
    <p:sldId id="267" r:id="rId15"/>
    <p:sldId id="268" r:id="rId16"/>
    <p:sldId id="269" r:id="rId17"/>
    <p:sldId id="270" r:id="rId18"/>
    <p:sldId id="271" r:id="rId19"/>
    <p:sldId id="272" r:id="rId20"/>
    <p:sldId id="312" r:id="rId21"/>
    <p:sldId id="324" r:id="rId22"/>
    <p:sldId id="274" r:id="rId23"/>
    <p:sldId id="275" r:id="rId24"/>
    <p:sldId id="276" r:id="rId25"/>
    <p:sldId id="277" r:id="rId26"/>
    <p:sldId id="320" r:id="rId27"/>
    <p:sldId id="280" r:id="rId28"/>
    <p:sldId id="281" r:id="rId29"/>
    <p:sldId id="321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22" r:id="rId45"/>
    <p:sldId id="313" r:id="rId46"/>
    <p:sldId id="314" r:id="rId47"/>
    <p:sldId id="315" r:id="rId48"/>
    <p:sldId id="316" r:id="rId49"/>
    <p:sldId id="317" r:id="rId50"/>
    <p:sldId id="318" r:id="rId51"/>
    <p:sldId id="319" r:id="rId52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FFFFCC"/>
    <a:srgbClr val="006600"/>
    <a:srgbClr val="003300"/>
    <a:srgbClr val="000000"/>
    <a:srgbClr val="0033CC"/>
    <a:srgbClr val="00CCFF"/>
    <a:srgbClr val="FF9900"/>
    <a:srgbClr val="0080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2" autoAdjust="0"/>
    <p:restoredTop sz="94672"/>
  </p:normalViewPr>
  <p:slideViewPr>
    <p:cSldViewPr>
      <p:cViewPr varScale="1">
        <p:scale>
          <a:sx n="99" d="100"/>
          <a:sy n="99" d="100"/>
        </p:scale>
        <p:origin x="1304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C04C6F-8784-40EB-853D-8978CEBD1172}" type="doc">
      <dgm:prSet loTypeId="urn:microsoft.com/office/officeart/2005/8/layout/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SG"/>
        </a:p>
      </dgm:t>
    </dgm:pt>
    <dgm:pt modelId="{847970C8-E53C-4B4F-BDE3-D67933E28B0C}">
      <dgm:prSet phldrT="[Text]"/>
      <dgm:spPr>
        <a:xfrm>
          <a:off x="411480" y="2909"/>
          <a:ext cx="5760720" cy="649440"/>
        </a:xfrm>
        <a:solidFill>
          <a:srgbClr val="956251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File System Abstraction</a:t>
          </a:r>
          <a:endParaRPr lang="en-SG" i="0" dirty="0">
            <a:solidFill>
              <a:sysClr val="window" lastClr="FFFFFF"/>
            </a:solidFill>
            <a:latin typeface="Arial"/>
            <a:ea typeface="+mn-ea"/>
            <a:cs typeface="+mn-cs"/>
          </a:endParaRPr>
        </a:p>
      </dgm:t>
    </dgm:pt>
    <dgm:pt modelId="{6B6559D2-7E23-43E6-AFF7-94FCB4894452}" type="parTrans" cxnId="{CED06A8C-8FE8-4EE1-A809-CE643E719AAB}">
      <dgm:prSet/>
      <dgm:spPr/>
      <dgm:t>
        <a:bodyPr/>
        <a:lstStyle/>
        <a:p>
          <a:endParaRPr lang="en-SG"/>
        </a:p>
      </dgm:t>
    </dgm:pt>
    <dgm:pt modelId="{7D5B8AF3-F9F2-494B-B4AA-5F89EC373C86}" type="sibTrans" cxnId="{CED06A8C-8FE8-4EE1-A809-CE643E719AAB}">
      <dgm:prSet/>
      <dgm:spPr/>
      <dgm:t>
        <a:bodyPr/>
        <a:lstStyle/>
        <a:p>
          <a:endParaRPr lang="en-SG"/>
        </a:p>
      </dgm:t>
    </dgm:pt>
    <dgm:pt modelId="{BCF558FE-1165-405B-9AE0-862FCD667211}">
      <dgm:prSet phldrT="[Text]"/>
      <dgm:spPr>
        <a:xfrm>
          <a:off x="0" y="3051120"/>
          <a:ext cx="8229600" cy="918225"/>
        </a:xfr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13615356"/>
              <a:satOff val="-15991"/>
              <a:lumOff val="6144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Delve into a few commonly used file systems</a:t>
          </a:r>
        </a:p>
      </dgm:t>
    </dgm:pt>
    <dgm:pt modelId="{EF4B8792-D5EF-485A-8EE2-1935F7CF0D5E}">
      <dgm:prSet phldrT="[Text]"/>
      <dgm:spPr>
        <a:xfrm>
          <a:off x="411480" y="2726399"/>
          <a:ext cx="5760720" cy="649440"/>
        </a:xfrm>
        <a:solidFill>
          <a:srgbClr val="956251">
            <a:hueOff val="13615356"/>
            <a:satOff val="-15991"/>
            <a:lumOff val="6144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File System Case Studies</a:t>
          </a:r>
        </a:p>
      </dgm:t>
    </dgm:pt>
    <dgm:pt modelId="{59622511-87E2-4056-982C-B62CFAD4A894}" type="sibTrans" cxnId="{30DD8F4B-411F-406D-866E-D1DA8486C084}">
      <dgm:prSet/>
      <dgm:spPr/>
      <dgm:t>
        <a:bodyPr/>
        <a:lstStyle/>
        <a:p>
          <a:endParaRPr lang="en-SG"/>
        </a:p>
      </dgm:t>
    </dgm:pt>
    <dgm:pt modelId="{9FD80377-C7C0-42CE-87AF-C15FD32DCFD2}" type="parTrans" cxnId="{30DD8F4B-411F-406D-866E-D1DA8486C084}">
      <dgm:prSet/>
      <dgm:spPr/>
      <dgm:t>
        <a:bodyPr/>
        <a:lstStyle/>
        <a:p>
          <a:endParaRPr lang="en-SG"/>
        </a:p>
      </dgm:t>
    </dgm:pt>
    <dgm:pt modelId="{BBD5936C-A5E5-45F9-97C3-CA37C4001283}" type="sibTrans" cxnId="{385FE0C9-1B6A-4FA5-8093-F7E472471028}">
      <dgm:prSet/>
      <dgm:spPr/>
      <dgm:t>
        <a:bodyPr/>
        <a:lstStyle/>
        <a:p>
          <a:endParaRPr lang="en-SG"/>
        </a:p>
      </dgm:t>
    </dgm:pt>
    <dgm:pt modelId="{72BE566D-77D9-4021-8076-E828AD196428}" type="parTrans" cxnId="{385FE0C9-1B6A-4FA5-8093-F7E472471028}">
      <dgm:prSet/>
      <dgm:spPr/>
      <dgm:t>
        <a:bodyPr/>
        <a:lstStyle/>
        <a:p>
          <a:endParaRPr lang="en-SG"/>
        </a:p>
      </dgm:t>
    </dgm:pt>
    <dgm:pt modelId="{5043C3C8-A7DE-48BE-9BE5-92701A01077B}">
      <dgm:prSet phldrT="[Text]"/>
      <dgm:spPr>
        <a:xfrm>
          <a:off x="0" y="1689374"/>
          <a:ext cx="8229600" cy="918225"/>
        </a:xfr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6807678"/>
              <a:satOff val="-7995"/>
              <a:lumOff val="3072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Common implementation schemes</a:t>
          </a:r>
        </a:p>
      </dgm:t>
    </dgm:pt>
    <dgm:pt modelId="{19DC1100-A47E-4304-88BE-A5CACB459841}">
      <dgm:prSet phldrT="[Text]"/>
      <dgm:spPr>
        <a:xfrm>
          <a:off x="411480" y="1364654"/>
          <a:ext cx="5760720" cy="649440"/>
        </a:xfrm>
        <a:solidFill>
          <a:srgbClr val="956251">
            <a:hueOff val="6807678"/>
            <a:satOff val="-7995"/>
            <a:lumOff val="3072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File System Implementation Approaches</a:t>
          </a:r>
        </a:p>
      </dgm:t>
    </dgm:pt>
    <dgm:pt modelId="{69BED227-5BE2-46D7-97FD-2FF0D1BF88D6}" type="sibTrans" cxnId="{361B4C45-83E5-4C5A-BDE6-AF43E152A3AF}">
      <dgm:prSet/>
      <dgm:spPr/>
      <dgm:t>
        <a:bodyPr/>
        <a:lstStyle/>
        <a:p>
          <a:endParaRPr lang="en-SG"/>
        </a:p>
      </dgm:t>
    </dgm:pt>
    <dgm:pt modelId="{C2B2F558-A63E-4583-97AE-84FA4686079C}" type="parTrans" cxnId="{361B4C45-83E5-4C5A-BDE6-AF43E152A3AF}">
      <dgm:prSet/>
      <dgm:spPr/>
      <dgm:t>
        <a:bodyPr/>
        <a:lstStyle/>
        <a:p>
          <a:endParaRPr lang="en-SG"/>
        </a:p>
      </dgm:t>
    </dgm:pt>
    <dgm:pt modelId="{20D5F55C-32F8-4441-8F85-FF5C36D5EBB1}" type="sibTrans" cxnId="{002961B2-014E-42CA-A491-0E47F9433B11}">
      <dgm:prSet/>
      <dgm:spPr/>
      <dgm:t>
        <a:bodyPr/>
        <a:lstStyle/>
        <a:p>
          <a:endParaRPr lang="en-SG"/>
        </a:p>
      </dgm:t>
    </dgm:pt>
    <dgm:pt modelId="{D10A9BCD-04F6-4721-9868-9DC0F827FBB6}" type="parTrans" cxnId="{002961B2-014E-42CA-A491-0E47F9433B11}">
      <dgm:prSet/>
      <dgm:spPr/>
      <dgm:t>
        <a:bodyPr/>
        <a:lstStyle/>
        <a:p>
          <a:endParaRPr lang="en-SG"/>
        </a:p>
      </dgm:t>
    </dgm:pt>
    <dgm:pt modelId="{41F1EDFC-F582-438B-B8E7-28751069B10F}">
      <dgm:prSet phldrT="[Text]"/>
      <dgm:spPr>
        <a:xfrm>
          <a:off x="0" y="327629"/>
          <a:ext cx="8229600" cy="918225"/>
        </a:xfr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Discuss the logical entities present in file system</a:t>
          </a:r>
        </a:p>
      </dgm:t>
    </dgm:pt>
    <dgm:pt modelId="{A9442313-4F57-446B-A09E-B92DE2DC1B0E}" type="sibTrans" cxnId="{15237BB5-AE0B-4F2D-961A-27B760FD1F5C}">
      <dgm:prSet/>
      <dgm:spPr/>
      <dgm:t>
        <a:bodyPr/>
        <a:lstStyle/>
        <a:p>
          <a:endParaRPr lang="en-SG"/>
        </a:p>
      </dgm:t>
    </dgm:pt>
    <dgm:pt modelId="{0A5E9D19-2FF1-4B98-A206-F0D700A98242}" type="parTrans" cxnId="{15237BB5-AE0B-4F2D-961A-27B760FD1F5C}">
      <dgm:prSet/>
      <dgm:spPr/>
      <dgm:t>
        <a:bodyPr/>
        <a:lstStyle/>
        <a:p>
          <a:endParaRPr lang="en-SG"/>
        </a:p>
      </dgm:t>
    </dgm:pt>
    <dgm:pt modelId="{69A73B21-0952-4FCD-8069-9FFA1F995E70}">
      <dgm:prSet phldrT="[Text]"/>
      <dgm:spPr>
        <a:xfrm>
          <a:off x="0" y="327629"/>
          <a:ext cx="8229600" cy="918225"/>
        </a:xfr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E.g. Files / Directories</a:t>
          </a:r>
        </a:p>
      </dgm:t>
    </dgm:pt>
    <dgm:pt modelId="{2F0F650C-4595-4F2B-8313-1D4F560DE89C}" type="parTrans" cxnId="{6E435D19-92E1-40A3-9A7C-3A640F458EFD}">
      <dgm:prSet/>
      <dgm:spPr/>
      <dgm:t>
        <a:bodyPr/>
        <a:lstStyle/>
        <a:p>
          <a:endParaRPr lang="en-US"/>
        </a:p>
      </dgm:t>
    </dgm:pt>
    <dgm:pt modelId="{328CE3E8-7DE3-4B2F-9324-AF08157EC90C}" type="sibTrans" cxnId="{6E435D19-92E1-40A3-9A7C-3A640F458EFD}">
      <dgm:prSet/>
      <dgm:spPr/>
      <dgm:t>
        <a:bodyPr/>
        <a:lstStyle/>
        <a:p>
          <a:endParaRPr lang="en-US"/>
        </a:p>
      </dgm:t>
    </dgm:pt>
    <dgm:pt modelId="{14D62866-B488-4DA4-9B7E-79FA41843F1C}">
      <dgm:prSet phldrT="[Text]"/>
      <dgm:spPr>
        <a:xfrm>
          <a:off x="0" y="1689374"/>
          <a:ext cx="8229600" cy="918225"/>
        </a:xfr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6807678"/>
              <a:satOff val="-7995"/>
              <a:lumOff val="3072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Discuss pros/cons</a:t>
          </a:r>
        </a:p>
      </dgm:t>
    </dgm:pt>
    <dgm:pt modelId="{3D738380-458B-401F-A20B-3C96F58507A6}" type="parTrans" cxnId="{46591E14-FE8E-4BAF-B531-0587D57BB64A}">
      <dgm:prSet/>
      <dgm:spPr/>
      <dgm:t>
        <a:bodyPr/>
        <a:lstStyle/>
        <a:p>
          <a:endParaRPr lang="en-US"/>
        </a:p>
      </dgm:t>
    </dgm:pt>
    <dgm:pt modelId="{5EF04823-791B-4413-A9B3-1D341D2F8E08}" type="sibTrans" cxnId="{46591E14-FE8E-4BAF-B531-0587D57BB64A}">
      <dgm:prSet/>
      <dgm:spPr/>
      <dgm:t>
        <a:bodyPr/>
        <a:lstStyle/>
        <a:p>
          <a:endParaRPr lang="en-US"/>
        </a:p>
      </dgm:t>
    </dgm:pt>
    <dgm:pt modelId="{8762BDF2-D115-4DEA-80D9-B7EB6FE8ACA3}" type="pres">
      <dgm:prSet presAssocID="{1FC04C6F-8784-40EB-853D-8978CEBD1172}" presName="linear" presStyleCnt="0">
        <dgm:presLayoutVars>
          <dgm:dir/>
          <dgm:animLvl val="lvl"/>
          <dgm:resizeHandles val="exact"/>
        </dgm:presLayoutVars>
      </dgm:prSet>
      <dgm:spPr/>
    </dgm:pt>
    <dgm:pt modelId="{36326D2F-11A1-4EDB-BBF9-91F15A675029}" type="pres">
      <dgm:prSet presAssocID="{847970C8-E53C-4B4F-BDE3-D67933E28B0C}" presName="parentLin" presStyleCnt="0"/>
      <dgm:spPr/>
    </dgm:pt>
    <dgm:pt modelId="{F2C4E387-D0C4-4D15-A5DB-6C2950D6552B}" type="pres">
      <dgm:prSet presAssocID="{847970C8-E53C-4B4F-BDE3-D67933E28B0C}" presName="parentLeftMargin" presStyleLbl="node1" presStyleIdx="0" presStyleCnt="3"/>
      <dgm:spPr>
        <a:prstGeom prst="roundRect">
          <a:avLst/>
        </a:prstGeom>
      </dgm:spPr>
    </dgm:pt>
    <dgm:pt modelId="{A0F1045D-1404-448F-A99E-5A525546E0A0}" type="pres">
      <dgm:prSet presAssocID="{847970C8-E53C-4B4F-BDE3-D67933E28B0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46106B0-1DDD-4A32-8A4A-B8BCD6C252D7}" type="pres">
      <dgm:prSet presAssocID="{847970C8-E53C-4B4F-BDE3-D67933E28B0C}" presName="negativeSpace" presStyleCnt="0"/>
      <dgm:spPr/>
    </dgm:pt>
    <dgm:pt modelId="{F8862E14-A98C-400C-98A6-DF9C25DE3A1D}" type="pres">
      <dgm:prSet presAssocID="{847970C8-E53C-4B4F-BDE3-D67933E28B0C}" presName="childText" presStyleLbl="conFgAcc1" presStyleIdx="0" presStyleCnt="3">
        <dgm:presLayoutVars>
          <dgm:bulletEnabled val="1"/>
        </dgm:presLayoutVars>
      </dgm:prSet>
      <dgm:spPr>
        <a:prstGeom prst="rect">
          <a:avLst/>
        </a:prstGeom>
      </dgm:spPr>
    </dgm:pt>
    <dgm:pt modelId="{C1A842E3-2D5C-48B1-9B3A-0CF91061E0E8}" type="pres">
      <dgm:prSet presAssocID="{7D5B8AF3-F9F2-494B-B4AA-5F89EC373C86}" presName="spaceBetweenRectangles" presStyleCnt="0"/>
      <dgm:spPr/>
    </dgm:pt>
    <dgm:pt modelId="{5AC5264A-BD87-4ADA-805A-CAD87053C504}" type="pres">
      <dgm:prSet presAssocID="{19DC1100-A47E-4304-88BE-A5CACB459841}" presName="parentLin" presStyleCnt="0"/>
      <dgm:spPr/>
    </dgm:pt>
    <dgm:pt modelId="{365DDBCD-6A59-4480-BDDD-74ED4A644E1F}" type="pres">
      <dgm:prSet presAssocID="{19DC1100-A47E-4304-88BE-A5CACB459841}" presName="parentLeftMargin" presStyleLbl="node1" presStyleIdx="0" presStyleCnt="3"/>
      <dgm:spPr>
        <a:prstGeom prst="roundRect">
          <a:avLst/>
        </a:prstGeom>
      </dgm:spPr>
    </dgm:pt>
    <dgm:pt modelId="{5F21E593-7E76-4519-9E50-0F90DEFA97F1}" type="pres">
      <dgm:prSet presAssocID="{19DC1100-A47E-4304-88BE-A5CACB45984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52FA751-86C5-407F-8C80-698997DA5D1E}" type="pres">
      <dgm:prSet presAssocID="{19DC1100-A47E-4304-88BE-A5CACB459841}" presName="negativeSpace" presStyleCnt="0"/>
      <dgm:spPr/>
    </dgm:pt>
    <dgm:pt modelId="{9452430F-0D41-48E6-9EFF-D0BD9AF10AE5}" type="pres">
      <dgm:prSet presAssocID="{19DC1100-A47E-4304-88BE-A5CACB459841}" presName="childText" presStyleLbl="conFgAcc1" presStyleIdx="1" presStyleCnt="3">
        <dgm:presLayoutVars>
          <dgm:bulletEnabled val="1"/>
        </dgm:presLayoutVars>
      </dgm:prSet>
      <dgm:spPr>
        <a:prstGeom prst="rect">
          <a:avLst/>
        </a:prstGeom>
      </dgm:spPr>
    </dgm:pt>
    <dgm:pt modelId="{3788BD41-D0EE-4029-ADAB-6981B3F2E61A}" type="pres">
      <dgm:prSet presAssocID="{69BED227-5BE2-46D7-97FD-2FF0D1BF88D6}" presName="spaceBetweenRectangles" presStyleCnt="0"/>
      <dgm:spPr/>
    </dgm:pt>
    <dgm:pt modelId="{64A41BB2-7EFA-4810-8102-ED601E93EA83}" type="pres">
      <dgm:prSet presAssocID="{EF4B8792-D5EF-485A-8EE2-1935F7CF0D5E}" presName="parentLin" presStyleCnt="0"/>
      <dgm:spPr/>
    </dgm:pt>
    <dgm:pt modelId="{F9A3B8BB-320B-43A5-8B55-882361E8B62A}" type="pres">
      <dgm:prSet presAssocID="{EF4B8792-D5EF-485A-8EE2-1935F7CF0D5E}" presName="parentLeftMargin" presStyleLbl="node1" presStyleIdx="1" presStyleCnt="3"/>
      <dgm:spPr>
        <a:prstGeom prst="roundRect">
          <a:avLst/>
        </a:prstGeom>
      </dgm:spPr>
    </dgm:pt>
    <dgm:pt modelId="{9A6DF595-0921-4B96-89D8-7C40037CDB5A}" type="pres">
      <dgm:prSet presAssocID="{EF4B8792-D5EF-485A-8EE2-1935F7CF0D5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61EB1A3-3FF9-4005-91D4-E626EBCD91B5}" type="pres">
      <dgm:prSet presAssocID="{EF4B8792-D5EF-485A-8EE2-1935F7CF0D5E}" presName="negativeSpace" presStyleCnt="0"/>
      <dgm:spPr/>
    </dgm:pt>
    <dgm:pt modelId="{76DFFF08-9C74-4D9A-B9A5-AFC5EBEC37F1}" type="pres">
      <dgm:prSet presAssocID="{EF4B8792-D5EF-485A-8EE2-1935F7CF0D5E}" presName="childText" presStyleLbl="conFgAcc1" presStyleIdx="2" presStyleCnt="3">
        <dgm:presLayoutVars>
          <dgm:bulletEnabled val="1"/>
        </dgm:presLayoutVars>
      </dgm:prSet>
      <dgm:spPr>
        <a:prstGeom prst="rect">
          <a:avLst/>
        </a:prstGeom>
      </dgm:spPr>
    </dgm:pt>
  </dgm:ptLst>
  <dgm:cxnLst>
    <dgm:cxn modelId="{46591E14-FE8E-4BAF-B531-0587D57BB64A}" srcId="{19DC1100-A47E-4304-88BE-A5CACB459841}" destId="{14D62866-B488-4DA4-9B7E-79FA41843F1C}" srcOrd="1" destOrd="0" parTransId="{3D738380-458B-401F-A20B-3C96F58507A6}" sibTransId="{5EF04823-791B-4413-A9B3-1D341D2F8E08}"/>
    <dgm:cxn modelId="{6E435D19-92E1-40A3-9A7C-3A640F458EFD}" srcId="{847970C8-E53C-4B4F-BDE3-D67933E28B0C}" destId="{69A73B21-0952-4FCD-8069-9FFA1F995E70}" srcOrd="1" destOrd="0" parTransId="{2F0F650C-4595-4F2B-8313-1D4F560DE89C}" sibTransId="{328CE3E8-7DE3-4B2F-9324-AF08157EC90C}"/>
    <dgm:cxn modelId="{9A6D7C2B-D0CE-4FC2-ACC7-22E9122BD0B8}" type="presOf" srcId="{5043C3C8-A7DE-48BE-9BE5-92701A01077B}" destId="{9452430F-0D41-48E6-9EFF-D0BD9AF10AE5}" srcOrd="0" destOrd="0" presId="urn:microsoft.com/office/officeart/2005/8/layout/list1"/>
    <dgm:cxn modelId="{361B4C45-83E5-4C5A-BDE6-AF43E152A3AF}" srcId="{1FC04C6F-8784-40EB-853D-8978CEBD1172}" destId="{19DC1100-A47E-4304-88BE-A5CACB459841}" srcOrd="1" destOrd="0" parTransId="{C2B2F558-A63E-4583-97AE-84FA4686079C}" sibTransId="{69BED227-5BE2-46D7-97FD-2FF0D1BF88D6}"/>
    <dgm:cxn modelId="{30DD8F4B-411F-406D-866E-D1DA8486C084}" srcId="{1FC04C6F-8784-40EB-853D-8978CEBD1172}" destId="{EF4B8792-D5EF-485A-8EE2-1935F7CF0D5E}" srcOrd="2" destOrd="0" parTransId="{9FD80377-C7C0-42CE-87AF-C15FD32DCFD2}" sibTransId="{59622511-87E2-4056-982C-B62CFAD4A894}"/>
    <dgm:cxn modelId="{61BA634C-AEDC-416C-9D8B-75D8EB0EA30D}" type="presOf" srcId="{19DC1100-A47E-4304-88BE-A5CACB459841}" destId="{5F21E593-7E76-4519-9E50-0F90DEFA97F1}" srcOrd="1" destOrd="0" presId="urn:microsoft.com/office/officeart/2005/8/layout/list1"/>
    <dgm:cxn modelId="{FB4D0155-193D-4E5F-A4BA-23560A8B774F}" type="presOf" srcId="{69A73B21-0952-4FCD-8069-9FFA1F995E70}" destId="{F8862E14-A98C-400C-98A6-DF9C25DE3A1D}" srcOrd="0" destOrd="1" presId="urn:microsoft.com/office/officeart/2005/8/layout/list1"/>
    <dgm:cxn modelId="{EDE9FF71-1C23-45E0-A7F1-611F9DBC950F}" type="presOf" srcId="{19DC1100-A47E-4304-88BE-A5CACB459841}" destId="{365DDBCD-6A59-4480-BDDD-74ED4A644E1F}" srcOrd="0" destOrd="0" presId="urn:microsoft.com/office/officeart/2005/8/layout/list1"/>
    <dgm:cxn modelId="{476B7D81-5DAF-4D09-93C3-5F7E1FBBA1D7}" type="presOf" srcId="{EF4B8792-D5EF-485A-8EE2-1935F7CF0D5E}" destId="{F9A3B8BB-320B-43A5-8B55-882361E8B62A}" srcOrd="0" destOrd="0" presId="urn:microsoft.com/office/officeart/2005/8/layout/list1"/>
    <dgm:cxn modelId="{40CB1B8A-7D93-4FC0-984C-BA4A17E605D0}" type="presOf" srcId="{847970C8-E53C-4B4F-BDE3-D67933E28B0C}" destId="{A0F1045D-1404-448F-A99E-5A525546E0A0}" srcOrd="1" destOrd="0" presId="urn:microsoft.com/office/officeart/2005/8/layout/list1"/>
    <dgm:cxn modelId="{CED06A8C-8FE8-4EE1-A809-CE643E719AAB}" srcId="{1FC04C6F-8784-40EB-853D-8978CEBD1172}" destId="{847970C8-E53C-4B4F-BDE3-D67933E28B0C}" srcOrd="0" destOrd="0" parTransId="{6B6559D2-7E23-43E6-AFF7-94FCB4894452}" sibTransId="{7D5B8AF3-F9F2-494B-B4AA-5F89EC373C86}"/>
    <dgm:cxn modelId="{9D7BB0A1-A52D-4CF9-BCB3-25E570A64DFE}" type="presOf" srcId="{14D62866-B488-4DA4-9B7E-79FA41843F1C}" destId="{9452430F-0D41-48E6-9EFF-D0BD9AF10AE5}" srcOrd="0" destOrd="1" presId="urn:microsoft.com/office/officeart/2005/8/layout/list1"/>
    <dgm:cxn modelId="{002961B2-014E-42CA-A491-0E47F9433B11}" srcId="{19DC1100-A47E-4304-88BE-A5CACB459841}" destId="{5043C3C8-A7DE-48BE-9BE5-92701A01077B}" srcOrd="0" destOrd="0" parTransId="{D10A9BCD-04F6-4721-9868-9DC0F827FBB6}" sibTransId="{20D5F55C-32F8-4441-8F85-FF5C36D5EBB1}"/>
    <dgm:cxn modelId="{15237BB5-AE0B-4F2D-961A-27B760FD1F5C}" srcId="{847970C8-E53C-4B4F-BDE3-D67933E28B0C}" destId="{41F1EDFC-F582-438B-B8E7-28751069B10F}" srcOrd="0" destOrd="0" parTransId="{0A5E9D19-2FF1-4B98-A206-F0D700A98242}" sibTransId="{A9442313-4F57-446B-A09E-B92DE2DC1B0E}"/>
    <dgm:cxn modelId="{385FE0C9-1B6A-4FA5-8093-F7E472471028}" srcId="{EF4B8792-D5EF-485A-8EE2-1935F7CF0D5E}" destId="{BCF558FE-1165-405B-9AE0-862FCD667211}" srcOrd="0" destOrd="0" parTransId="{72BE566D-77D9-4021-8076-E828AD196428}" sibTransId="{BBD5936C-A5E5-45F9-97C3-CA37C4001283}"/>
    <dgm:cxn modelId="{B5AB5FCB-AF23-41DC-BCCB-0120CAC127BE}" type="presOf" srcId="{41F1EDFC-F582-438B-B8E7-28751069B10F}" destId="{F8862E14-A98C-400C-98A6-DF9C25DE3A1D}" srcOrd="0" destOrd="0" presId="urn:microsoft.com/office/officeart/2005/8/layout/list1"/>
    <dgm:cxn modelId="{F81CEDDD-2244-4C58-8A58-305834C79251}" type="presOf" srcId="{EF4B8792-D5EF-485A-8EE2-1935F7CF0D5E}" destId="{9A6DF595-0921-4B96-89D8-7C40037CDB5A}" srcOrd="1" destOrd="0" presId="urn:microsoft.com/office/officeart/2005/8/layout/list1"/>
    <dgm:cxn modelId="{F044EBDE-8865-4297-838A-649B2A3BCACA}" type="presOf" srcId="{847970C8-E53C-4B4F-BDE3-D67933E28B0C}" destId="{F2C4E387-D0C4-4D15-A5DB-6C2950D6552B}" srcOrd="0" destOrd="0" presId="urn:microsoft.com/office/officeart/2005/8/layout/list1"/>
    <dgm:cxn modelId="{8A5B27FA-173D-486F-AB3E-D3F418A9B408}" type="presOf" srcId="{1FC04C6F-8784-40EB-853D-8978CEBD1172}" destId="{8762BDF2-D115-4DEA-80D9-B7EB6FE8ACA3}" srcOrd="0" destOrd="0" presId="urn:microsoft.com/office/officeart/2005/8/layout/list1"/>
    <dgm:cxn modelId="{BE5053FD-E6F0-41F1-A71F-E85D0E88E842}" type="presOf" srcId="{BCF558FE-1165-405B-9AE0-862FCD667211}" destId="{76DFFF08-9C74-4D9A-B9A5-AFC5EBEC37F1}" srcOrd="0" destOrd="0" presId="urn:microsoft.com/office/officeart/2005/8/layout/list1"/>
    <dgm:cxn modelId="{9F06E231-F943-43FD-B8AA-607563684C51}" type="presParOf" srcId="{8762BDF2-D115-4DEA-80D9-B7EB6FE8ACA3}" destId="{36326D2F-11A1-4EDB-BBF9-91F15A675029}" srcOrd="0" destOrd="0" presId="urn:microsoft.com/office/officeart/2005/8/layout/list1"/>
    <dgm:cxn modelId="{72B06E97-E7F5-4F85-ABAC-DBF98F291050}" type="presParOf" srcId="{36326D2F-11A1-4EDB-BBF9-91F15A675029}" destId="{F2C4E387-D0C4-4D15-A5DB-6C2950D6552B}" srcOrd="0" destOrd="0" presId="urn:microsoft.com/office/officeart/2005/8/layout/list1"/>
    <dgm:cxn modelId="{7F4221D5-1CD1-45D5-BAF3-B73B2EED43FE}" type="presParOf" srcId="{36326D2F-11A1-4EDB-BBF9-91F15A675029}" destId="{A0F1045D-1404-448F-A99E-5A525546E0A0}" srcOrd="1" destOrd="0" presId="urn:microsoft.com/office/officeart/2005/8/layout/list1"/>
    <dgm:cxn modelId="{D77A9C1C-A948-4E8C-ABBF-67794A95DE08}" type="presParOf" srcId="{8762BDF2-D115-4DEA-80D9-B7EB6FE8ACA3}" destId="{A46106B0-1DDD-4A32-8A4A-B8BCD6C252D7}" srcOrd="1" destOrd="0" presId="urn:microsoft.com/office/officeart/2005/8/layout/list1"/>
    <dgm:cxn modelId="{993FE06A-4494-440A-83C0-F2F5EF3395A5}" type="presParOf" srcId="{8762BDF2-D115-4DEA-80D9-B7EB6FE8ACA3}" destId="{F8862E14-A98C-400C-98A6-DF9C25DE3A1D}" srcOrd="2" destOrd="0" presId="urn:microsoft.com/office/officeart/2005/8/layout/list1"/>
    <dgm:cxn modelId="{CF7554E3-CE75-4788-831B-7CE93C0D0BB6}" type="presParOf" srcId="{8762BDF2-D115-4DEA-80D9-B7EB6FE8ACA3}" destId="{C1A842E3-2D5C-48B1-9B3A-0CF91061E0E8}" srcOrd="3" destOrd="0" presId="urn:microsoft.com/office/officeart/2005/8/layout/list1"/>
    <dgm:cxn modelId="{15810732-DF27-41A6-8D85-A65A139B8ED7}" type="presParOf" srcId="{8762BDF2-D115-4DEA-80D9-B7EB6FE8ACA3}" destId="{5AC5264A-BD87-4ADA-805A-CAD87053C504}" srcOrd="4" destOrd="0" presId="urn:microsoft.com/office/officeart/2005/8/layout/list1"/>
    <dgm:cxn modelId="{00B78823-C120-49C5-92BD-F12855523F1B}" type="presParOf" srcId="{5AC5264A-BD87-4ADA-805A-CAD87053C504}" destId="{365DDBCD-6A59-4480-BDDD-74ED4A644E1F}" srcOrd="0" destOrd="0" presId="urn:microsoft.com/office/officeart/2005/8/layout/list1"/>
    <dgm:cxn modelId="{7E5C5FFE-506C-4EBF-9346-ECFCFEA34C3E}" type="presParOf" srcId="{5AC5264A-BD87-4ADA-805A-CAD87053C504}" destId="{5F21E593-7E76-4519-9E50-0F90DEFA97F1}" srcOrd="1" destOrd="0" presId="urn:microsoft.com/office/officeart/2005/8/layout/list1"/>
    <dgm:cxn modelId="{6E8CF279-847B-4767-BDAB-D6B944CC38E9}" type="presParOf" srcId="{8762BDF2-D115-4DEA-80D9-B7EB6FE8ACA3}" destId="{C52FA751-86C5-407F-8C80-698997DA5D1E}" srcOrd="5" destOrd="0" presId="urn:microsoft.com/office/officeart/2005/8/layout/list1"/>
    <dgm:cxn modelId="{BE0D54CA-39BA-4DA5-94EF-005008667F46}" type="presParOf" srcId="{8762BDF2-D115-4DEA-80D9-B7EB6FE8ACA3}" destId="{9452430F-0D41-48E6-9EFF-D0BD9AF10AE5}" srcOrd="6" destOrd="0" presId="urn:microsoft.com/office/officeart/2005/8/layout/list1"/>
    <dgm:cxn modelId="{85FB73F4-7814-44B4-8258-2923D999076A}" type="presParOf" srcId="{8762BDF2-D115-4DEA-80D9-B7EB6FE8ACA3}" destId="{3788BD41-D0EE-4029-ADAB-6981B3F2E61A}" srcOrd="7" destOrd="0" presId="urn:microsoft.com/office/officeart/2005/8/layout/list1"/>
    <dgm:cxn modelId="{01D47B00-D391-41F3-8B62-9006ED00FCEF}" type="presParOf" srcId="{8762BDF2-D115-4DEA-80D9-B7EB6FE8ACA3}" destId="{64A41BB2-7EFA-4810-8102-ED601E93EA83}" srcOrd="8" destOrd="0" presId="urn:microsoft.com/office/officeart/2005/8/layout/list1"/>
    <dgm:cxn modelId="{7C1AF74D-D229-410C-A772-907A2362CC80}" type="presParOf" srcId="{64A41BB2-7EFA-4810-8102-ED601E93EA83}" destId="{F9A3B8BB-320B-43A5-8B55-882361E8B62A}" srcOrd="0" destOrd="0" presId="urn:microsoft.com/office/officeart/2005/8/layout/list1"/>
    <dgm:cxn modelId="{072A6CD8-9C24-4839-B49E-7937791C8B72}" type="presParOf" srcId="{64A41BB2-7EFA-4810-8102-ED601E93EA83}" destId="{9A6DF595-0921-4B96-89D8-7C40037CDB5A}" srcOrd="1" destOrd="0" presId="urn:microsoft.com/office/officeart/2005/8/layout/list1"/>
    <dgm:cxn modelId="{AF3DF1C0-B9E9-49B5-AA7C-A92D0356A07B}" type="presParOf" srcId="{8762BDF2-D115-4DEA-80D9-B7EB6FE8ACA3}" destId="{F61EB1A3-3FF9-4005-91D4-E626EBCD91B5}" srcOrd="9" destOrd="0" presId="urn:microsoft.com/office/officeart/2005/8/layout/list1"/>
    <dgm:cxn modelId="{8F14C8D2-E254-4E88-9DC0-C5DD82008B5E}" type="presParOf" srcId="{8762BDF2-D115-4DEA-80D9-B7EB6FE8ACA3}" destId="{76DFFF08-9C74-4D9A-B9A5-AFC5EBEC37F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862E14-A98C-400C-98A6-DF9C25DE3A1D}">
      <dsp:nvSpPr>
        <dsp:cNvPr id="0" name=""/>
        <dsp:cNvSpPr/>
      </dsp:nvSpPr>
      <dsp:spPr>
        <a:xfrm>
          <a:off x="0" y="498630"/>
          <a:ext cx="8229600" cy="13608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99872" rIns="63870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24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Discuss the logical entities present in file system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24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E.g. Files / Directories</a:t>
          </a:r>
        </a:p>
      </dsp:txBody>
      <dsp:txXfrm>
        <a:off x="0" y="498630"/>
        <a:ext cx="8229600" cy="1360800"/>
      </dsp:txXfrm>
    </dsp:sp>
    <dsp:sp modelId="{A0F1045D-1404-448F-A99E-5A525546E0A0}">
      <dsp:nvSpPr>
        <dsp:cNvPr id="0" name=""/>
        <dsp:cNvSpPr/>
      </dsp:nvSpPr>
      <dsp:spPr>
        <a:xfrm>
          <a:off x="411480" y="144390"/>
          <a:ext cx="5760720" cy="708480"/>
        </a:xfrm>
        <a:prstGeom prst="roundRect">
          <a:avLst/>
        </a:prstGeom>
        <a:solidFill>
          <a:srgbClr val="956251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File System Abstraction</a:t>
          </a:r>
          <a:endParaRPr lang="en-SG" sz="2400" i="0" kern="1200" dirty="0">
            <a:solidFill>
              <a:sysClr val="window" lastClr="FFFFFF"/>
            </a:solidFill>
            <a:latin typeface="Arial"/>
            <a:ea typeface="+mn-ea"/>
            <a:cs typeface="+mn-cs"/>
          </a:endParaRPr>
        </a:p>
      </dsp:txBody>
      <dsp:txXfrm>
        <a:off x="446065" y="178975"/>
        <a:ext cx="5691550" cy="639310"/>
      </dsp:txXfrm>
    </dsp:sp>
    <dsp:sp modelId="{9452430F-0D41-48E6-9EFF-D0BD9AF10AE5}">
      <dsp:nvSpPr>
        <dsp:cNvPr id="0" name=""/>
        <dsp:cNvSpPr/>
      </dsp:nvSpPr>
      <dsp:spPr>
        <a:xfrm>
          <a:off x="0" y="2343270"/>
          <a:ext cx="8229600" cy="13608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6807678"/>
              <a:satOff val="-7995"/>
              <a:lumOff val="3072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99872" rIns="63870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24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Common implementation schemes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24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Discuss pros/cons</a:t>
          </a:r>
        </a:p>
      </dsp:txBody>
      <dsp:txXfrm>
        <a:off x="0" y="2343270"/>
        <a:ext cx="8229600" cy="1360800"/>
      </dsp:txXfrm>
    </dsp:sp>
    <dsp:sp modelId="{5F21E593-7E76-4519-9E50-0F90DEFA97F1}">
      <dsp:nvSpPr>
        <dsp:cNvPr id="0" name=""/>
        <dsp:cNvSpPr/>
      </dsp:nvSpPr>
      <dsp:spPr>
        <a:xfrm>
          <a:off x="411480" y="1989030"/>
          <a:ext cx="5760720" cy="708480"/>
        </a:xfrm>
        <a:prstGeom prst="roundRect">
          <a:avLst/>
        </a:prstGeom>
        <a:solidFill>
          <a:srgbClr val="956251">
            <a:hueOff val="6807678"/>
            <a:satOff val="-7995"/>
            <a:lumOff val="3072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400" kern="1200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File System Implementation Approaches</a:t>
          </a:r>
        </a:p>
      </dsp:txBody>
      <dsp:txXfrm>
        <a:off x="446065" y="2023615"/>
        <a:ext cx="5691550" cy="639310"/>
      </dsp:txXfrm>
    </dsp:sp>
    <dsp:sp modelId="{76DFFF08-9C74-4D9A-B9A5-AFC5EBEC37F1}">
      <dsp:nvSpPr>
        <dsp:cNvPr id="0" name=""/>
        <dsp:cNvSpPr/>
      </dsp:nvSpPr>
      <dsp:spPr>
        <a:xfrm>
          <a:off x="0" y="4187910"/>
          <a:ext cx="8229600" cy="10017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13615356"/>
              <a:satOff val="-15991"/>
              <a:lumOff val="6144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99872" rIns="63870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24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Delve into a few commonly used file systems</a:t>
          </a:r>
        </a:p>
      </dsp:txBody>
      <dsp:txXfrm>
        <a:off x="0" y="4187910"/>
        <a:ext cx="8229600" cy="1001700"/>
      </dsp:txXfrm>
    </dsp:sp>
    <dsp:sp modelId="{9A6DF595-0921-4B96-89D8-7C40037CDB5A}">
      <dsp:nvSpPr>
        <dsp:cNvPr id="0" name=""/>
        <dsp:cNvSpPr/>
      </dsp:nvSpPr>
      <dsp:spPr>
        <a:xfrm>
          <a:off x="411480" y="3833670"/>
          <a:ext cx="5760720" cy="708480"/>
        </a:xfrm>
        <a:prstGeom prst="roundRect">
          <a:avLst/>
        </a:prstGeom>
        <a:solidFill>
          <a:srgbClr val="956251">
            <a:hueOff val="13615356"/>
            <a:satOff val="-15991"/>
            <a:lumOff val="6144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400" kern="1200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File System Case Studies</a:t>
          </a:r>
        </a:p>
      </dsp:txBody>
      <dsp:txXfrm>
        <a:off x="446065" y="3868255"/>
        <a:ext cx="5691550" cy="639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170138" cy="479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427" y="0"/>
            <a:ext cx="3170138" cy="479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0725"/>
            <a:ext cx="4797425" cy="3598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194" y="4560086"/>
            <a:ext cx="5852814" cy="432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20172"/>
            <a:ext cx="3170138" cy="479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427" y="9120172"/>
            <a:ext cx="3170138" cy="479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D8C63D3E-5435-421A-B6F7-705351D560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49534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8888" y="720725"/>
            <a:ext cx="47974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04638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8888" y="720725"/>
            <a:ext cx="47974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7608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8888" y="720725"/>
            <a:ext cx="47974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29626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D263FE-30C4-4A01-BC8F-57888242C67C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954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2188" cy="3600450"/>
          </a:xfrm>
          <a:ln/>
        </p:spPr>
      </p:sp>
      <p:sp>
        <p:nvSpPr>
          <p:cNvPr id="954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194" y="4561576"/>
            <a:ext cx="5852814" cy="4318827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383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9AA77B-8A4E-4BC8-A0FC-E355D4E019DB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956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2188" cy="3600450"/>
          </a:xfrm>
          <a:ln/>
        </p:spPr>
      </p:sp>
      <p:sp>
        <p:nvSpPr>
          <p:cNvPr id="956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194" y="4561576"/>
            <a:ext cx="5852814" cy="4318827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10533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8888" y="720725"/>
            <a:ext cx="47974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6133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15D8DD-64C2-453F-B794-5C4CA8722BA4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980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2188" cy="3600450"/>
          </a:xfrm>
          <a:ln/>
        </p:spPr>
      </p:sp>
      <p:sp>
        <p:nvSpPr>
          <p:cNvPr id="980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194" y="4561576"/>
            <a:ext cx="5852814" cy="4318827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56705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5E9D5F-6DE3-46DC-8334-29B6EF4B60A9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983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2188" cy="3600450"/>
          </a:xfrm>
          <a:ln/>
        </p:spPr>
      </p:sp>
      <p:sp>
        <p:nvSpPr>
          <p:cNvPr id="983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194" y="4561576"/>
            <a:ext cx="5852814" cy="4318827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00340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28617C2-BBEC-4BFB-B34E-3F9E6E1D5A5B}" type="slidenum">
              <a:rPr lang="en-US" altLang="en-US"/>
              <a:pPr/>
              <a:t>49</a:t>
            </a:fld>
            <a:endParaRPr lang="en-US" altLang="en-US"/>
          </a:p>
        </p:txBody>
      </p:sp>
      <p:sp>
        <p:nvSpPr>
          <p:cNvPr id="985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2188" cy="3600450"/>
          </a:xfrm>
          <a:ln/>
        </p:spPr>
      </p:sp>
      <p:sp>
        <p:nvSpPr>
          <p:cNvPr id="985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194" y="4561576"/>
            <a:ext cx="5852814" cy="4318827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07219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01623F-8747-4F9A-9BF3-57A36392207C}" type="slidenum">
              <a:rPr lang="en-US" altLang="en-US"/>
              <a:pPr/>
              <a:t>50</a:t>
            </a:fld>
            <a:endParaRPr lang="en-US" altLang="en-US"/>
          </a:p>
        </p:txBody>
      </p:sp>
      <p:sp>
        <p:nvSpPr>
          <p:cNvPr id="976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2188" cy="3600450"/>
          </a:xfrm>
          <a:ln/>
        </p:spPr>
      </p:sp>
      <p:sp>
        <p:nvSpPr>
          <p:cNvPr id="976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194" y="4561576"/>
            <a:ext cx="5852814" cy="4318827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5563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r"/>
            <a:fld id="{2B9BC0BA-7162-46C8-A117-543B5FF937FE}" type="slidenum">
              <a:rPr lang="en-US" altLang="en-US" sz="1400" b="1">
                <a:latin typeface="Garamond" pitchFamily="18" charset="0"/>
              </a:rPr>
              <a:pPr algn="r"/>
              <a:t>‹#›</a:t>
            </a:fld>
            <a:endParaRPr lang="en-US" altLang="en-US" sz="1400" b="1">
              <a:latin typeface="Garamond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B177D97-4823-4F7B-8850-314FB921F4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860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L10 - AY1819S1 ]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3656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79B78E5-7CBB-416F-85A9-6A6E33CFDEF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47822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03F01D5-1E4D-4AB2-BA30-06DD7E1CE6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0051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AAA9961-5DF7-4572-9C10-2FA82B8B523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38224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048CA81-7D9B-4EB8-93B9-0D05F3834E0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68893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F1C99A1-EC1E-46F1-8A80-869AC29E4FF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7815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C73B67-0DE8-4D98-BAAA-91C5FDC1FF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2584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7EE1922-6EFC-498D-A404-600BF5AADB6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241057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BA4C580-959A-4DCA-AC37-879387F4037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108604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D0C08E-D693-46C9-A6E9-2EECB9F459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56568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/>
          <a:lstStyle>
            <a:lvl1pPr>
              <a:defRPr/>
            </a:lvl1pPr>
          </a:lstStyle>
          <a:p>
            <a:fld id="{63A473AF-C3EB-4885-86D1-A60D69D2DE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860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466604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5AC8FD6-5E18-4FE5-91B6-8DDD4B541DE9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3936561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227C717-5B67-4909-A850-1EA98D574A28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47822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8678C0C-AFD0-44EE-B946-8772FCA2267B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00516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465FEFB-75D7-4844-A235-B49CF0535567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382247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169341A-8748-4739-881D-6A5B986C638E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688931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84A6DBE-112A-4DFE-8EE2-3B03055BBC02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781573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01EA7A-6687-4920-9CB7-900C29FEEEDB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258442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90D4CCA-1BB9-44F7-8203-7757F770B54B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24105743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80448D8-CEBB-41BC-A7FC-03FB771C7F08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10860438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97101FE-95F0-43FC-B723-7B9FDDB44F5F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565687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/>
          <a:lstStyle>
            <a:lvl1pPr>
              <a:defRPr/>
            </a:lvl1pPr>
          </a:lstStyle>
          <a:p>
            <a:fld id="{B39E24CF-36A7-443A-8658-6A4E263F16ED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44958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46660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4511BD33-39C3-401A-9196-1A39F03979B5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22860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altLang="en-US" dirty="0"/>
              <a:t>[ CS2106 L11 – AY21229S2 ]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4511BD33-39C3-401A-9196-1A39F03979B5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22098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altLang="en-US"/>
              <a:t>[ CS2106 L10 - AY1819S1 ]</a:t>
            </a:r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2800" dirty="0">
                <a:solidFill>
                  <a:prstClr val="black"/>
                </a:solidFill>
              </a:rPr>
              <a:t>File System Management</a:t>
            </a:r>
            <a:br>
              <a:rPr lang="en-US" altLang="en-US" dirty="0">
                <a:solidFill>
                  <a:prstClr val="black"/>
                </a:solidFill>
              </a:rPr>
            </a:br>
            <a:r>
              <a:rPr lang="en-US" altLang="en-US" b="1" dirty="0">
                <a:solidFill>
                  <a:srgbClr val="C00000"/>
                </a:solidFill>
              </a:rPr>
              <a:t>File System Introduction</a:t>
            </a:r>
            <a:endParaRPr lang="en-US" altLang="en-US" sz="48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Lecture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Overview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660066"/>
                </a:solidFill>
              </a:rPr>
              <a:t>File System</a:t>
            </a:r>
          </a:p>
          <a:p>
            <a:pPr lvl="1"/>
            <a:r>
              <a:rPr lang="en-US" altLang="en-US" dirty="0"/>
              <a:t>Definition</a:t>
            </a:r>
          </a:p>
          <a:p>
            <a:pPr lvl="1"/>
            <a:r>
              <a:rPr lang="en-US" altLang="en-US" dirty="0"/>
              <a:t>Vs Memory Management</a:t>
            </a:r>
          </a:p>
          <a:p>
            <a:pPr lvl="1"/>
            <a:r>
              <a:rPr lang="en-US" altLang="en-US" dirty="0"/>
              <a:t>Motivation</a:t>
            </a:r>
          </a:p>
          <a:p>
            <a:pPr lvl="1"/>
            <a:endParaRPr lang="en-US" altLang="en-US" dirty="0"/>
          </a:p>
          <a:p>
            <a:r>
              <a:rPr lang="en-US" altLang="en-US" b="1" dirty="0">
                <a:solidFill>
                  <a:srgbClr val="C00000"/>
                </a:solidFill>
              </a:rPr>
              <a:t>File</a:t>
            </a:r>
          </a:p>
          <a:p>
            <a:pPr lvl="1"/>
            <a:r>
              <a:rPr lang="en-US" altLang="en-US" dirty="0"/>
              <a:t>Metadata</a:t>
            </a:r>
          </a:p>
          <a:p>
            <a:pPr lvl="1"/>
            <a:r>
              <a:rPr lang="en-US" altLang="en-US" dirty="0"/>
              <a:t>Operations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b="1" dirty="0">
                <a:solidFill>
                  <a:srgbClr val="006600"/>
                </a:solidFill>
              </a:rPr>
              <a:t>Directory</a:t>
            </a:r>
          </a:p>
          <a:p>
            <a:pPr lvl="1"/>
            <a:r>
              <a:rPr lang="en-US" altLang="en-US" dirty="0"/>
              <a:t>Directory Structure</a:t>
            </a:r>
          </a:p>
          <a:p>
            <a:pPr lvl="1"/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2166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File System: </a:t>
            </a:r>
            <a:r>
              <a:rPr lang="en-US" altLang="en-US" sz="3800" dirty="0"/>
              <a:t>Motivation</a:t>
            </a:r>
          </a:p>
        </p:txBody>
      </p:sp>
      <p:sp>
        <p:nvSpPr>
          <p:cNvPr id="90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Physical memory is </a:t>
            </a:r>
            <a:r>
              <a:rPr lang="en-US" altLang="en-US" b="1" dirty="0">
                <a:solidFill>
                  <a:srgbClr val="9900CC"/>
                </a:solidFill>
              </a:rPr>
              <a:t>volatile</a:t>
            </a:r>
            <a:endParaRPr lang="en-US" altLang="en-US" dirty="0">
              <a:solidFill>
                <a:srgbClr val="9900CC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dirty="0"/>
              <a:t>Use external storage to store </a:t>
            </a:r>
            <a:r>
              <a:rPr lang="en-US" altLang="en-US" b="1" dirty="0">
                <a:solidFill>
                  <a:srgbClr val="0033CC"/>
                </a:solidFill>
              </a:rPr>
              <a:t>persistent </a:t>
            </a:r>
            <a:r>
              <a:rPr lang="en-US" altLang="en-US" dirty="0"/>
              <a:t>information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Direct access to the storage media is </a:t>
            </a:r>
            <a:r>
              <a:rPr lang="en-US" altLang="en-US" b="1" dirty="0">
                <a:solidFill>
                  <a:schemeClr val="tx2"/>
                </a:solidFill>
              </a:rPr>
              <a:t>not portable: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Dependent on hardware specification and organization (see next slide for example)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File System provides: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An abstraction on top of the physical media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 high level resource management scheme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Protection between processes and users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Sharing between processes and users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6315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829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Hard Disk Layout</a:t>
            </a:r>
            <a:endParaRPr lang="en-SG" dirty="0"/>
          </a:p>
        </p:txBody>
      </p:sp>
      <p:pic>
        <p:nvPicPr>
          <p:cNvPr id="1026" name="Picture 2" descr="Hard disk, including tracks, sectors, and platte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0667" y="1066800"/>
            <a:ext cx="3667125" cy="2819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upload.wikimedia.org/wikipedia/commons/thumb/a/ae/Disk-structure2.svg/290px-Disk-structure2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66" y="999496"/>
            <a:ext cx="3597068" cy="3597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upload.wikimedia.org/wikipedia/commons/thumb/3/30/Innansicht_Festplatte_512_MB_von_Quantum.jpg/220px-Innansicht_Festplatte_512_MB_von_Quantum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4038600"/>
            <a:ext cx="2895600" cy="2369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914400" y="4625763"/>
            <a:ext cx="2743200" cy="15870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algn="ctr">
            <a:solidFill>
              <a:schemeClr val="accent6">
                <a:lumMod val="50000"/>
              </a:schemeClr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r>
              <a:rPr lang="en-US" sz="2000" i="1" dirty="0"/>
              <a:t>A = Track</a:t>
            </a:r>
          </a:p>
          <a:p>
            <a:r>
              <a:rPr lang="en-US" sz="2000" i="1" dirty="0"/>
              <a:t>B = Geometric Sector</a:t>
            </a:r>
          </a:p>
          <a:p>
            <a:r>
              <a:rPr lang="en-US" sz="2000" i="1" dirty="0"/>
              <a:t>C = Track Sector</a:t>
            </a:r>
          </a:p>
          <a:p>
            <a:r>
              <a:rPr lang="en-US" sz="2000" i="1" dirty="0"/>
              <a:t>D = Cluster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6553200"/>
            <a:ext cx="3429000" cy="152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Images taken from </a:t>
            </a:r>
            <a:r>
              <a:rPr lang="en-US" sz="1100" b="1" dirty="0" err="1">
                <a:solidFill>
                  <a:schemeClr val="tx1"/>
                </a:solidFill>
              </a:rPr>
              <a:t>wikipedia</a:t>
            </a:r>
            <a:r>
              <a:rPr lang="en-US" sz="1100" b="1" dirty="0">
                <a:solidFill>
                  <a:schemeClr val="tx1"/>
                </a:solidFill>
              </a:rPr>
              <a:t>, MSDN (Microsoft)</a:t>
            </a:r>
            <a:endParaRPr lang="en-SG" sz="1100" b="1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8673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File System: General Criteria</a:t>
            </a:r>
          </a:p>
        </p:txBody>
      </p:sp>
      <p:sp>
        <p:nvSpPr>
          <p:cNvPr id="917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0033CC"/>
                </a:solidFill>
              </a:rPr>
              <a:t>Self-Contained</a:t>
            </a:r>
            <a:r>
              <a:rPr lang="en-US" altLang="en-US" dirty="0">
                <a:solidFill>
                  <a:srgbClr val="0033CC"/>
                </a:solidFill>
              </a:rPr>
              <a:t>:</a:t>
            </a:r>
          </a:p>
          <a:p>
            <a:pPr lvl="1"/>
            <a:r>
              <a:rPr lang="en-US" altLang="en-US" dirty="0"/>
              <a:t>Information stored on a media is enough to describe the entire organization</a:t>
            </a:r>
          </a:p>
          <a:p>
            <a:pPr lvl="1"/>
            <a:r>
              <a:rPr lang="en-US" altLang="en-US" dirty="0"/>
              <a:t>Should be able to "plug-and-play" on another system</a:t>
            </a:r>
          </a:p>
          <a:p>
            <a:r>
              <a:rPr lang="en-US" altLang="en-US" b="1" dirty="0">
                <a:solidFill>
                  <a:srgbClr val="008000"/>
                </a:solidFill>
              </a:rPr>
              <a:t>Persistent:</a:t>
            </a:r>
          </a:p>
          <a:p>
            <a:pPr lvl="1"/>
            <a:r>
              <a:rPr lang="en-US" altLang="en-US" dirty="0"/>
              <a:t>Beyond the lifetime of OS and processes</a:t>
            </a:r>
          </a:p>
          <a:p>
            <a:r>
              <a:rPr lang="en-US" altLang="en-US" b="1" dirty="0">
                <a:solidFill>
                  <a:schemeClr val="tx2"/>
                </a:solidFill>
              </a:rPr>
              <a:t>Efficient:</a:t>
            </a:r>
          </a:p>
          <a:p>
            <a:pPr lvl="1"/>
            <a:r>
              <a:rPr lang="en-US" altLang="en-US" dirty="0"/>
              <a:t>Provides good management of free and used space</a:t>
            </a:r>
          </a:p>
          <a:p>
            <a:pPr lvl="1"/>
            <a:r>
              <a:rPr lang="en-US" altLang="en-US" dirty="0"/>
              <a:t>Minimum overhead for bookkeeping information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3489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750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Memory Management vs File Management</a:t>
            </a:r>
          </a:p>
        </p:txBody>
      </p:sp>
      <p:graphicFrame>
        <p:nvGraphicFramePr>
          <p:cNvPr id="918584" name="Group 5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8437520"/>
              </p:ext>
            </p:extLst>
          </p:nvPr>
        </p:nvGraphicFramePr>
        <p:xfrm>
          <a:off x="441960" y="973394"/>
          <a:ext cx="8321040" cy="5521930"/>
        </p:xfrm>
        <a:graphic>
          <a:graphicData uri="http://schemas.openxmlformats.org/drawingml/2006/table">
            <a:tbl>
              <a:tblPr/>
              <a:tblGrid>
                <a:gridCol w="2388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7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5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813"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Memory Management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File System Management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613"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Underlying Storage</a:t>
                      </a:r>
                    </a:p>
                  </a:txBody>
                  <a:tcPr marL="91434" marR="91434" marT="45717" marB="4571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RAM</a:t>
                      </a:r>
                    </a:p>
                  </a:txBody>
                  <a:tcPr marL="91434" marR="91434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Disk</a:t>
                      </a:r>
                    </a:p>
                  </a:txBody>
                  <a:tcPr marL="91434" marR="91434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Access Speed</a:t>
                      </a:r>
                    </a:p>
                  </a:txBody>
                  <a:tcPr marL="91434" marR="91434" marT="45717" marB="4571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Constant</a:t>
                      </a:r>
                    </a:p>
                  </a:txBody>
                  <a:tcPr marL="91434" marR="91434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Variable disk I/O time</a:t>
                      </a:r>
                    </a:p>
                  </a:txBody>
                  <a:tcPr marL="91434" marR="91434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613"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Unit of Addressing</a:t>
                      </a:r>
                    </a:p>
                  </a:txBody>
                  <a:tcPr marL="91434" marR="91434" marT="45717" marB="4571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Physical memory address</a:t>
                      </a:r>
                    </a:p>
                  </a:txBody>
                  <a:tcPr marL="91434" marR="91434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Disk sector</a:t>
                      </a:r>
                    </a:p>
                  </a:txBody>
                  <a:tcPr marL="91434" marR="91434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Usage</a:t>
                      </a:r>
                    </a:p>
                  </a:txBody>
                  <a:tcPr marL="91434" marR="91434" marT="45717" marB="4571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Address space for process </a:t>
                      </a:r>
                    </a:p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Implicit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when process runs</a:t>
                      </a:r>
                    </a:p>
                  </a:txBody>
                  <a:tcPr marL="91434" marR="91434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Non-volatile data 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Explicit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access</a:t>
                      </a:r>
                    </a:p>
                  </a:txBody>
                  <a:tcPr marL="91434" marR="91434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200"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Organization</a:t>
                      </a:r>
                    </a:p>
                  </a:txBody>
                  <a:tcPr marL="91434" marR="91434" marT="45717" marB="4571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Paging/Segmentation: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determined by HW &amp; OS</a:t>
                      </a:r>
                    </a:p>
                  </a:txBody>
                  <a:tcPr marL="91434" marR="91434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Many different FS: </a:t>
                      </a:r>
                    </a:p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ext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* (Linux), FAT* (Windows), HFS* (Mac OS)etc.</a:t>
                      </a:r>
                    </a:p>
                  </a:txBody>
                  <a:tcPr marL="91434" marR="91434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A473AF-C3EB-4885-86D1-A60D69D2DEE0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8595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Topics</a:t>
            </a: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556590799"/>
              </p:ext>
            </p:extLst>
          </p:nvPr>
        </p:nvGraphicFramePr>
        <p:xfrm>
          <a:off x="381000" y="990600"/>
          <a:ext cx="82296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4077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File System </a:t>
            </a:r>
            <a:r>
              <a:rPr lang="en-US" dirty="0">
                <a:solidFill>
                  <a:srgbClr val="C00000"/>
                </a:solidFill>
              </a:rPr>
              <a:t>abstractions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mean files and folders are not real?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1615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File System Abstraction</a:t>
            </a:r>
          </a:p>
        </p:txBody>
      </p:sp>
      <p:sp>
        <p:nvSpPr>
          <p:cNvPr id="90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b="1" dirty="0">
                <a:solidFill>
                  <a:srgbClr val="660066"/>
                </a:solidFill>
              </a:rPr>
              <a:t>File System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Consists of a collection of </a:t>
            </a:r>
            <a:r>
              <a:rPr lang="en-US" altLang="en-US" b="1" dirty="0"/>
              <a:t>files</a:t>
            </a:r>
            <a:r>
              <a:rPr lang="en-US" altLang="en-US" dirty="0"/>
              <a:t> and </a:t>
            </a:r>
            <a:r>
              <a:rPr lang="en-US" altLang="en-US" b="1" dirty="0"/>
              <a:t>directory structures</a:t>
            </a:r>
          </a:p>
          <a:p>
            <a:pPr lvl="2"/>
            <a:r>
              <a:rPr lang="en-US" altLang="en-US" b="1" dirty="0"/>
              <a:t>File</a:t>
            </a:r>
            <a:r>
              <a:rPr lang="en-US" altLang="en-US" dirty="0"/>
              <a:t>: An abstract storage of data</a:t>
            </a:r>
          </a:p>
          <a:p>
            <a:pPr lvl="2"/>
            <a:r>
              <a:rPr lang="en-US" altLang="en-US" b="1" dirty="0"/>
              <a:t>Directory (Folder)</a:t>
            </a:r>
            <a:r>
              <a:rPr lang="en-US" altLang="en-US" dirty="0"/>
              <a:t>:</a:t>
            </a:r>
            <a:r>
              <a:rPr lang="en-US" altLang="en-US" b="1" dirty="0"/>
              <a:t> </a:t>
            </a:r>
            <a:r>
              <a:rPr lang="en-US" altLang="en-US" dirty="0"/>
              <a:t>Organization of files</a:t>
            </a:r>
          </a:p>
          <a:p>
            <a:pPr lvl="2"/>
            <a:endParaRPr lang="en-US" altLang="en-US" dirty="0"/>
          </a:p>
          <a:p>
            <a:pPr lvl="1"/>
            <a:r>
              <a:rPr lang="en-US" altLang="en-US" dirty="0"/>
              <a:t>Provides an abstraction of accessing and using the above</a:t>
            </a:r>
          </a:p>
          <a:p>
            <a:endParaRPr lang="en-US" altLang="en-US" dirty="0"/>
          </a:p>
          <a:p>
            <a:r>
              <a:rPr lang="en-US" altLang="en-US" dirty="0"/>
              <a:t>Look at the two abstractions closely next:</a:t>
            </a:r>
          </a:p>
          <a:p>
            <a:pPr lvl="1"/>
            <a:r>
              <a:rPr lang="en-US" altLang="en-US" b="1" dirty="0"/>
              <a:t>File</a:t>
            </a:r>
          </a:p>
          <a:p>
            <a:pPr lvl="1"/>
            <a:r>
              <a:rPr lang="en-US" altLang="en-US" b="1" dirty="0"/>
              <a:t>Directory</a:t>
            </a:r>
            <a:r>
              <a:rPr lang="en-US" altLang="en-US" dirty="0"/>
              <a:t> (Folder)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5819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829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File</a:t>
            </a:r>
            <a:r>
              <a:rPr lang="en-US" altLang="en-US" dirty="0"/>
              <a:t>: Overview</a:t>
            </a:r>
          </a:p>
        </p:txBody>
      </p:sp>
      <p:sp>
        <p:nvSpPr>
          <p:cNvPr id="921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Basic Definition</a:t>
            </a:r>
          </a:p>
          <a:p>
            <a:endParaRPr lang="en-US" altLang="en-US" dirty="0"/>
          </a:p>
          <a:p>
            <a:r>
              <a:rPr lang="en-US" altLang="en-US" dirty="0"/>
              <a:t>File Metadata</a:t>
            </a:r>
          </a:p>
          <a:p>
            <a:endParaRPr lang="en-US" altLang="en-US" dirty="0"/>
          </a:p>
          <a:p>
            <a:r>
              <a:rPr lang="en-US" altLang="en-US" dirty="0"/>
              <a:t>File Data</a:t>
            </a:r>
          </a:p>
          <a:p>
            <a:pPr lvl="1"/>
            <a:r>
              <a:rPr lang="en-US" altLang="en-US" dirty="0"/>
              <a:t>File structure</a:t>
            </a:r>
          </a:p>
          <a:p>
            <a:pPr lvl="1"/>
            <a:r>
              <a:rPr lang="en-US" altLang="en-US" dirty="0"/>
              <a:t>Access Methods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File Operations</a:t>
            </a:r>
          </a:p>
        </p:txBody>
      </p:sp>
      <p:pic>
        <p:nvPicPr>
          <p:cNvPr id="921604" name="Picture 4" descr="MCj04326050000[1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4648200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7128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File</a:t>
            </a:r>
            <a:r>
              <a:rPr lang="en-US" altLang="en-US" sz="3800" b="1" dirty="0"/>
              <a:t>: Basic Description</a:t>
            </a:r>
          </a:p>
        </p:txBody>
      </p:sp>
      <p:sp>
        <p:nvSpPr>
          <p:cNvPr id="941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dirty="0"/>
              <a:t>Represent a logical unit of information created by process </a:t>
            </a:r>
          </a:p>
          <a:p>
            <a:r>
              <a:rPr lang="en-US" altLang="en-US" dirty="0"/>
              <a:t>An </a:t>
            </a:r>
            <a:r>
              <a:rPr lang="en-US" altLang="en-US" b="1" i="1" dirty="0">
                <a:solidFill>
                  <a:srgbClr val="C00000"/>
                </a:solidFill>
              </a:rPr>
              <a:t>abstraction</a:t>
            </a:r>
          </a:p>
          <a:p>
            <a:pPr lvl="1"/>
            <a:r>
              <a:rPr lang="en-US" altLang="en-US" dirty="0"/>
              <a:t>Essentially an </a:t>
            </a:r>
            <a:r>
              <a:rPr lang="en-US" altLang="en-US" b="1" dirty="0">
                <a:solidFill>
                  <a:srgbClr val="660066"/>
                </a:solidFill>
              </a:rPr>
              <a:t>Abstract Data Type:</a:t>
            </a:r>
          </a:p>
          <a:p>
            <a:pPr lvl="1"/>
            <a:r>
              <a:rPr lang="en-US" altLang="en-US" dirty="0"/>
              <a:t>A set of common operations with various possible implementation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dirty="0"/>
              <a:t>Contains:</a:t>
            </a:r>
          </a:p>
          <a:p>
            <a:pPr lvl="1"/>
            <a:r>
              <a:rPr lang="en-US" altLang="en-US" b="1" dirty="0">
                <a:solidFill>
                  <a:srgbClr val="008000"/>
                </a:solidFill>
              </a:rPr>
              <a:t>Data:</a:t>
            </a:r>
            <a:r>
              <a:rPr lang="en-US" altLang="en-US" dirty="0"/>
              <a:t> Information structured in some ways</a:t>
            </a:r>
          </a:p>
          <a:p>
            <a:pPr lvl="2">
              <a:buFont typeface="Wingdings" panose="05000000000000000000" pitchFamily="2" charset="2"/>
              <a:buNone/>
            </a:pPr>
            <a:endParaRPr lang="en-US" altLang="en-US" dirty="0"/>
          </a:p>
          <a:p>
            <a:pPr lvl="1"/>
            <a:r>
              <a:rPr lang="en-US" altLang="en-US" b="1" dirty="0">
                <a:solidFill>
                  <a:schemeClr val="tx2"/>
                </a:solidFill>
              </a:rPr>
              <a:t>Metadata:</a:t>
            </a:r>
            <a:r>
              <a:rPr lang="en-US" altLang="en-US" dirty="0"/>
              <a:t> Additional information associated with the file</a:t>
            </a:r>
          </a:p>
          <a:p>
            <a:pPr lvl="2"/>
            <a:r>
              <a:rPr lang="en-US" altLang="en-US" dirty="0"/>
              <a:t>Also known as </a:t>
            </a:r>
            <a:r>
              <a:rPr lang="en-US" altLang="en-US" b="1" dirty="0">
                <a:solidFill>
                  <a:srgbClr val="660066"/>
                </a:solidFill>
              </a:rPr>
              <a:t>file attributes</a:t>
            </a:r>
            <a:endParaRPr lang="en-US" altLang="en-US" dirty="0">
              <a:solidFill>
                <a:srgbClr val="660066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9911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105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Metadata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142417"/>
              </p:ext>
            </p:extLst>
          </p:nvPr>
        </p:nvGraphicFramePr>
        <p:xfrm>
          <a:off x="457200" y="1028699"/>
          <a:ext cx="8229600" cy="53721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260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35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75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b="1" dirty="0">
                          <a:solidFill>
                            <a:srgbClr val="0033CC"/>
                          </a:solidFill>
                        </a:rPr>
                        <a:t>Name: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dirty="0"/>
                        <a:t>A human readable reference to the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75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b="1" dirty="0">
                          <a:solidFill>
                            <a:srgbClr val="008000"/>
                          </a:solidFill>
                        </a:rPr>
                        <a:t>Identifier: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dirty="0"/>
                        <a:t>A unique id for the file used internally by FS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154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b="1" dirty="0">
                          <a:solidFill>
                            <a:srgbClr val="9900CC"/>
                          </a:solidFill>
                        </a:rPr>
                        <a:t>Type: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Indicate different type of files</a:t>
                      </a:r>
                    </a:p>
                    <a:p>
                      <a:r>
                        <a:rPr lang="en-US" dirty="0"/>
                        <a:t>E.g. executable, text file, object file, directory </a:t>
                      </a:r>
                      <a:r>
                        <a:rPr lang="en-US" dirty="0" err="1"/>
                        <a:t>etc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36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b="1" dirty="0">
                          <a:solidFill>
                            <a:srgbClr val="008000"/>
                          </a:solidFill>
                        </a:rPr>
                        <a:t>Size: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dirty="0"/>
                        <a:t>Current size of file (in bytes, words or blocks)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337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b="1" dirty="0">
                          <a:solidFill>
                            <a:srgbClr val="0033CC"/>
                          </a:solidFill>
                        </a:rPr>
                        <a:t>Protection: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dirty="0"/>
                        <a:t>Access permissions, can be classified as reading, writing and execution rights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8535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b="1" dirty="0">
                          <a:solidFill>
                            <a:schemeClr val="tx2"/>
                          </a:solidFill>
                        </a:rPr>
                        <a:t>Time, date and owner information: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dirty="0"/>
                        <a:t>Creation, last modification time, owner id </a:t>
                      </a:r>
                      <a:r>
                        <a:rPr lang="en-US" altLang="en-US" dirty="0" err="1"/>
                        <a:t>etc</a:t>
                      </a:r>
                      <a:endParaRPr lang="en-US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39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b="1" dirty="0">
                          <a:solidFill>
                            <a:srgbClr val="9900CC"/>
                          </a:solidFill>
                        </a:rPr>
                        <a:t>Table of content: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dirty="0"/>
                        <a:t>Information for the FS to determine how to access the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78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File Name</a:t>
            </a:r>
          </a:p>
        </p:txBody>
      </p:sp>
      <p:sp>
        <p:nvSpPr>
          <p:cNvPr id="944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Different FS has different </a:t>
            </a:r>
            <a:r>
              <a:rPr lang="en-US" altLang="en-US" b="1" dirty="0"/>
              <a:t>naming rule</a:t>
            </a:r>
            <a:endParaRPr lang="en-US" altLang="en-US" dirty="0"/>
          </a:p>
          <a:p>
            <a:pPr lvl="1"/>
            <a:r>
              <a:rPr lang="en-US" altLang="en-US" dirty="0"/>
              <a:t>To determine valid file name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dirty="0"/>
              <a:t>Common naming rule:</a:t>
            </a:r>
          </a:p>
          <a:p>
            <a:pPr lvl="1"/>
            <a:r>
              <a:rPr lang="en-US" altLang="en-US" dirty="0"/>
              <a:t>Length of file name</a:t>
            </a:r>
          </a:p>
          <a:p>
            <a:pPr lvl="1"/>
            <a:r>
              <a:rPr lang="en-US" altLang="en-US" dirty="0"/>
              <a:t>Case sensitivity</a:t>
            </a:r>
          </a:p>
          <a:p>
            <a:pPr lvl="1"/>
            <a:r>
              <a:rPr lang="en-US" altLang="en-US" dirty="0"/>
              <a:t>Allowed special symbols</a:t>
            </a:r>
          </a:p>
          <a:p>
            <a:pPr lvl="1"/>
            <a:r>
              <a:rPr lang="en-US" altLang="en-US" dirty="0"/>
              <a:t>File extension</a:t>
            </a:r>
          </a:p>
          <a:p>
            <a:pPr lvl="2"/>
            <a:r>
              <a:rPr lang="en-US" altLang="en-US" dirty="0"/>
              <a:t>Usual form </a:t>
            </a:r>
            <a:r>
              <a:rPr lang="en-US" altLang="en-US" b="1" dirty="0" err="1">
                <a:solidFill>
                  <a:srgbClr val="9900CC"/>
                </a:solidFill>
                <a:latin typeface="Courier New" panose="02070309020205020404" pitchFamily="49" charset="0"/>
              </a:rPr>
              <a:t>Name</a:t>
            </a:r>
            <a:r>
              <a:rPr lang="en-US" altLang="en-US" b="1" dirty="0" err="1">
                <a:latin typeface="Courier New" panose="02070309020205020404" pitchFamily="49" charset="0"/>
              </a:rPr>
              <a:t>.</a:t>
            </a:r>
            <a:r>
              <a:rPr lang="en-US" altLang="en-US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Extension</a:t>
            </a:r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altLang="en-US" dirty="0"/>
              <a:t>On </a:t>
            </a:r>
            <a:r>
              <a:rPr lang="en-US" altLang="en-US" b="1" dirty="0"/>
              <a:t>some </a:t>
            </a:r>
            <a:r>
              <a:rPr lang="en-US" altLang="en-US" dirty="0"/>
              <a:t>FS, extension is used to indicate </a:t>
            </a:r>
            <a:r>
              <a:rPr lang="en-US" altLang="en-US" b="1" dirty="0"/>
              <a:t>file type</a:t>
            </a:r>
            <a:r>
              <a:rPr lang="en-US" altLang="en-US" dirty="0"/>
              <a:t> </a:t>
            </a:r>
          </a:p>
          <a:p>
            <a:pPr lvl="1"/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997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413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File Type</a:t>
            </a:r>
          </a:p>
        </p:txBody>
      </p:sp>
      <p:sp>
        <p:nvSpPr>
          <p:cNvPr id="945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An OS commonly supports a number of </a:t>
            </a:r>
            <a:r>
              <a:rPr lang="en-US" altLang="en-US" b="1" dirty="0">
                <a:solidFill>
                  <a:srgbClr val="C00000"/>
                </a:solidFill>
              </a:rPr>
              <a:t>file types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Each file type has: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An associated set of operations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Possibly a specific program for processing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 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Common file types: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8000"/>
                </a:solidFill>
              </a:rPr>
              <a:t>Regular files:</a:t>
            </a:r>
            <a:r>
              <a:rPr lang="en-US" altLang="en-US" dirty="0"/>
              <a:t> contains user information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9900CC"/>
                </a:solidFill>
              </a:rPr>
              <a:t>Directories:</a:t>
            </a:r>
            <a:r>
              <a:rPr lang="en-US" altLang="en-US" b="1" dirty="0"/>
              <a:t> </a:t>
            </a:r>
            <a:r>
              <a:rPr lang="en-US" altLang="en-US" dirty="0"/>
              <a:t>system files for FS structure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33CC"/>
                </a:solidFill>
              </a:rPr>
              <a:t>Special files:</a:t>
            </a:r>
            <a:r>
              <a:rPr lang="en-US" altLang="en-US" b="1" dirty="0"/>
              <a:t> </a:t>
            </a:r>
            <a:r>
              <a:rPr lang="en-US" altLang="en-US" dirty="0"/>
              <a:t>character/block oriented </a:t>
            </a:r>
            <a:endParaRPr lang="en-US" altLang="en-US" b="1" dirty="0"/>
          </a:p>
          <a:p>
            <a:pPr lvl="2"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8405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515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Two Major Types of Regular Files</a:t>
            </a:r>
          </a:p>
        </p:txBody>
      </p:sp>
      <p:sp>
        <p:nvSpPr>
          <p:cNvPr id="94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33CC"/>
                </a:solidFill>
              </a:rPr>
              <a:t>ASCII files: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Example: text file, programming source codes,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Can be displayed or printed </a:t>
            </a:r>
            <a:r>
              <a:rPr lang="en-US" altLang="en-US" b="1" dirty="0"/>
              <a:t>as is</a:t>
            </a:r>
          </a:p>
          <a:p>
            <a:pPr>
              <a:lnSpc>
                <a:spcPct val="90000"/>
              </a:lnSpc>
            </a:pPr>
            <a:endParaRPr lang="en-US" altLang="en-US" b="1" dirty="0">
              <a:solidFill>
                <a:srgbClr val="0080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8000"/>
                </a:solidFill>
              </a:rPr>
              <a:t>Binary files: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Example: executable, Java class file, pdf file, mp3/4, </a:t>
            </a:r>
            <a:r>
              <a:rPr lang="en-US" altLang="en-US" dirty="0" err="1"/>
              <a:t>png</a:t>
            </a:r>
            <a:r>
              <a:rPr lang="en-US" altLang="en-US" dirty="0"/>
              <a:t>/jpeg/bmp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Have a predefined internal structure that can be processed by specific program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JVM to execute Java class file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PDF reader for pdf file </a:t>
            </a:r>
            <a:r>
              <a:rPr lang="en-US" altLang="en-US" dirty="0" err="1"/>
              <a:t>etc</a:t>
            </a:r>
            <a:r>
              <a:rPr lang="en-US" altLang="en-US" dirty="0"/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6797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6179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 dirty="0">
                <a:solidFill>
                  <a:srgbClr val="C00000"/>
                </a:solidFill>
              </a:rPr>
              <a:t>Distinguishing File Type</a:t>
            </a:r>
          </a:p>
        </p:txBody>
      </p:sp>
      <p:sp>
        <p:nvSpPr>
          <p:cNvPr id="947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b="1" dirty="0">
                <a:solidFill>
                  <a:schemeClr val="tx2"/>
                </a:solidFill>
              </a:rPr>
              <a:t>Use file extension</a:t>
            </a:r>
            <a:r>
              <a:rPr lang="en-US" altLang="en-US" dirty="0"/>
              <a:t> as indication: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Used by Windows OS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e.g. </a:t>
            </a:r>
            <a:r>
              <a:rPr lang="en-US" altLang="en-US" b="1" dirty="0">
                <a:latin typeface="Courier New" panose="02070309020205020404" pitchFamily="49" charset="0"/>
              </a:rPr>
              <a:t>XXX.docx</a:t>
            </a:r>
            <a:r>
              <a:rPr lang="en-US" altLang="en-US" dirty="0"/>
              <a:t> </a:t>
            </a:r>
            <a:r>
              <a:rPr lang="en-US" altLang="en-US" dirty="0">
                <a:sym typeface="Wingdings" panose="05000000000000000000" pitchFamily="2" charset="2"/>
              </a:rPr>
              <a:t> Words document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>
                <a:sym typeface="Wingdings" panose="05000000000000000000" pitchFamily="2" charset="2"/>
              </a:rPr>
              <a:t>Change of extension implies a change in file type!</a:t>
            </a:r>
          </a:p>
          <a:p>
            <a:pPr marL="839788" lvl="1" indent="-49530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dirty="0">
              <a:sym typeface="Wingdings" panose="05000000000000000000" pitchFamily="2" charset="2"/>
            </a:endParaRPr>
          </a:p>
          <a:p>
            <a:pPr marL="571500" indent="-5715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b="1" dirty="0">
                <a:solidFill>
                  <a:schemeClr val="tx2"/>
                </a:solidFill>
              </a:rPr>
              <a:t>Use embedded information</a:t>
            </a:r>
            <a:r>
              <a:rPr lang="en-US" altLang="en-US" dirty="0"/>
              <a:t> in the file: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Used by Unix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Usually stored at the beginning of the file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Commonly known as </a:t>
            </a:r>
            <a:r>
              <a:rPr lang="en-US" altLang="en-US" b="1" dirty="0">
                <a:solidFill>
                  <a:srgbClr val="9900CC"/>
                </a:solidFill>
              </a:rPr>
              <a:t>magic number</a:t>
            </a:r>
            <a:endParaRPr lang="en-US" altLang="en-US" dirty="0">
              <a:solidFill>
                <a:srgbClr val="9900CC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3821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720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File Protection</a:t>
            </a:r>
          </a:p>
        </p:txBody>
      </p:sp>
      <p:sp>
        <p:nvSpPr>
          <p:cNvPr id="948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Controlled access to the information stored in a file</a:t>
            </a:r>
          </a:p>
          <a:p>
            <a:endParaRPr lang="en-US" altLang="en-US" b="1" dirty="0"/>
          </a:p>
          <a:p>
            <a:r>
              <a:rPr lang="en-US" altLang="en-US" b="1" dirty="0"/>
              <a:t>Type of access:</a:t>
            </a:r>
          </a:p>
          <a:p>
            <a:pPr lvl="1"/>
            <a:r>
              <a:rPr lang="en-US" altLang="en-US" b="1" dirty="0">
                <a:solidFill>
                  <a:srgbClr val="008000"/>
                </a:solidFill>
              </a:rPr>
              <a:t>Read:</a:t>
            </a:r>
            <a:r>
              <a:rPr lang="en-US" altLang="en-US" dirty="0"/>
              <a:t> Retrieve information from file</a:t>
            </a:r>
          </a:p>
          <a:p>
            <a:pPr lvl="1"/>
            <a:r>
              <a:rPr lang="en-US" altLang="en-US" b="1" dirty="0">
                <a:solidFill>
                  <a:srgbClr val="0033CC"/>
                </a:solidFill>
              </a:rPr>
              <a:t>Write:</a:t>
            </a:r>
            <a:r>
              <a:rPr lang="en-US" altLang="en-US" dirty="0"/>
              <a:t> Write/Rewrite the file</a:t>
            </a:r>
          </a:p>
          <a:p>
            <a:pPr lvl="1"/>
            <a:r>
              <a:rPr lang="en-US" altLang="en-US" b="1" dirty="0">
                <a:solidFill>
                  <a:srgbClr val="9900CC"/>
                </a:solidFill>
              </a:rPr>
              <a:t>Execute:</a:t>
            </a:r>
            <a:r>
              <a:rPr lang="en-US" altLang="en-US" dirty="0"/>
              <a:t> Load file into memory and execute it</a:t>
            </a:r>
          </a:p>
          <a:p>
            <a:pPr lvl="1"/>
            <a:r>
              <a:rPr lang="en-US" altLang="en-US" b="1" dirty="0">
                <a:solidFill>
                  <a:srgbClr val="008000"/>
                </a:solidFill>
              </a:rPr>
              <a:t>Append</a:t>
            </a:r>
            <a:r>
              <a:rPr lang="en-US" altLang="en-US" b="1" dirty="0"/>
              <a:t>:</a:t>
            </a:r>
            <a:r>
              <a:rPr lang="en-US" altLang="en-US" dirty="0"/>
              <a:t> Add new information to the end of file</a:t>
            </a:r>
          </a:p>
          <a:p>
            <a:pPr lvl="1"/>
            <a:r>
              <a:rPr lang="en-US" altLang="en-US" b="1" dirty="0">
                <a:solidFill>
                  <a:srgbClr val="0033CC"/>
                </a:solidFill>
              </a:rPr>
              <a:t>Delete</a:t>
            </a:r>
            <a:r>
              <a:rPr lang="en-US" altLang="en-US" b="1" dirty="0"/>
              <a:t>:</a:t>
            </a:r>
            <a:r>
              <a:rPr lang="en-US" altLang="en-US" dirty="0"/>
              <a:t> Remove the file from FS</a:t>
            </a:r>
          </a:p>
          <a:p>
            <a:pPr lvl="1"/>
            <a:r>
              <a:rPr lang="en-US" altLang="en-US" b="1" dirty="0">
                <a:solidFill>
                  <a:srgbClr val="9900CC"/>
                </a:solidFill>
              </a:rPr>
              <a:t>List</a:t>
            </a:r>
            <a:r>
              <a:rPr lang="en-US" altLang="en-US" b="1" dirty="0"/>
              <a:t>:</a:t>
            </a:r>
            <a:r>
              <a:rPr lang="en-US" altLang="en-US" dirty="0"/>
              <a:t> Read metadata of a file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5812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8227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File Protection: How?</a:t>
            </a:r>
          </a:p>
        </p:txBody>
      </p:sp>
      <p:sp>
        <p:nvSpPr>
          <p:cNvPr id="949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Most common approach: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Restrict access base on the user identity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Most general scheme: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33CC"/>
                </a:solidFill>
              </a:rPr>
              <a:t>Access Control List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A list of user identity and the allowed access types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>
                <a:solidFill>
                  <a:srgbClr val="008000"/>
                </a:solidFill>
              </a:rPr>
              <a:t>Pros: </a:t>
            </a:r>
            <a:r>
              <a:rPr lang="en-US" altLang="en-US" dirty="0"/>
              <a:t>Very customizable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>
                <a:solidFill>
                  <a:schemeClr val="tx2"/>
                </a:solidFill>
              </a:rPr>
              <a:t>Cons: </a:t>
            </a:r>
            <a:r>
              <a:rPr lang="en-US" altLang="en-US" dirty="0"/>
              <a:t>Additional information associated with file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A common condensed file protection scheme is discussed next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8260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9251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>
                <a:solidFill>
                  <a:schemeClr val="tx1"/>
                </a:solidFill>
              </a:rPr>
              <a:t>File Protection: </a:t>
            </a:r>
            <a:r>
              <a:rPr lang="en-US" altLang="en-US" sz="3800" b="1" dirty="0">
                <a:solidFill>
                  <a:schemeClr val="tx1"/>
                </a:solidFill>
              </a:rPr>
              <a:t>Permission Bits</a:t>
            </a:r>
          </a:p>
        </p:txBody>
      </p:sp>
      <p:sp>
        <p:nvSpPr>
          <p:cNvPr id="95027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229600" cy="4495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Classified the users into three classes:</a:t>
            </a:r>
          </a:p>
          <a:p>
            <a:pPr marL="858837" lvl="1" indent="-514350">
              <a:lnSpc>
                <a:spcPct val="90000"/>
              </a:lnSpc>
              <a:buFont typeface="+mj-lt"/>
              <a:buAutoNum type="arabicPeriod"/>
            </a:pPr>
            <a:r>
              <a:rPr lang="en-US" altLang="en-US" b="1" dirty="0">
                <a:solidFill>
                  <a:schemeClr val="tx2"/>
                </a:solidFill>
              </a:rPr>
              <a:t>Owner:</a:t>
            </a:r>
            <a:r>
              <a:rPr lang="en-US" altLang="en-US" dirty="0"/>
              <a:t> The user who created the file</a:t>
            </a:r>
          </a:p>
          <a:p>
            <a:pPr marL="858837" lvl="1" indent="-514350">
              <a:lnSpc>
                <a:spcPct val="90000"/>
              </a:lnSpc>
              <a:buFont typeface="+mj-lt"/>
              <a:buAutoNum type="arabicPeriod"/>
            </a:pPr>
            <a:r>
              <a:rPr lang="en-US" altLang="en-US" b="1" dirty="0">
                <a:solidFill>
                  <a:srgbClr val="008000"/>
                </a:solidFill>
              </a:rPr>
              <a:t>Group:</a:t>
            </a:r>
            <a:r>
              <a:rPr lang="en-US" altLang="en-US" dirty="0"/>
              <a:t> A set of users who need similar access to a file </a:t>
            </a:r>
          </a:p>
          <a:p>
            <a:pPr marL="858837" lvl="1" indent="-514350">
              <a:lnSpc>
                <a:spcPct val="90000"/>
              </a:lnSpc>
              <a:buFont typeface="+mj-lt"/>
              <a:buAutoNum type="arabicPeriod"/>
            </a:pPr>
            <a:r>
              <a:rPr lang="en-US" altLang="en-US" b="1" dirty="0">
                <a:solidFill>
                  <a:srgbClr val="9900CC"/>
                </a:solidFill>
              </a:rPr>
              <a:t>Universe:</a:t>
            </a:r>
            <a:r>
              <a:rPr lang="en-US" altLang="en-US" dirty="0"/>
              <a:t> All other users in the system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Example (Unix)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Define permission of three access types (</a:t>
            </a:r>
            <a:r>
              <a:rPr lang="en-US" altLang="en-US" b="1" dirty="0"/>
              <a:t>R</a:t>
            </a:r>
            <a:r>
              <a:rPr lang="en-US" altLang="en-US" dirty="0"/>
              <a:t>ead/</a:t>
            </a:r>
            <a:r>
              <a:rPr lang="en-US" altLang="en-US" b="1" dirty="0"/>
              <a:t>W</a:t>
            </a:r>
            <a:r>
              <a:rPr lang="en-US" altLang="en-US" dirty="0"/>
              <a:t>rite/E</a:t>
            </a:r>
            <a:r>
              <a:rPr lang="en-US" altLang="en-US" b="1" dirty="0"/>
              <a:t>x</a:t>
            </a:r>
            <a:r>
              <a:rPr lang="en-US" altLang="en-US" dirty="0"/>
              <a:t>ecute) for the 3 classes of users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Use "</a:t>
            </a:r>
            <a:r>
              <a:rPr lang="en-US" altLang="en-US" sz="2400" b="1" dirty="0">
                <a:latin typeface="Courier New" panose="02070309020205020404" pitchFamily="49" charset="0"/>
              </a:rPr>
              <a:t>ls –l</a:t>
            </a:r>
            <a:r>
              <a:rPr lang="en-US" altLang="en-US" dirty="0"/>
              <a:t>" to see the permission bits for a file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950276" name="Text Box 4"/>
          <p:cNvSpPr txBox="1">
            <a:spLocks noChangeArrowheads="1"/>
          </p:cNvSpPr>
          <p:nvPr/>
        </p:nvSpPr>
        <p:spPr bwMode="auto">
          <a:xfrm>
            <a:off x="1524000" y="5105400"/>
            <a:ext cx="6248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 err="1">
                <a:solidFill>
                  <a:srgbClr val="CC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rwx</a:t>
            </a:r>
            <a:r>
              <a:rPr lang="en-US" altLang="en-US" sz="2400" b="1" dirty="0" err="1">
                <a:solidFill>
                  <a:srgbClr val="008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r</a:t>
            </a:r>
            <a:r>
              <a:rPr lang="en-US" altLang="en-US" sz="2400" b="1" dirty="0">
                <a:solidFill>
                  <a:srgbClr val="008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--</a:t>
            </a:r>
            <a:r>
              <a:rPr lang="en-US" altLang="en-US" sz="2400" b="1" dirty="0">
                <a:solidFill>
                  <a:srgbClr val="9900CC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r--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somefile.eg </a:t>
            </a:r>
          </a:p>
        </p:txBody>
      </p:sp>
      <p:sp>
        <p:nvSpPr>
          <p:cNvPr id="950277" name="AutoShape 5"/>
          <p:cNvSpPr>
            <a:spLocks/>
          </p:cNvSpPr>
          <p:nvPr/>
        </p:nvSpPr>
        <p:spPr bwMode="auto">
          <a:xfrm rot="5400000">
            <a:off x="1790700" y="5295900"/>
            <a:ext cx="228600" cy="609600"/>
          </a:xfrm>
          <a:prstGeom prst="rightBrace">
            <a:avLst>
              <a:gd name="adj1" fmla="val 222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0278" name="AutoShape 6"/>
          <p:cNvSpPr>
            <a:spLocks/>
          </p:cNvSpPr>
          <p:nvPr/>
        </p:nvSpPr>
        <p:spPr bwMode="auto">
          <a:xfrm rot="5400000">
            <a:off x="2324100" y="5372100"/>
            <a:ext cx="228600" cy="457200"/>
          </a:xfrm>
          <a:prstGeom prst="rightBrace">
            <a:avLst>
              <a:gd name="adj1" fmla="val 1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0279" name="AutoShape 7"/>
          <p:cNvSpPr>
            <a:spLocks/>
          </p:cNvSpPr>
          <p:nvPr/>
        </p:nvSpPr>
        <p:spPr bwMode="auto">
          <a:xfrm rot="5400000">
            <a:off x="2857500" y="5372100"/>
            <a:ext cx="228600" cy="457200"/>
          </a:xfrm>
          <a:prstGeom prst="rightBrace">
            <a:avLst>
              <a:gd name="adj1" fmla="val 1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0280" name="AutoShape 8"/>
          <p:cNvSpPr>
            <a:spLocks/>
          </p:cNvSpPr>
          <p:nvPr/>
        </p:nvSpPr>
        <p:spPr bwMode="auto">
          <a:xfrm>
            <a:off x="2667000" y="6019800"/>
            <a:ext cx="1066800" cy="419100"/>
          </a:xfrm>
          <a:prstGeom prst="accentCallout2">
            <a:avLst>
              <a:gd name="adj1" fmla="val 27273"/>
              <a:gd name="adj2" fmla="val -7144"/>
              <a:gd name="adj3" fmla="val 27273"/>
              <a:gd name="adj4" fmla="val -14731"/>
              <a:gd name="adj5" fmla="val -75380"/>
              <a:gd name="adj6" fmla="val -22472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</a:p>
        </p:txBody>
      </p:sp>
      <p:sp>
        <p:nvSpPr>
          <p:cNvPr id="950281" name="AutoShape 9"/>
          <p:cNvSpPr>
            <a:spLocks/>
          </p:cNvSpPr>
          <p:nvPr/>
        </p:nvSpPr>
        <p:spPr bwMode="auto">
          <a:xfrm>
            <a:off x="457200" y="5867400"/>
            <a:ext cx="914400" cy="419100"/>
          </a:xfrm>
          <a:prstGeom prst="accentCallout2">
            <a:avLst>
              <a:gd name="adj1" fmla="val 27273"/>
              <a:gd name="adj2" fmla="val 108333"/>
              <a:gd name="adj3" fmla="val 27273"/>
              <a:gd name="adj4" fmla="val 131250"/>
              <a:gd name="adj5" fmla="val -41667"/>
              <a:gd name="adj6" fmla="val 154861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/>
            <a:r>
              <a:rPr lang="en-US" altLang="en-US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Owner</a:t>
            </a:r>
          </a:p>
        </p:txBody>
      </p:sp>
      <p:sp>
        <p:nvSpPr>
          <p:cNvPr id="950282" name="AutoShape 10"/>
          <p:cNvSpPr>
            <a:spLocks/>
          </p:cNvSpPr>
          <p:nvPr/>
        </p:nvSpPr>
        <p:spPr bwMode="auto">
          <a:xfrm>
            <a:off x="4114800" y="5943600"/>
            <a:ext cx="1371600" cy="419100"/>
          </a:xfrm>
          <a:prstGeom prst="accentCallout2">
            <a:avLst>
              <a:gd name="adj1" fmla="val 27273"/>
              <a:gd name="adj2" fmla="val -5556"/>
              <a:gd name="adj3" fmla="val 27273"/>
              <a:gd name="adj4" fmla="val -42245"/>
              <a:gd name="adj5" fmla="val -49241"/>
              <a:gd name="adj6" fmla="val -8009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AC8FD6-5E18-4FE5-91B6-8DDD4B541DE9}" type="slidenum">
              <a:rPr lang="en-US" altLang="en-US" smtClean="0">
                <a:solidFill>
                  <a:srgbClr val="000000"/>
                </a:solidFill>
              </a:rPr>
              <a:pPr/>
              <a:t>19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18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>
                <a:solidFill>
                  <a:schemeClr val="tx1"/>
                </a:solidFill>
              </a:rPr>
              <a:t>File Protection: </a:t>
            </a:r>
            <a:r>
              <a:rPr lang="en-US" altLang="en-US" sz="4000" b="1" dirty="0">
                <a:solidFill>
                  <a:schemeClr val="tx1"/>
                </a:solidFill>
              </a:rPr>
              <a:t>Access Control List</a:t>
            </a:r>
            <a:endParaRPr lang="en-SG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1676400"/>
          </a:xfrm>
        </p:spPr>
        <p:txBody>
          <a:bodyPr/>
          <a:lstStyle/>
          <a:p>
            <a:r>
              <a:rPr lang="en-US" dirty="0"/>
              <a:t>In Unix, Access Control List (ACL) can be:</a:t>
            </a:r>
          </a:p>
          <a:p>
            <a:pPr lvl="1"/>
            <a:r>
              <a:rPr lang="en-US" dirty="0"/>
              <a:t>Minimal ACL (the same as the permission bits)</a:t>
            </a:r>
          </a:p>
          <a:p>
            <a:pPr lvl="1"/>
            <a:r>
              <a:rPr lang="en-US" dirty="0"/>
              <a:t>Extended ACL (added </a:t>
            </a:r>
            <a:r>
              <a:rPr lang="en-US" b="1" dirty="0"/>
              <a:t>named users / group </a:t>
            </a:r>
            <a:r>
              <a:rPr lang="en-US" dirty="0"/>
              <a:t>)</a:t>
            </a:r>
          </a:p>
          <a:p>
            <a:pPr lvl="1"/>
            <a:endParaRPr lang="en-SG" dirty="0"/>
          </a:p>
        </p:txBody>
      </p:sp>
      <p:sp>
        <p:nvSpPr>
          <p:cNvPr id="6" name="Rectangle 5"/>
          <p:cNvSpPr/>
          <p:nvPr/>
        </p:nvSpPr>
        <p:spPr>
          <a:xfrm>
            <a:off x="762000" y="2658533"/>
            <a:ext cx="3657600" cy="358140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SG" b="1" dirty="0" err="1">
                <a:solidFill>
                  <a:srgbClr val="66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getfacl</a:t>
            </a:r>
            <a: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SG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exampleDir</a:t>
            </a:r>
            <a: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b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file: </a:t>
            </a:r>
            <a:r>
              <a:rPr lang="en-SG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exampleDir</a:t>
            </a:r>
            <a: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owner: </a:t>
            </a:r>
            <a:r>
              <a:rPr lang="en-SG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sooyj</a:t>
            </a:r>
            <a:b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group: </a:t>
            </a:r>
            <a:r>
              <a:rPr lang="en-SG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compsc</a:t>
            </a:r>
            <a:b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user::</a:t>
            </a:r>
            <a:r>
              <a:rPr lang="en-SG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rwx</a:t>
            </a:r>
            <a: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SG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user:aaron:rwx</a:t>
            </a:r>
            <a:r>
              <a:rPr lang="en-SG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group::r-x </a:t>
            </a:r>
            <a:b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SG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group:cohort17:rwx </a:t>
            </a:r>
            <a:b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SG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mask::</a:t>
            </a:r>
            <a:r>
              <a:rPr lang="en-SG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rwx</a:t>
            </a:r>
            <a:r>
              <a:rPr lang="en-SG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other::---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5715000" y="3733800"/>
            <a:ext cx="2362200" cy="609600"/>
          </a:xfrm>
          <a:prstGeom prst="borderCallout1">
            <a:avLst>
              <a:gd name="adj1" fmla="val 18750"/>
              <a:gd name="adj2" fmla="val -8333"/>
              <a:gd name="adj3" fmla="val 161111"/>
              <a:gd name="adj4" fmla="val -123280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Permission for Specific User</a:t>
            </a:r>
            <a:endParaRPr lang="en-SG" dirty="0"/>
          </a:p>
        </p:txBody>
      </p:sp>
      <p:sp>
        <p:nvSpPr>
          <p:cNvPr id="8" name="Line Callout 1 7"/>
          <p:cNvSpPr/>
          <p:nvPr/>
        </p:nvSpPr>
        <p:spPr>
          <a:xfrm>
            <a:off x="5715000" y="4749800"/>
            <a:ext cx="2362200" cy="609600"/>
          </a:xfrm>
          <a:prstGeom prst="borderCallout1">
            <a:avLst>
              <a:gd name="adj1" fmla="val 18750"/>
              <a:gd name="adj2" fmla="val -8333"/>
              <a:gd name="adj3" fmla="val 87500"/>
              <a:gd name="adj4" fmla="val -97474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Permission for Specific Group</a:t>
            </a:r>
            <a:endParaRPr lang="en-SG" dirty="0"/>
          </a:p>
        </p:txBody>
      </p:sp>
      <p:sp>
        <p:nvSpPr>
          <p:cNvPr id="9" name="Line Callout 1 8"/>
          <p:cNvSpPr/>
          <p:nvPr/>
        </p:nvSpPr>
        <p:spPr>
          <a:xfrm>
            <a:off x="5257800" y="5791200"/>
            <a:ext cx="2362200" cy="609600"/>
          </a:xfrm>
          <a:prstGeom prst="borderCallout1">
            <a:avLst>
              <a:gd name="adj1" fmla="val 18750"/>
              <a:gd name="adj2" fmla="val -8333"/>
              <a:gd name="adj3" fmla="val -36111"/>
              <a:gd name="adj4" fmla="val -129732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Permission "</a:t>
            </a:r>
            <a:r>
              <a:rPr lang="en-US" dirty="0" err="1"/>
              <a:t>upperbound</a:t>
            </a:r>
            <a:r>
              <a:rPr lang="en-US" dirty="0"/>
              <a:t>"</a:t>
            </a:r>
            <a:endParaRPr lang="en-SG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AC8FD6-5E18-4FE5-91B6-8DDD4B541DE9}" type="slidenum">
              <a:rPr lang="en-US" altLang="en-US" smtClean="0">
                <a:solidFill>
                  <a:srgbClr val="000000"/>
                </a:solidFill>
              </a:rPr>
              <a:pPr/>
              <a:t>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2" name="Line Callout 1 11"/>
          <p:cNvSpPr/>
          <p:nvPr/>
        </p:nvSpPr>
        <p:spPr>
          <a:xfrm>
            <a:off x="5715000" y="2590800"/>
            <a:ext cx="2743200" cy="838200"/>
          </a:xfrm>
          <a:prstGeom prst="borderCallout1">
            <a:avLst>
              <a:gd name="adj1" fmla="val 18750"/>
              <a:gd name="adj2" fmla="val -8333"/>
              <a:gd name="adj3" fmla="val 59343"/>
              <a:gd name="adj4" fmla="val -73489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"</a:t>
            </a:r>
            <a:r>
              <a:rPr lang="en-US" dirty="0" err="1"/>
              <a:t>getfacl</a:t>
            </a:r>
            <a:r>
              <a:rPr lang="en-US" dirty="0"/>
              <a:t>" is the command to get ACL information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059066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Operations on File Metadata</a:t>
            </a:r>
          </a:p>
        </p:txBody>
      </p:sp>
      <p:sp>
        <p:nvSpPr>
          <p:cNvPr id="951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Rename: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Change filename</a:t>
            </a:r>
          </a:p>
          <a:p>
            <a:pPr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Change attributes: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File access permissions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Dates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Ownership</a:t>
            </a:r>
          </a:p>
          <a:p>
            <a:pPr lvl="1">
              <a:lnSpc>
                <a:spcPct val="90000"/>
              </a:lnSpc>
            </a:pPr>
            <a:r>
              <a:rPr lang="en-US" altLang="en-US" dirty="0" err="1"/>
              <a:t>etc</a:t>
            </a:r>
            <a:endParaRPr lang="en-US" altLang="en-US" dirty="0"/>
          </a:p>
          <a:p>
            <a:pPr lvl="1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Read attribute: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Get file creation time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61778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File Data: </a:t>
            </a:r>
            <a:r>
              <a:rPr lang="en-US" altLang="en-US" sz="3800" b="1" dirty="0">
                <a:solidFill>
                  <a:srgbClr val="C00000"/>
                </a:solidFill>
              </a:rPr>
              <a:t>Structure</a:t>
            </a:r>
          </a:p>
        </p:txBody>
      </p:sp>
      <p:sp>
        <p:nvSpPr>
          <p:cNvPr id="952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486400"/>
          </a:xfrm>
        </p:spPr>
        <p:txBody>
          <a:bodyPr/>
          <a:lstStyle/>
          <a:p>
            <a:r>
              <a:rPr lang="en-US" altLang="en-US" b="1">
                <a:solidFill>
                  <a:srgbClr val="0033CC"/>
                </a:solidFill>
              </a:rPr>
              <a:t>Array of bytes</a:t>
            </a:r>
            <a:r>
              <a:rPr lang="en-US" altLang="en-US"/>
              <a:t>: </a:t>
            </a:r>
          </a:p>
          <a:p>
            <a:pPr lvl="1"/>
            <a:r>
              <a:rPr lang="en-US" altLang="en-US"/>
              <a:t>The traditional Unix view </a:t>
            </a:r>
          </a:p>
          <a:p>
            <a:pPr lvl="1"/>
            <a:r>
              <a:rPr lang="en-US" altLang="en-US"/>
              <a:t>No interpretation of data: </a:t>
            </a:r>
            <a:r>
              <a:rPr lang="en-US" altLang="en-US" b="1"/>
              <a:t>just raw bytes</a:t>
            </a:r>
          </a:p>
          <a:p>
            <a:pPr lvl="1"/>
            <a:r>
              <a:rPr lang="en-US" altLang="en-US"/>
              <a:t>Each byte has an unique </a:t>
            </a:r>
            <a:r>
              <a:rPr lang="en-US" altLang="en-US" b="1">
                <a:solidFill>
                  <a:srgbClr val="008000"/>
                </a:solidFill>
              </a:rPr>
              <a:t>offset</a:t>
            </a:r>
            <a:r>
              <a:rPr lang="en-US" altLang="en-US" b="1"/>
              <a:t> (distance) </a:t>
            </a:r>
            <a:r>
              <a:rPr lang="en-US" altLang="en-US"/>
              <a:t>from the file start</a:t>
            </a:r>
          </a:p>
          <a:p>
            <a:r>
              <a:rPr lang="en-US" altLang="en-US" b="1">
                <a:solidFill>
                  <a:srgbClr val="0033CC"/>
                </a:solidFill>
              </a:rPr>
              <a:t>Fixed length records:</a:t>
            </a:r>
          </a:p>
          <a:p>
            <a:pPr lvl="1"/>
            <a:r>
              <a:rPr lang="en-US" altLang="en-US"/>
              <a:t>Array of records, can grow/shrink</a:t>
            </a:r>
          </a:p>
          <a:p>
            <a:pPr lvl="1"/>
            <a:r>
              <a:rPr lang="en-US" altLang="en-US"/>
              <a:t>Can jump to any record easily:</a:t>
            </a:r>
          </a:p>
          <a:p>
            <a:pPr lvl="2"/>
            <a:r>
              <a:rPr lang="en-US" altLang="en-US"/>
              <a:t>Offset of the</a:t>
            </a:r>
            <a:r>
              <a:rPr lang="en-US" altLang="en-US" b="1">
                <a:solidFill>
                  <a:srgbClr val="0033CC"/>
                </a:solidFill>
              </a:rPr>
              <a:t> N</a:t>
            </a:r>
            <a:r>
              <a:rPr lang="en-US" altLang="en-US" b="1" baseline="30000">
                <a:solidFill>
                  <a:srgbClr val="0033CC"/>
                </a:solidFill>
              </a:rPr>
              <a:t>th </a:t>
            </a:r>
            <a:r>
              <a:rPr lang="en-US" altLang="en-US"/>
              <a:t>record = size of Record * (N-1)</a:t>
            </a:r>
            <a:r>
              <a:rPr lang="en-US" altLang="en-US" b="1">
                <a:solidFill>
                  <a:srgbClr val="0033CC"/>
                </a:solidFill>
              </a:rPr>
              <a:t>  </a:t>
            </a:r>
          </a:p>
          <a:p>
            <a:r>
              <a:rPr lang="en-US" altLang="en-US" b="1">
                <a:solidFill>
                  <a:srgbClr val="0033CC"/>
                </a:solidFill>
              </a:rPr>
              <a:t>Variable length records</a:t>
            </a:r>
          </a:p>
          <a:p>
            <a:pPr lvl="1"/>
            <a:r>
              <a:rPr lang="en-US" altLang="en-US"/>
              <a:t>Flexible but harder to locate a record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4945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2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File Data: </a:t>
            </a:r>
            <a:r>
              <a:rPr lang="en-US" altLang="en-US" sz="3800" b="1" dirty="0">
                <a:solidFill>
                  <a:srgbClr val="C00000"/>
                </a:solidFill>
              </a:rPr>
              <a:t>Access Methods</a:t>
            </a:r>
          </a:p>
        </p:txBody>
      </p:sp>
      <p:sp>
        <p:nvSpPr>
          <p:cNvPr id="963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486400"/>
          </a:xfrm>
        </p:spPr>
        <p:txBody>
          <a:bodyPr/>
          <a:lstStyle/>
          <a:p>
            <a:r>
              <a:rPr lang="en-US" altLang="en-US" b="1" dirty="0">
                <a:solidFill>
                  <a:srgbClr val="660066"/>
                </a:solidFill>
              </a:rPr>
              <a:t>Sequential Access:</a:t>
            </a:r>
          </a:p>
          <a:p>
            <a:pPr lvl="1"/>
            <a:r>
              <a:rPr lang="en-US" altLang="en-US" dirty="0"/>
              <a:t>Data read in order, starting from the beginning</a:t>
            </a:r>
          </a:p>
          <a:p>
            <a:pPr lvl="1"/>
            <a:r>
              <a:rPr lang="en-US" altLang="en-US" dirty="0"/>
              <a:t>Cannot skip but can be rewound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33CC"/>
                </a:solidFill>
              </a:rPr>
              <a:t>Random Access: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Data can be read in any order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Can be provided in two ways: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Read( </a:t>
            </a:r>
            <a:r>
              <a:rPr lang="en-US" altLang="en-US" b="1" dirty="0">
                <a:solidFill>
                  <a:schemeClr val="tx2"/>
                </a:solidFill>
                <a:latin typeface="Courier New" panose="02070309020205020404" pitchFamily="49" charset="0"/>
              </a:rPr>
              <a:t>Offset</a:t>
            </a: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 ):</a:t>
            </a:r>
            <a:r>
              <a:rPr lang="en-US" altLang="en-US" dirty="0"/>
              <a:t>  Every read operation explicitly state the position to be accessed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Seek( </a:t>
            </a:r>
            <a:r>
              <a:rPr lang="en-US" altLang="en-US" b="1" dirty="0">
                <a:solidFill>
                  <a:schemeClr val="tx2"/>
                </a:solidFill>
                <a:latin typeface="Courier New" panose="02070309020205020404" pitchFamily="49" charset="0"/>
              </a:rPr>
              <a:t>Offset</a:t>
            </a: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 ):</a:t>
            </a:r>
            <a:r>
              <a:rPr lang="en-US" altLang="en-US" dirty="0"/>
              <a:t> A special operation is provided to move to a new location in file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E.g. Unix and Windows uses (2) </a:t>
            </a:r>
          </a:p>
          <a:p>
            <a:pPr lvl="1"/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6504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3587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File Data: </a:t>
            </a:r>
            <a:r>
              <a:rPr lang="en-US" altLang="en-US" sz="3800" b="1" dirty="0"/>
              <a:t>Access Methods </a:t>
            </a:r>
            <a:r>
              <a:rPr lang="en-US" altLang="en-US" sz="3800" dirty="0"/>
              <a:t>(</a:t>
            </a:r>
            <a:r>
              <a:rPr lang="en-US" altLang="en-US" sz="3800" dirty="0" err="1"/>
              <a:t>cont</a:t>
            </a:r>
            <a:r>
              <a:rPr lang="en-US" altLang="en-US" sz="3800" dirty="0"/>
              <a:t> )</a:t>
            </a:r>
          </a:p>
        </p:txBody>
      </p:sp>
      <p:sp>
        <p:nvSpPr>
          <p:cNvPr id="964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486400"/>
          </a:xfrm>
        </p:spPr>
        <p:txBody>
          <a:bodyPr/>
          <a:lstStyle/>
          <a:p>
            <a:r>
              <a:rPr lang="en-US" altLang="en-US" b="1" dirty="0">
                <a:solidFill>
                  <a:srgbClr val="0033CC"/>
                </a:solidFill>
              </a:rPr>
              <a:t>Direct Access:</a:t>
            </a:r>
          </a:p>
          <a:p>
            <a:pPr lvl="1"/>
            <a:r>
              <a:rPr lang="en-US" altLang="en-US" dirty="0"/>
              <a:t>Used for file contains fixed-length records</a:t>
            </a:r>
          </a:p>
          <a:p>
            <a:pPr lvl="1"/>
            <a:r>
              <a:rPr lang="en-US" altLang="en-US" dirty="0"/>
              <a:t>Allow </a:t>
            </a:r>
            <a:r>
              <a:rPr lang="en-US" altLang="en-US" b="1" i="1" dirty="0"/>
              <a:t>random access to any record directly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Very useful where there is a large amount of records</a:t>
            </a:r>
          </a:p>
          <a:p>
            <a:pPr lvl="2"/>
            <a:r>
              <a:rPr lang="en-US" altLang="en-US" dirty="0"/>
              <a:t>e.g. In database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The basic random access method can be view as a special case:</a:t>
            </a:r>
          </a:p>
          <a:p>
            <a:pPr lvl="2"/>
            <a:r>
              <a:rPr lang="en-US" altLang="en-US" dirty="0"/>
              <a:t>Where each record == one byte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7794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4611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File Data: Generic Operations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64464"/>
              </p:ext>
            </p:extLst>
          </p:nvPr>
        </p:nvGraphicFramePr>
        <p:xfrm>
          <a:off x="457200" y="1142998"/>
          <a:ext cx="8153400" cy="510540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7007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en-US" sz="2000" b="1" dirty="0">
                          <a:solidFill>
                            <a:srgbClr val="008000"/>
                          </a:solidFill>
                        </a:rPr>
                        <a:t>Create: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New file is created with no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5417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en-US" sz="2000" b="1" dirty="0">
                          <a:solidFill>
                            <a:schemeClr val="tx2"/>
                          </a:solidFill>
                        </a:rPr>
                        <a:t>Open:</a:t>
                      </a:r>
                      <a:endParaRPr lang="en-US" alt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Performed before further operations</a:t>
                      </a:r>
                    </a:p>
                    <a:p>
                      <a:r>
                        <a:rPr lang="en-US" sz="2000" dirty="0"/>
                        <a:t>To prepare the necessary information for file operations later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412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en-US" sz="2000" b="1" dirty="0">
                          <a:solidFill>
                            <a:srgbClr val="0033CC"/>
                          </a:solidFill>
                        </a:rPr>
                        <a:t>Read:</a:t>
                      </a:r>
                      <a:endParaRPr lang="en-US" altLang="en-US" sz="2000" dirty="0">
                        <a:solidFill>
                          <a:srgbClr val="0033CC"/>
                        </a:solidFill>
                      </a:endParaRPr>
                    </a:p>
                    <a:p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Read data from file, usually starting from current position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5074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en-US" sz="2000" b="1" dirty="0">
                          <a:solidFill>
                            <a:srgbClr val="9900CC"/>
                          </a:solidFill>
                        </a:rPr>
                        <a:t>Write: </a:t>
                      </a:r>
                    </a:p>
                    <a:p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Write data to file, usually starting from current position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5417">
                <a:tc>
                  <a:txBody>
                    <a:bodyPr/>
                    <a:lstStyle/>
                    <a:p>
                      <a:r>
                        <a:rPr lang="en-US" altLang="en-US" sz="2000" b="1" dirty="0">
                          <a:solidFill>
                            <a:srgbClr val="008000"/>
                          </a:solidFill>
                        </a:rPr>
                        <a:t>Repositioning: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Also known as seek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Move the current position to a new location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No actual Read/Write is performed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5074">
                <a:tc>
                  <a:txBody>
                    <a:bodyPr/>
                    <a:lstStyle/>
                    <a:p>
                      <a:r>
                        <a:rPr lang="en-US" altLang="en-US" sz="2000" b="1" dirty="0">
                          <a:solidFill>
                            <a:srgbClr val="0033CC"/>
                          </a:solidFill>
                        </a:rPr>
                        <a:t>Truncate: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Removes data between specified position to end of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17881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File Operations as System Calls</a:t>
            </a:r>
          </a:p>
        </p:txBody>
      </p:sp>
      <p:sp>
        <p:nvSpPr>
          <p:cNvPr id="968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486400"/>
          </a:xfrm>
        </p:spPr>
        <p:txBody>
          <a:bodyPr/>
          <a:lstStyle/>
          <a:p>
            <a:r>
              <a:rPr lang="en-US" altLang="en-US" dirty="0"/>
              <a:t>OS provides file operations as </a:t>
            </a:r>
            <a:r>
              <a:rPr lang="en-US" altLang="en-US" b="1" dirty="0"/>
              <a:t>system calls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Provide protection, concurrent and efficient access</a:t>
            </a:r>
          </a:p>
          <a:p>
            <a:pPr lvl="1"/>
            <a:r>
              <a:rPr lang="en-US" altLang="en-US" dirty="0"/>
              <a:t>Maintain information</a:t>
            </a:r>
          </a:p>
          <a:p>
            <a:endParaRPr lang="en-US" altLang="en-US" dirty="0"/>
          </a:p>
          <a:p>
            <a:r>
              <a:rPr lang="en-US" altLang="en-US" dirty="0"/>
              <a:t>Information kept for an opened file:</a:t>
            </a:r>
          </a:p>
          <a:p>
            <a:pPr lvl="1"/>
            <a:r>
              <a:rPr lang="en-US" altLang="en-US" b="1" dirty="0">
                <a:solidFill>
                  <a:schemeClr val="tx2"/>
                </a:solidFill>
              </a:rPr>
              <a:t>File Pointer:</a:t>
            </a:r>
            <a:r>
              <a:rPr lang="en-US" altLang="en-US" dirty="0"/>
              <a:t> Current location in file</a:t>
            </a:r>
          </a:p>
          <a:p>
            <a:pPr lvl="1"/>
            <a:r>
              <a:rPr lang="en-US" altLang="en-US" b="1" dirty="0">
                <a:solidFill>
                  <a:srgbClr val="0033CC"/>
                </a:solidFill>
              </a:rPr>
              <a:t>Disk Location:</a:t>
            </a:r>
            <a:r>
              <a:rPr lang="en-US" altLang="en-US" dirty="0"/>
              <a:t> Actual file location on disk</a:t>
            </a:r>
          </a:p>
          <a:p>
            <a:pPr lvl="1"/>
            <a:r>
              <a:rPr lang="en-US" altLang="en-US" b="1" dirty="0">
                <a:solidFill>
                  <a:srgbClr val="008000"/>
                </a:solidFill>
              </a:rPr>
              <a:t>Open Count:</a:t>
            </a:r>
            <a:r>
              <a:rPr lang="en-US" altLang="en-US" dirty="0"/>
              <a:t> How many process has this file opened?</a:t>
            </a:r>
          </a:p>
          <a:p>
            <a:pPr lvl="2"/>
            <a:r>
              <a:rPr lang="en-US" altLang="en-US" dirty="0"/>
              <a:t>Useful to determine when to remove the entry in table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5782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8707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File Operations as System Calls (cont)</a:t>
            </a:r>
          </a:p>
        </p:txBody>
      </p:sp>
      <p:sp>
        <p:nvSpPr>
          <p:cNvPr id="969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b="1" dirty="0">
                <a:solidFill>
                  <a:srgbClr val="0033CC"/>
                </a:solidFill>
              </a:rPr>
              <a:t>Consider:</a:t>
            </a:r>
          </a:p>
          <a:p>
            <a:pPr lvl="1"/>
            <a:r>
              <a:rPr lang="en-US" altLang="en-US" dirty="0"/>
              <a:t>Several processes can open the same file</a:t>
            </a:r>
          </a:p>
          <a:p>
            <a:pPr lvl="1"/>
            <a:r>
              <a:rPr lang="en-US" altLang="en-US" dirty="0"/>
              <a:t>Several different files can be opened at any time</a:t>
            </a:r>
          </a:p>
          <a:p>
            <a:pPr lvl="1"/>
            <a:r>
              <a:rPr lang="en-US" altLang="en-US" dirty="0"/>
              <a:t>What is a good way to organize the open-file information?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b="1" dirty="0">
                <a:solidFill>
                  <a:schemeClr val="tx2"/>
                </a:solidFill>
              </a:rPr>
              <a:t>Common approach:</a:t>
            </a:r>
          </a:p>
          <a:p>
            <a:pPr lvl="1"/>
            <a:r>
              <a:rPr lang="en-US" altLang="en-US" dirty="0"/>
              <a:t>System-wide open-file table:</a:t>
            </a:r>
          </a:p>
          <a:p>
            <a:pPr lvl="2"/>
            <a:r>
              <a:rPr lang="en-US" altLang="en-US" dirty="0"/>
              <a:t>One entry per unique file</a:t>
            </a:r>
          </a:p>
          <a:p>
            <a:pPr lvl="1"/>
            <a:r>
              <a:rPr lang="en-US" altLang="en-US" dirty="0"/>
              <a:t>Per-process open-file table:</a:t>
            </a:r>
          </a:p>
          <a:p>
            <a:pPr lvl="2"/>
            <a:r>
              <a:rPr lang="en-US" altLang="en-US" dirty="0"/>
              <a:t>One entry per file used in the process</a:t>
            </a:r>
          </a:p>
          <a:p>
            <a:pPr lvl="2"/>
            <a:r>
              <a:rPr lang="en-US" altLang="en-US" dirty="0"/>
              <a:t>Each entry points to the </a:t>
            </a:r>
            <a:r>
              <a:rPr lang="en-US" altLang="en-US" b="1" dirty="0"/>
              <a:t>system-wide table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5164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9731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Operations: Unix Illustration</a:t>
            </a:r>
          </a:p>
        </p:txBody>
      </p:sp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1576391" y="1296918"/>
            <a:ext cx="1676400" cy="243840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 dirty="0" err="1"/>
              <a:t>Proc</a:t>
            </a:r>
            <a:r>
              <a:rPr lang="en-US" altLang="en-US" b="1" dirty="0"/>
              <a:t> A PCB</a:t>
            </a:r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</p:txBody>
      </p:sp>
      <p:grpSp>
        <p:nvGrpSpPr>
          <p:cNvPr id="16" name="Group 15"/>
          <p:cNvGrpSpPr/>
          <p:nvPr/>
        </p:nvGrpSpPr>
        <p:grpSpPr>
          <a:xfrm>
            <a:off x="2133740" y="1803103"/>
            <a:ext cx="907869" cy="1426029"/>
            <a:chOff x="3429000" y="1936569"/>
            <a:chExt cx="907869" cy="1426029"/>
          </a:xfrm>
        </p:grpSpPr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>
              <a:off x="3879669" y="1936569"/>
              <a:ext cx="457200" cy="304800"/>
            </a:xfrm>
            <a:prstGeom prst="rect">
              <a:avLst/>
            </a:prstGeom>
            <a:solidFill>
              <a:srgbClr val="BBFFBB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3429000" y="1936569"/>
              <a:ext cx="4572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0</a:t>
              </a:r>
            </a:p>
          </p:txBody>
        </p:sp>
        <p:sp>
          <p:nvSpPr>
            <p:cNvPr id="10" name="Rectangle 4"/>
            <p:cNvSpPr>
              <a:spLocks noChangeArrowheads="1"/>
            </p:cNvSpPr>
            <p:nvPr/>
          </p:nvSpPr>
          <p:spPr bwMode="auto">
            <a:xfrm>
              <a:off x="3879669" y="2231571"/>
              <a:ext cx="457200" cy="304800"/>
            </a:xfrm>
            <a:prstGeom prst="rect">
              <a:avLst/>
            </a:prstGeom>
            <a:solidFill>
              <a:srgbClr val="BBFFBB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auto">
            <a:xfrm>
              <a:off x="3429000" y="2231571"/>
              <a:ext cx="4572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1</a:t>
              </a:r>
            </a:p>
          </p:txBody>
        </p:sp>
        <p:sp>
          <p:nvSpPr>
            <p:cNvPr id="12" name="Rectangle 4"/>
            <p:cNvSpPr>
              <a:spLocks noChangeArrowheads="1"/>
            </p:cNvSpPr>
            <p:nvPr/>
          </p:nvSpPr>
          <p:spPr bwMode="auto">
            <a:xfrm>
              <a:off x="3879669" y="2526572"/>
              <a:ext cx="457200" cy="531225"/>
            </a:xfrm>
            <a:prstGeom prst="rect">
              <a:avLst/>
            </a:prstGeom>
            <a:solidFill>
              <a:srgbClr val="BBFFBB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…</a:t>
              </a:r>
            </a:p>
          </p:txBody>
        </p:sp>
        <p:sp>
          <p:nvSpPr>
            <p:cNvPr id="13" name="Rectangle 4"/>
            <p:cNvSpPr>
              <a:spLocks noChangeArrowheads="1"/>
            </p:cNvSpPr>
            <p:nvPr/>
          </p:nvSpPr>
          <p:spPr bwMode="auto">
            <a:xfrm>
              <a:off x="3429000" y="2526573"/>
              <a:ext cx="457200" cy="531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…</a:t>
              </a:r>
            </a:p>
          </p:txBody>
        </p:sp>
        <p:sp>
          <p:nvSpPr>
            <p:cNvPr id="14" name="Rectangle 4"/>
            <p:cNvSpPr>
              <a:spLocks noChangeArrowheads="1"/>
            </p:cNvSpPr>
            <p:nvPr/>
          </p:nvSpPr>
          <p:spPr bwMode="auto">
            <a:xfrm>
              <a:off x="3881846" y="3057798"/>
              <a:ext cx="455023" cy="304800"/>
            </a:xfrm>
            <a:prstGeom prst="rect">
              <a:avLst/>
            </a:prstGeom>
            <a:solidFill>
              <a:srgbClr val="BBFFBB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5" name="Rectangle 4"/>
            <p:cNvSpPr>
              <a:spLocks noChangeArrowheads="1"/>
            </p:cNvSpPr>
            <p:nvPr/>
          </p:nvSpPr>
          <p:spPr bwMode="auto">
            <a:xfrm>
              <a:off x="3429000" y="3057798"/>
              <a:ext cx="4572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 err="1">
                  <a:latin typeface="Courier New" panose="02070309020205020404" pitchFamily="49" charset="0"/>
                </a:rPr>
                <a:t>fd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1974809" y="3264945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File Descriptor</a:t>
            </a:r>
          </a:p>
          <a:p>
            <a:pPr algn="ctr"/>
            <a:r>
              <a:rPr lang="en-US" sz="1200" dirty="0"/>
              <a:t>Table</a:t>
            </a: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4963797" y="1077102"/>
            <a:ext cx="1657710" cy="94208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23" name="Rectangle 4"/>
          <p:cNvSpPr>
            <a:spLocks noChangeArrowheads="1"/>
          </p:cNvSpPr>
          <p:nvPr/>
        </p:nvSpPr>
        <p:spPr bwMode="auto">
          <a:xfrm>
            <a:off x="4963797" y="2007202"/>
            <a:ext cx="1657710" cy="74909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…</a:t>
            </a:r>
          </a:p>
        </p:txBody>
      </p:sp>
      <p:sp>
        <p:nvSpPr>
          <p:cNvPr id="25" name="Rectangle 4"/>
          <p:cNvSpPr>
            <a:spLocks noChangeArrowheads="1"/>
          </p:cNvSpPr>
          <p:nvPr/>
        </p:nvSpPr>
        <p:spPr bwMode="auto">
          <a:xfrm>
            <a:off x="4971690" y="2752325"/>
            <a:ext cx="1657710" cy="94208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4495800" y="1077102"/>
            <a:ext cx="484718" cy="9420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r"/>
            <a:r>
              <a:rPr lang="en-US" altLang="en-US" sz="1600" b="1" dirty="0"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4495800" y="2019190"/>
            <a:ext cx="484718" cy="7344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r"/>
            <a:r>
              <a:rPr lang="en-US" altLang="en-US" sz="1600" b="1" dirty="0">
                <a:latin typeface="Courier New" panose="02070309020205020404" pitchFamily="49" charset="0"/>
              </a:rPr>
              <a:t>…</a:t>
            </a:r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4495800" y="2749689"/>
            <a:ext cx="484718" cy="9420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r"/>
            <a:r>
              <a:rPr lang="en-US" altLang="en-US" sz="1600" b="1" dirty="0">
                <a:latin typeface="Courier New" panose="02070309020205020404" pitchFamily="49" charset="0"/>
              </a:rPr>
              <a:t>x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5023380" y="1123052"/>
            <a:ext cx="1555265" cy="838200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9050" algn="ctr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r>
              <a:rPr lang="en-US" altLang="en-US" sz="1400" dirty="0" err="1"/>
              <a:t>Op.Type</a:t>
            </a:r>
            <a:r>
              <a:rPr lang="en-US" altLang="en-US" sz="1400" dirty="0"/>
              <a:t>: …</a:t>
            </a:r>
          </a:p>
          <a:p>
            <a:r>
              <a:rPr lang="en-US" altLang="en-US" sz="1400" dirty="0"/>
              <a:t>File offset: …</a:t>
            </a:r>
          </a:p>
          <a:p>
            <a:r>
              <a:rPr lang="en-US" altLang="en-US" sz="1400" dirty="0"/>
              <a:t>"File Data":</a:t>
            </a:r>
          </a:p>
        </p:txBody>
      </p:sp>
      <p:sp>
        <p:nvSpPr>
          <p:cNvPr id="29" name="AutoShape 6"/>
          <p:cNvSpPr>
            <a:spLocks noChangeArrowheads="1"/>
          </p:cNvSpPr>
          <p:nvPr/>
        </p:nvSpPr>
        <p:spPr bwMode="auto">
          <a:xfrm>
            <a:off x="5015019" y="2802949"/>
            <a:ext cx="1555265" cy="838200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9050" algn="ctr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r>
              <a:rPr lang="en-US" altLang="en-US" sz="1400" dirty="0" err="1"/>
              <a:t>Op.Type</a:t>
            </a:r>
            <a:r>
              <a:rPr lang="en-US" altLang="en-US" sz="1400" dirty="0"/>
              <a:t>: Read</a:t>
            </a:r>
          </a:p>
          <a:p>
            <a:r>
              <a:rPr lang="en-US" altLang="en-US" sz="1400" dirty="0"/>
              <a:t>File offset: 1234</a:t>
            </a:r>
          </a:p>
          <a:p>
            <a:r>
              <a:rPr lang="en-US" altLang="en-US" sz="1400" dirty="0"/>
              <a:t>"File Data":</a:t>
            </a:r>
          </a:p>
        </p:txBody>
      </p:sp>
      <p:sp>
        <p:nvSpPr>
          <p:cNvPr id="30" name="Rectangle 4"/>
          <p:cNvSpPr>
            <a:spLocks noChangeArrowheads="1"/>
          </p:cNvSpPr>
          <p:nvPr/>
        </p:nvSpPr>
        <p:spPr bwMode="auto">
          <a:xfrm>
            <a:off x="4963797" y="3664089"/>
            <a:ext cx="1657710" cy="72749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…</a:t>
            </a:r>
          </a:p>
        </p:txBody>
      </p:sp>
      <p:sp>
        <p:nvSpPr>
          <p:cNvPr id="31" name="Rectangle 4"/>
          <p:cNvSpPr>
            <a:spLocks noChangeArrowheads="1"/>
          </p:cNvSpPr>
          <p:nvPr/>
        </p:nvSpPr>
        <p:spPr bwMode="auto">
          <a:xfrm>
            <a:off x="4971690" y="4390242"/>
            <a:ext cx="1657710" cy="94208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32" name="Rectangle 4"/>
          <p:cNvSpPr>
            <a:spLocks noChangeArrowheads="1"/>
          </p:cNvSpPr>
          <p:nvPr/>
        </p:nvSpPr>
        <p:spPr bwMode="auto">
          <a:xfrm>
            <a:off x="4495800" y="3664089"/>
            <a:ext cx="484718" cy="7274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r"/>
            <a:r>
              <a:rPr lang="en-US" altLang="en-US" sz="1600" b="1" dirty="0">
                <a:latin typeface="Courier New" panose="02070309020205020404" pitchFamily="49" charset="0"/>
              </a:rPr>
              <a:t>…</a:t>
            </a:r>
          </a:p>
        </p:txBody>
      </p:sp>
      <p:sp>
        <p:nvSpPr>
          <p:cNvPr id="33" name="AutoShape 6"/>
          <p:cNvSpPr>
            <a:spLocks noChangeArrowheads="1"/>
          </p:cNvSpPr>
          <p:nvPr/>
        </p:nvSpPr>
        <p:spPr bwMode="auto">
          <a:xfrm>
            <a:off x="5015019" y="4440866"/>
            <a:ext cx="1555265" cy="838200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9050" algn="ctr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r>
              <a:rPr lang="en-US" altLang="en-US" sz="1400" dirty="0" err="1"/>
              <a:t>Op.Type</a:t>
            </a:r>
            <a:r>
              <a:rPr lang="en-US" altLang="en-US" sz="1400" dirty="0"/>
              <a:t>: Write</a:t>
            </a:r>
          </a:p>
          <a:p>
            <a:r>
              <a:rPr lang="en-US" altLang="en-US" sz="1400" dirty="0"/>
              <a:t>File offset: 5678</a:t>
            </a:r>
          </a:p>
          <a:p>
            <a:r>
              <a:rPr lang="en-US" altLang="en-US" sz="1400" dirty="0"/>
              <a:t>"File Data":</a:t>
            </a:r>
          </a:p>
        </p:txBody>
      </p:sp>
      <p:sp>
        <p:nvSpPr>
          <p:cNvPr id="34" name="Rectangle 4"/>
          <p:cNvSpPr>
            <a:spLocks noChangeArrowheads="1"/>
          </p:cNvSpPr>
          <p:nvPr/>
        </p:nvSpPr>
        <p:spPr bwMode="auto">
          <a:xfrm>
            <a:off x="4495800" y="4387606"/>
            <a:ext cx="484718" cy="9447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r"/>
            <a:r>
              <a:rPr lang="en-US" altLang="en-US" sz="1600" b="1" dirty="0">
                <a:latin typeface="Courier New" panose="02070309020205020404" pitchFamily="49" charset="0"/>
              </a:rPr>
              <a:t>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5320" y="6107668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</p:txBody>
      </p:sp>
      <p:sp>
        <p:nvSpPr>
          <p:cNvPr id="36" name="Rectangle 4"/>
          <p:cNvSpPr>
            <a:spLocks noChangeArrowheads="1"/>
          </p:cNvSpPr>
          <p:nvPr/>
        </p:nvSpPr>
        <p:spPr bwMode="auto">
          <a:xfrm>
            <a:off x="4963797" y="5334966"/>
            <a:ext cx="1657710" cy="72749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…</a:t>
            </a:r>
          </a:p>
        </p:txBody>
      </p:sp>
      <p:sp>
        <p:nvSpPr>
          <p:cNvPr id="37" name="Rectangle 4"/>
          <p:cNvSpPr>
            <a:spLocks noChangeArrowheads="1"/>
          </p:cNvSpPr>
          <p:nvPr/>
        </p:nvSpPr>
        <p:spPr bwMode="auto">
          <a:xfrm>
            <a:off x="4495800" y="5334966"/>
            <a:ext cx="484718" cy="7274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r"/>
            <a:r>
              <a:rPr lang="en-US" altLang="en-US" sz="1600" b="1" dirty="0">
                <a:latin typeface="Courier New" panose="02070309020205020404" pitchFamily="49" charset="0"/>
              </a:rPr>
              <a:t>…</a:t>
            </a:r>
          </a:p>
        </p:txBody>
      </p:sp>
      <p:cxnSp>
        <p:nvCxnSpPr>
          <p:cNvPr id="39" name="Elbow Connector 38"/>
          <p:cNvCxnSpPr>
            <a:stCxn id="14" idx="3"/>
            <a:endCxn id="34" idx="1"/>
          </p:cNvCxnSpPr>
          <p:nvPr/>
        </p:nvCxnSpPr>
        <p:spPr>
          <a:xfrm>
            <a:off x="3041609" y="3076732"/>
            <a:ext cx="1454191" cy="1783236"/>
          </a:xfrm>
          <a:prstGeom prst="bentConnector3">
            <a:avLst>
              <a:gd name="adj1" fmla="val 34430"/>
            </a:avLst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14"/>
          <p:cNvSpPr>
            <a:spLocks noChangeArrowheads="1"/>
          </p:cNvSpPr>
          <p:nvPr/>
        </p:nvSpPr>
        <p:spPr bwMode="auto">
          <a:xfrm>
            <a:off x="1566935" y="3889963"/>
            <a:ext cx="1676400" cy="243840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 dirty="0" err="1"/>
              <a:t>Proc</a:t>
            </a:r>
            <a:r>
              <a:rPr lang="en-US" altLang="en-US" b="1" dirty="0"/>
              <a:t> B PCB</a:t>
            </a:r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</p:txBody>
      </p:sp>
      <p:sp>
        <p:nvSpPr>
          <p:cNvPr id="53" name="TextBox 52"/>
          <p:cNvSpPr txBox="1"/>
          <p:nvPr/>
        </p:nvSpPr>
        <p:spPr>
          <a:xfrm>
            <a:off x="1934712" y="5859650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File Descriptor</a:t>
            </a:r>
          </a:p>
          <a:p>
            <a:pPr algn="ctr"/>
            <a:r>
              <a:rPr lang="en-US" sz="1200" dirty="0"/>
              <a:t>Table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2093643" y="4397808"/>
            <a:ext cx="907869" cy="1426029"/>
            <a:chOff x="3429000" y="1936569"/>
            <a:chExt cx="907869" cy="1426029"/>
          </a:xfrm>
        </p:grpSpPr>
        <p:sp>
          <p:nvSpPr>
            <p:cNvPr id="45" name="Rectangle 4"/>
            <p:cNvSpPr>
              <a:spLocks noChangeArrowheads="1"/>
            </p:cNvSpPr>
            <p:nvPr/>
          </p:nvSpPr>
          <p:spPr bwMode="auto">
            <a:xfrm>
              <a:off x="3879669" y="1936569"/>
              <a:ext cx="457200" cy="304800"/>
            </a:xfrm>
            <a:prstGeom prst="rect">
              <a:avLst/>
            </a:prstGeom>
            <a:solidFill>
              <a:srgbClr val="BBFFBB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46" name="Rectangle 4"/>
            <p:cNvSpPr>
              <a:spLocks noChangeArrowheads="1"/>
            </p:cNvSpPr>
            <p:nvPr/>
          </p:nvSpPr>
          <p:spPr bwMode="auto">
            <a:xfrm>
              <a:off x="3429000" y="1936569"/>
              <a:ext cx="4572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0</a:t>
              </a:r>
            </a:p>
          </p:txBody>
        </p:sp>
        <p:sp>
          <p:nvSpPr>
            <p:cNvPr id="47" name="Rectangle 4"/>
            <p:cNvSpPr>
              <a:spLocks noChangeArrowheads="1"/>
            </p:cNvSpPr>
            <p:nvPr/>
          </p:nvSpPr>
          <p:spPr bwMode="auto">
            <a:xfrm>
              <a:off x="3879669" y="2231571"/>
              <a:ext cx="457200" cy="304800"/>
            </a:xfrm>
            <a:prstGeom prst="rect">
              <a:avLst/>
            </a:prstGeom>
            <a:solidFill>
              <a:srgbClr val="BBFFBB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48" name="Rectangle 4"/>
            <p:cNvSpPr>
              <a:spLocks noChangeArrowheads="1"/>
            </p:cNvSpPr>
            <p:nvPr/>
          </p:nvSpPr>
          <p:spPr bwMode="auto">
            <a:xfrm>
              <a:off x="3429000" y="2231571"/>
              <a:ext cx="4572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1</a:t>
              </a:r>
            </a:p>
          </p:txBody>
        </p:sp>
        <p:sp>
          <p:nvSpPr>
            <p:cNvPr id="49" name="Rectangle 4"/>
            <p:cNvSpPr>
              <a:spLocks noChangeArrowheads="1"/>
            </p:cNvSpPr>
            <p:nvPr/>
          </p:nvSpPr>
          <p:spPr bwMode="auto">
            <a:xfrm>
              <a:off x="3879669" y="2526572"/>
              <a:ext cx="457200" cy="531225"/>
            </a:xfrm>
            <a:prstGeom prst="rect">
              <a:avLst/>
            </a:prstGeom>
            <a:solidFill>
              <a:srgbClr val="BBFFBB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…</a:t>
              </a:r>
            </a:p>
          </p:txBody>
        </p:sp>
        <p:sp>
          <p:nvSpPr>
            <p:cNvPr id="50" name="Rectangle 4"/>
            <p:cNvSpPr>
              <a:spLocks noChangeArrowheads="1"/>
            </p:cNvSpPr>
            <p:nvPr/>
          </p:nvSpPr>
          <p:spPr bwMode="auto">
            <a:xfrm>
              <a:off x="3429000" y="2526573"/>
              <a:ext cx="457200" cy="531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…</a:t>
              </a:r>
            </a:p>
          </p:txBody>
        </p:sp>
        <p:sp>
          <p:nvSpPr>
            <p:cNvPr id="51" name="Rectangle 4"/>
            <p:cNvSpPr>
              <a:spLocks noChangeArrowheads="1"/>
            </p:cNvSpPr>
            <p:nvPr/>
          </p:nvSpPr>
          <p:spPr bwMode="auto">
            <a:xfrm>
              <a:off x="3881846" y="3057798"/>
              <a:ext cx="455023" cy="304800"/>
            </a:xfrm>
            <a:prstGeom prst="rect">
              <a:avLst/>
            </a:prstGeom>
            <a:solidFill>
              <a:srgbClr val="BBFFBB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52" name="Rectangle 4"/>
            <p:cNvSpPr>
              <a:spLocks noChangeArrowheads="1"/>
            </p:cNvSpPr>
            <p:nvPr/>
          </p:nvSpPr>
          <p:spPr bwMode="auto">
            <a:xfrm>
              <a:off x="3429000" y="3057798"/>
              <a:ext cx="4572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 err="1">
                  <a:latin typeface="Courier New" panose="02070309020205020404" pitchFamily="49" charset="0"/>
                </a:rPr>
                <a:t>fd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</p:grpSp>
      <p:cxnSp>
        <p:nvCxnSpPr>
          <p:cNvPr id="55" name="Elbow Connector 54"/>
          <p:cNvCxnSpPr>
            <a:stCxn id="51" idx="3"/>
            <a:endCxn id="26" idx="1"/>
          </p:cNvCxnSpPr>
          <p:nvPr/>
        </p:nvCxnSpPr>
        <p:spPr>
          <a:xfrm flipV="1">
            <a:off x="3001512" y="3220733"/>
            <a:ext cx="1494288" cy="2450704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8"/>
          <p:cNvSpPr>
            <a:spLocks noChangeArrowheads="1"/>
          </p:cNvSpPr>
          <p:nvPr/>
        </p:nvSpPr>
        <p:spPr bwMode="auto">
          <a:xfrm>
            <a:off x="7529648" y="991498"/>
            <a:ext cx="1080951" cy="234902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 algn="ctr">
            <a:solidFill>
              <a:schemeClr val="accent3"/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r>
              <a:rPr lang="en-US" i="1" dirty="0"/>
              <a:t>File1.abc</a:t>
            </a:r>
          </a:p>
        </p:txBody>
      </p:sp>
      <p:sp>
        <p:nvSpPr>
          <p:cNvPr id="72" name="Rectangle 8"/>
          <p:cNvSpPr>
            <a:spLocks noChangeArrowheads="1"/>
          </p:cNvSpPr>
          <p:nvPr/>
        </p:nvSpPr>
        <p:spPr bwMode="auto">
          <a:xfrm>
            <a:off x="7529648" y="3610152"/>
            <a:ext cx="1080951" cy="234902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 algn="ctr">
            <a:solidFill>
              <a:schemeClr val="accent3"/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r>
              <a:rPr lang="en-US" i="1" dirty="0"/>
              <a:t>File2.def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022373" y="6088951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"Actual File"</a:t>
            </a:r>
          </a:p>
        </p:txBody>
      </p:sp>
      <p:cxnSp>
        <p:nvCxnSpPr>
          <p:cNvPr id="83" name="Straight Connector 82"/>
          <p:cNvCxnSpPr/>
          <p:nvPr/>
        </p:nvCxnSpPr>
        <p:spPr>
          <a:xfrm>
            <a:off x="1371600" y="1035228"/>
            <a:ext cx="0" cy="5285873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ight Arrow 83"/>
          <p:cNvSpPr/>
          <p:nvPr/>
        </p:nvSpPr>
        <p:spPr>
          <a:xfrm>
            <a:off x="152401" y="3180620"/>
            <a:ext cx="1248220" cy="10443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System Calls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699" y="1670455"/>
            <a:ext cx="135863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Process make file system calls, usually with file descriptor </a:t>
            </a:r>
            <a:r>
              <a:rPr lang="en-US" sz="1400" b="1" i="1" dirty="0" err="1"/>
              <a:t>fd</a:t>
            </a:r>
            <a:endParaRPr lang="en-US" sz="1400" b="1" i="1" dirty="0"/>
          </a:p>
        </p:txBody>
      </p:sp>
      <p:cxnSp>
        <p:nvCxnSpPr>
          <p:cNvPr id="86" name="Elbow Connector 85"/>
          <p:cNvCxnSpPr/>
          <p:nvPr/>
        </p:nvCxnSpPr>
        <p:spPr>
          <a:xfrm flipV="1">
            <a:off x="6286641" y="2654445"/>
            <a:ext cx="1235114" cy="792413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/>
          <p:cNvCxnSpPr/>
          <p:nvPr/>
        </p:nvCxnSpPr>
        <p:spPr>
          <a:xfrm flipV="1">
            <a:off x="6210440" y="3910776"/>
            <a:ext cx="1327101" cy="1213945"/>
          </a:xfrm>
          <a:prstGeom prst="bentConnector3">
            <a:avLst>
              <a:gd name="adj1" fmla="val 69686"/>
            </a:avLst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00990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583" name="Rectangle 15"/>
          <p:cNvSpPr>
            <a:spLocks noChangeArrowheads="1"/>
          </p:cNvSpPr>
          <p:nvPr/>
        </p:nvSpPr>
        <p:spPr bwMode="auto">
          <a:xfrm>
            <a:off x="1143000" y="4876800"/>
            <a:ext cx="1676400" cy="137160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 dirty="0" err="1"/>
              <a:t>Proc</a:t>
            </a:r>
            <a:r>
              <a:rPr lang="en-US" altLang="en-US" b="1" dirty="0"/>
              <a:t> B PCB</a:t>
            </a:r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</p:txBody>
      </p:sp>
      <p:sp>
        <p:nvSpPr>
          <p:cNvPr id="1005582" name="Rectangle 14"/>
          <p:cNvSpPr>
            <a:spLocks noChangeArrowheads="1"/>
          </p:cNvSpPr>
          <p:nvPr/>
        </p:nvSpPr>
        <p:spPr bwMode="auto">
          <a:xfrm>
            <a:off x="1143000" y="3048000"/>
            <a:ext cx="1676400" cy="137160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 dirty="0" err="1"/>
              <a:t>Proc</a:t>
            </a:r>
            <a:r>
              <a:rPr lang="en-US" altLang="en-US" b="1" dirty="0"/>
              <a:t> A PCB</a:t>
            </a:r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</p:txBody>
      </p:sp>
      <p:sp>
        <p:nvSpPr>
          <p:cNvPr id="1005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Process Sharing File in Unix: Case 1</a:t>
            </a:r>
          </a:p>
        </p:txBody>
      </p:sp>
      <p:sp>
        <p:nvSpPr>
          <p:cNvPr id="1005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1905000"/>
          </a:xfrm>
        </p:spPr>
        <p:txBody>
          <a:bodyPr/>
          <a:lstStyle/>
          <a:p>
            <a:pPr marL="571500" indent="-571500">
              <a:lnSpc>
                <a:spcPct val="80000"/>
              </a:lnSpc>
            </a:pPr>
            <a:r>
              <a:rPr lang="en-US" altLang="en-US" sz="2600" dirty="0"/>
              <a:t>Two processes using different file descriptors</a:t>
            </a:r>
          </a:p>
          <a:p>
            <a:pPr marL="839788" lvl="1" indent="-495300">
              <a:lnSpc>
                <a:spcPct val="80000"/>
              </a:lnSpc>
            </a:pPr>
            <a:r>
              <a:rPr lang="en-US" altLang="en-US" sz="2200" dirty="0"/>
              <a:t>I/O can occurs at independent offsets</a:t>
            </a:r>
          </a:p>
          <a:p>
            <a:pPr marL="571500" indent="-571500">
              <a:lnSpc>
                <a:spcPct val="80000"/>
              </a:lnSpc>
            </a:pPr>
            <a:r>
              <a:rPr lang="en-US" altLang="en-US" sz="2600" dirty="0"/>
              <a:t>Example:</a:t>
            </a:r>
          </a:p>
          <a:p>
            <a:pPr marL="839788" lvl="1" indent="-495300">
              <a:lnSpc>
                <a:spcPct val="80000"/>
              </a:lnSpc>
            </a:pPr>
            <a:r>
              <a:rPr lang="en-US" altLang="en-US" sz="2200" dirty="0"/>
              <a:t>Two process open the same file</a:t>
            </a:r>
          </a:p>
          <a:p>
            <a:pPr marL="839788" lvl="1" indent="-495300">
              <a:lnSpc>
                <a:spcPct val="80000"/>
              </a:lnSpc>
            </a:pPr>
            <a:r>
              <a:rPr lang="en-US" altLang="en-US" sz="2200" dirty="0"/>
              <a:t>Same process open the file twice</a:t>
            </a:r>
          </a:p>
        </p:txBody>
      </p:sp>
      <p:sp>
        <p:nvSpPr>
          <p:cNvPr id="1005577" name="Text Box 9"/>
          <p:cNvSpPr txBox="1">
            <a:spLocks noChangeArrowheads="1"/>
          </p:cNvSpPr>
          <p:nvPr/>
        </p:nvSpPr>
        <p:spPr bwMode="auto">
          <a:xfrm>
            <a:off x="6367802" y="5898914"/>
            <a:ext cx="1540795" cy="338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1600" dirty="0"/>
              <a:t>The shared file</a:t>
            </a:r>
          </a:p>
        </p:txBody>
      </p:sp>
      <p:sp>
        <p:nvSpPr>
          <p:cNvPr id="1005578" name="Line 10"/>
          <p:cNvSpPr>
            <a:spLocks noChangeShapeType="1"/>
          </p:cNvSpPr>
          <p:nvPr/>
        </p:nvSpPr>
        <p:spPr bwMode="auto">
          <a:xfrm flipV="1">
            <a:off x="2590800" y="3886200"/>
            <a:ext cx="838200" cy="1079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05579" name="Line 11"/>
          <p:cNvSpPr>
            <a:spLocks noChangeShapeType="1"/>
          </p:cNvSpPr>
          <p:nvPr/>
        </p:nvSpPr>
        <p:spPr bwMode="auto">
          <a:xfrm flipV="1">
            <a:off x="2743200" y="5334000"/>
            <a:ext cx="6858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Rectangle 8"/>
          <p:cNvSpPr>
            <a:spLocks noChangeArrowheads="1"/>
          </p:cNvSpPr>
          <p:nvPr/>
        </p:nvSpPr>
        <p:spPr bwMode="auto">
          <a:xfrm>
            <a:off x="6477000" y="3397486"/>
            <a:ext cx="1080951" cy="234902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 algn="ctr">
            <a:solidFill>
              <a:schemeClr val="accent3"/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r>
              <a:rPr lang="en-US" i="1" dirty="0" err="1"/>
              <a:t>File.abc</a:t>
            </a:r>
            <a:endParaRPr lang="en-US" i="1" dirty="0"/>
          </a:p>
        </p:txBody>
      </p:sp>
      <p:sp>
        <p:nvSpPr>
          <p:cNvPr id="31" name="Rectangle 4"/>
          <p:cNvSpPr>
            <a:spLocks noChangeArrowheads="1"/>
          </p:cNvSpPr>
          <p:nvPr/>
        </p:nvSpPr>
        <p:spPr bwMode="auto">
          <a:xfrm>
            <a:off x="2268583" y="3841750"/>
            <a:ext cx="455023" cy="304800"/>
          </a:xfrm>
          <a:prstGeom prst="rect">
            <a:avLst/>
          </a:prstGeom>
          <a:solidFill>
            <a:srgbClr val="BBFFBB"/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32" name="Rectangle 4"/>
          <p:cNvSpPr>
            <a:spLocks noChangeArrowheads="1"/>
          </p:cNvSpPr>
          <p:nvPr/>
        </p:nvSpPr>
        <p:spPr bwMode="auto">
          <a:xfrm>
            <a:off x="1815737" y="3841750"/>
            <a:ext cx="457200" cy="304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r"/>
            <a:r>
              <a:rPr lang="en-US" altLang="en-US" sz="1600" b="1" dirty="0">
                <a:latin typeface="Courier New" panose="02070309020205020404" pitchFamily="49" charset="0"/>
              </a:rPr>
              <a:t>fd1</a:t>
            </a:r>
          </a:p>
        </p:txBody>
      </p:sp>
      <p:sp>
        <p:nvSpPr>
          <p:cNvPr id="33" name="AutoShape 6"/>
          <p:cNvSpPr>
            <a:spLocks noChangeArrowheads="1"/>
          </p:cNvSpPr>
          <p:nvPr/>
        </p:nvSpPr>
        <p:spPr bwMode="auto">
          <a:xfrm>
            <a:off x="3413367" y="3467100"/>
            <a:ext cx="1555265" cy="838200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9050" algn="ctr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r>
              <a:rPr lang="en-US" altLang="en-US" sz="1400" dirty="0" err="1"/>
              <a:t>Op.Type</a:t>
            </a:r>
            <a:r>
              <a:rPr lang="en-US" altLang="en-US" sz="1400" dirty="0"/>
              <a:t>: …</a:t>
            </a:r>
          </a:p>
          <a:p>
            <a:r>
              <a:rPr lang="en-US" altLang="en-US" sz="1400" dirty="0"/>
              <a:t>File offset: </a:t>
            </a:r>
            <a:r>
              <a:rPr lang="en-US" altLang="en-US" sz="1400" b="1" dirty="0">
                <a:solidFill>
                  <a:srgbClr val="C00000"/>
                </a:solidFill>
              </a:rPr>
              <a:t>5000</a:t>
            </a:r>
          </a:p>
          <a:p>
            <a:r>
              <a:rPr lang="en-US" altLang="en-US" sz="1400" dirty="0"/>
              <a:t>"File Data":</a:t>
            </a:r>
          </a:p>
        </p:txBody>
      </p:sp>
      <p:sp>
        <p:nvSpPr>
          <p:cNvPr id="1005580" name="Line 12"/>
          <p:cNvSpPr>
            <a:spLocks noChangeShapeType="1"/>
          </p:cNvSpPr>
          <p:nvPr/>
        </p:nvSpPr>
        <p:spPr bwMode="auto">
          <a:xfrm>
            <a:off x="4724400" y="4146550"/>
            <a:ext cx="1752600" cy="1035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AutoShape 6"/>
          <p:cNvSpPr>
            <a:spLocks noChangeArrowheads="1"/>
          </p:cNvSpPr>
          <p:nvPr/>
        </p:nvSpPr>
        <p:spPr bwMode="auto">
          <a:xfrm>
            <a:off x="3439493" y="4925786"/>
            <a:ext cx="1555265" cy="838200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9050" algn="ctr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r>
              <a:rPr lang="en-US" altLang="en-US" sz="1400" dirty="0" err="1"/>
              <a:t>Op.Type</a:t>
            </a:r>
            <a:r>
              <a:rPr lang="en-US" altLang="en-US" sz="1400" dirty="0"/>
              <a:t>: …</a:t>
            </a:r>
          </a:p>
          <a:p>
            <a:r>
              <a:rPr lang="en-US" altLang="en-US" sz="1400" dirty="0"/>
              <a:t>File offset: </a:t>
            </a:r>
            <a:r>
              <a:rPr lang="en-US" altLang="en-US" sz="1400" b="1" dirty="0">
                <a:solidFill>
                  <a:srgbClr val="C00000"/>
                </a:solidFill>
              </a:rPr>
              <a:t>2000</a:t>
            </a:r>
          </a:p>
          <a:p>
            <a:r>
              <a:rPr lang="en-US" altLang="en-US" sz="1400" dirty="0"/>
              <a:t>"File Data":</a:t>
            </a:r>
          </a:p>
        </p:txBody>
      </p:sp>
      <p:sp>
        <p:nvSpPr>
          <p:cNvPr id="1005581" name="Line 13"/>
          <p:cNvSpPr>
            <a:spLocks noChangeShapeType="1"/>
          </p:cNvSpPr>
          <p:nvPr/>
        </p:nvSpPr>
        <p:spPr bwMode="auto">
          <a:xfrm flipV="1">
            <a:off x="4724400" y="3810000"/>
            <a:ext cx="1752600" cy="175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Rectangle 4"/>
          <p:cNvSpPr>
            <a:spLocks noChangeArrowheads="1"/>
          </p:cNvSpPr>
          <p:nvPr/>
        </p:nvSpPr>
        <p:spPr bwMode="auto">
          <a:xfrm>
            <a:off x="2279665" y="5486400"/>
            <a:ext cx="455023" cy="304800"/>
          </a:xfrm>
          <a:prstGeom prst="rect">
            <a:avLst/>
          </a:prstGeom>
          <a:solidFill>
            <a:srgbClr val="BBFFBB"/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36" name="Rectangle 4"/>
          <p:cNvSpPr>
            <a:spLocks noChangeArrowheads="1"/>
          </p:cNvSpPr>
          <p:nvPr/>
        </p:nvSpPr>
        <p:spPr bwMode="auto">
          <a:xfrm>
            <a:off x="1826819" y="5486400"/>
            <a:ext cx="457200" cy="304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r"/>
            <a:r>
              <a:rPr lang="en-US" altLang="en-US" sz="1600" b="1" dirty="0">
                <a:latin typeface="Courier New" panose="02070309020205020404" pitchFamily="49" charset="0"/>
              </a:rPr>
              <a:t>fd2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3719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6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Process Sharing File in Unix: Case 2</a:t>
            </a:r>
          </a:p>
        </p:txBody>
      </p:sp>
      <p:sp>
        <p:nvSpPr>
          <p:cNvPr id="100762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990599"/>
            <a:ext cx="8229600" cy="2237017"/>
          </a:xfrm>
        </p:spPr>
        <p:txBody>
          <a:bodyPr/>
          <a:lstStyle/>
          <a:p>
            <a:pPr marL="571500" indent="-571500">
              <a:lnSpc>
                <a:spcPct val="80000"/>
              </a:lnSpc>
            </a:pPr>
            <a:r>
              <a:rPr lang="en-US" altLang="en-US" sz="2600" dirty="0"/>
              <a:t>Two processes using the same file descriptor</a:t>
            </a:r>
          </a:p>
          <a:p>
            <a:pPr marL="839788" lvl="1" indent="-495300">
              <a:lnSpc>
                <a:spcPct val="80000"/>
              </a:lnSpc>
            </a:pPr>
            <a:r>
              <a:rPr lang="en-US" altLang="en-US" sz="2200" dirty="0"/>
              <a:t>Only one offset </a:t>
            </a:r>
            <a:r>
              <a:rPr lang="en-US" altLang="en-US" sz="2200" dirty="0">
                <a:sym typeface="Wingdings" panose="05000000000000000000" pitchFamily="2" charset="2"/>
              </a:rPr>
              <a:t> </a:t>
            </a:r>
            <a:r>
              <a:rPr lang="en-US" altLang="en-US" sz="2200" dirty="0"/>
              <a:t>I/O changes the offset for the other process </a:t>
            </a:r>
          </a:p>
          <a:p>
            <a:pPr marL="571500" indent="-571500">
              <a:lnSpc>
                <a:spcPct val="80000"/>
              </a:lnSpc>
            </a:pPr>
            <a:r>
              <a:rPr lang="en-US" altLang="en-US" sz="2600" dirty="0"/>
              <a:t>Example:</a:t>
            </a:r>
          </a:p>
          <a:p>
            <a:pPr marL="839788" lvl="1" indent="-495300">
              <a:lnSpc>
                <a:spcPct val="80000"/>
              </a:lnSpc>
            </a:pPr>
            <a:r>
              <a:rPr lang="en-US" altLang="en-US" sz="2200" b="1" dirty="0">
                <a:latin typeface="Courier New" panose="02070309020205020404" pitchFamily="49" charset="0"/>
              </a:rPr>
              <a:t>fork()</a:t>
            </a:r>
            <a:r>
              <a:rPr lang="en-US" altLang="en-US" sz="2200" dirty="0"/>
              <a:t> after file is opened</a:t>
            </a:r>
          </a:p>
        </p:txBody>
      </p:sp>
      <p:sp>
        <p:nvSpPr>
          <p:cNvPr id="18" name="Rectangle 15"/>
          <p:cNvSpPr>
            <a:spLocks noChangeArrowheads="1"/>
          </p:cNvSpPr>
          <p:nvPr/>
        </p:nvSpPr>
        <p:spPr bwMode="auto">
          <a:xfrm>
            <a:off x="1143000" y="4876800"/>
            <a:ext cx="1676400" cy="137160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 dirty="0"/>
              <a:t>Child PCB</a:t>
            </a:r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1143000" y="3048000"/>
            <a:ext cx="1676400" cy="137160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 dirty="0"/>
              <a:t>Parent PCB</a:t>
            </a:r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</p:txBody>
      </p:sp>
      <p:sp>
        <p:nvSpPr>
          <p:cNvPr id="20" name="Text Box 9"/>
          <p:cNvSpPr txBox="1">
            <a:spLocks noChangeArrowheads="1"/>
          </p:cNvSpPr>
          <p:nvPr/>
        </p:nvSpPr>
        <p:spPr bwMode="auto">
          <a:xfrm>
            <a:off x="6236191" y="6139540"/>
            <a:ext cx="1540795" cy="338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1600" dirty="0"/>
              <a:t>The shared file</a:t>
            </a:r>
          </a:p>
        </p:txBody>
      </p:sp>
      <p:sp>
        <p:nvSpPr>
          <p:cNvPr id="21" name="Line 10"/>
          <p:cNvSpPr>
            <a:spLocks noChangeShapeType="1"/>
          </p:cNvSpPr>
          <p:nvPr/>
        </p:nvSpPr>
        <p:spPr bwMode="auto">
          <a:xfrm>
            <a:off x="2590800" y="3994150"/>
            <a:ext cx="838200" cy="698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Line 11"/>
          <p:cNvSpPr>
            <a:spLocks noChangeShapeType="1"/>
          </p:cNvSpPr>
          <p:nvPr/>
        </p:nvSpPr>
        <p:spPr bwMode="auto">
          <a:xfrm flipV="1">
            <a:off x="2743200" y="4876800"/>
            <a:ext cx="685800" cy="762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6466114" y="3744686"/>
            <a:ext cx="1080951" cy="234902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 algn="ctr">
            <a:solidFill>
              <a:schemeClr val="accent3"/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r>
              <a:rPr lang="en-US" i="1" dirty="0" err="1"/>
              <a:t>File.abc</a:t>
            </a:r>
            <a:endParaRPr lang="en-US" i="1" dirty="0"/>
          </a:p>
        </p:txBody>
      </p:sp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2268583" y="3841750"/>
            <a:ext cx="455023" cy="304800"/>
          </a:xfrm>
          <a:prstGeom prst="rect">
            <a:avLst/>
          </a:prstGeom>
          <a:solidFill>
            <a:srgbClr val="BBFFBB"/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25" name="Rectangle 4"/>
          <p:cNvSpPr>
            <a:spLocks noChangeArrowheads="1"/>
          </p:cNvSpPr>
          <p:nvPr/>
        </p:nvSpPr>
        <p:spPr bwMode="auto">
          <a:xfrm>
            <a:off x="1815737" y="3841750"/>
            <a:ext cx="457200" cy="304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r"/>
            <a:r>
              <a:rPr lang="en-US" altLang="en-US" sz="1600" b="1" dirty="0">
                <a:latin typeface="Courier New" panose="02070309020205020404" pitchFamily="49" charset="0"/>
              </a:rPr>
              <a:t>fd1</a:t>
            </a:r>
          </a:p>
        </p:txBody>
      </p:sp>
      <p:sp>
        <p:nvSpPr>
          <p:cNvPr id="26" name="AutoShape 6"/>
          <p:cNvSpPr>
            <a:spLocks noChangeArrowheads="1"/>
          </p:cNvSpPr>
          <p:nvPr/>
        </p:nvSpPr>
        <p:spPr bwMode="auto">
          <a:xfrm>
            <a:off x="3496403" y="4337957"/>
            <a:ext cx="1555265" cy="838200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9050" algn="ctr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r>
              <a:rPr lang="en-US" altLang="en-US" sz="1400" dirty="0" err="1"/>
              <a:t>Op.Type</a:t>
            </a:r>
            <a:r>
              <a:rPr lang="en-US" altLang="en-US" sz="1400" dirty="0"/>
              <a:t>: …</a:t>
            </a:r>
          </a:p>
          <a:p>
            <a:r>
              <a:rPr lang="en-US" altLang="en-US" sz="1400" dirty="0"/>
              <a:t>File offset: </a:t>
            </a:r>
            <a:r>
              <a:rPr lang="en-US" altLang="en-US" sz="1400" b="1" dirty="0">
                <a:solidFill>
                  <a:srgbClr val="C00000"/>
                </a:solidFill>
              </a:rPr>
              <a:t>3000</a:t>
            </a:r>
          </a:p>
          <a:p>
            <a:r>
              <a:rPr lang="en-US" altLang="en-US" sz="1400" dirty="0"/>
              <a:t>"File Data":</a:t>
            </a:r>
          </a:p>
        </p:txBody>
      </p:sp>
      <p:sp>
        <p:nvSpPr>
          <p:cNvPr id="27" name="Line 12"/>
          <p:cNvSpPr>
            <a:spLocks noChangeShapeType="1"/>
          </p:cNvSpPr>
          <p:nvPr/>
        </p:nvSpPr>
        <p:spPr bwMode="auto">
          <a:xfrm flipV="1">
            <a:off x="4800600" y="4692650"/>
            <a:ext cx="1665514" cy="3365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Rectangle 4"/>
          <p:cNvSpPr>
            <a:spLocks noChangeArrowheads="1"/>
          </p:cNvSpPr>
          <p:nvPr/>
        </p:nvSpPr>
        <p:spPr bwMode="auto">
          <a:xfrm>
            <a:off x="2279665" y="5486400"/>
            <a:ext cx="455023" cy="304800"/>
          </a:xfrm>
          <a:prstGeom prst="rect">
            <a:avLst/>
          </a:prstGeom>
          <a:solidFill>
            <a:srgbClr val="BBFFBB"/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31" name="Rectangle 4"/>
          <p:cNvSpPr>
            <a:spLocks noChangeArrowheads="1"/>
          </p:cNvSpPr>
          <p:nvPr/>
        </p:nvSpPr>
        <p:spPr bwMode="auto">
          <a:xfrm>
            <a:off x="1826819" y="5486400"/>
            <a:ext cx="457200" cy="304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r"/>
            <a:r>
              <a:rPr lang="en-US" altLang="en-US" sz="1600" b="1" dirty="0">
                <a:latin typeface="Courier New" panose="02070309020205020404" pitchFamily="49" charset="0"/>
              </a:rPr>
              <a:t>fd1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545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40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C00000"/>
                </a:solidFill>
              </a:rPr>
              <a:t>Directory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your regular folders</a:t>
            </a:r>
          </a:p>
        </p:txBody>
      </p:sp>
      <p:pic>
        <p:nvPicPr>
          <p:cNvPr id="998406" name="Picture 6" descr="MCj0426058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4724400"/>
            <a:ext cx="1803400" cy="166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12688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Directory: Basics</a:t>
            </a:r>
          </a:p>
        </p:txBody>
      </p:sp>
      <p:sp>
        <p:nvSpPr>
          <p:cNvPr id="988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/>
            <a:r>
              <a:rPr lang="en-US" altLang="en-US" b="1" dirty="0">
                <a:solidFill>
                  <a:srgbClr val="008000"/>
                </a:solidFill>
              </a:rPr>
              <a:t>Directory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chemeClr val="tx2"/>
                </a:solidFill>
              </a:rPr>
              <a:t> folder </a:t>
            </a:r>
            <a:r>
              <a:rPr lang="en-US" altLang="en-US" dirty="0"/>
              <a:t>) is used to:</a:t>
            </a:r>
          </a:p>
          <a:p>
            <a:pPr marL="839788" lvl="1" indent="-495300">
              <a:buFont typeface="Wingdings" panose="05000000000000000000" pitchFamily="2" charset="2"/>
              <a:buAutoNum type="arabicPeriod"/>
            </a:pPr>
            <a:r>
              <a:rPr lang="en-US" altLang="en-US" dirty="0"/>
              <a:t>Provide a logical grouping of files</a:t>
            </a:r>
          </a:p>
          <a:p>
            <a:pPr marL="1090613" lvl="2" indent="-419100"/>
            <a:r>
              <a:rPr lang="en-US" altLang="en-US" dirty="0"/>
              <a:t>The user view of directory</a:t>
            </a:r>
          </a:p>
          <a:p>
            <a:pPr marL="839788" lvl="1" indent="-495300">
              <a:buFont typeface="Wingdings" panose="05000000000000000000" pitchFamily="2" charset="2"/>
              <a:buAutoNum type="arabicPeriod"/>
            </a:pPr>
            <a:r>
              <a:rPr lang="en-US" altLang="en-US" dirty="0"/>
              <a:t>Keep track of files</a:t>
            </a:r>
          </a:p>
          <a:p>
            <a:pPr marL="1090613" lvl="2" indent="-419100"/>
            <a:r>
              <a:rPr lang="en-US" altLang="en-US" dirty="0"/>
              <a:t>The actual system usage of directory</a:t>
            </a:r>
          </a:p>
          <a:p>
            <a:pPr marL="1090613" lvl="2" indent="-419100">
              <a:buFont typeface="Wingdings" panose="05000000000000000000" pitchFamily="2" charset="2"/>
              <a:buNone/>
            </a:pPr>
            <a:endParaRPr lang="en-US" altLang="en-US" dirty="0"/>
          </a:p>
          <a:p>
            <a:pPr marL="571500" indent="-571500"/>
            <a:r>
              <a:rPr lang="en-US" altLang="en-US" dirty="0"/>
              <a:t>Several ways to structure directory:</a:t>
            </a:r>
          </a:p>
          <a:p>
            <a:pPr marL="839788" lvl="1" indent="-495300"/>
            <a:r>
              <a:rPr lang="en-US" altLang="en-US" dirty="0"/>
              <a:t>Single-Level</a:t>
            </a:r>
          </a:p>
          <a:p>
            <a:pPr marL="839788" lvl="1" indent="-495300"/>
            <a:r>
              <a:rPr lang="en-US" altLang="en-US" dirty="0"/>
              <a:t>Tree-Structure</a:t>
            </a:r>
          </a:p>
          <a:p>
            <a:pPr marL="839788" lvl="1" indent="-495300"/>
            <a:r>
              <a:rPr lang="en-US" altLang="en-US" dirty="0"/>
              <a:t>Directed Acyclic Graph (DAG)</a:t>
            </a:r>
          </a:p>
          <a:p>
            <a:pPr marL="839788" lvl="1" indent="-495300"/>
            <a:r>
              <a:rPr lang="en-US" altLang="en-US" dirty="0"/>
              <a:t>General Graph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0960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816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Directory Structure: </a:t>
            </a:r>
            <a:r>
              <a:rPr lang="en-US" altLang="en-US" b="1" dirty="0">
                <a:solidFill>
                  <a:srgbClr val="C00000"/>
                </a:solidFill>
              </a:rPr>
              <a:t>Single-Level</a:t>
            </a:r>
            <a:endParaRPr lang="en-US" altLang="en-US" dirty="0"/>
          </a:p>
        </p:txBody>
      </p:sp>
      <p:grpSp>
        <p:nvGrpSpPr>
          <p:cNvPr id="953364" name="Group 20"/>
          <p:cNvGrpSpPr>
            <a:grpSpLocks/>
          </p:cNvGrpSpPr>
          <p:nvPr/>
        </p:nvGrpSpPr>
        <p:grpSpPr bwMode="auto">
          <a:xfrm>
            <a:off x="1828800" y="1143000"/>
            <a:ext cx="3810000" cy="2552700"/>
            <a:chOff x="1152" y="720"/>
            <a:chExt cx="2400" cy="1608"/>
          </a:xfrm>
        </p:grpSpPr>
        <p:sp>
          <p:nvSpPr>
            <p:cNvPr id="953348" name="Cloud"/>
            <p:cNvSpPr>
              <a:spLocks noChangeAspect="1" noEditPoints="1" noChangeArrowheads="1"/>
            </p:cNvSpPr>
            <p:nvPr/>
          </p:nvSpPr>
          <p:spPr bwMode="auto">
            <a:xfrm>
              <a:off x="1152" y="720"/>
              <a:ext cx="2400" cy="1608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0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1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300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7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7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0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0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50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2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10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rgbClr val="DFF3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353" name="Text Box 9"/>
            <p:cNvSpPr txBox="1">
              <a:spLocks noChangeArrowheads="1"/>
            </p:cNvSpPr>
            <p:nvPr/>
          </p:nvSpPr>
          <p:spPr bwMode="auto">
            <a:xfrm>
              <a:off x="1968" y="1261"/>
              <a:ext cx="9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34" tIns="45717" rIns="91434" bIns="45717">
              <a:spAutoFit/>
            </a:bodyPr>
            <a:lstStyle/>
            <a:p>
              <a:r>
                <a:rPr lang="en-US" altLang="en-US" b="1" dirty="0">
                  <a:latin typeface="Courier New" panose="02070309020205020404" pitchFamily="49" charset="0"/>
                </a:rPr>
                <a:t>directory</a:t>
              </a:r>
            </a:p>
          </p:txBody>
        </p:sp>
      </p:grpSp>
      <p:grpSp>
        <p:nvGrpSpPr>
          <p:cNvPr id="953365" name="Group 21"/>
          <p:cNvGrpSpPr>
            <a:grpSpLocks/>
          </p:cNvGrpSpPr>
          <p:nvPr/>
        </p:nvGrpSpPr>
        <p:grpSpPr bwMode="auto">
          <a:xfrm>
            <a:off x="1752600" y="2514600"/>
            <a:ext cx="2057400" cy="3155950"/>
            <a:chOff x="1104" y="1584"/>
            <a:chExt cx="1296" cy="1988"/>
          </a:xfrm>
        </p:grpSpPr>
        <p:sp>
          <p:nvSpPr>
            <p:cNvPr id="953349" name="Document"/>
            <p:cNvSpPr>
              <a:spLocks noEditPoints="1" noChangeArrowheads="1"/>
            </p:cNvSpPr>
            <p:nvPr/>
          </p:nvSpPr>
          <p:spPr bwMode="auto">
            <a:xfrm rot="10800000">
              <a:off x="1104" y="2592"/>
              <a:ext cx="672" cy="960"/>
            </a:xfrm>
            <a:custGeom>
              <a:avLst/>
              <a:gdLst>
                <a:gd name="T0" fmla="*/ 10757 w 21600"/>
                <a:gd name="T1" fmla="*/ 21632 h 21600"/>
                <a:gd name="T2" fmla="*/ 85 w 21600"/>
                <a:gd name="T3" fmla="*/ 10849 h 21600"/>
                <a:gd name="T4" fmla="*/ 10757 w 21600"/>
                <a:gd name="T5" fmla="*/ 81 h 21600"/>
                <a:gd name="T6" fmla="*/ 21706 w 21600"/>
                <a:gd name="T7" fmla="*/ 10652 h 21600"/>
                <a:gd name="T8" fmla="*/ 10757 w 21600"/>
                <a:gd name="T9" fmla="*/ 21632 h 21600"/>
                <a:gd name="T10" fmla="*/ 0 w 21600"/>
                <a:gd name="T11" fmla="*/ 0 h 21600"/>
                <a:gd name="T12" fmla="*/ 21600 w 21600"/>
                <a:gd name="T13" fmla="*/ 0 h 21600"/>
                <a:gd name="T14" fmla="*/ 21600 w 21600"/>
                <a:gd name="T15" fmla="*/ 21600 h 21600"/>
                <a:gd name="T16" fmla="*/ 977 w 21600"/>
                <a:gd name="T17" fmla="*/ 818 h 21600"/>
                <a:gd name="T18" fmla="*/ 20622 w 21600"/>
                <a:gd name="T19" fmla="*/ 1642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0757" y="21632"/>
                  </a:moveTo>
                  <a:lnTo>
                    <a:pt x="5187" y="21632"/>
                  </a:lnTo>
                  <a:lnTo>
                    <a:pt x="85" y="17509"/>
                  </a:lnTo>
                  <a:lnTo>
                    <a:pt x="85" y="10849"/>
                  </a:lnTo>
                  <a:lnTo>
                    <a:pt x="85" y="81"/>
                  </a:lnTo>
                  <a:lnTo>
                    <a:pt x="10757" y="81"/>
                  </a:lnTo>
                  <a:lnTo>
                    <a:pt x="21706" y="81"/>
                  </a:lnTo>
                  <a:lnTo>
                    <a:pt x="21706" y="10652"/>
                  </a:lnTo>
                  <a:lnTo>
                    <a:pt x="21706" y="21632"/>
                  </a:lnTo>
                  <a:lnTo>
                    <a:pt x="10757" y="21632"/>
                  </a:lnTo>
                  <a:close/>
                </a:path>
                <a:path w="21600" h="21600">
                  <a:moveTo>
                    <a:pt x="85" y="17509"/>
                  </a:moveTo>
                  <a:lnTo>
                    <a:pt x="5187" y="17509"/>
                  </a:lnTo>
                  <a:lnTo>
                    <a:pt x="5187" y="21632"/>
                  </a:lnTo>
                  <a:lnTo>
                    <a:pt x="85" y="17509"/>
                  </a:lnTo>
                  <a:close/>
                </a:path>
              </a:pathLst>
            </a:custGeom>
            <a:solidFill>
              <a:srgbClr val="D8EBB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354" name="Text Box 10"/>
            <p:cNvSpPr txBox="1">
              <a:spLocks noChangeArrowheads="1"/>
            </p:cNvSpPr>
            <p:nvPr/>
          </p:nvSpPr>
          <p:spPr bwMode="auto">
            <a:xfrm>
              <a:off x="1121" y="3339"/>
              <a:ext cx="63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r>
                <a:rPr lang="en-US" altLang="en-US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file 1</a:t>
              </a:r>
            </a:p>
          </p:txBody>
        </p:sp>
        <p:sp>
          <p:nvSpPr>
            <p:cNvPr id="953358" name="Line 14"/>
            <p:cNvSpPr>
              <a:spLocks noChangeShapeType="1"/>
            </p:cNvSpPr>
            <p:nvPr/>
          </p:nvSpPr>
          <p:spPr bwMode="auto">
            <a:xfrm flipH="1">
              <a:off x="1392" y="1584"/>
              <a:ext cx="100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53366" name="Group 22"/>
          <p:cNvGrpSpPr>
            <a:grpSpLocks/>
          </p:cNvGrpSpPr>
          <p:nvPr/>
        </p:nvGrpSpPr>
        <p:grpSpPr bwMode="auto">
          <a:xfrm>
            <a:off x="3352800" y="2514600"/>
            <a:ext cx="1066800" cy="3200400"/>
            <a:chOff x="2112" y="1584"/>
            <a:chExt cx="672" cy="2016"/>
          </a:xfrm>
        </p:grpSpPr>
        <p:sp>
          <p:nvSpPr>
            <p:cNvPr id="953352" name="Document"/>
            <p:cNvSpPr>
              <a:spLocks noEditPoints="1" noChangeArrowheads="1"/>
            </p:cNvSpPr>
            <p:nvPr/>
          </p:nvSpPr>
          <p:spPr bwMode="auto">
            <a:xfrm rot="10800000">
              <a:off x="2112" y="2592"/>
              <a:ext cx="672" cy="960"/>
            </a:xfrm>
            <a:custGeom>
              <a:avLst/>
              <a:gdLst>
                <a:gd name="T0" fmla="*/ 10757 w 21600"/>
                <a:gd name="T1" fmla="*/ 21632 h 21600"/>
                <a:gd name="T2" fmla="*/ 85 w 21600"/>
                <a:gd name="T3" fmla="*/ 10849 h 21600"/>
                <a:gd name="T4" fmla="*/ 10757 w 21600"/>
                <a:gd name="T5" fmla="*/ 81 h 21600"/>
                <a:gd name="T6" fmla="*/ 21706 w 21600"/>
                <a:gd name="T7" fmla="*/ 10652 h 21600"/>
                <a:gd name="T8" fmla="*/ 10757 w 21600"/>
                <a:gd name="T9" fmla="*/ 21632 h 21600"/>
                <a:gd name="T10" fmla="*/ 0 w 21600"/>
                <a:gd name="T11" fmla="*/ 0 h 21600"/>
                <a:gd name="T12" fmla="*/ 21600 w 21600"/>
                <a:gd name="T13" fmla="*/ 0 h 21600"/>
                <a:gd name="T14" fmla="*/ 21600 w 21600"/>
                <a:gd name="T15" fmla="*/ 21600 h 21600"/>
                <a:gd name="T16" fmla="*/ 977 w 21600"/>
                <a:gd name="T17" fmla="*/ 818 h 21600"/>
                <a:gd name="T18" fmla="*/ 20622 w 21600"/>
                <a:gd name="T19" fmla="*/ 1642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0757" y="21632"/>
                  </a:moveTo>
                  <a:lnTo>
                    <a:pt x="5187" y="21632"/>
                  </a:lnTo>
                  <a:lnTo>
                    <a:pt x="85" y="17509"/>
                  </a:lnTo>
                  <a:lnTo>
                    <a:pt x="85" y="10849"/>
                  </a:lnTo>
                  <a:lnTo>
                    <a:pt x="85" y="81"/>
                  </a:lnTo>
                  <a:lnTo>
                    <a:pt x="10757" y="81"/>
                  </a:lnTo>
                  <a:lnTo>
                    <a:pt x="21706" y="81"/>
                  </a:lnTo>
                  <a:lnTo>
                    <a:pt x="21706" y="10652"/>
                  </a:lnTo>
                  <a:lnTo>
                    <a:pt x="21706" y="21632"/>
                  </a:lnTo>
                  <a:lnTo>
                    <a:pt x="10757" y="21632"/>
                  </a:lnTo>
                  <a:close/>
                </a:path>
                <a:path w="21600" h="21600">
                  <a:moveTo>
                    <a:pt x="85" y="17509"/>
                  </a:moveTo>
                  <a:lnTo>
                    <a:pt x="5187" y="17509"/>
                  </a:lnTo>
                  <a:lnTo>
                    <a:pt x="5187" y="21632"/>
                  </a:lnTo>
                  <a:lnTo>
                    <a:pt x="85" y="17509"/>
                  </a:lnTo>
                  <a:close/>
                </a:path>
              </a:pathLst>
            </a:custGeom>
            <a:solidFill>
              <a:srgbClr val="D8EBB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355" name="Text Box 11"/>
            <p:cNvSpPr txBox="1">
              <a:spLocks noChangeArrowheads="1"/>
            </p:cNvSpPr>
            <p:nvPr/>
          </p:nvSpPr>
          <p:spPr bwMode="auto">
            <a:xfrm>
              <a:off x="2140" y="3367"/>
              <a:ext cx="63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>
              <a:defPPr>
                <a:defRPr lang="en-US"/>
              </a:defPPr>
              <a:lvl1pPr>
                <a:defRPr b="1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r>
                <a:rPr lang="en-US" altLang="en-US" dirty="0"/>
                <a:t>file 2</a:t>
              </a:r>
            </a:p>
          </p:txBody>
        </p:sp>
        <p:sp>
          <p:nvSpPr>
            <p:cNvPr id="953359" name="Line 15"/>
            <p:cNvSpPr>
              <a:spLocks noChangeShapeType="1"/>
            </p:cNvSpPr>
            <p:nvPr/>
          </p:nvSpPr>
          <p:spPr bwMode="auto">
            <a:xfrm>
              <a:off x="2400" y="1584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53367" name="Group 23"/>
          <p:cNvGrpSpPr>
            <a:grpSpLocks/>
          </p:cNvGrpSpPr>
          <p:nvPr/>
        </p:nvGrpSpPr>
        <p:grpSpPr bwMode="auto">
          <a:xfrm>
            <a:off x="3810000" y="2514600"/>
            <a:ext cx="3667125" cy="3206750"/>
            <a:chOff x="2400" y="1584"/>
            <a:chExt cx="2310" cy="2020"/>
          </a:xfrm>
        </p:grpSpPr>
        <p:sp>
          <p:nvSpPr>
            <p:cNvPr id="953350" name="Document"/>
            <p:cNvSpPr>
              <a:spLocks noEditPoints="1" noChangeArrowheads="1"/>
            </p:cNvSpPr>
            <p:nvPr/>
          </p:nvSpPr>
          <p:spPr bwMode="auto">
            <a:xfrm rot="10800000">
              <a:off x="4080" y="2592"/>
              <a:ext cx="624" cy="960"/>
            </a:xfrm>
            <a:custGeom>
              <a:avLst/>
              <a:gdLst>
                <a:gd name="T0" fmla="*/ 10757 w 21600"/>
                <a:gd name="T1" fmla="*/ 21632 h 21600"/>
                <a:gd name="T2" fmla="*/ 85 w 21600"/>
                <a:gd name="T3" fmla="*/ 10849 h 21600"/>
                <a:gd name="T4" fmla="*/ 10757 w 21600"/>
                <a:gd name="T5" fmla="*/ 81 h 21600"/>
                <a:gd name="T6" fmla="*/ 21706 w 21600"/>
                <a:gd name="T7" fmla="*/ 10652 h 21600"/>
                <a:gd name="T8" fmla="*/ 10757 w 21600"/>
                <a:gd name="T9" fmla="*/ 21632 h 21600"/>
                <a:gd name="T10" fmla="*/ 0 w 21600"/>
                <a:gd name="T11" fmla="*/ 0 h 21600"/>
                <a:gd name="T12" fmla="*/ 21600 w 21600"/>
                <a:gd name="T13" fmla="*/ 0 h 21600"/>
                <a:gd name="T14" fmla="*/ 21600 w 21600"/>
                <a:gd name="T15" fmla="*/ 21600 h 21600"/>
                <a:gd name="T16" fmla="*/ 977 w 21600"/>
                <a:gd name="T17" fmla="*/ 818 h 21600"/>
                <a:gd name="T18" fmla="*/ 20622 w 21600"/>
                <a:gd name="T19" fmla="*/ 1642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0757" y="21632"/>
                  </a:moveTo>
                  <a:lnTo>
                    <a:pt x="5187" y="21632"/>
                  </a:lnTo>
                  <a:lnTo>
                    <a:pt x="85" y="17509"/>
                  </a:lnTo>
                  <a:lnTo>
                    <a:pt x="85" y="10849"/>
                  </a:lnTo>
                  <a:lnTo>
                    <a:pt x="85" y="81"/>
                  </a:lnTo>
                  <a:lnTo>
                    <a:pt x="10757" y="81"/>
                  </a:lnTo>
                  <a:lnTo>
                    <a:pt x="21706" y="81"/>
                  </a:lnTo>
                  <a:lnTo>
                    <a:pt x="21706" y="10652"/>
                  </a:lnTo>
                  <a:lnTo>
                    <a:pt x="21706" y="21632"/>
                  </a:lnTo>
                  <a:lnTo>
                    <a:pt x="10757" y="21632"/>
                  </a:lnTo>
                  <a:close/>
                </a:path>
                <a:path w="21600" h="21600">
                  <a:moveTo>
                    <a:pt x="85" y="17509"/>
                  </a:moveTo>
                  <a:lnTo>
                    <a:pt x="5187" y="17509"/>
                  </a:lnTo>
                  <a:lnTo>
                    <a:pt x="5187" y="21632"/>
                  </a:lnTo>
                  <a:lnTo>
                    <a:pt x="85" y="17509"/>
                  </a:lnTo>
                  <a:close/>
                </a:path>
              </a:pathLst>
            </a:custGeom>
            <a:solidFill>
              <a:srgbClr val="D8EBB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351" name="Document"/>
            <p:cNvSpPr>
              <a:spLocks noEditPoints="1" noChangeArrowheads="1"/>
            </p:cNvSpPr>
            <p:nvPr/>
          </p:nvSpPr>
          <p:spPr bwMode="auto">
            <a:xfrm rot="10800000">
              <a:off x="3120" y="2592"/>
              <a:ext cx="624" cy="960"/>
            </a:xfrm>
            <a:custGeom>
              <a:avLst/>
              <a:gdLst>
                <a:gd name="T0" fmla="*/ 10757 w 21600"/>
                <a:gd name="T1" fmla="*/ 21632 h 21600"/>
                <a:gd name="T2" fmla="*/ 85 w 21600"/>
                <a:gd name="T3" fmla="*/ 10849 h 21600"/>
                <a:gd name="T4" fmla="*/ 10757 w 21600"/>
                <a:gd name="T5" fmla="*/ 81 h 21600"/>
                <a:gd name="T6" fmla="*/ 21706 w 21600"/>
                <a:gd name="T7" fmla="*/ 10652 h 21600"/>
                <a:gd name="T8" fmla="*/ 10757 w 21600"/>
                <a:gd name="T9" fmla="*/ 21632 h 21600"/>
                <a:gd name="T10" fmla="*/ 0 w 21600"/>
                <a:gd name="T11" fmla="*/ 0 h 21600"/>
                <a:gd name="T12" fmla="*/ 21600 w 21600"/>
                <a:gd name="T13" fmla="*/ 0 h 21600"/>
                <a:gd name="T14" fmla="*/ 21600 w 21600"/>
                <a:gd name="T15" fmla="*/ 21600 h 21600"/>
                <a:gd name="T16" fmla="*/ 977 w 21600"/>
                <a:gd name="T17" fmla="*/ 818 h 21600"/>
                <a:gd name="T18" fmla="*/ 20622 w 21600"/>
                <a:gd name="T19" fmla="*/ 1642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0757" y="21632"/>
                  </a:moveTo>
                  <a:lnTo>
                    <a:pt x="5187" y="21632"/>
                  </a:lnTo>
                  <a:lnTo>
                    <a:pt x="85" y="17509"/>
                  </a:lnTo>
                  <a:lnTo>
                    <a:pt x="85" y="10849"/>
                  </a:lnTo>
                  <a:lnTo>
                    <a:pt x="85" y="81"/>
                  </a:lnTo>
                  <a:lnTo>
                    <a:pt x="10757" y="81"/>
                  </a:lnTo>
                  <a:lnTo>
                    <a:pt x="21706" y="81"/>
                  </a:lnTo>
                  <a:lnTo>
                    <a:pt x="21706" y="10652"/>
                  </a:lnTo>
                  <a:lnTo>
                    <a:pt x="21706" y="21632"/>
                  </a:lnTo>
                  <a:lnTo>
                    <a:pt x="10757" y="21632"/>
                  </a:lnTo>
                  <a:close/>
                </a:path>
                <a:path w="21600" h="21600">
                  <a:moveTo>
                    <a:pt x="85" y="17509"/>
                  </a:moveTo>
                  <a:lnTo>
                    <a:pt x="5187" y="17509"/>
                  </a:lnTo>
                  <a:lnTo>
                    <a:pt x="5187" y="21632"/>
                  </a:lnTo>
                  <a:lnTo>
                    <a:pt x="85" y="17509"/>
                  </a:lnTo>
                  <a:close/>
                </a:path>
              </a:pathLst>
            </a:custGeom>
            <a:solidFill>
              <a:srgbClr val="D8EBB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356" name="Text Box 12"/>
            <p:cNvSpPr txBox="1">
              <a:spLocks noChangeArrowheads="1"/>
            </p:cNvSpPr>
            <p:nvPr/>
          </p:nvSpPr>
          <p:spPr bwMode="auto">
            <a:xfrm>
              <a:off x="3134" y="3371"/>
              <a:ext cx="63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>
              <a:defPPr>
                <a:defRPr lang="en-US"/>
              </a:defPPr>
              <a:lvl1pPr>
                <a:defRPr b="1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r>
                <a:rPr lang="en-US" altLang="en-US" dirty="0"/>
                <a:t>file 3</a:t>
              </a:r>
            </a:p>
          </p:txBody>
        </p:sp>
        <p:sp>
          <p:nvSpPr>
            <p:cNvPr id="953357" name="Text Box 13"/>
            <p:cNvSpPr txBox="1">
              <a:spLocks noChangeArrowheads="1"/>
            </p:cNvSpPr>
            <p:nvPr/>
          </p:nvSpPr>
          <p:spPr bwMode="auto">
            <a:xfrm>
              <a:off x="4073" y="3371"/>
              <a:ext cx="63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>
              <a:defPPr>
                <a:defRPr lang="en-US"/>
              </a:defPPr>
              <a:lvl1pPr>
                <a:defRPr b="1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r>
                <a:rPr lang="en-US" altLang="en-US" dirty="0"/>
                <a:t>file 4</a:t>
              </a:r>
            </a:p>
          </p:txBody>
        </p:sp>
        <p:sp>
          <p:nvSpPr>
            <p:cNvPr id="953360" name="Line 16"/>
            <p:cNvSpPr>
              <a:spLocks noChangeShapeType="1"/>
            </p:cNvSpPr>
            <p:nvPr/>
          </p:nvSpPr>
          <p:spPr bwMode="auto">
            <a:xfrm>
              <a:off x="2400" y="1584"/>
              <a:ext cx="100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361" name="Line 17"/>
            <p:cNvSpPr>
              <a:spLocks noChangeShapeType="1"/>
            </p:cNvSpPr>
            <p:nvPr/>
          </p:nvSpPr>
          <p:spPr bwMode="auto">
            <a:xfrm>
              <a:off x="2400" y="1584"/>
              <a:ext cx="196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AutoShape 18"/>
          <p:cNvSpPr>
            <a:spLocks/>
          </p:cNvSpPr>
          <p:nvPr/>
        </p:nvSpPr>
        <p:spPr bwMode="auto">
          <a:xfrm>
            <a:off x="6819900" y="1173956"/>
            <a:ext cx="2057400" cy="838200"/>
          </a:xfrm>
          <a:prstGeom prst="accentCallout2">
            <a:avLst>
              <a:gd name="adj1" fmla="val 13634"/>
              <a:gd name="adj2" fmla="val -3704"/>
              <a:gd name="adj3" fmla="val 13634"/>
              <a:gd name="adj4" fmla="val -36806"/>
              <a:gd name="adj5" fmla="val 90367"/>
              <a:gd name="adj6" fmla="val -99232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 dirty="0"/>
              <a:t>Usually known as the </a:t>
            </a:r>
            <a:r>
              <a:rPr lang="en-US" altLang="en-US" b="1" dirty="0"/>
              <a:t>root directory</a:t>
            </a:r>
            <a:endParaRPr lang="en-US" altLang="en-US" dirty="0"/>
          </a:p>
          <a:p>
            <a:pPr algn="ctr"/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4001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Directory Structure: </a:t>
            </a:r>
            <a:r>
              <a:rPr lang="en-US" altLang="en-US" b="1" dirty="0">
                <a:solidFill>
                  <a:srgbClr val="C00000"/>
                </a:solidFill>
              </a:rPr>
              <a:t>Tree-Structured</a:t>
            </a:r>
            <a:endParaRPr lang="en-US" altLang="en-US" dirty="0"/>
          </a:p>
        </p:txBody>
      </p:sp>
      <p:grpSp>
        <p:nvGrpSpPr>
          <p:cNvPr id="955419" name="Group 27"/>
          <p:cNvGrpSpPr>
            <a:grpSpLocks/>
          </p:cNvGrpSpPr>
          <p:nvPr/>
        </p:nvGrpSpPr>
        <p:grpSpPr bwMode="auto">
          <a:xfrm>
            <a:off x="1955800" y="1219200"/>
            <a:ext cx="4541838" cy="1020763"/>
            <a:chOff x="1232" y="768"/>
            <a:chExt cx="2861" cy="643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955396" name="Cloud"/>
            <p:cNvSpPr>
              <a:spLocks noChangeAspect="1" noEditPoints="1" noChangeArrowheads="1"/>
            </p:cNvSpPr>
            <p:nvPr/>
          </p:nvSpPr>
          <p:spPr bwMode="auto">
            <a:xfrm>
              <a:off x="1232" y="768"/>
              <a:ext cx="2861" cy="643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0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1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300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7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7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0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0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50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2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10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grp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410" name="Text Box 18"/>
            <p:cNvSpPr txBox="1">
              <a:spLocks noChangeArrowheads="1"/>
            </p:cNvSpPr>
            <p:nvPr/>
          </p:nvSpPr>
          <p:spPr bwMode="auto">
            <a:xfrm>
              <a:off x="2430" y="861"/>
              <a:ext cx="581" cy="29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r>
                <a:rPr lang="en-US" altLang="en-US" sz="24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dir1</a:t>
              </a:r>
            </a:p>
          </p:txBody>
        </p:sp>
      </p:grpSp>
      <p:grpSp>
        <p:nvGrpSpPr>
          <p:cNvPr id="955422" name="Group 30"/>
          <p:cNvGrpSpPr>
            <a:grpSpLocks/>
          </p:cNvGrpSpPr>
          <p:nvPr/>
        </p:nvGrpSpPr>
        <p:grpSpPr bwMode="auto">
          <a:xfrm>
            <a:off x="3797299" y="2092324"/>
            <a:ext cx="1841500" cy="1260475"/>
            <a:chOff x="2392" y="1318"/>
            <a:chExt cx="1160" cy="794"/>
          </a:xfrm>
        </p:grpSpPr>
        <p:sp>
          <p:nvSpPr>
            <p:cNvPr id="955401" name="Cloud"/>
            <p:cNvSpPr>
              <a:spLocks noChangeAspect="1" noEditPoints="1" noChangeArrowheads="1"/>
            </p:cNvSpPr>
            <p:nvPr/>
          </p:nvSpPr>
          <p:spPr bwMode="auto">
            <a:xfrm>
              <a:off x="2392" y="1536"/>
              <a:ext cx="1160" cy="576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0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1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300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7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7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0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0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50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2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10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404" name="Line 12"/>
            <p:cNvSpPr>
              <a:spLocks noChangeShapeType="1"/>
            </p:cNvSpPr>
            <p:nvPr/>
          </p:nvSpPr>
          <p:spPr bwMode="auto">
            <a:xfrm>
              <a:off x="2885" y="1318"/>
              <a:ext cx="48" cy="23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411" name="Text Box 19"/>
            <p:cNvSpPr txBox="1">
              <a:spLocks noChangeArrowheads="1"/>
            </p:cNvSpPr>
            <p:nvPr/>
          </p:nvSpPr>
          <p:spPr bwMode="auto">
            <a:xfrm>
              <a:off x="2738" y="1702"/>
              <a:ext cx="46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r>
                <a:rPr lang="en-US" altLang="en-US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dir2</a:t>
              </a:r>
            </a:p>
          </p:txBody>
        </p:sp>
      </p:grpSp>
      <p:grpSp>
        <p:nvGrpSpPr>
          <p:cNvPr id="955424" name="Group 32"/>
          <p:cNvGrpSpPr>
            <a:grpSpLocks/>
          </p:cNvGrpSpPr>
          <p:nvPr/>
        </p:nvGrpSpPr>
        <p:grpSpPr bwMode="auto">
          <a:xfrm>
            <a:off x="2324101" y="3230563"/>
            <a:ext cx="1887538" cy="1570038"/>
            <a:chOff x="1464" y="2035"/>
            <a:chExt cx="1189" cy="989"/>
          </a:xfrm>
        </p:grpSpPr>
        <p:sp>
          <p:nvSpPr>
            <p:cNvPr id="955402" name="Cloud"/>
            <p:cNvSpPr>
              <a:spLocks noChangeAspect="1" noEditPoints="1" noChangeArrowheads="1"/>
            </p:cNvSpPr>
            <p:nvPr/>
          </p:nvSpPr>
          <p:spPr bwMode="auto">
            <a:xfrm>
              <a:off x="1464" y="2448"/>
              <a:ext cx="1160" cy="576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0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1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300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7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7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0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0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50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2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10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405" name="Line 13"/>
            <p:cNvSpPr>
              <a:spLocks noChangeShapeType="1"/>
            </p:cNvSpPr>
            <p:nvPr/>
          </p:nvSpPr>
          <p:spPr bwMode="auto">
            <a:xfrm flipH="1">
              <a:off x="2237" y="2035"/>
              <a:ext cx="416" cy="41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412" name="Text Box 20"/>
            <p:cNvSpPr txBox="1">
              <a:spLocks noChangeArrowheads="1"/>
            </p:cNvSpPr>
            <p:nvPr/>
          </p:nvSpPr>
          <p:spPr bwMode="auto">
            <a:xfrm>
              <a:off x="1773" y="2598"/>
              <a:ext cx="50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r>
                <a:rPr lang="en-US" altLang="en-US" sz="20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dir3</a:t>
              </a:r>
            </a:p>
          </p:txBody>
        </p:sp>
      </p:grpSp>
      <p:grpSp>
        <p:nvGrpSpPr>
          <p:cNvPr id="955421" name="Group 29"/>
          <p:cNvGrpSpPr>
            <a:grpSpLocks/>
          </p:cNvGrpSpPr>
          <p:nvPr/>
        </p:nvGrpSpPr>
        <p:grpSpPr bwMode="auto">
          <a:xfrm>
            <a:off x="1254125" y="1981200"/>
            <a:ext cx="2270126" cy="1365250"/>
            <a:chOff x="790" y="1248"/>
            <a:chExt cx="1430" cy="860"/>
          </a:xfrm>
        </p:grpSpPr>
        <p:sp>
          <p:nvSpPr>
            <p:cNvPr id="955398" name="Document"/>
            <p:cNvSpPr>
              <a:spLocks noEditPoints="1" noChangeArrowheads="1"/>
            </p:cNvSpPr>
            <p:nvPr/>
          </p:nvSpPr>
          <p:spPr bwMode="auto">
            <a:xfrm rot="10800000">
              <a:off x="1696" y="1584"/>
              <a:ext cx="464" cy="480"/>
            </a:xfrm>
            <a:custGeom>
              <a:avLst/>
              <a:gdLst>
                <a:gd name="T0" fmla="*/ 10757 w 21600"/>
                <a:gd name="T1" fmla="*/ 21632 h 21600"/>
                <a:gd name="T2" fmla="*/ 85 w 21600"/>
                <a:gd name="T3" fmla="*/ 10849 h 21600"/>
                <a:gd name="T4" fmla="*/ 10757 w 21600"/>
                <a:gd name="T5" fmla="*/ 81 h 21600"/>
                <a:gd name="T6" fmla="*/ 21706 w 21600"/>
                <a:gd name="T7" fmla="*/ 10652 h 21600"/>
                <a:gd name="T8" fmla="*/ 10757 w 21600"/>
                <a:gd name="T9" fmla="*/ 21632 h 21600"/>
                <a:gd name="T10" fmla="*/ 0 w 21600"/>
                <a:gd name="T11" fmla="*/ 0 h 21600"/>
                <a:gd name="T12" fmla="*/ 21600 w 21600"/>
                <a:gd name="T13" fmla="*/ 0 h 21600"/>
                <a:gd name="T14" fmla="*/ 21600 w 21600"/>
                <a:gd name="T15" fmla="*/ 21600 h 21600"/>
                <a:gd name="T16" fmla="*/ 977 w 21600"/>
                <a:gd name="T17" fmla="*/ 818 h 21600"/>
                <a:gd name="T18" fmla="*/ 20622 w 21600"/>
                <a:gd name="T19" fmla="*/ 1642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0757" y="21632"/>
                  </a:moveTo>
                  <a:lnTo>
                    <a:pt x="5187" y="21632"/>
                  </a:lnTo>
                  <a:lnTo>
                    <a:pt x="85" y="17509"/>
                  </a:lnTo>
                  <a:lnTo>
                    <a:pt x="85" y="10849"/>
                  </a:lnTo>
                  <a:lnTo>
                    <a:pt x="85" y="81"/>
                  </a:lnTo>
                  <a:lnTo>
                    <a:pt x="10757" y="81"/>
                  </a:lnTo>
                  <a:lnTo>
                    <a:pt x="21706" y="81"/>
                  </a:lnTo>
                  <a:lnTo>
                    <a:pt x="21706" y="10652"/>
                  </a:lnTo>
                  <a:lnTo>
                    <a:pt x="21706" y="21632"/>
                  </a:lnTo>
                  <a:lnTo>
                    <a:pt x="10757" y="21632"/>
                  </a:lnTo>
                  <a:close/>
                </a:path>
                <a:path w="21600" h="21600">
                  <a:moveTo>
                    <a:pt x="85" y="17509"/>
                  </a:moveTo>
                  <a:lnTo>
                    <a:pt x="5187" y="17509"/>
                  </a:lnTo>
                  <a:lnTo>
                    <a:pt x="5187" y="21632"/>
                  </a:lnTo>
                  <a:lnTo>
                    <a:pt x="85" y="17509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408" name="Line 16"/>
            <p:cNvSpPr>
              <a:spLocks noChangeShapeType="1"/>
            </p:cNvSpPr>
            <p:nvPr/>
          </p:nvSpPr>
          <p:spPr bwMode="auto">
            <a:xfrm flipH="1">
              <a:off x="1928" y="1318"/>
              <a:ext cx="232" cy="2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955420" name="Group 28"/>
            <p:cNvGrpSpPr>
              <a:grpSpLocks/>
            </p:cNvGrpSpPr>
            <p:nvPr/>
          </p:nvGrpSpPr>
          <p:grpSpPr bwMode="auto">
            <a:xfrm>
              <a:off x="790" y="1248"/>
              <a:ext cx="829" cy="855"/>
              <a:chOff x="790" y="1248"/>
              <a:chExt cx="829" cy="855"/>
            </a:xfrm>
          </p:grpSpPr>
          <p:sp>
            <p:nvSpPr>
              <p:cNvPr id="955397" name="Document"/>
              <p:cNvSpPr>
                <a:spLocks noEditPoints="1" noChangeArrowheads="1"/>
              </p:cNvSpPr>
              <p:nvPr/>
            </p:nvSpPr>
            <p:spPr bwMode="auto">
              <a:xfrm rot="10800000">
                <a:off x="845" y="1584"/>
                <a:ext cx="464" cy="480"/>
              </a:xfrm>
              <a:custGeom>
                <a:avLst/>
                <a:gdLst>
                  <a:gd name="T0" fmla="*/ 10757 w 21600"/>
                  <a:gd name="T1" fmla="*/ 21632 h 21600"/>
                  <a:gd name="T2" fmla="*/ 85 w 21600"/>
                  <a:gd name="T3" fmla="*/ 10849 h 21600"/>
                  <a:gd name="T4" fmla="*/ 10757 w 21600"/>
                  <a:gd name="T5" fmla="*/ 81 h 21600"/>
                  <a:gd name="T6" fmla="*/ 21706 w 21600"/>
                  <a:gd name="T7" fmla="*/ 10652 h 21600"/>
                  <a:gd name="T8" fmla="*/ 10757 w 21600"/>
                  <a:gd name="T9" fmla="*/ 21632 h 21600"/>
                  <a:gd name="T10" fmla="*/ 0 w 21600"/>
                  <a:gd name="T11" fmla="*/ 0 h 21600"/>
                  <a:gd name="T12" fmla="*/ 21600 w 21600"/>
                  <a:gd name="T13" fmla="*/ 0 h 21600"/>
                  <a:gd name="T14" fmla="*/ 21600 w 21600"/>
                  <a:gd name="T15" fmla="*/ 21600 h 21600"/>
                  <a:gd name="T16" fmla="*/ 977 w 21600"/>
                  <a:gd name="T17" fmla="*/ 818 h 21600"/>
                  <a:gd name="T18" fmla="*/ 20622 w 21600"/>
                  <a:gd name="T19" fmla="*/ 1642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10757" y="21632"/>
                    </a:moveTo>
                    <a:lnTo>
                      <a:pt x="5187" y="21632"/>
                    </a:lnTo>
                    <a:lnTo>
                      <a:pt x="85" y="17509"/>
                    </a:lnTo>
                    <a:lnTo>
                      <a:pt x="85" y="10849"/>
                    </a:lnTo>
                    <a:lnTo>
                      <a:pt x="85" y="81"/>
                    </a:lnTo>
                    <a:lnTo>
                      <a:pt x="10757" y="81"/>
                    </a:lnTo>
                    <a:lnTo>
                      <a:pt x="21706" y="81"/>
                    </a:lnTo>
                    <a:lnTo>
                      <a:pt x="21706" y="10652"/>
                    </a:lnTo>
                    <a:lnTo>
                      <a:pt x="21706" y="21632"/>
                    </a:lnTo>
                    <a:lnTo>
                      <a:pt x="10757" y="21632"/>
                    </a:lnTo>
                    <a:close/>
                  </a:path>
                  <a:path w="21600" h="21600">
                    <a:moveTo>
                      <a:pt x="85" y="17509"/>
                    </a:moveTo>
                    <a:lnTo>
                      <a:pt x="5187" y="17509"/>
                    </a:lnTo>
                    <a:lnTo>
                      <a:pt x="5187" y="21632"/>
                    </a:lnTo>
                    <a:lnTo>
                      <a:pt x="85" y="17509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5407" name="Line 15"/>
              <p:cNvSpPr>
                <a:spLocks noChangeShapeType="1"/>
              </p:cNvSpPr>
              <p:nvPr/>
            </p:nvSpPr>
            <p:spPr bwMode="auto">
              <a:xfrm flipH="1">
                <a:off x="1000" y="1248"/>
                <a:ext cx="619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5413" name="Text Box 21"/>
              <p:cNvSpPr txBox="1">
                <a:spLocks noChangeArrowheads="1"/>
              </p:cNvSpPr>
              <p:nvPr/>
            </p:nvSpPr>
            <p:spPr bwMode="auto">
              <a:xfrm>
                <a:off x="790" y="1891"/>
                <a:ext cx="57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r>
                  <a:rPr lang="en-US" altLang="en-US" sz="1600" b="1">
                    <a:latin typeface="Courier New" panose="02070309020205020404" pitchFamily="49" charset="0"/>
                  </a:rPr>
                  <a:t>file 1</a:t>
                </a:r>
              </a:p>
            </p:txBody>
          </p:sp>
        </p:grpSp>
        <p:sp>
          <p:nvSpPr>
            <p:cNvPr id="955414" name="Text Box 22"/>
            <p:cNvSpPr txBox="1">
              <a:spLocks noChangeArrowheads="1"/>
            </p:cNvSpPr>
            <p:nvPr/>
          </p:nvSpPr>
          <p:spPr bwMode="auto">
            <a:xfrm>
              <a:off x="1642" y="1896"/>
              <a:ext cx="57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r>
                <a:rPr lang="en-US" altLang="en-US" sz="1600" b="1" dirty="0">
                  <a:latin typeface="Courier New" panose="02070309020205020404" pitchFamily="49" charset="0"/>
                </a:rPr>
                <a:t>file 2</a:t>
              </a:r>
            </a:p>
          </p:txBody>
        </p:sp>
      </p:grpSp>
      <p:grpSp>
        <p:nvGrpSpPr>
          <p:cNvPr id="955425" name="Group 33"/>
          <p:cNvGrpSpPr>
            <a:grpSpLocks/>
          </p:cNvGrpSpPr>
          <p:nvPr/>
        </p:nvGrpSpPr>
        <p:grpSpPr bwMode="auto">
          <a:xfrm>
            <a:off x="2724151" y="4762500"/>
            <a:ext cx="917575" cy="1308100"/>
            <a:chOff x="1716" y="3000"/>
            <a:chExt cx="578" cy="824"/>
          </a:xfrm>
        </p:grpSpPr>
        <p:sp>
          <p:nvSpPr>
            <p:cNvPr id="955400" name="Document"/>
            <p:cNvSpPr>
              <a:spLocks noEditPoints="1" noChangeArrowheads="1"/>
            </p:cNvSpPr>
            <p:nvPr/>
          </p:nvSpPr>
          <p:spPr bwMode="auto">
            <a:xfrm rot="10800000">
              <a:off x="1773" y="3312"/>
              <a:ext cx="464" cy="480"/>
            </a:xfrm>
            <a:custGeom>
              <a:avLst/>
              <a:gdLst>
                <a:gd name="T0" fmla="*/ 10757 w 21600"/>
                <a:gd name="T1" fmla="*/ 21632 h 21600"/>
                <a:gd name="T2" fmla="*/ 85 w 21600"/>
                <a:gd name="T3" fmla="*/ 10849 h 21600"/>
                <a:gd name="T4" fmla="*/ 10757 w 21600"/>
                <a:gd name="T5" fmla="*/ 81 h 21600"/>
                <a:gd name="T6" fmla="*/ 21706 w 21600"/>
                <a:gd name="T7" fmla="*/ 10652 h 21600"/>
                <a:gd name="T8" fmla="*/ 10757 w 21600"/>
                <a:gd name="T9" fmla="*/ 21632 h 21600"/>
                <a:gd name="T10" fmla="*/ 0 w 21600"/>
                <a:gd name="T11" fmla="*/ 0 h 21600"/>
                <a:gd name="T12" fmla="*/ 21600 w 21600"/>
                <a:gd name="T13" fmla="*/ 0 h 21600"/>
                <a:gd name="T14" fmla="*/ 21600 w 21600"/>
                <a:gd name="T15" fmla="*/ 21600 h 21600"/>
                <a:gd name="T16" fmla="*/ 977 w 21600"/>
                <a:gd name="T17" fmla="*/ 818 h 21600"/>
                <a:gd name="T18" fmla="*/ 20622 w 21600"/>
                <a:gd name="T19" fmla="*/ 1642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0757" y="21632"/>
                  </a:moveTo>
                  <a:lnTo>
                    <a:pt x="5187" y="21632"/>
                  </a:lnTo>
                  <a:lnTo>
                    <a:pt x="85" y="17509"/>
                  </a:lnTo>
                  <a:lnTo>
                    <a:pt x="85" y="10849"/>
                  </a:lnTo>
                  <a:lnTo>
                    <a:pt x="85" y="81"/>
                  </a:lnTo>
                  <a:lnTo>
                    <a:pt x="10757" y="81"/>
                  </a:lnTo>
                  <a:lnTo>
                    <a:pt x="21706" y="81"/>
                  </a:lnTo>
                  <a:lnTo>
                    <a:pt x="21706" y="10652"/>
                  </a:lnTo>
                  <a:lnTo>
                    <a:pt x="21706" y="21632"/>
                  </a:lnTo>
                  <a:lnTo>
                    <a:pt x="10757" y="21632"/>
                  </a:lnTo>
                  <a:close/>
                </a:path>
                <a:path w="21600" h="21600">
                  <a:moveTo>
                    <a:pt x="85" y="17509"/>
                  </a:moveTo>
                  <a:lnTo>
                    <a:pt x="5187" y="17509"/>
                  </a:lnTo>
                  <a:lnTo>
                    <a:pt x="5187" y="21632"/>
                  </a:lnTo>
                  <a:lnTo>
                    <a:pt x="85" y="17509"/>
                  </a:lnTo>
                  <a:close/>
                </a:path>
              </a:pathLst>
            </a:custGeom>
            <a:solidFill>
              <a:srgbClr val="FF2B3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406" name="Line 14"/>
            <p:cNvSpPr>
              <a:spLocks noChangeShapeType="1"/>
            </p:cNvSpPr>
            <p:nvPr/>
          </p:nvSpPr>
          <p:spPr bwMode="auto">
            <a:xfrm flipH="1">
              <a:off x="1928" y="3000"/>
              <a:ext cx="88" cy="31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416" name="Text Box 24"/>
            <p:cNvSpPr txBox="1">
              <a:spLocks noChangeArrowheads="1"/>
            </p:cNvSpPr>
            <p:nvPr/>
          </p:nvSpPr>
          <p:spPr bwMode="auto">
            <a:xfrm>
              <a:off x="1716" y="3612"/>
              <a:ext cx="57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r>
                <a:rPr lang="en-US" altLang="en-US" sz="1600" b="1" dirty="0">
                  <a:solidFill>
                    <a:schemeClr val="bg1"/>
                  </a:solidFill>
                  <a:latin typeface="Courier New" panose="02070309020205020404" pitchFamily="49" charset="0"/>
                </a:rPr>
                <a:t>file 3</a:t>
              </a:r>
            </a:p>
          </p:txBody>
        </p:sp>
      </p:grpSp>
      <p:grpSp>
        <p:nvGrpSpPr>
          <p:cNvPr id="955423" name="Group 31"/>
          <p:cNvGrpSpPr>
            <a:grpSpLocks/>
          </p:cNvGrpSpPr>
          <p:nvPr/>
        </p:nvGrpSpPr>
        <p:grpSpPr bwMode="auto">
          <a:xfrm>
            <a:off x="4811713" y="3230563"/>
            <a:ext cx="917575" cy="1487488"/>
            <a:chOff x="3031" y="2035"/>
            <a:chExt cx="578" cy="937"/>
          </a:xfrm>
        </p:grpSpPr>
        <p:sp>
          <p:nvSpPr>
            <p:cNvPr id="955399" name="Document"/>
            <p:cNvSpPr>
              <a:spLocks noEditPoints="1" noChangeArrowheads="1"/>
            </p:cNvSpPr>
            <p:nvPr/>
          </p:nvSpPr>
          <p:spPr bwMode="auto">
            <a:xfrm rot="10800000">
              <a:off x="3088" y="2448"/>
              <a:ext cx="464" cy="480"/>
            </a:xfrm>
            <a:custGeom>
              <a:avLst/>
              <a:gdLst>
                <a:gd name="T0" fmla="*/ 10757 w 21600"/>
                <a:gd name="T1" fmla="*/ 21632 h 21600"/>
                <a:gd name="T2" fmla="*/ 85 w 21600"/>
                <a:gd name="T3" fmla="*/ 10849 h 21600"/>
                <a:gd name="T4" fmla="*/ 10757 w 21600"/>
                <a:gd name="T5" fmla="*/ 81 h 21600"/>
                <a:gd name="T6" fmla="*/ 21706 w 21600"/>
                <a:gd name="T7" fmla="*/ 10652 h 21600"/>
                <a:gd name="T8" fmla="*/ 10757 w 21600"/>
                <a:gd name="T9" fmla="*/ 21632 h 21600"/>
                <a:gd name="T10" fmla="*/ 0 w 21600"/>
                <a:gd name="T11" fmla="*/ 0 h 21600"/>
                <a:gd name="T12" fmla="*/ 21600 w 21600"/>
                <a:gd name="T13" fmla="*/ 0 h 21600"/>
                <a:gd name="T14" fmla="*/ 21600 w 21600"/>
                <a:gd name="T15" fmla="*/ 21600 h 21600"/>
                <a:gd name="T16" fmla="*/ 977 w 21600"/>
                <a:gd name="T17" fmla="*/ 818 h 21600"/>
                <a:gd name="T18" fmla="*/ 20622 w 21600"/>
                <a:gd name="T19" fmla="*/ 1642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0757" y="21632"/>
                  </a:moveTo>
                  <a:lnTo>
                    <a:pt x="5187" y="21632"/>
                  </a:lnTo>
                  <a:lnTo>
                    <a:pt x="85" y="17509"/>
                  </a:lnTo>
                  <a:lnTo>
                    <a:pt x="85" y="10849"/>
                  </a:lnTo>
                  <a:lnTo>
                    <a:pt x="85" y="81"/>
                  </a:lnTo>
                  <a:lnTo>
                    <a:pt x="10757" y="81"/>
                  </a:lnTo>
                  <a:lnTo>
                    <a:pt x="21706" y="81"/>
                  </a:lnTo>
                  <a:lnTo>
                    <a:pt x="21706" y="10652"/>
                  </a:lnTo>
                  <a:lnTo>
                    <a:pt x="21706" y="21632"/>
                  </a:lnTo>
                  <a:lnTo>
                    <a:pt x="10757" y="21632"/>
                  </a:lnTo>
                  <a:close/>
                </a:path>
                <a:path w="21600" h="21600">
                  <a:moveTo>
                    <a:pt x="85" y="17509"/>
                  </a:moveTo>
                  <a:lnTo>
                    <a:pt x="5187" y="17509"/>
                  </a:lnTo>
                  <a:lnTo>
                    <a:pt x="5187" y="21632"/>
                  </a:lnTo>
                  <a:lnTo>
                    <a:pt x="85" y="17509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415" name="Text Box 23"/>
            <p:cNvSpPr txBox="1">
              <a:spLocks noChangeArrowheads="1"/>
            </p:cNvSpPr>
            <p:nvPr/>
          </p:nvSpPr>
          <p:spPr bwMode="auto">
            <a:xfrm>
              <a:off x="3031" y="2760"/>
              <a:ext cx="57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r>
                <a:rPr lang="en-US" altLang="en-US" sz="1600" b="1" dirty="0">
                  <a:latin typeface="Courier New" panose="02070309020205020404" pitchFamily="49" charset="0"/>
                </a:rPr>
                <a:t>file 3</a:t>
              </a:r>
            </a:p>
          </p:txBody>
        </p:sp>
        <p:sp>
          <p:nvSpPr>
            <p:cNvPr id="955417" name="Line 25"/>
            <p:cNvSpPr>
              <a:spLocks noChangeShapeType="1"/>
            </p:cNvSpPr>
            <p:nvPr/>
          </p:nvSpPr>
          <p:spPr bwMode="auto">
            <a:xfrm>
              <a:off x="3266" y="2035"/>
              <a:ext cx="29" cy="4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55426" name="Group 34"/>
          <p:cNvGrpSpPr>
            <a:grpSpLocks/>
          </p:cNvGrpSpPr>
          <p:nvPr/>
        </p:nvGrpSpPr>
        <p:grpSpPr bwMode="auto">
          <a:xfrm>
            <a:off x="5945187" y="1828800"/>
            <a:ext cx="2317750" cy="1524000"/>
            <a:chOff x="3484" y="1152"/>
            <a:chExt cx="1460" cy="960"/>
          </a:xfrm>
        </p:grpSpPr>
        <p:sp>
          <p:nvSpPr>
            <p:cNvPr id="955403" name="Cloud"/>
            <p:cNvSpPr>
              <a:spLocks noChangeAspect="1" noEditPoints="1" noChangeArrowheads="1"/>
            </p:cNvSpPr>
            <p:nvPr/>
          </p:nvSpPr>
          <p:spPr bwMode="auto">
            <a:xfrm>
              <a:off x="3784" y="1536"/>
              <a:ext cx="1160" cy="576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0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1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300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7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7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0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0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50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2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10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409" name="Line 17"/>
            <p:cNvSpPr>
              <a:spLocks noChangeShapeType="1"/>
            </p:cNvSpPr>
            <p:nvPr/>
          </p:nvSpPr>
          <p:spPr bwMode="auto">
            <a:xfrm>
              <a:off x="3484" y="1152"/>
              <a:ext cx="657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1115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Directory Structure: Tree-Structured</a:t>
            </a:r>
          </a:p>
        </p:txBody>
      </p:sp>
      <p:sp>
        <p:nvSpPr>
          <p:cNvPr id="989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>
                <a:solidFill>
                  <a:srgbClr val="0033CC"/>
                </a:solidFill>
              </a:rPr>
              <a:t>General Idea: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Directories can be recursively embedded in other directories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Naturally forms a tree structure</a:t>
            </a:r>
          </a:p>
          <a:p>
            <a:pPr>
              <a:lnSpc>
                <a:spcPct val="90000"/>
              </a:lnSpc>
            </a:pPr>
            <a:r>
              <a:rPr lang="en-US" altLang="en-US"/>
              <a:t>Two ways to refers to a file:</a:t>
            </a:r>
          </a:p>
          <a:p>
            <a:pPr lvl="1">
              <a:lnSpc>
                <a:spcPct val="90000"/>
              </a:lnSpc>
            </a:pPr>
            <a:r>
              <a:rPr lang="en-US" altLang="en-US" b="1">
                <a:solidFill>
                  <a:srgbClr val="0033CC"/>
                </a:solidFill>
              </a:rPr>
              <a:t>Absolute Pathname:</a:t>
            </a:r>
            <a:r>
              <a:rPr lang="en-US" altLang="en-US"/>
              <a:t> 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Directory names followed from root of tree + final file 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i.e. the Path from root directory to the file</a:t>
            </a:r>
          </a:p>
          <a:p>
            <a:pPr lvl="1">
              <a:lnSpc>
                <a:spcPct val="90000"/>
              </a:lnSpc>
            </a:pPr>
            <a:r>
              <a:rPr lang="en-US" altLang="en-US" b="1">
                <a:solidFill>
                  <a:srgbClr val="0033CC"/>
                </a:solidFill>
              </a:rPr>
              <a:t>Relative Pathname: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Directory names followed from the </a:t>
            </a:r>
            <a:r>
              <a:rPr lang="en-US" altLang="en-US" b="1"/>
              <a:t>current working directory (CWD)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CWD can be set explicitly or implicitly changed by moving into a new directory under shell prompt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4954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9187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Directory Structure: </a:t>
            </a:r>
            <a:r>
              <a:rPr lang="en-US" altLang="en-US" sz="3800" b="1" dirty="0">
                <a:solidFill>
                  <a:srgbClr val="C00000"/>
                </a:solidFill>
              </a:rPr>
              <a:t>DAG</a:t>
            </a:r>
            <a:endParaRPr lang="en-US" altLang="en-US" sz="3800" dirty="0"/>
          </a:p>
        </p:txBody>
      </p:sp>
      <p:sp>
        <p:nvSpPr>
          <p:cNvPr id="990213" name="Cloud"/>
          <p:cNvSpPr>
            <a:spLocks noChangeAspect="1" noEditPoints="1" noChangeArrowheads="1"/>
          </p:cNvSpPr>
          <p:nvPr/>
        </p:nvSpPr>
        <p:spPr bwMode="auto">
          <a:xfrm>
            <a:off x="3543370" y="1169988"/>
            <a:ext cx="1862138" cy="1090612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0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1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300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7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7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0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0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50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2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10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0214" name="Document"/>
          <p:cNvSpPr>
            <a:spLocks noEditPoints="1" noChangeArrowheads="1"/>
          </p:cNvSpPr>
          <p:nvPr/>
        </p:nvSpPr>
        <p:spPr bwMode="auto">
          <a:xfrm rot="10800000">
            <a:off x="1679645" y="2679700"/>
            <a:ext cx="665163" cy="931863"/>
          </a:xfrm>
          <a:custGeom>
            <a:avLst/>
            <a:gdLst>
              <a:gd name="T0" fmla="*/ 10757 w 21600"/>
              <a:gd name="T1" fmla="*/ 21632 h 21600"/>
              <a:gd name="T2" fmla="*/ 85 w 21600"/>
              <a:gd name="T3" fmla="*/ 10849 h 21600"/>
              <a:gd name="T4" fmla="*/ 10757 w 21600"/>
              <a:gd name="T5" fmla="*/ 81 h 21600"/>
              <a:gd name="T6" fmla="*/ 21706 w 21600"/>
              <a:gd name="T7" fmla="*/ 10652 h 21600"/>
              <a:gd name="T8" fmla="*/ 10757 w 21600"/>
              <a:gd name="T9" fmla="*/ 21632 h 21600"/>
              <a:gd name="T10" fmla="*/ 0 w 21600"/>
              <a:gd name="T11" fmla="*/ 0 h 21600"/>
              <a:gd name="T12" fmla="*/ 21600 w 21600"/>
              <a:gd name="T13" fmla="*/ 0 h 21600"/>
              <a:gd name="T14" fmla="*/ 21600 w 21600"/>
              <a:gd name="T15" fmla="*/ 21600 h 21600"/>
              <a:gd name="T16" fmla="*/ 977 w 21600"/>
              <a:gd name="T17" fmla="*/ 818 h 21600"/>
              <a:gd name="T18" fmla="*/ 20622 w 21600"/>
              <a:gd name="T19" fmla="*/ 1642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0757" y="21632"/>
                </a:moveTo>
                <a:lnTo>
                  <a:pt x="5187" y="21632"/>
                </a:lnTo>
                <a:lnTo>
                  <a:pt x="85" y="17509"/>
                </a:lnTo>
                <a:lnTo>
                  <a:pt x="85" y="10849"/>
                </a:lnTo>
                <a:lnTo>
                  <a:pt x="85" y="81"/>
                </a:lnTo>
                <a:lnTo>
                  <a:pt x="10757" y="81"/>
                </a:lnTo>
                <a:lnTo>
                  <a:pt x="21706" y="81"/>
                </a:lnTo>
                <a:lnTo>
                  <a:pt x="21706" y="10652"/>
                </a:lnTo>
                <a:lnTo>
                  <a:pt x="21706" y="21632"/>
                </a:lnTo>
                <a:lnTo>
                  <a:pt x="10757" y="21632"/>
                </a:lnTo>
                <a:close/>
              </a:path>
              <a:path w="21600" h="21600">
                <a:moveTo>
                  <a:pt x="85" y="17509"/>
                </a:moveTo>
                <a:lnTo>
                  <a:pt x="5187" y="17509"/>
                </a:lnTo>
                <a:lnTo>
                  <a:pt x="5187" y="21632"/>
                </a:lnTo>
                <a:lnTo>
                  <a:pt x="85" y="17509"/>
                </a:lnTo>
                <a:close/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0215" name="Document"/>
          <p:cNvSpPr>
            <a:spLocks noEditPoints="1" noChangeArrowheads="1"/>
          </p:cNvSpPr>
          <p:nvPr/>
        </p:nvSpPr>
        <p:spPr bwMode="auto">
          <a:xfrm rot="10800000">
            <a:off x="3009970" y="2679700"/>
            <a:ext cx="665163" cy="931863"/>
          </a:xfrm>
          <a:custGeom>
            <a:avLst/>
            <a:gdLst>
              <a:gd name="T0" fmla="*/ 10757 w 21600"/>
              <a:gd name="T1" fmla="*/ 21632 h 21600"/>
              <a:gd name="T2" fmla="*/ 85 w 21600"/>
              <a:gd name="T3" fmla="*/ 10849 h 21600"/>
              <a:gd name="T4" fmla="*/ 10757 w 21600"/>
              <a:gd name="T5" fmla="*/ 81 h 21600"/>
              <a:gd name="T6" fmla="*/ 21706 w 21600"/>
              <a:gd name="T7" fmla="*/ 10652 h 21600"/>
              <a:gd name="T8" fmla="*/ 10757 w 21600"/>
              <a:gd name="T9" fmla="*/ 21632 h 21600"/>
              <a:gd name="T10" fmla="*/ 0 w 21600"/>
              <a:gd name="T11" fmla="*/ 0 h 21600"/>
              <a:gd name="T12" fmla="*/ 21600 w 21600"/>
              <a:gd name="T13" fmla="*/ 0 h 21600"/>
              <a:gd name="T14" fmla="*/ 21600 w 21600"/>
              <a:gd name="T15" fmla="*/ 21600 h 21600"/>
              <a:gd name="T16" fmla="*/ 977 w 21600"/>
              <a:gd name="T17" fmla="*/ 818 h 21600"/>
              <a:gd name="T18" fmla="*/ 20622 w 21600"/>
              <a:gd name="T19" fmla="*/ 1642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0757" y="21632"/>
                </a:moveTo>
                <a:lnTo>
                  <a:pt x="5187" y="21632"/>
                </a:lnTo>
                <a:lnTo>
                  <a:pt x="85" y="17509"/>
                </a:lnTo>
                <a:lnTo>
                  <a:pt x="85" y="10849"/>
                </a:lnTo>
                <a:lnTo>
                  <a:pt x="85" y="81"/>
                </a:lnTo>
                <a:lnTo>
                  <a:pt x="10757" y="81"/>
                </a:lnTo>
                <a:lnTo>
                  <a:pt x="21706" y="81"/>
                </a:lnTo>
                <a:lnTo>
                  <a:pt x="21706" y="10652"/>
                </a:lnTo>
                <a:lnTo>
                  <a:pt x="21706" y="21632"/>
                </a:lnTo>
                <a:lnTo>
                  <a:pt x="10757" y="21632"/>
                </a:lnTo>
                <a:close/>
              </a:path>
              <a:path w="21600" h="21600">
                <a:moveTo>
                  <a:pt x="85" y="17509"/>
                </a:moveTo>
                <a:lnTo>
                  <a:pt x="5187" y="17509"/>
                </a:lnTo>
                <a:lnTo>
                  <a:pt x="5187" y="21632"/>
                </a:lnTo>
                <a:lnTo>
                  <a:pt x="85" y="17509"/>
                </a:lnTo>
                <a:close/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0216" name="Document"/>
          <p:cNvSpPr>
            <a:spLocks noEditPoints="1" noChangeArrowheads="1"/>
          </p:cNvSpPr>
          <p:nvPr/>
        </p:nvSpPr>
        <p:spPr bwMode="auto">
          <a:xfrm rot="10800000">
            <a:off x="5938908" y="3959225"/>
            <a:ext cx="665162" cy="931863"/>
          </a:xfrm>
          <a:custGeom>
            <a:avLst/>
            <a:gdLst>
              <a:gd name="T0" fmla="*/ 10757 w 21600"/>
              <a:gd name="T1" fmla="*/ 21632 h 21600"/>
              <a:gd name="T2" fmla="*/ 85 w 21600"/>
              <a:gd name="T3" fmla="*/ 10849 h 21600"/>
              <a:gd name="T4" fmla="*/ 10757 w 21600"/>
              <a:gd name="T5" fmla="*/ 81 h 21600"/>
              <a:gd name="T6" fmla="*/ 21706 w 21600"/>
              <a:gd name="T7" fmla="*/ 10652 h 21600"/>
              <a:gd name="T8" fmla="*/ 10757 w 21600"/>
              <a:gd name="T9" fmla="*/ 21632 h 21600"/>
              <a:gd name="T10" fmla="*/ 0 w 21600"/>
              <a:gd name="T11" fmla="*/ 0 h 21600"/>
              <a:gd name="T12" fmla="*/ 21600 w 21600"/>
              <a:gd name="T13" fmla="*/ 0 h 21600"/>
              <a:gd name="T14" fmla="*/ 21600 w 21600"/>
              <a:gd name="T15" fmla="*/ 21600 h 21600"/>
              <a:gd name="T16" fmla="*/ 977 w 21600"/>
              <a:gd name="T17" fmla="*/ 818 h 21600"/>
              <a:gd name="T18" fmla="*/ 20622 w 21600"/>
              <a:gd name="T19" fmla="*/ 1642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0757" y="21632"/>
                </a:moveTo>
                <a:lnTo>
                  <a:pt x="5187" y="21632"/>
                </a:lnTo>
                <a:lnTo>
                  <a:pt x="85" y="17509"/>
                </a:lnTo>
                <a:lnTo>
                  <a:pt x="85" y="10849"/>
                </a:lnTo>
                <a:lnTo>
                  <a:pt x="85" y="81"/>
                </a:lnTo>
                <a:lnTo>
                  <a:pt x="10757" y="81"/>
                </a:lnTo>
                <a:lnTo>
                  <a:pt x="21706" y="81"/>
                </a:lnTo>
                <a:lnTo>
                  <a:pt x="21706" y="10652"/>
                </a:lnTo>
                <a:lnTo>
                  <a:pt x="21706" y="21632"/>
                </a:lnTo>
                <a:lnTo>
                  <a:pt x="10757" y="21632"/>
                </a:lnTo>
                <a:close/>
              </a:path>
              <a:path w="21600" h="21600">
                <a:moveTo>
                  <a:pt x="85" y="17509"/>
                </a:moveTo>
                <a:lnTo>
                  <a:pt x="5187" y="17509"/>
                </a:lnTo>
                <a:lnTo>
                  <a:pt x="5187" y="21632"/>
                </a:lnTo>
                <a:lnTo>
                  <a:pt x="85" y="17509"/>
                </a:lnTo>
                <a:close/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0217" name="Document"/>
          <p:cNvSpPr>
            <a:spLocks noEditPoints="1" noChangeArrowheads="1"/>
          </p:cNvSpPr>
          <p:nvPr/>
        </p:nvSpPr>
        <p:spPr bwMode="auto">
          <a:xfrm rot="10800000">
            <a:off x="3009970" y="5472113"/>
            <a:ext cx="665163" cy="928687"/>
          </a:xfrm>
          <a:custGeom>
            <a:avLst/>
            <a:gdLst>
              <a:gd name="T0" fmla="*/ 10757 w 21600"/>
              <a:gd name="T1" fmla="*/ 21632 h 21600"/>
              <a:gd name="T2" fmla="*/ 85 w 21600"/>
              <a:gd name="T3" fmla="*/ 10849 h 21600"/>
              <a:gd name="T4" fmla="*/ 10757 w 21600"/>
              <a:gd name="T5" fmla="*/ 81 h 21600"/>
              <a:gd name="T6" fmla="*/ 21706 w 21600"/>
              <a:gd name="T7" fmla="*/ 10652 h 21600"/>
              <a:gd name="T8" fmla="*/ 10757 w 21600"/>
              <a:gd name="T9" fmla="*/ 21632 h 21600"/>
              <a:gd name="T10" fmla="*/ 0 w 21600"/>
              <a:gd name="T11" fmla="*/ 0 h 21600"/>
              <a:gd name="T12" fmla="*/ 21600 w 21600"/>
              <a:gd name="T13" fmla="*/ 0 h 21600"/>
              <a:gd name="T14" fmla="*/ 21600 w 21600"/>
              <a:gd name="T15" fmla="*/ 21600 h 21600"/>
              <a:gd name="T16" fmla="*/ 977 w 21600"/>
              <a:gd name="T17" fmla="*/ 818 h 21600"/>
              <a:gd name="T18" fmla="*/ 20622 w 21600"/>
              <a:gd name="T19" fmla="*/ 1642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0757" y="21632"/>
                </a:moveTo>
                <a:lnTo>
                  <a:pt x="5187" y="21632"/>
                </a:lnTo>
                <a:lnTo>
                  <a:pt x="85" y="17509"/>
                </a:lnTo>
                <a:lnTo>
                  <a:pt x="85" y="10849"/>
                </a:lnTo>
                <a:lnTo>
                  <a:pt x="85" y="81"/>
                </a:lnTo>
                <a:lnTo>
                  <a:pt x="10757" y="81"/>
                </a:lnTo>
                <a:lnTo>
                  <a:pt x="21706" y="81"/>
                </a:lnTo>
                <a:lnTo>
                  <a:pt x="21706" y="10652"/>
                </a:lnTo>
                <a:lnTo>
                  <a:pt x="21706" y="21632"/>
                </a:lnTo>
                <a:lnTo>
                  <a:pt x="10757" y="21632"/>
                </a:lnTo>
                <a:close/>
              </a:path>
              <a:path w="21600" h="21600">
                <a:moveTo>
                  <a:pt x="85" y="17509"/>
                </a:moveTo>
                <a:lnTo>
                  <a:pt x="5187" y="17509"/>
                </a:lnTo>
                <a:lnTo>
                  <a:pt x="5187" y="21632"/>
                </a:lnTo>
                <a:lnTo>
                  <a:pt x="85" y="17509"/>
                </a:lnTo>
                <a:close/>
              </a:path>
            </a:pathLst>
          </a:custGeom>
          <a:solidFill>
            <a:srgbClr val="FFE3FF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0218" name="Cloud"/>
          <p:cNvSpPr>
            <a:spLocks noChangeAspect="1" noEditPoints="1" noChangeArrowheads="1"/>
          </p:cNvSpPr>
          <p:nvPr/>
        </p:nvSpPr>
        <p:spPr bwMode="auto">
          <a:xfrm>
            <a:off x="5007045" y="2679700"/>
            <a:ext cx="1463675" cy="85725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0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1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300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7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7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0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0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50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2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10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0219" name="Cloud"/>
          <p:cNvSpPr>
            <a:spLocks noChangeAspect="1" noEditPoints="1" noChangeArrowheads="1"/>
          </p:cNvSpPr>
          <p:nvPr/>
        </p:nvSpPr>
        <p:spPr bwMode="auto">
          <a:xfrm>
            <a:off x="6956495" y="2717007"/>
            <a:ext cx="1463675" cy="85725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0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1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300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7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7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0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0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50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2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10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0220" name="Cloud"/>
          <p:cNvSpPr>
            <a:spLocks noChangeAspect="1" noEditPoints="1" noChangeArrowheads="1"/>
          </p:cNvSpPr>
          <p:nvPr/>
        </p:nvSpPr>
        <p:spPr bwMode="auto">
          <a:xfrm>
            <a:off x="4075183" y="4076700"/>
            <a:ext cx="1330325" cy="776288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0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1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300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7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7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0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0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50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2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10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0223" name="Line 15"/>
          <p:cNvSpPr>
            <a:spLocks noChangeShapeType="1"/>
          </p:cNvSpPr>
          <p:nvPr/>
        </p:nvSpPr>
        <p:spPr bwMode="auto">
          <a:xfrm flipH="1">
            <a:off x="4740345" y="3378200"/>
            <a:ext cx="400050" cy="6985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0224" name="Line 16"/>
          <p:cNvSpPr>
            <a:spLocks noChangeShapeType="1"/>
          </p:cNvSpPr>
          <p:nvPr/>
        </p:nvSpPr>
        <p:spPr bwMode="auto">
          <a:xfrm>
            <a:off x="5140395" y="2082853"/>
            <a:ext cx="531813" cy="596847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0225" name="Freeform 17"/>
          <p:cNvSpPr>
            <a:spLocks/>
          </p:cNvSpPr>
          <p:nvPr/>
        </p:nvSpPr>
        <p:spPr bwMode="auto">
          <a:xfrm>
            <a:off x="1946345" y="1538288"/>
            <a:ext cx="1604963" cy="1141412"/>
          </a:xfrm>
          <a:custGeom>
            <a:avLst/>
            <a:gdLst>
              <a:gd name="T0" fmla="*/ 531 w 531"/>
              <a:gd name="T1" fmla="*/ 0 h 376"/>
              <a:gd name="T2" fmla="*/ 439 w 531"/>
              <a:gd name="T3" fmla="*/ 15 h 376"/>
              <a:gd name="T4" fmla="*/ 241 w 531"/>
              <a:gd name="T5" fmla="*/ 88 h 376"/>
              <a:gd name="T6" fmla="*/ 96 w 531"/>
              <a:gd name="T7" fmla="*/ 223 h 376"/>
              <a:gd name="T8" fmla="*/ 0 w 531"/>
              <a:gd name="T9" fmla="*/ 376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31" h="376">
                <a:moveTo>
                  <a:pt x="531" y="0"/>
                </a:moveTo>
                <a:cubicBezTo>
                  <a:pt x="516" y="2"/>
                  <a:pt x="487" y="0"/>
                  <a:pt x="439" y="15"/>
                </a:cubicBezTo>
                <a:cubicBezTo>
                  <a:pt x="391" y="30"/>
                  <a:pt x="298" y="53"/>
                  <a:pt x="241" y="88"/>
                </a:cubicBezTo>
                <a:cubicBezTo>
                  <a:pt x="184" y="123"/>
                  <a:pt x="136" y="175"/>
                  <a:pt x="96" y="223"/>
                </a:cubicBezTo>
                <a:cubicBezTo>
                  <a:pt x="56" y="271"/>
                  <a:pt x="20" y="344"/>
                  <a:pt x="0" y="376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0226" name="Line 18"/>
          <p:cNvSpPr>
            <a:spLocks noChangeShapeType="1"/>
          </p:cNvSpPr>
          <p:nvPr/>
        </p:nvSpPr>
        <p:spPr bwMode="auto">
          <a:xfrm flipH="1">
            <a:off x="3543370" y="2216150"/>
            <a:ext cx="531813" cy="4635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0227" name="Line 19"/>
          <p:cNvSpPr>
            <a:spLocks noChangeShapeType="1"/>
          </p:cNvSpPr>
          <p:nvPr/>
        </p:nvSpPr>
        <p:spPr bwMode="auto">
          <a:xfrm>
            <a:off x="5405508" y="1735138"/>
            <a:ext cx="1855787" cy="98186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0228" name="Line 20"/>
          <p:cNvSpPr>
            <a:spLocks noChangeShapeType="1"/>
          </p:cNvSpPr>
          <p:nvPr/>
        </p:nvSpPr>
        <p:spPr bwMode="auto">
          <a:xfrm flipH="1">
            <a:off x="3143320" y="4773613"/>
            <a:ext cx="1065213" cy="6985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0229" name="Line 21"/>
          <p:cNvSpPr>
            <a:spLocks noChangeShapeType="1"/>
          </p:cNvSpPr>
          <p:nvPr/>
        </p:nvSpPr>
        <p:spPr bwMode="auto">
          <a:xfrm>
            <a:off x="6070670" y="3495675"/>
            <a:ext cx="133350" cy="4635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0230" name="Text Box 22"/>
          <p:cNvSpPr txBox="1">
            <a:spLocks noChangeArrowheads="1"/>
          </p:cNvSpPr>
          <p:nvPr/>
        </p:nvSpPr>
        <p:spPr bwMode="auto">
          <a:xfrm>
            <a:off x="4338708" y="1435046"/>
            <a:ext cx="338543" cy="400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2000" b="1" dirty="0">
                <a:solidFill>
                  <a:srgbClr val="C00000"/>
                </a:solidFill>
                <a:latin typeface="Lucida Console" panose="020B0609040504020204" pitchFamily="49" charset="0"/>
              </a:rPr>
              <a:t>/</a:t>
            </a:r>
          </a:p>
        </p:txBody>
      </p:sp>
      <p:sp>
        <p:nvSpPr>
          <p:cNvPr id="990231" name="Text Box 23"/>
          <p:cNvSpPr txBox="1">
            <a:spLocks noChangeArrowheads="1"/>
          </p:cNvSpPr>
          <p:nvPr/>
        </p:nvSpPr>
        <p:spPr bwMode="auto">
          <a:xfrm>
            <a:off x="5405508" y="2945990"/>
            <a:ext cx="678379" cy="338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1600" b="1" dirty="0">
                <a:solidFill>
                  <a:srgbClr val="C00000"/>
                </a:solidFill>
                <a:latin typeface="Lucida Console" panose="020B0609040504020204" pitchFamily="49" charset="0"/>
              </a:rPr>
              <a:t>dir2</a:t>
            </a:r>
          </a:p>
        </p:txBody>
      </p:sp>
      <p:sp>
        <p:nvSpPr>
          <p:cNvPr id="990232" name="Text Box 24"/>
          <p:cNvSpPr txBox="1">
            <a:spLocks noChangeArrowheads="1"/>
          </p:cNvSpPr>
          <p:nvPr/>
        </p:nvSpPr>
        <p:spPr bwMode="auto">
          <a:xfrm>
            <a:off x="4400620" y="4275977"/>
            <a:ext cx="6731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r"/>
            <a:r>
              <a:rPr lang="en-US" altLang="en-US" sz="1600" b="1" dirty="0">
                <a:solidFill>
                  <a:srgbClr val="C00000"/>
                </a:solidFill>
                <a:latin typeface="Lucida Console" panose="020B0609040504020204" pitchFamily="49" charset="0"/>
              </a:rPr>
              <a:t>dir3</a:t>
            </a:r>
          </a:p>
        </p:txBody>
      </p:sp>
      <p:sp>
        <p:nvSpPr>
          <p:cNvPr id="990233" name="Text Box 25"/>
          <p:cNvSpPr txBox="1">
            <a:spLocks noChangeArrowheads="1"/>
          </p:cNvSpPr>
          <p:nvPr/>
        </p:nvSpPr>
        <p:spPr bwMode="auto">
          <a:xfrm>
            <a:off x="2940753" y="6102214"/>
            <a:ext cx="7953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r>
              <a:rPr lang="en-US" altLang="en-US" sz="1600" b="1">
                <a:solidFill>
                  <a:srgbClr val="C00000"/>
                </a:solidFill>
                <a:latin typeface="Lucida Console" panose="020B0609040504020204" pitchFamily="49" charset="0"/>
              </a:rPr>
              <a:t>file3</a:t>
            </a:r>
          </a:p>
        </p:txBody>
      </p:sp>
      <p:grpSp>
        <p:nvGrpSpPr>
          <p:cNvPr id="990237" name="Group 29"/>
          <p:cNvGrpSpPr>
            <a:grpSpLocks/>
          </p:cNvGrpSpPr>
          <p:nvPr/>
        </p:nvGrpSpPr>
        <p:grpSpPr bwMode="auto">
          <a:xfrm>
            <a:off x="1459199" y="1735138"/>
            <a:ext cx="2014321" cy="4264025"/>
            <a:chOff x="889" y="1200"/>
            <a:chExt cx="1087" cy="2193"/>
          </a:xfrm>
        </p:grpSpPr>
        <p:sp>
          <p:nvSpPr>
            <p:cNvPr id="990221" name="Freeform 13"/>
            <p:cNvSpPr>
              <a:spLocks/>
            </p:cNvSpPr>
            <p:nvPr/>
          </p:nvSpPr>
          <p:spPr bwMode="auto">
            <a:xfrm>
              <a:off x="1401" y="1200"/>
              <a:ext cx="575" cy="2193"/>
            </a:xfrm>
            <a:custGeom>
              <a:avLst/>
              <a:gdLst>
                <a:gd name="T0" fmla="*/ 384 w 384"/>
                <a:gd name="T1" fmla="*/ 0 h 1760"/>
                <a:gd name="T2" fmla="*/ 99 w 384"/>
                <a:gd name="T3" fmla="*/ 253 h 1760"/>
                <a:gd name="T4" fmla="*/ 7 w 384"/>
                <a:gd name="T5" fmla="*/ 969 h 1760"/>
                <a:gd name="T6" fmla="*/ 56 w 384"/>
                <a:gd name="T7" fmla="*/ 1566 h 1760"/>
                <a:gd name="T8" fmla="*/ 212 w 384"/>
                <a:gd name="T9" fmla="*/ 1760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4" h="1760">
                  <a:moveTo>
                    <a:pt x="384" y="0"/>
                  </a:moveTo>
                  <a:cubicBezTo>
                    <a:pt x="336" y="42"/>
                    <a:pt x="162" y="92"/>
                    <a:pt x="99" y="253"/>
                  </a:cubicBezTo>
                  <a:cubicBezTo>
                    <a:pt x="36" y="414"/>
                    <a:pt x="14" y="750"/>
                    <a:pt x="7" y="969"/>
                  </a:cubicBezTo>
                  <a:cubicBezTo>
                    <a:pt x="0" y="1188"/>
                    <a:pt x="22" y="1434"/>
                    <a:pt x="56" y="1566"/>
                  </a:cubicBezTo>
                  <a:cubicBezTo>
                    <a:pt x="90" y="1698"/>
                    <a:pt x="180" y="1720"/>
                    <a:pt x="212" y="1760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dashDot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90234" name="Text Box 26"/>
            <p:cNvSpPr txBox="1">
              <a:spLocks noChangeArrowheads="1"/>
            </p:cNvSpPr>
            <p:nvPr/>
          </p:nvSpPr>
          <p:spPr bwMode="auto">
            <a:xfrm>
              <a:off x="889" y="2736"/>
              <a:ext cx="476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r"/>
              <a:r>
                <a:rPr lang="en-US" altLang="en-US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ucida Console" panose="020B0609040504020204" pitchFamily="49" charset="0"/>
                </a:rPr>
                <a:t>alias</a:t>
              </a:r>
            </a:p>
          </p:txBody>
        </p:sp>
      </p:grpSp>
      <p:sp>
        <p:nvSpPr>
          <p:cNvPr id="30" name="AutoShape 28"/>
          <p:cNvSpPr>
            <a:spLocks/>
          </p:cNvSpPr>
          <p:nvPr/>
        </p:nvSpPr>
        <p:spPr bwMode="auto">
          <a:xfrm>
            <a:off x="457200" y="5472113"/>
            <a:ext cx="1746297" cy="838200"/>
          </a:xfrm>
          <a:prstGeom prst="accentCallout2">
            <a:avLst>
              <a:gd name="adj1" fmla="val 13634"/>
              <a:gd name="adj2" fmla="val 103449"/>
              <a:gd name="adj3" fmla="val 127"/>
              <a:gd name="adj4" fmla="val 109160"/>
              <a:gd name="adj5" fmla="val -40628"/>
              <a:gd name="adj6" fmla="val 114664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/>
              <a:t>If this link can be added, then Tree </a:t>
            </a:r>
            <a:r>
              <a:rPr lang="en-US" altLang="en-US">
                <a:sym typeface="Wingdings" panose="05000000000000000000" pitchFamily="2" charset="2"/>
              </a:rPr>
              <a:t> DAG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512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Directory Structure: </a:t>
            </a:r>
            <a:r>
              <a:rPr lang="en-US" altLang="en-US" sz="3800" b="1" dirty="0">
                <a:solidFill>
                  <a:srgbClr val="C00000"/>
                </a:solidFill>
              </a:rPr>
              <a:t>DAG</a:t>
            </a:r>
            <a:endParaRPr lang="en-US" altLang="en-US" sz="3800" dirty="0"/>
          </a:p>
        </p:txBody>
      </p:sp>
      <p:sp>
        <p:nvSpPr>
          <p:cNvPr id="992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If a </a:t>
            </a:r>
            <a:r>
              <a:rPr lang="en-US" altLang="en-US" b="1" dirty="0"/>
              <a:t>file </a:t>
            </a:r>
            <a:r>
              <a:rPr lang="en-US" altLang="en-US" b="1" i="1" dirty="0">
                <a:solidFill>
                  <a:srgbClr val="0033CC"/>
                </a:solidFill>
              </a:rPr>
              <a:t>can be shared:</a:t>
            </a:r>
          </a:p>
          <a:p>
            <a:pPr lvl="1"/>
            <a:r>
              <a:rPr lang="en-US" altLang="en-US" dirty="0"/>
              <a:t>Only one copy of actual content</a:t>
            </a:r>
          </a:p>
          <a:p>
            <a:pPr lvl="1"/>
            <a:r>
              <a:rPr lang="en-US" altLang="en-US" dirty="0"/>
              <a:t>"Appears" in multiple directories</a:t>
            </a:r>
          </a:p>
          <a:p>
            <a:pPr lvl="2"/>
            <a:r>
              <a:rPr lang="en-US" altLang="en-US" dirty="0"/>
              <a:t>With different path names</a:t>
            </a:r>
          </a:p>
          <a:p>
            <a:r>
              <a:rPr lang="en-US" altLang="en-US" dirty="0"/>
              <a:t>Then tree structure </a:t>
            </a:r>
            <a:r>
              <a:rPr lang="en-US" altLang="en-US" dirty="0">
                <a:sym typeface="Wingdings" panose="05000000000000000000" pitchFamily="2" charset="2"/>
              </a:rPr>
              <a:t> DAG</a:t>
            </a:r>
          </a:p>
          <a:p>
            <a:endParaRPr lang="en-US" altLang="en-US" dirty="0">
              <a:sym typeface="Wingdings" panose="05000000000000000000" pitchFamily="2" charset="2"/>
            </a:endParaRPr>
          </a:p>
          <a:p>
            <a:r>
              <a:rPr lang="en-US" altLang="en-US" dirty="0">
                <a:sym typeface="Wingdings" panose="05000000000000000000" pitchFamily="2" charset="2"/>
              </a:rPr>
              <a:t>Two implementations in Unix:</a:t>
            </a:r>
          </a:p>
          <a:p>
            <a:pPr lvl="1"/>
            <a:r>
              <a:rPr lang="en-US" alt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Hard Link</a:t>
            </a:r>
          </a:p>
          <a:p>
            <a:pPr lvl="2"/>
            <a:r>
              <a:rPr lang="en-US" altLang="en-US" dirty="0">
                <a:sym typeface="Wingdings" panose="05000000000000000000" pitchFamily="2" charset="2"/>
              </a:rPr>
              <a:t>Limited to </a:t>
            </a:r>
            <a:r>
              <a:rPr lang="en-US" altLang="en-US" b="1" dirty="0">
                <a:sym typeface="Wingdings" panose="05000000000000000000" pitchFamily="2" charset="2"/>
              </a:rPr>
              <a:t>file only</a:t>
            </a:r>
            <a:endParaRPr lang="en-US" altLang="en-US" dirty="0">
              <a:sym typeface="Wingdings" panose="05000000000000000000" pitchFamily="2" charset="2"/>
            </a:endParaRPr>
          </a:p>
          <a:p>
            <a:pPr lvl="1"/>
            <a:r>
              <a:rPr lang="en-US" altLang="en-US" b="1" dirty="0">
                <a:solidFill>
                  <a:srgbClr val="006600"/>
                </a:solidFill>
                <a:sym typeface="Wingdings" panose="05000000000000000000" pitchFamily="2" charset="2"/>
              </a:rPr>
              <a:t>Symbolic Link</a:t>
            </a:r>
          </a:p>
          <a:p>
            <a:pPr lvl="2"/>
            <a:r>
              <a:rPr lang="en-US" altLang="en-US" dirty="0"/>
              <a:t>Can be file or directory</a:t>
            </a:r>
          </a:p>
          <a:p>
            <a:pPr lvl="2"/>
            <a:r>
              <a:rPr lang="en-US" altLang="en-US" dirty="0"/>
              <a:t>This has an "interesting" effect….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1565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2259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DAG: </a:t>
            </a:r>
            <a:r>
              <a:rPr lang="en-US" altLang="en-US" sz="3800" b="1" dirty="0">
                <a:solidFill>
                  <a:srgbClr val="C00000"/>
                </a:solidFill>
              </a:rPr>
              <a:t>Unix Hard Link</a:t>
            </a:r>
          </a:p>
        </p:txBody>
      </p:sp>
      <p:sp>
        <p:nvSpPr>
          <p:cNvPr id="994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/>
              <a:t>Consider: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Directory </a:t>
            </a:r>
            <a:r>
              <a:rPr lang="en-US" altLang="en-US" b="1" dirty="0">
                <a:solidFill>
                  <a:schemeClr val="tx2"/>
                </a:solidFill>
              </a:rPr>
              <a:t>A</a:t>
            </a:r>
            <a:r>
              <a:rPr lang="en-US" altLang="en-US" dirty="0"/>
              <a:t> is the owner of file </a:t>
            </a:r>
            <a:r>
              <a:rPr lang="en-US" altLang="en-US" b="1" dirty="0">
                <a:solidFill>
                  <a:srgbClr val="9900CC"/>
                </a:solidFill>
              </a:rPr>
              <a:t>F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Directory </a:t>
            </a:r>
            <a:r>
              <a:rPr lang="en-US" altLang="en-US" b="1" dirty="0">
                <a:solidFill>
                  <a:schemeClr val="tx2"/>
                </a:solidFill>
              </a:rPr>
              <a:t>B</a:t>
            </a:r>
            <a:r>
              <a:rPr lang="en-US" altLang="en-US" dirty="0"/>
              <a:t> wants to share </a:t>
            </a:r>
            <a:r>
              <a:rPr lang="en-US" altLang="en-US" b="1" dirty="0">
                <a:solidFill>
                  <a:srgbClr val="9900CC"/>
                </a:solidFill>
              </a:rPr>
              <a:t>F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Hard Link: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chemeClr val="tx2"/>
                </a:solidFill>
              </a:rPr>
              <a:t>A</a:t>
            </a:r>
            <a:r>
              <a:rPr lang="en-US" altLang="en-US" dirty="0"/>
              <a:t> and </a:t>
            </a:r>
            <a:r>
              <a:rPr lang="en-US" altLang="en-US" b="1" dirty="0">
                <a:solidFill>
                  <a:schemeClr val="tx2"/>
                </a:solidFill>
              </a:rPr>
              <a:t>B</a:t>
            </a:r>
            <a:r>
              <a:rPr lang="en-US" altLang="en-US" dirty="0"/>
              <a:t> has </a:t>
            </a:r>
            <a:r>
              <a:rPr lang="en-US" altLang="en-US" b="1" dirty="0"/>
              <a:t>separate pointers </a:t>
            </a:r>
            <a:r>
              <a:rPr lang="en-US" altLang="en-US" dirty="0"/>
              <a:t>point to the actual file F in disk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Pros: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Low overhead, only pointers are added in directory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Cons: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Deletion problems: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e.g. If B deletes F? If A deletes F?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Unix Command: " </a:t>
            </a:r>
            <a:r>
              <a:rPr lang="en-US" altLang="en-US" b="1" dirty="0">
                <a:latin typeface="Courier New" panose="02070309020205020404" pitchFamily="49" charset="0"/>
              </a:rPr>
              <a:t>ln </a:t>
            </a:r>
            <a:r>
              <a:rPr lang="en-US" altLang="en-US" dirty="0"/>
              <a:t>"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1442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4307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DAG: </a:t>
            </a:r>
            <a:r>
              <a:rPr lang="en-US" altLang="en-US" sz="3800" b="1" dirty="0">
                <a:solidFill>
                  <a:srgbClr val="C00000"/>
                </a:solidFill>
              </a:rPr>
              <a:t>Unix Symbolic Link</a:t>
            </a:r>
            <a:endParaRPr lang="en-US" altLang="en-US" sz="3800" dirty="0"/>
          </a:p>
        </p:txBody>
      </p:sp>
      <p:sp>
        <p:nvSpPr>
          <p:cNvPr id="993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Symbolic Link: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chemeClr val="tx2"/>
                </a:solidFill>
              </a:rPr>
              <a:t>B</a:t>
            </a:r>
            <a:r>
              <a:rPr lang="en-US" altLang="en-US" dirty="0"/>
              <a:t> creates a </a:t>
            </a:r>
            <a:r>
              <a:rPr lang="en-US" altLang="en-US" b="1" i="1" dirty="0"/>
              <a:t>special link file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0033CC"/>
                </a:solidFill>
              </a:rPr>
              <a:t>G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>
                <a:solidFill>
                  <a:srgbClr val="0033CC"/>
                </a:solidFill>
              </a:rPr>
              <a:t>G</a:t>
            </a:r>
            <a:r>
              <a:rPr lang="en-US" altLang="en-US" dirty="0"/>
              <a:t> contains the path name of </a:t>
            </a:r>
            <a:r>
              <a:rPr lang="en-US" altLang="en-US" b="1" dirty="0">
                <a:solidFill>
                  <a:srgbClr val="9900CC"/>
                </a:solidFill>
              </a:rPr>
              <a:t>F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When </a:t>
            </a:r>
            <a:r>
              <a:rPr lang="en-US" altLang="en-US" b="1" dirty="0">
                <a:solidFill>
                  <a:srgbClr val="0033CC"/>
                </a:solidFill>
              </a:rPr>
              <a:t>G</a:t>
            </a:r>
            <a:r>
              <a:rPr lang="en-US" altLang="en-US" dirty="0"/>
              <a:t> is accessed: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Find out where is </a:t>
            </a:r>
            <a:r>
              <a:rPr lang="en-US" altLang="en-US" b="1" dirty="0">
                <a:solidFill>
                  <a:srgbClr val="9900CC"/>
                </a:solidFill>
              </a:rPr>
              <a:t>F</a:t>
            </a:r>
            <a:r>
              <a:rPr lang="en-US" altLang="en-US" dirty="0"/>
              <a:t>, then access</a:t>
            </a:r>
            <a:r>
              <a:rPr lang="en-US" altLang="en-US" b="1" dirty="0">
                <a:solidFill>
                  <a:srgbClr val="9900CC"/>
                </a:solidFill>
              </a:rPr>
              <a:t> F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Pros: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Simple deletion: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If </a:t>
            </a:r>
            <a:r>
              <a:rPr lang="en-US" altLang="en-US" b="1" dirty="0">
                <a:solidFill>
                  <a:schemeClr val="tx2"/>
                </a:solidFill>
              </a:rPr>
              <a:t>B</a:t>
            </a:r>
            <a:r>
              <a:rPr lang="en-US" altLang="en-US" dirty="0"/>
              <a:t> deletes: </a:t>
            </a:r>
            <a:r>
              <a:rPr lang="en-US" altLang="en-US" b="1" dirty="0">
                <a:solidFill>
                  <a:srgbClr val="0033CC"/>
                </a:solidFill>
              </a:rPr>
              <a:t>G</a:t>
            </a:r>
            <a:r>
              <a:rPr lang="en-US" altLang="en-US" dirty="0"/>
              <a:t> deleted, not </a:t>
            </a:r>
            <a:r>
              <a:rPr lang="en-US" altLang="en-US" b="1" dirty="0">
                <a:solidFill>
                  <a:srgbClr val="9900CC"/>
                </a:solidFill>
              </a:rPr>
              <a:t>F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If </a:t>
            </a:r>
            <a:r>
              <a:rPr lang="en-US" altLang="en-US" b="1" dirty="0">
                <a:solidFill>
                  <a:schemeClr val="tx2"/>
                </a:solidFill>
              </a:rPr>
              <a:t>A</a:t>
            </a:r>
            <a:r>
              <a:rPr lang="en-US" altLang="en-US" dirty="0"/>
              <a:t> deletes: </a:t>
            </a:r>
            <a:r>
              <a:rPr lang="en-US" altLang="en-US" b="1" dirty="0">
                <a:solidFill>
                  <a:srgbClr val="9900CC"/>
                </a:solidFill>
              </a:rPr>
              <a:t>F</a:t>
            </a:r>
            <a:r>
              <a:rPr lang="en-US" altLang="en-US" b="1" dirty="0"/>
              <a:t> </a:t>
            </a:r>
            <a:r>
              <a:rPr lang="en-US" altLang="en-US" dirty="0"/>
              <a:t>is gone, </a:t>
            </a:r>
            <a:r>
              <a:rPr lang="en-US" altLang="en-US" b="1" dirty="0">
                <a:solidFill>
                  <a:srgbClr val="0033CC"/>
                </a:solidFill>
              </a:rPr>
              <a:t>G</a:t>
            </a:r>
            <a:r>
              <a:rPr lang="en-US" altLang="en-US" dirty="0"/>
              <a:t> remains (but not working)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FF0000"/>
                </a:solidFill>
              </a:rPr>
              <a:t>Cons: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Larger overhead: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Special link file take up actual disk space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Unix Command: "</a:t>
            </a:r>
            <a:r>
              <a:rPr lang="en-US" altLang="en-US" b="1" dirty="0">
                <a:latin typeface="Courier New" panose="02070309020205020404" pitchFamily="49" charset="0"/>
              </a:rPr>
              <a:t>ln –s</a:t>
            </a:r>
            <a:r>
              <a:rPr lang="en-US" altLang="en-US" dirty="0"/>
              <a:t>"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2603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28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Directory Structure: </a:t>
            </a:r>
            <a:r>
              <a:rPr lang="en-US" altLang="en-US" sz="3800" b="1" dirty="0"/>
              <a:t>General Graph</a:t>
            </a:r>
          </a:p>
        </p:txBody>
      </p:sp>
      <p:sp>
        <p:nvSpPr>
          <p:cNvPr id="995333" name="Cloud"/>
          <p:cNvSpPr>
            <a:spLocks noChangeAspect="1" noEditPoints="1" noChangeArrowheads="1"/>
          </p:cNvSpPr>
          <p:nvPr/>
        </p:nvSpPr>
        <p:spPr bwMode="auto">
          <a:xfrm>
            <a:off x="2795588" y="1143000"/>
            <a:ext cx="2032000" cy="1241425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0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1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300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7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7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0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0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50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2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10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5334" name="Document"/>
          <p:cNvSpPr>
            <a:spLocks noEditPoints="1" noChangeArrowheads="1"/>
          </p:cNvSpPr>
          <p:nvPr/>
        </p:nvSpPr>
        <p:spPr bwMode="auto">
          <a:xfrm rot="10800000">
            <a:off x="762000" y="2862262"/>
            <a:ext cx="725488" cy="1058863"/>
          </a:xfrm>
          <a:custGeom>
            <a:avLst/>
            <a:gdLst>
              <a:gd name="T0" fmla="*/ 10757 w 21600"/>
              <a:gd name="T1" fmla="*/ 21632 h 21600"/>
              <a:gd name="T2" fmla="*/ 85 w 21600"/>
              <a:gd name="T3" fmla="*/ 10849 h 21600"/>
              <a:gd name="T4" fmla="*/ 10757 w 21600"/>
              <a:gd name="T5" fmla="*/ 81 h 21600"/>
              <a:gd name="T6" fmla="*/ 21706 w 21600"/>
              <a:gd name="T7" fmla="*/ 10652 h 21600"/>
              <a:gd name="T8" fmla="*/ 10757 w 21600"/>
              <a:gd name="T9" fmla="*/ 21632 h 21600"/>
              <a:gd name="T10" fmla="*/ 0 w 21600"/>
              <a:gd name="T11" fmla="*/ 0 h 21600"/>
              <a:gd name="T12" fmla="*/ 21600 w 21600"/>
              <a:gd name="T13" fmla="*/ 0 h 21600"/>
              <a:gd name="T14" fmla="*/ 21600 w 21600"/>
              <a:gd name="T15" fmla="*/ 21600 h 21600"/>
              <a:gd name="T16" fmla="*/ 977 w 21600"/>
              <a:gd name="T17" fmla="*/ 818 h 21600"/>
              <a:gd name="T18" fmla="*/ 20622 w 21600"/>
              <a:gd name="T19" fmla="*/ 1642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0757" y="21632"/>
                </a:moveTo>
                <a:lnTo>
                  <a:pt x="5187" y="21632"/>
                </a:lnTo>
                <a:lnTo>
                  <a:pt x="85" y="17509"/>
                </a:lnTo>
                <a:lnTo>
                  <a:pt x="85" y="10849"/>
                </a:lnTo>
                <a:lnTo>
                  <a:pt x="85" y="81"/>
                </a:lnTo>
                <a:lnTo>
                  <a:pt x="10757" y="81"/>
                </a:lnTo>
                <a:lnTo>
                  <a:pt x="21706" y="81"/>
                </a:lnTo>
                <a:lnTo>
                  <a:pt x="21706" y="10652"/>
                </a:lnTo>
                <a:lnTo>
                  <a:pt x="21706" y="21632"/>
                </a:lnTo>
                <a:lnTo>
                  <a:pt x="10757" y="21632"/>
                </a:lnTo>
                <a:close/>
              </a:path>
              <a:path w="21600" h="21600">
                <a:moveTo>
                  <a:pt x="85" y="17509"/>
                </a:moveTo>
                <a:lnTo>
                  <a:pt x="5187" y="17509"/>
                </a:lnTo>
                <a:lnTo>
                  <a:pt x="5187" y="21632"/>
                </a:lnTo>
                <a:lnTo>
                  <a:pt x="85" y="17509"/>
                </a:lnTo>
                <a:close/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5335" name="Document"/>
          <p:cNvSpPr>
            <a:spLocks noEditPoints="1" noChangeArrowheads="1"/>
          </p:cNvSpPr>
          <p:nvPr/>
        </p:nvSpPr>
        <p:spPr bwMode="auto">
          <a:xfrm rot="10800000">
            <a:off x="2212975" y="2862262"/>
            <a:ext cx="725488" cy="1058863"/>
          </a:xfrm>
          <a:custGeom>
            <a:avLst/>
            <a:gdLst>
              <a:gd name="T0" fmla="*/ 10757 w 21600"/>
              <a:gd name="T1" fmla="*/ 21632 h 21600"/>
              <a:gd name="T2" fmla="*/ 85 w 21600"/>
              <a:gd name="T3" fmla="*/ 10849 h 21600"/>
              <a:gd name="T4" fmla="*/ 10757 w 21600"/>
              <a:gd name="T5" fmla="*/ 81 h 21600"/>
              <a:gd name="T6" fmla="*/ 21706 w 21600"/>
              <a:gd name="T7" fmla="*/ 10652 h 21600"/>
              <a:gd name="T8" fmla="*/ 10757 w 21600"/>
              <a:gd name="T9" fmla="*/ 21632 h 21600"/>
              <a:gd name="T10" fmla="*/ 0 w 21600"/>
              <a:gd name="T11" fmla="*/ 0 h 21600"/>
              <a:gd name="T12" fmla="*/ 21600 w 21600"/>
              <a:gd name="T13" fmla="*/ 0 h 21600"/>
              <a:gd name="T14" fmla="*/ 21600 w 21600"/>
              <a:gd name="T15" fmla="*/ 21600 h 21600"/>
              <a:gd name="T16" fmla="*/ 977 w 21600"/>
              <a:gd name="T17" fmla="*/ 818 h 21600"/>
              <a:gd name="T18" fmla="*/ 20622 w 21600"/>
              <a:gd name="T19" fmla="*/ 1642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0757" y="21632"/>
                </a:moveTo>
                <a:lnTo>
                  <a:pt x="5187" y="21632"/>
                </a:lnTo>
                <a:lnTo>
                  <a:pt x="85" y="17509"/>
                </a:lnTo>
                <a:lnTo>
                  <a:pt x="85" y="10849"/>
                </a:lnTo>
                <a:lnTo>
                  <a:pt x="85" y="81"/>
                </a:lnTo>
                <a:lnTo>
                  <a:pt x="10757" y="81"/>
                </a:lnTo>
                <a:lnTo>
                  <a:pt x="21706" y="81"/>
                </a:lnTo>
                <a:lnTo>
                  <a:pt x="21706" y="10652"/>
                </a:lnTo>
                <a:lnTo>
                  <a:pt x="21706" y="21632"/>
                </a:lnTo>
                <a:lnTo>
                  <a:pt x="10757" y="21632"/>
                </a:lnTo>
                <a:close/>
              </a:path>
              <a:path w="21600" h="21600">
                <a:moveTo>
                  <a:pt x="85" y="17509"/>
                </a:moveTo>
                <a:lnTo>
                  <a:pt x="5187" y="17509"/>
                </a:lnTo>
                <a:lnTo>
                  <a:pt x="5187" y="21632"/>
                </a:lnTo>
                <a:lnTo>
                  <a:pt x="85" y="17509"/>
                </a:lnTo>
                <a:close/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5336" name="Document"/>
          <p:cNvSpPr>
            <a:spLocks noEditPoints="1" noChangeArrowheads="1"/>
          </p:cNvSpPr>
          <p:nvPr/>
        </p:nvSpPr>
        <p:spPr bwMode="auto">
          <a:xfrm rot="10800000">
            <a:off x="5410200" y="4318000"/>
            <a:ext cx="725488" cy="1060450"/>
          </a:xfrm>
          <a:custGeom>
            <a:avLst/>
            <a:gdLst>
              <a:gd name="T0" fmla="*/ 10757 w 21600"/>
              <a:gd name="T1" fmla="*/ 21632 h 21600"/>
              <a:gd name="T2" fmla="*/ 85 w 21600"/>
              <a:gd name="T3" fmla="*/ 10849 h 21600"/>
              <a:gd name="T4" fmla="*/ 10757 w 21600"/>
              <a:gd name="T5" fmla="*/ 81 h 21600"/>
              <a:gd name="T6" fmla="*/ 21706 w 21600"/>
              <a:gd name="T7" fmla="*/ 10652 h 21600"/>
              <a:gd name="T8" fmla="*/ 10757 w 21600"/>
              <a:gd name="T9" fmla="*/ 21632 h 21600"/>
              <a:gd name="T10" fmla="*/ 0 w 21600"/>
              <a:gd name="T11" fmla="*/ 0 h 21600"/>
              <a:gd name="T12" fmla="*/ 21600 w 21600"/>
              <a:gd name="T13" fmla="*/ 0 h 21600"/>
              <a:gd name="T14" fmla="*/ 21600 w 21600"/>
              <a:gd name="T15" fmla="*/ 21600 h 21600"/>
              <a:gd name="T16" fmla="*/ 977 w 21600"/>
              <a:gd name="T17" fmla="*/ 818 h 21600"/>
              <a:gd name="T18" fmla="*/ 20622 w 21600"/>
              <a:gd name="T19" fmla="*/ 1642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0757" y="21632"/>
                </a:moveTo>
                <a:lnTo>
                  <a:pt x="5187" y="21632"/>
                </a:lnTo>
                <a:lnTo>
                  <a:pt x="85" y="17509"/>
                </a:lnTo>
                <a:lnTo>
                  <a:pt x="85" y="10849"/>
                </a:lnTo>
                <a:lnTo>
                  <a:pt x="85" y="81"/>
                </a:lnTo>
                <a:lnTo>
                  <a:pt x="10757" y="81"/>
                </a:lnTo>
                <a:lnTo>
                  <a:pt x="21706" y="81"/>
                </a:lnTo>
                <a:lnTo>
                  <a:pt x="21706" y="10652"/>
                </a:lnTo>
                <a:lnTo>
                  <a:pt x="21706" y="21632"/>
                </a:lnTo>
                <a:lnTo>
                  <a:pt x="10757" y="21632"/>
                </a:lnTo>
                <a:close/>
              </a:path>
              <a:path w="21600" h="21600">
                <a:moveTo>
                  <a:pt x="85" y="17509"/>
                </a:moveTo>
                <a:lnTo>
                  <a:pt x="5187" y="17509"/>
                </a:lnTo>
                <a:lnTo>
                  <a:pt x="5187" y="21632"/>
                </a:lnTo>
                <a:lnTo>
                  <a:pt x="85" y="17509"/>
                </a:lnTo>
                <a:close/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5338" name="Cloud"/>
          <p:cNvSpPr>
            <a:spLocks noChangeAspect="1" noEditPoints="1" noChangeArrowheads="1"/>
          </p:cNvSpPr>
          <p:nvPr/>
        </p:nvSpPr>
        <p:spPr bwMode="auto">
          <a:xfrm>
            <a:off x="4392613" y="2862262"/>
            <a:ext cx="1597025" cy="974725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0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1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300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7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7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0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0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50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2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10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5339" name="Cloud"/>
          <p:cNvSpPr>
            <a:spLocks noChangeAspect="1" noEditPoints="1" noChangeArrowheads="1"/>
          </p:cNvSpPr>
          <p:nvPr/>
        </p:nvSpPr>
        <p:spPr bwMode="auto">
          <a:xfrm>
            <a:off x="6861175" y="2862262"/>
            <a:ext cx="1597025" cy="974725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0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1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300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7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7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0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0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50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2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10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5340" name="Cloud"/>
          <p:cNvSpPr>
            <a:spLocks noChangeAspect="1" noEditPoints="1" noChangeArrowheads="1"/>
          </p:cNvSpPr>
          <p:nvPr/>
        </p:nvSpPr>
        <p:spPr bwMode="auto">
          <a:xfrm>
            <a:off x="3376613" y="4449762"/>
            <a:ext cx="1450975" cy="885825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0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1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300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7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7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0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0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50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2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10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5342" name="Freeform 14"/>
          <p:cNvSpPr>
            <a:spLocks/>
          </p:cNvSpPr>
          <p:nvPr/>
        </p:nvSpPr>
        <p:spPr bwMode="auto">
          <a:xfrm>
            <a:off x="4114800" y="5378450"/>
            <a:ext cx="1728788" cy="541337"/>
          </a:xfrm>
          <a:custGeom>
            <a:avLst/>
            <a:gdLst>
              <a:gd name="T0" fmla="*/ 0 w 480"/>
              <a:gd name="T1" fmla="*/ 0 h 197"/>
              <a:gd name="T2" fmla="*/ 41 w 480"/>
              <a:gd name="T3" fmla="*/ 117 h 197"/>
              <a:gd name="T4" fmla="*/ 142 w 480"/>
              <a:gd name="T5" fmla="*/ 185 h 197"/>
              <a:gd name="T6" fmla="*/ 268 w 480"/>
              <a:gd name="T7" fmla="*/ 190 h 197"/>
              <a:gd name="T8" fmla="*/ 375 w 480"/>
              <a:gd name="T9" fmla="*/ 151 h 197"/>
              <a:gd name="T10" fmla="*/ 432 w 480"/>
              <a:gd name="T11" fmla="*/ 96 h 197"/>
              <a:gd name="T12" fmla="*/ 480 w 480"/>
              <a:gd name="T13" fmla="*/ 0 h 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80" h="197">
                <a:moveTo>
                  <a:pt x="0" y="0"/>
                </a:moveTo>
                <a:cubicBezTo>
                  <a:pt x="7" y="19"/>
                  <a:pt x="17" y="86"/>
                  <a:pt x="41" y="117"/>
                </a:cubicBezTo>
                <a:cubicBezTo>
                  <a:pt x="65" y="148"/>
                  <a:pt x="104" y="173"/>
                  <a:pt x="142" y="185"/>
                </a:cubicBezTo>
                <a:cubicBezTo>
                  <a:pt x="180" y="197"/>
                  <a:pt x="229" y="196"/>
                  <a:pt x="268" y="190"/>
                </a:cubicBezTo>
                <a:cubicBezTo>
                  <a:pt x="307" y="184"/>
                  <a:pt x="348" y="167"/>
                  <a:pt x="375" y="151"/>
                </a:cubicBezTo>
                <a:cubicBezTo>
                  <a:pt x="402" y="135"/>
                  <a:pt x="415" y="121"/>
                  <a:pt x="432" y="96"/>
                </a:cubicBezTo>
                <a:cubicBezTo>
                  <a:pt x="449" y="71"/>
                  <a:pt x="464" y="36"/>
                  <a:pt x="480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5343" name="Line 15"/>
          <p:cNvSpPr>
            <a:spLocks noChangeShapeType="1"/>
          </p:cNvSpPr>
          <p:nvPr/>
        </p:nvSpPr>
        <p:spPr bwMode="auto">
          <a:xfrm flipH="1">
            <a:off x="4102100" y="3656012"/>
            <a:ext cx="436563" cy="79375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5344" name="Line 16"/>
          <p:cNvSpPr>
            <a:spLocks noChangeShapeType="1"/>
          </p:cNvSpPr>
          <p:nvPr/>
        </p:nvSpPr>
        <p:spPr bwMode="auto">
          <a:xfrm>
            <a:off x="4538663" y="2200275"/>
            <a:ext cx="579437" cy="661987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5345" name="Freeform 17"/>
          <p:cNvSpPr>
            <a:spLocks/>
          </p:cNvSpPr>
          <p:nvPr/>
        </p:nvSpPr>
        <p:spPr bwMode="auto">
          <a:xfrm>
            <a:off x="1052513" y="1560512"/>
            <a:ext cx="1751012" cy="1301750"/>
          </a:xfrm>
          <a:custGeom>
            <a:avLst/>
            <a:gdLst>
              <a:gd name="T0" fmla="*/ 531 w 531"/>
              <a:gd name="T1" fmla="*/ 0 h 376"/>
              <a:gd name="T2" fmla="*/ 439 w 531"/>
              <a:gd name="T3" fmla="*/ 15 h 376"/>
              <a:gd name="T4" fmla="*/ 241 w 531"/>
              <a:gd name="T5" fmla="*/ 88 h 376"/>
              <a:gd name="T6" fmla="*/ 96 w 531"/>
              <a:gd name="T7" fmla="*/ 223 h 376"/>
              <a:gd name="T8" fmla="*/ 0 w 531"/>
              <a:gd name="T9" fmla="*/ 376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31" h="376">
                <a:moveTo>
                  <a:pt x="531" y="0"/>
                </a:moveTo>
                <a:cubicBezTo>
                  <a:pt x="516" y="2"/>
                  <a:pt x="487" y="0"/>
                  <a:pt x="439" y="15"/>
                </a:cubicBezTo>
                <a:cubicBezTo>
                  <a:pt x="391" y="30"/>
                  <a:pt x="298" y="53"/>
                  <a:pt x="241" y="88"/>
                </a:cubicBezTo>
                <a:cubicBezTo>
                  <a:pt x="184" y="123"/>
                  <a:pt x="136" y="175"/>
                  <a:pt x="96" y="223"/>
                </a:cubicBezTo>
                <a:cubicBezTo>
                  <a:pt x="56" y="271"/>
                  <a:pt x="20" y="344"/>
                  <a:pt x="0" y="376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5346" name="Line 18"/>
          <p:cNvSpPr>
            <a:spLocks noChangeShapeType="1"/>
          </p:cNvSpPr>
          <p:nvPr/>
        </p:nvSpPr>
        <p:spPr bwMode="auto">
          <a:xfrm flipH="1">
            <a:off x="2795588" y="2333625"/>
            <a:ext cx="581025" cy="5286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5347" name="Line 19"/>
          <p:cNvSpPr>
            <a:spLocks noChangeShapeType="1"/>
          </p:cNvSpPr>
          <p:nvPr/>
        </p:nvSpPr>
        <p:spPr bwMode="auto">
          <a:xfrm>
            <a:off x="4827588" y="1936750"/>
            <a:ext cx="2613025" cy="9255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5349" name="Line 21"/>
          <p:cNvSpPr>
            <a:spLocks noChangeShapeType="1"/>
          </p:cNvSpPr>
          <p:nvPr/>
        </p:nvSpPr>
        <p:spPr bwMode="auto">
          <a:xfrm>
            <a:off x="5553075" y="3789362"/>
            <a:ext cx="146050" cy="5286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5350" name="Text Box 22"/>
          <p:cNvSpPr txBox="1">
            <a:spLocks noChangeArrowheads="1"/>
          </p:cNvSpPr>
          <p:nvPr/>
        </p:nvSpPr>
        <p:spPr bwMode="auto">
          <a:xfrm>
            <a:off x="3646285" y="1536647"/>
            <a:ext cx="338543" cy="400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2000" b="1" dirty="0">
                <a:solidFill>
                  <a:srgbClr val="C00000"/>
                </a:solidFill>
                <a:latin typeface="Lucida Console" panose="020B0609040504020204" pitchFamily="49" charset="0"/>
              </a:rPr>
              <a:t>/</a:t>
            </a:r>
          </a:p>
        </p:txBody>
      </p:sp>
      <p:sp>
        <p:nvSpPr>
          <p:cNvPr id="995351" name="Text Box 23"/>
          <p:cNvSpPr txBox="1">
            <a:spLocks noChangeArrowheads="1"/>
          </p:cNvSpPr>
          <p:nvPr/>
        </p:nvSpPr>
        <p:spPr bwMode="auto">
          <a:xfrm>
            <a:off x="4824949" y="3158331"/>
            <a:ext cx="678379" cy="338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1600" b="1" dirty="0">
                <a:solidFill>
                  <a:srgbClr val="C00000"/>
                </a:solidFill>
                <a:latin typeface="Lucida Console" panose="020B0609040504020204" pitchFamily="49" charset="0"/>
              </a:rPr>
              <a:t>dir2</a:t>
            </a:r>
          </a:p>
        </p:txBody>
      </p:sp>
      <p:sp>
        <p:nvSpPr>
          <p:cNvPr id="995352" name="Text Box 24"/>
          <p:cNvSpPr txBox="1">
            <a:spLocks noChangeArrowheads="1"/>
          </p:cNvSpPr>
          <p:nvPr/>
        </p:nvSpPr>
        <p:spPr bwMode="auto">
          <a:xfrm>
            <a:off x="3765550" y="4702174"/>
            <a:ext cx="6731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r"/>
            <a:r>
              <a:rPr lang="en-US" altLang="en-US" sz="1600" b="1">
                <a:solidFill>
                  <a:srgbClr val="C00000"/>
                </a:solidFill>
                <a:latin typeface="Lucida Console" panose="020B0609040504020204" pitchFamily="49" charset="0"/>
              </a:rPr>
              <a:t>dir3</a:t>
            </a:r>
          </a:p>
        </p:txBody>
      </p:sp>
      <p:grpSp>
        <p:nvGrpSpPr>
          <p:cNvPr id="995359" name="Group 31"/>
          <p:cNvGrpSpPr>
            <a:grpSpLocks/>
          </p:cNvGrpSpPr>
          <p:nvPr/>
        </p:nvGrpSpPr>
        <p:grpSpPr bwMode="auto">
          <a:xfrm>
            <a:off x="2097087" y="3325813"/>
            <a:ext cx="2159000" cy="1712913"/>
            <a:chOff x="1273" y="2110"/>
            <a:chExt cx="1360" cy="1079"/>
          </a:xfrm>
        </p:grpSpPr>
        <p:sp>
          <p:nvSpPr>
            <p:cNvPr id="995353" name="Text Box 25"/>
            <p:cNvSpPr txBox="1">
              <a:spLocks noChangeArrowheads="1"/>
            </p:cNvSpPr>
            <p:nvPr/>
          </p:nvSpPr>
          <p:spPr bwMode="auto">
            <a:xfrm>
              <a:off x="1273" y="2831"/>
              <a:ext cx="60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r>
                <a:rPr lang="en-US" altLang="en-US" sz="20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ucida Console" panose="020B0609040504020204" pitchFamily="49" charset="0"/>
                </a:rPr>
                <a:t>cycle</a:t>
              </a:r>
            </a:p>
          </p:txBody>
        </p:sp>
        <p:sp>
          <p:nvSpPr>
            <p:cNvPr id="995356" name="Freeform 28"/>
            <p:cNvSpPr>
              <a:spLocks/>
            </p:cNvSpPr>
            <p:nvPr/>
          </p:nvSpPr>
          <p:spPr bwMode="auto">
            <a:xfrm>
              <a:off x="1573" y="2110"/>
              <a:ext cx="1060" cy="1079"/>
            </a:xfrm>
            <a:custGeom>
              <a:avLst/>
              <a:gdLst>
                <a:gd name="T0" fmla="*/ 448 w 832"/>
                <a:gd name="T1" fmla="*/ 888 h 888"/>
                <a:gd name="T2" fmla="*/ 16 w 832"/>
                <a:gd name="T3" fmla="*/ 744 h 888"/>
                <a:gd name="T4" fmla="*/ 352 w 832"/>
                <a:gd name="T5" fmla="*/ 120 h 888"/>
                <a:gd name="T6" fmla="*/ 832 w 832"/>
                <a:gd name="T7" fmla="*/ 24 h 8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32" h="888">
                  <a:moveTo>
                    <a:pt x="448" y="888"/>
                  </a:moveTo>
                  <a:cubicBezTo>
                    <a:pt x="240" y="880"/>
                    <a:pt x="32" y="872"/>
                    <a:pt x="16" y="744"/>
                  </a:cubicBezTo>
                  <a:cubicBezTo>
                    <a:pt x="0" y="616"/>
                    <a:pt x="216" y="240"/>
                    <a:pt x="352" y="120"/>
                  </a:cubicBezTo>
                  <a:cubicBezTo>
                    <a:pt x="488" y="0"/>
                    <a:pt x="752" y="40"/>
                    <a:pt x="832" y="24"/>
                  </a:cubicBezTo>
                </a:path>
              </a:pathLst>
            </a:custGeom>
            <a:noFill/>
            <a:ln w="19050" cap="flat">
              <a:solidFill>
                <a:srgbClr val="FF0000"/>
              </a:solidFill>
              <a:prstDash val="dash"/>
              <a:round/>
              <a:headEnd/>
              <a:tailEnd type="arrow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AutoShape 29"/>
          <p:cNvSpPr>
            <a:spLocks/>
          </p:cNvSpPr>
          <p:nvPr/>
        </p:nvSpPr>
        <p:spPr bwMode="auto">
          <a:xfrm>
            <a:off x="148001" y="5580856"/>
            <a:ext cx="2209800" cy="838200"/>
          </a:xfrm>
          <a:prstGeom prst="accentCallout2">
            <a:avLst>
              <a:gd name="adj1" fmla="val 13634"/>
              <a:gd name="adj2" fmla="val 103449"/>
              <a:gd name="adj3" fmla="val 13634"/>
              <a:gd name="adj4" fmla="val 115718"/>
              <a:gd name="adj5" fmla="val -57759"/>
              <a:gd name="adj6" fmla="val 134764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 dirty="0"/>
              <a:t>If this link can be added, then Tree </a:t>
            </a:r>
            <a:r>
              <a:rPr lang="en-US" altLang="en-US" dirty="0">
                <a:sym typeface="Wingdings" panose="05000000000000000000" pitchFamily="2" charset="2"/>
              </a:rPr>
              <a:t> General Graph</a:t>
            </a: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8367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534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Directory Structure: General Graph</a:t>
            </a:r>
          </a:p>
        </p:txBody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General Graph Directory Structure is </a:t>
            </a:r>
            <a:r>
              <a:rPr lang="en-US" altLang="en-US" b="1" i="1" dirty="0">
                <a:solidFill>
                  <a:srgbClr val="0033CC"/>
                </a:solidFill>
              </a:rPr>
              <a:t>not desirable:</a:t>
            </a:r>
          </a:p>
          <a:p>
            <a:pPr lvl="1"/>
            <a:r>
              <a:rPr lang="en-US" altLang="en-US" b="1" dirty="0">
                <a:solidFill>
                  <a:schemeClr val="tx2"/>
                </a:solidFill>
              </a:rPr>
              <a:t>Hard to traverse</a:t>
            </a:r>
          </a:p>
          <a:p>
            <a:pPr lvl="2"/>
            <a:r>
              <a:rPr lang="en-US" altLang="en-US" dirty="0"/>
              <a:t>Need to prevent infinite looping</a:t>
            </a:r>
          </a:p>
          <a:p>
            <a:pPr marL="671512" lvl="2" indent="0">
              <a:buNone/>
            </a:pPr>
            <a:endParaRPr lang="en-US" altLang="en-US" dirty="0"/>
          </a:p>
          <a:p>
            <a:pPr lvl="1"/>
            <a:r>
              <a:rPr lang="en-US" altLang="en-US" b="1" dirty="0">
                <a:solidFill>
                  <a:schemeClr val="tx2"/>
                </a:solidFill>
              </a:rPr>
              <a:t>Hard to determine when to remove a file/directory</a:t>
            </a:r>
          </a:p>
          <a:p>
            <a:pPr lvl="2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b="1" dirty="0"/>
              <a:t>In Unix:</a:t>
            </a:r>
          </a:p>
          <a:p>
            <a:pPr lvl="1"/>
            <a:r>
              <a:rPr lang="en-US" altLang="en-US" dirty="0"/>
              <a:t>Symbolic link is allowed to link to directory</a:t>
            </a:r>
          </a:p>
          <a:p>
            <a:pPr lvl="2"/>
            <a:r>
              <a:rPr lang="en-US" altLang="en-US" dirty="0"/>
              <a:t>General Graph </a:t>
            </a:r>
            <a:r>
              <a:rPr lang="en-US" altLang="en-US" b="1" dirty="0"/>
              <a:t>can be created</a:t>
            </a:r>
            <a:endParaRPr lang="en-US" altLang="en-US" dirty="0"/>
          </a:p>
          <a:p>
            <a:pPr lvl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7592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7379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Summary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Covered basics of file system from a user point of view</a:t>
            </a:r>
          </a:p>
          <a:p>
            <a:endParaRPr lang="en-US" altLang="en-US" dirty="0"/>
          </a:p>
          <a:p>
            <a:r>
              <a:rPr lang="en-US" altLang="en-US" dirty="0"/>
              <a:t>Understand the basic requirements of a FS</a:t>
            </a:r>
          </a:p>
          <a:p>
            <a:endParaRPr lang="en-US" altLang="en-US" dirty="0"/>
          </a:p>
          <a:p>
            <a:r>
              <a:rPr lang="en-US" altLang="en-US" dirty="0"/>
              <a:t>Understand the components of a FS:</a:t>
            </a:r>
          </a:p>
          <a:p>
            <a:pPr lvl="1"/>
            <a:r>
              <a:rPr lang="en-US" altLang="en-US" dirty="0"/>
              <a:t>File and Directory</a:t>
            </a:r>
          </a:p>
          <a:p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59828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Unix File Operations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your reference only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40550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File Operations Example: Unix System Calls</a:t>
            </a:r>
          </a:p>
        </p:txBody>
      </p:sp>
      <p:sp>
        <p:nvSpPr>
          <p:cNvPr id="970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486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Header Files: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 dirty="0">
                <a:latin typeface="Courier New" panose="02070309020205020404" pitchFamily="49" charset="0"/>
              </a:rPr>
              <a:t>#include &lt;sys/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types.h</a:t>
            </a:r>
            <a:r>
              <a:rPr lang="en-US" altLang="en-US" sz="2400" b="1" dirty="0">
                <a:latin typeface="Courier New" panose="02070309020205020404" pitchFamily="49" charset="0"/>
              </a:rPr>
              <a:t>&gt;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 dirty="0">
                <a:latin typeface="Courier New" panose="02070309020205020404" pitchFamily="49" charset="0"/>
              </a:rPr>
              <a:t>#include &lt;sys/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stat.h</a:t>
            </a:r>
            <a:r>
              <a:rPr lang="en-US" altLang="en-US" sz="2400" b="1" dirty="0">
                <a:latin typeface="Courier New" panose="02070309020205020404" pitchFamily="49" charset="0"/>
              </a:rPr>
              <a:t>&gt;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 dirty="0">
                <a:latin typeface="Courier New" panose="02070309020205020404" pitchFamily="49" charset="0"/>
              </a:rPr>
              <a:t>#include &lt;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fcntl.h</a:t>
            </a:r>
            <a:r>
              <a:rPr lang="en-US" altLang="en-US" sz="2400" b="1" dirty="0">
                <a:latin typeface="Courier New" panose="02070309020205020404" pitchFamily="49" charset="0"/>
              </a:rPr>
              <a:t>&gt;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dirty="0"/>
              <a:t>File related Unix System Calls</a:t>
            </a:r>
          </a:p>
          <a:p>
            <a:pPr lvl="1">
              <a:lnSpc>
                <a:spcPct val="90000"/>
              </a:lnSpc>
            </a:pPr>
            <a:r>
              <a:rPr lang="en-US" altLang="en-US" sz="2200" b="1" i="1" dirty="0">
                <a:solidFill>
                  <a:srgbClr val="C00000"/>
                </a:solidFill>
                <a:latin typeface="Courier New" panose="02070309020205020404" pitchFamily="49" charset="0"/>
              </a:rPr>
              <a:t>open</a:t>
            </a:r>
            <a:r>
              <a:rPr lang="en-US" altLang="en-US" sz="2200" b="1" dirty="0">
                <a:latin typeface="Courier New" panose="02070309020205020404" pitchFamily="49" charset="0"/>
              </a:rPr>
              <a:t>(), </a:t>
            </a:r>
            <a:r>
              <a:rPr lang="en-US" altLang="en-US" sz="2200" b="1" i="1" dirty="0">
                <a:solidFill>
                  <a:srgbClr val="C00000"/>
                </a:solidFill>
                <a:latin typeface="Courier New" panose="02070309020205020404" pitchFamily="49" charset="0"/>
              </a:rPr>
              <a:t>read</a:t>
            </a:r>
            <a:r>
              <a:rPr lang="en-US" altLang="en-US" sz="2200" b="1" dirty="0">
                <a:latin typeface="Courier New" panose="02070309020205020404" pitchFamily="49" charset="0"/>
              </a:rPr>
              <a:t>(), </a:t>
            </a:r>
            <a:r>
              <a:rPr lang="en-US" altLang="en-US" sz="2200" b="1" i="1" dirty="0">
                <a:solidFill>
                  <a:srgbClr val="C00000"/>
                </a:solidFill>
                <a:latin typeface="Courier New" panose="02070309020205020404" pitchFamily="49" charset="0"/>
              </a:rPr>
              <a:t>write</a:t>
            </a:r>
            <a:r>
              <a:rPr lang="en-US" altLang="en-US" sz="2200" b="1" dirty="0">
                <a:latin typeface="Courier New" panose="02070309020205020404" pitchFamily="49" charset="0"/>
              </a:rPr>
              <a:t>(), </a:t>
            </a:r>
            <a:r>
              <a:rPr lang="en-US" altLang="en-US" sz="2200" b="1" i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lseek</a:t>
            </a:r>
            <a:r>
              <a:rPr lang="en-US" altLang="en-US" sz="2200" b="1" dirty="0">
                <a:latin typeface="Courier New" panose="02070309020205020404" pitchFamily="49" charset="0"/>
              </a:rPr>
              <a:t>(), </a:t>
            </a:r>
            <a:r>
              <a:rPr lang="en-US" altLang="en-US" sz="2200" b="1" i="1" dirty="0">
                <a:solidFill>
                  <a:srgbClr val="C00000"/>
                </a:solidFill>
                <a:latin typeface="Courier New" panose="02070309020205020404" pitchFamily="49" charset="0"/>
              </a:rPr>
              <a:t>close</a:t>
            </a:r>
            <a:r>
              <a:rPr lang="en-US" altLang="en-US" sz="2200" b="1" dirty="0">
                <a:latin typeface="Courier New" panose="02070309020205020404" pitchFamily="49" charset="0"/>
              </a:rPr>
              <a:t>()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General Information: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Opened file has an identifier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>
                <a:solidFill>
                  <a:schemeClr val="tx2"/>
                </a:solidFill>
              </a:rPr>
              <a:t>File Descriptor: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008000"/>
                </a:solidFill>
              </a:rPr>
              <a:t>Integer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Used for other operations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File is access on a byte-by-byte basis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No interpretation of data</a:t>
            </a:r>
            <a:endParaRPr lang="en-US" altLang="en-US" sz="1800" b="1" dirty="0">
              <a:latin typeface="Courier New" panose="020703090202050204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841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0755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Opening Files:  </a:t>
            </a:r>
            <a:r>
              <a:rPr lang="en-US" altLang="en-US" sz="3800" b="1">
                <a:latin typeface="Courier New" panose="02070309020205020404" pitchFamily="49" charset="0"/>
              </a:rPr>
              <a:t>open( )</a:t>
            </a:r>
          </a:p>
        </p:txBody>
      </p:sp>
      <p:sp>
        <p:nvSpPr>
          <p:cNvPr id="986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 dirty="0"/>
              <a:t>Function Call: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  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2800" b="1" dirty="0">
                <a:latin typeface="Courier New" panose="02070309020205020404" pitchFamily="49" charset="0"/>
              </a:rPr>
              <a:t> </a:t>
            </a:r>
            <a:r>
              <a:rPr lang="en-US" altLang="en-US" sz="2800" b="1" i="1" dirty="0">
                <a:solidFill>
                  <a:srgbClr val="C00000"/>
                </a:solidFill>
                <a:latin typeface="Courier New" panose="02070309020205020404" pitchFamily="49" charset="0"/>
              </a:rPr>
              <a:t>open</a:t>
            </a:r>
            <a:r>
              <a:rPr lang="en-US" altLang="en-US" sz="2800" b="1" dirty="0">
                <a:latin typeface="Courier New" panose="02070309020205020404" pitchFamily="49" charset="0"/>
              </a:rPr>
              <a:t>( char *path, 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2800" b="1" dirty="0">
                <a:latin typeface="Courier New" panose="02070309020205020404" pitchFamily="49" charset="0"/>
              </a:rPr>
              <a:t> flags )</a:t>
            </a:r>
          </a:p>
          <a:p>
            <a:r>
              <a:rPr lang="en-US" altLang="en-US" sz="2600" dirty="0"/>
              <a:t>Return:</a:t>
            </a:r>
          </a:p>
          <a:p>
            <a:pPr lvl="1"/>
            <a:r>
              <a:rPr lang="en-US" altLang="en-US" sz="2200" b="1" dirty="0">
                <a:latin typeface="Courier New" panose="02070309020205020404" pitchFamily="49" charset="0"/>
              </a:rPr>
              <a:t>-1:</a:t>
            </a:r>
            <a:r>
              <a:rPr lang="en-US" altLang="en-US" sz="2200" dirty="0"/>
              <a:t> Failed to open file</a:t>
            </a:r>
          </a:p>
          <a:p>
            <a:pPr lvl="1"/>
            <a:r>
              <a:rPr lang="en-US" altLang="en-US" sz="2200" b="1" dirty="0">
                <a:latin typeface="Courier New" panose="02070309020205020404" pitchFamily="49" charset="0"/>
              </a:rPr>
              <a:t>&gt;=0:</a:t>
            </a:r>
            <a:r>
              <a:rPr lang="en-US" altLang="en-US" sz="2200" dirty="0"/>
              <a:t> </a:t>
            </a:r>
            <a:r>
              <a:rPr lang="en-US" altLang="en-US" sz="2200" b="1" dirty="0"/>
              <a:t>file descriptor</a:t>
            </a:r>
            <a:r>
              <a:rPr lang="en-US" altLang="en-US" sz="2200" dirty="0"/>
              <a:t>, a unique index for opened file</a:t>
            </a:r>
          </a:p>
          <a:p>
            <a:r>
              <a:rPr lang="en-US" altLang="en-US" sz="2600" dirty="0"/>
              <a:t>Parameters:</a:t>
            </a:r>
          </a:p>
          <a:p>
            <a:pPr lvl="1"/>
            <a:r>
              <a:rPr lang="en-US" altLang="en-US" sz="2200" b="1" dirty="0">
                <a:latin typeface="Courier New" panose="02070309020205020404" pitchFamily="49" charset="0"/>
              </a:rPr>
              <a:t>path</a:t>
            </a:r>
            <a:r>
              <a:rPr lang="en-US" altLang="en-US" sz="2200" dirty="0"/>
              <a:t>: File path</a:t>
            </a:r>
          </a:p>
          <a:p>
            <a:pPr lvl="1"/>
            <a:r>
              <a:rPr lang="en-US" altLang="en-US" sz="2200" b="1" dirty="0">
                <a:latin typeface="Courier New" panose="02070309020205020404" pitchFamily="49" charset="0"/>
              </a:rPr>
              <a:t>flags</a:t>
            </a:r>
            <a:r>
              <a:rPr lang="en-US" altLang="en-US" sz="2200" dirty="0"/>
              <a:t>: Many options can be set using bit-wise-OR</a:t>
            </a:r>
          </a:p>
          <a:p>
            <a:pPr lvl="2"/>
            <a:r>
              <a:rPr lang="en-US" altLang="en-US" sz="2000" dirty="0"/>
              <a:t>Read, Write or </a:t>
            </a:r>
            <a:r>
              <a:rPr lang="en-US" altLang="en-US" sz="2000" dirty="0" err="1"/>
              <a:t>Read+Write</a:t>
            </a:r>
            <a:r>
              <a:rPr lang="en-US" altLang="en-US" sz="2000" dirty="0"/>
              <a:t> mode</a:t>
            </a:r>
          </a:p>
          <a:p>
            <a:pPr lvl="2"/>
            <a:r>
              <a:rPr lang="en-US" altLang="en-US" sz="2000" dirty="0"/>
              <a:t>Truncation, Append mode</a:t>
            </a:r>
          </a:p>
          <a:p>
            <a:pPr lvl="2"/>
            <a:r>
              <a:rPr lang="en-US" altLang="en-US" sz="2000" dirty="0"/>
              <a:t>Create file if no exists</a:t>
            </a:r>
          </a:p>
          <a:p>
            <a:pPr lvl="2"/>
            <a:r>
              <a:rPr lang="en-US" altLang="en-US" sz="2000" dirty="0"/>
              <a:t>… Many </a:t>
            </a:r>
            <a:r>
              <a:rPr lang="en-US" altLang="en-US" sz="2000" dirty="0" err="1"/>
              <a:t>many</a:t>
            </a:r>
            <a:r>
              <a:rPr lang="en-US" altLang="en-US" sz="2000" dirty="0"/>
              <a:t> more </a:t>
            </a:r>
            <a:r>
              <a:rPr lang="en-US" altLang="en-US" sz="2000" dirty="0">
                <a:sym typeface="Wingdings" panose="05000000000000000000" pitchFamily="2" charset="2"/>
              </a:rPr>
              <a:t></a:t>
            </a:r>
            <a:endParaRPr lang="en-US" alt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60079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Opening Files:  </a:t>
            </a:r>
            <a:r>
              <a:rPr lang="en-US" altLang="en-US" sz="3800" b="1">
                <a:latin typeface="Courier New" panose="02070309020205020404" pitchFamily="49" charset="0"/>
              </a:rPr>
              <a:t>open() </a:t>
            </a:r>
            <a:r>
              <a:rPr lang="en-US" altLang="en-US" sz="3800"/>
              <a:t>(cont)</a:t>
            </a:r>
          </a:p>
        </p:txBody>
      </p:sp>
      <p:sp>
        <p:nvSpPr>
          <p:cNvPr id="987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/>
              <a:t>Example: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200" b="1">
                <a:latin typeface="Courier New" panose="02070309020205020404" pitchFamily="49" charset="0"/>
              </a:rPr>
              <a:t>int fd;</a:t>
            </a:r>
            <a:r>
              <a:rPr lang="en-US" altLang="en-US" sz="2200"/>
              <a:t>     //file descriptor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sz="22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200"/>
              <a:t>//Open an existing file for read only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200" b="1">
                <a:latin typeface="Courier New" panose="02070309020205020404" pitchFamily="49" charset="0"/>
              </a:rPr>
              <a:t>fd = open( "data.txt", O_RDONLY );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sz="22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200"/>
              <a:t>//Create the file if not found, open for read + write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200" b="1">
                <a:latin typeface="Courier New" panose="02070309020205020404" pitchFamily="49" charset="0"/>
              </a:rPr>
              <a:t>fd = open("data.txt", O_RDWR | O_CREAT );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sz="2200" b="1">
              <a:latin typeface="Courier New" panose="02070309020205020404" pitchFamily="49" charset="0"/>
            </a:endParaRPr>
          </a:p>
          <a:p>
            <a:r>
              <a:rPr lang="en-US" altLang="en-US" sz="2600"/>
              <a:t>By convention:</a:t>
            </a:r>
          </a:p>
          <a:p>
            <a:pPr lvl="1"/>
            <a:r>
              <a:rPr lang="en-US" altLang="en-US" sz="2200"/>
              <a:t>Default file descriptors: </a:t>
            </a:r>
          </a:p>
          <a:p>
            <a:pPr lvl="2"/>
            <a:r>
              <a:rPr lang="en-US" altLang="en-US" sz="2000" b="1">
                <a:solidFill>
                  <a:srgbClr val="0033CC"/>
                </a:solidFill>
              </a:rPr>
              <a:t>STDIN</a:t>
            </a:r>
            <a:r>
              <a:rPr lang="en-US" altLang="en-US" sz="2000"/>
              <a:t> (0), </a:t>
            </a:r>
            <a:r>
              <a:rPr lang="en-US" altLang="en-US" sz="2000" b="1">
                <a:solidFill>
                  <a:srgbClr val="0033CC"/>
                </a:solidFill>
              </a:rPr>
              <a:t>STDOUT</a:t>
            </a:r>
            <a:r>
              <a:rPr lang="en-US" altLang="en-US" sz="2000"/>
              <a:t> (1), </a:t>
            </a:r>
            <a:r>
              <a:rPr lang="en-US" altLang="en-US" sz="2000" b="1">
                <a:solidFill>
                  <a:srgbClr val="0033CC"/>
                </a:solidFill>
              </a:rPr>
              <a:t>STDERR</a:t>
            </a:r>
            <a:r>
              <a:rPr lang="en-US" altLang="en-US" sz="2000"/>
              <a:t> (2)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44355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Read Operation: </a:t>
            </a:r>
            <a:r>
              <a:rPr lang="en-US" altLang="en-US" sz="3800" b="1">
                <a:latin typeface="Courier New" panose="02070309020205020404" pitchFamily="49" charset="0"/>
              </a:rPr>
              <a:t>read()</a:t>
            </a:r>
            <a:r>
              <a:rPr lang="en-US" altLang="en-US"/>
              <a:t> </a:t>
            </a:r>
          </a:p>
        </p:txBody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 dirty="0"/>
              <a:t>Function Call: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600" dirty="0">
                <a:latin typeface="Lucida Console" panose="020B0609040504020204" pitchFamily="49" charset="0"/>
              </a:rPr>
              <a:t>	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2800" b="1" dirty="0">
                <a:latin typeface="Courier New" panose="02070309020205020404" pitchFamily="49" charset="0"/>
              </a:rPr>
              <a:t> </a:t>
            </a:r>
            <a:r>
              <a:rPr lang="en-US" altLang="en-US" sz="2800" b="1" i="1" dirty="0">
                <a:solidFill>
                  <a:srgbClr val="C00000"/>
                </a:solidFill>
                <a:latin typeface="Courier New" panose="02070309020205020404" pitchFamily="49" charset="0"/>
              </a:rPr>
              <a:t>read</a:t>
            </a:r>
            <a:r>
              <a:rPr lang="en-US" altLang="en-US" sz="2800" b="1" dirty="0">
                <a:latin typeface="Courier New" panose="02070309020205020404" pitchFamily="49" charset="0"/>
              </a:rPr>
              <a:t>(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2800" b="1" dirty="0">
                <a:latin typeface="Courier New" panose="02070309020205020404" pitchFamily="49" charset="0"/>
              </a:rPr>
              <a:t> </a:t>
            </a:r>
            <a:r>
              <a:rPr lang="en-US" altLang="en-US" sz="2800" b="1" dirty="0" err="1">
                <a:solidFill>
                  <a:srgbClr val="0033CC"/>
                </a:solidFill>
                <a:latin typeface="Courier New" panose="02070309020205020404" pitchFamily="49" charset="0"/>
              </a:rPr>
              <a:t>fd</a:t>
            </a:r>
            <a:r>
              <a:rPr lang="en-US" altLang="en-US" sz="2800" b="1" dirty="0">
                <a:latin typeface="Courier New" panose="02070309020205020404" pitchFamily="49" charset="0"/>
              </a:rPr>
              <a:t>, void *</a:t>
            </a:r>
            <a:r>
              <a:rPr lang="en-US" altLang="en-US" sz="2800" b="1" dirty="0" err="1">
                <a:solidFill>
                  <a:srgbClr val="0033CC"/>
                </a:solidFill>
                <a:latin typeface="Courier New" panose="02070309020205020404" pitchFamily="49" charset="0"/>
              </a:rPr>
              <a:t>buf</a:t>
            </a:r>
            <a:r>
              <a:rPr lang="en-US" altLang="en-US" sz="2800" b="1" dirty="0">
                <a:latin typeface="Courier New" panose="02070309020205020404" pitchFamily="49" charset="0"/>
              </a:rPr>
              <a:t>, 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2800" b="1" dirty="0">
                <a:latin typeface="Courier New" panose="02070309020205020404" pitchFamily="49" charset="0"/>
              </a:rPr>
              <a:t> </a:t>
            </a:r>
            <a:r>
              <a:rPr lang="en-US" altLang="en-US" sz="2800" b="1" dirty="0">
                <a:solidFill>
                  <a:srgbClr val="0033CC"/>
                </a:solidFill>
                <a:latin typeface="Courier New" panose="02070309020205020404" pitchFamily="49" charset="0"/>
              </a:rPr>
              <a:t>n</a:t>
            </a:r>
            <a:r>
              <a:rPr lang="en-US" altLang="en-US" sz="2800" b="1" dirty="0">
                <a:latin typeface="Courier New" panose="02070309020205020404" pitchFamily="49" charset="0"/>
              </a:rPr>
              <a:t>)</a:t>
            </a:r>
          </a:p>
          <a:p>
            <a:r>
              <a:rPr lang="en-US" altLang="en-US" sz="2600" dirty="0"/>
              <a:t>Purpose:</a:t>
            </a:r>
          </a:p>
          <a:p>
            <a:pPr lvl="1"/>
            <a:r>
              <a:rPr lang="en-US" altLang="en-US" sz="2200" dirty="0"/>
              <a:t>reads up to </a:t>
            </a:r>
            <a:r>
              <a:rPr lang="en-US" altLang="en-US" sz="2200" b="1" dirty="0">
                <a:solidFill>
                  <a:srgbClr val="0033CC"/>
                </a:solidFill>
                <a:latin typeface="Lucida Console" panose="020B0609040504020204" pitchFamily="49" charset="0"/>
              </a:rPr>
              <a:t>n</a:t>
            </a:r>
            <a:r>
              <a:rPr lang="en-US" altLang="en-US" sz="2200" dirty="0"/>
              <a:t> bytes from current offset into buffer </a:t>
            </a:r>
            <a:r>
              <a:rPr lang="en-US" altLang="en-US" sz="2200" b="1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buf</a:t>
            </a:r>
            <a:endParaRPr lang="en-US" altLang="en-US" sz="2200" b="1" dirty="0">
              <a:solidFill>
                <a:srgbClr val="0033CC"/>
              </a:solidFill>
              <a:latin typeface="Lucida Console" panose="020B0609040504020204" pitchFamily="49" charset="0"/>
            </a:endParaRPr>
          </a:p>
          <a:p>
            <a:r>
              <a:rPr lang="en-US" altLang="en-US" sz="2600" dirty="0"/>
              <a:t>Return:</a:t>
            </a:r>
          </a:p>
          <a:p>
            <a:pPr lvl="1"/>
            <a:r>
              <a:rPr lang="en-US" altLang="en-US" dirty="0"/>
              <a:t>number of bytes read, can be</a:t>
            </a:r>
            <a:r>
              <a:rPr lang="en-US" altLang="en-US" sz="2200" dirty="0">
                <a:latin typeface="Lucida Console" panose="020B0609040504020204" pitchFamily="49" charset="0"/>
              </a:rPr>
              <a:t> 0...n</a:t>
            </a:r>
          </a:p>
          <a:p>
            <a:pPr lvl="1"/>
            <a:r>
              <a:rPr lang="en-US" altLang="en-US" sz="2200" dirty="0">
                <a:latin typeface="Lucida Console" panose="020B0609040504020204" pitchFamily="49" charset="0"/>
              </a:rPr>
              <a:t>&lt;n : </a:t>
            </a:r>
            <a:r>
              <a:rPr lang="en-US" altLang="en-US" dirty="0"/>
              <a:t>end of file is reached</a:t>
            </a:r>
          </a:p>
          <a:p>
            <a:r>
              <a:rPr lang="en-US" altLang="en-US" sz="2600" dirty="0"/>
              <a:t>Parameters:</a:t>
            </a:r>
          </a:p>
          <a:p>
            <a:pPr lvl="1"/>
            <a:r>
              <a:rPr lang="en-US" altLang="en-US" sz="2200" b="1" dirty="0" err="1">
                <a:latin typeface="Courier New" panose="02070309020205020404" pitchFamily="49" charset="0"/>
              </a:rPr>
              <a:t>fd</a:t>
            </a:r>
            <a:r>
              <a:rPr lang="en-US" altLang="en-US" sz="2200" dirty="0"/>
              <a:t>:   file descriptor (must be opened for read)</a:t>
            </a:r>
          </a:p>
          <a:p>
            <a:pPr lvl="1"/>
            <a:r>
              <a:rPr lang="en-US" altLang="en-US" sz="2200" b="1" dirty="0" err="1">
                <a:latin typeface="Courier New" panose="02070309020205020404" pitchFamily="49" charset="0"/>
              </a:rPr>
              <a:t>buf</a:t>
            </a:r>
            <a:r>
              <a:rPr lang="en-US" altLang="en-US" sz="2200" dirty="0"/>
              <a:t>: An array large enough to store </a:t>
            </a:r>
            <a:r>
              <a:rPr lang="en-US" altLang="en-US" sz="2200" b="1" dirty="0">
                <a:solidFill>
                  <a:srgbClr val="0033CC"/>
                </a:solidFill>
              </a:rPr>
              <a:t>n</a:t>
            </a:r>
            <a:r>
              <a:rPr lang="en-US" altLang="en-US" sz="2200" dirty="0"/>
              <a:t> bytes</a:t>
            </a:r>
            <a:endParaRPr lang="en-US" altLang="en-US" sz="2300" dirty="0"/>
          </a:p>
          <a:p>
            <a:r>
              <a:rPr lang="en-US" altLang="en-US" sz="2600" b="1" dirty="0">
                <a:latin typeface="Courier New" panose="02070309020205020404" pitchFamily="49" charset="0"/>
              </a:rPr>
              <a:t>read()</a:t>
            </a:r>
            <a:r>
              <a:rPr lang="en-US" altLang="en-US" sz="2600" dirty="0"/>
              <a:t> is </a:t>
            </a:r>
            <a:r>
              <a:rPr lang="en-US" altLang="en-US" sz="2600" b="1" i="1" dirty="0"/>
              <a:t>sequential read</a:t>
            </a:r>
            <a:r>
              <a:rPr lang="en-US" altLang="en-US" sz="2600" dirty="0"/>
              <a:t>: </a:t>
            </a:r>
          </a:p>
          <a:p>
            <a:pPr lvl="1"/>
            <a:r>
              <a:rPr lang="en-US" altLang="en-US" sz="2200" dirty="0"/>
              <a:t>starts at current offset and increments offset by bytes read</a:t>
            </a:r>
            <a:endParaRPr lang="en-US" altLang="en-US" sz="2200" dirty="0">
              <a:latin typeface="Courier New" panose="020703090202050204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92644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Write Operation: </a:t>
            </a:r>
            <a:r>
              <a:rPr lang="en-US" altLang="en-US" sz="3800" b="1">
                <a:latin typeface="Courier New" panose="02070309020205020404" pitchFamily="49" charset="0"/>
              </a:rPr>
              <a:t>write()</a:t>
            </a:r>
            <a:r>
              <a:rPr lang="en-US" altLang="en-US"/>
              <a:t> </a:t>
            </a:r>
          </a:p>
        </p:txBody>
      </p:sp>
      <p:sp>
        <p:nvSpPr>
          <p:cNvPr id="982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100" dirty="0"/>
              <a:t>Function Call: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100" dirty="0">
                <a:latin typeface="Lucida Console" panose="020B0609040504020204" pitchFamily="49" charset="0"/>
              </a:rPr>
              <a:t>	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2800" b="1" dirty="0">
                <a:latin typeface="Courier New" panose="02070309020205020404" pitchFamily="49" charset="0"/>
              </a:rPr>
              <a:t> </a:t>
            </a:r>
            <a:r>
              <a:rPr lang="en-US" altLang="en-US" sz="2800" b="1" i="1" dirty="0">
                <a:solidFill>
                  <a:srgbClr val="C00000"/>
                </a:solidFill>
                <a:latin typeface="Courier New" panose="02070309020205020404" pitchFamily="49" charset="0"/>
              </a:rPr>
              <a:t>write</a:t>
            </a:r>
            <a:r>
              <a:rPr lang="en-US" altLang="en-US" sz="2800" b="1" dirty="0">
                <a:latin typeface="Courier New" panose="02070309020205020404" pitchFamily="49" charset="0"/>
              </a:rPr>
              <a:t>(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2800" b="1" dirty="0">
                <a:latin typeface="Courier New" panose="02070309020205020404" pitchFamily="49" charset="0"/>
              </a:rPr>
              <a:t> </a:t>
            </a:r>
            <a:r>
              <a:rPr lang="en-US" altLang="en-US" sz="2800" b="1" dirty="0" err="1">
                <a:solidFill>
                  <a:srgbClr val="0033CC"/>
                </a:solidFill>
                <a:latin typeface="Courier New" panose="02070309020205020404" pitchFamily="49" charset="0"/>
              </a:rPr>
              <a:t>fd</a:t>
            </a:r>
            <a:r>
              <a:rPr lang="en-US" altLang="en-US" sz="2800" b="1" dirty="0">
                <a:latin typeface="Courier New" panose="02070309020205020404" pitchFamily="49" charset="0"/>
              </a:rPr>
              <a:t>, void *</a:t>
            </a:r>
            <a:r>
              <a:rPr lang="en-US" altLang="en-US" sz="2800" b="1" dirty="0" err="1">
                <a:solidFill>
                  <a:srgbClr val="0033CC"/>
                </a:solidFill>
                <a:latin typeface="Courier New" panose="02070309020205020404" pitchFamily="49" charset="0"/>
              </a:rPr>
              <a:t>buf</a:t>
            </a:r>
            <a:r>
              <a:rPr lang="en-US" altLang="en-US" sz="2800" b="1" dirty="0">
                <a:latin typeface="Courier New" panose="02070309020205020404" pitchFamily="49" charset="0"/>
              </a:rPr>
              <a:t>, 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2800" b="1" dirty="0">
                <a:latin typeface="Courier New" panose="02070309020205020404" pitchFamily="49" charset="0"/>
              </a:rPr>
              <a:t> </a:t>
            </a:r>
            <a:r>
              <a:rPr lang="en-US" altLang="en-US" sz="2800" b="1" dirty="0">
                <a:solidFill>
                  <a:srgbClr val="0033CC"/>
                </a:solidFill>
                <a:latin typeface="Courier New" panose="02070309020205020404" pitchFamily="49" charset="0"/>
              </a:rPr>
              <a:t>n</a:t>
            </a:r>
            <a:r>
              <a:rPr lang="en-US" altLang="en-US" sz="2800" b="1" dirty="0"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en-US" sz="2100" dirty="0"/>
              <a:t>Purpose: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latin typeface="Lucida Console" panose="020B0609040504020204" pitchFamily="49" charset="0"/>
              </a:rPr>
              <a:t>writes</a:t>
            </a:r>
            <a:r>
              <a:rPr lang="en-US" altLang="en-US" sz="2000" dirty="0"/>
              <a:t> up to </a:t>
            </a:r>
            <a:r>
              <a:rPr lang="en-US" altLang="en-US" sz="2000" b="1" dirty="0">
                <a:solidFill>
                  <a:srgbClr val="0033CC"/>
                </a:solidFill>
                <a:latin typeface="Lucida Console" panose="020B0609040504020204" pitchFamily="49" charset="0"/>
              </a:rPr>
              <a:t>n</a:t>
            </a:r>
            <a:r>
              <a:rPr lang="en-US" altLang="en-US" sz="2000" dirty="0"/>
              <a:t> bytes from current offset from buffer </a:t>
            </a:r>
            <a:r>
              <a:rPr lang="en-US" altLang="en-US" sz="2000" b="1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buf</a:t>
            </a:r>
            <a:r>
              <a:rPr lang="en-US" altLang="en-US" sz="2000" dirty="0"/>
              <a:t> </a:t>
            </a:r>
          </a:p>
          <a:p>
            <a:pPr>
              <a:lnSpc>
                <a:spcPct val="90000"/>
              </a:lnSpc>
            </a:pPr>
            <a:r>
              <a:rPr lang="en-US" altLang="en-US" sz="2100" dirty="0"/>
              <a:t>Return: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 dirty="0"/>
              <a:t>-1:</a:t>
            </a:r>
            <a:r>
              <a:rPr lang="en-US" altLang="en-US" sz="2000" dirty="0"/>
              <a:t> Error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 dirty="0"/>
              <a:t>&gt;= 0:</a:t>
            </a:r>
            <a:r>
              <a:rPr lang="en-US" altLang="en-US" sz="2000" dirty="0"/>
              <a:t> Number of bytes written</a:t>
            </a:r>
          </a:p>
          <a:p>
            <a:pPr>
              <a:lnSpc>
                <a:spcPct val="90000"/>
              </a:lnSpc>
            </a:pPr>
            <a:r>
              <a:rPr lang="en-US" altLang="en-US" sz="2100" dirty="0"/>
              <a:t>Parameters: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 dirty="0" err="1">
                <a:latin typeface="Courier New" panose="02070309020205020404" pitchFamily="49" charset="0"/>
              </a:rPr>
              <a:t>fd</a:t>
            </a:r>
            <a:r>
              <a:rPr lang="en-US" altLang="en-US" sz="2000" dirty="0"/>
              <a:t>:   file descriptor (must be opened for write)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 dirty="0" err="1">
                <a:latin typeface="Courier New" panose="02070309020205020404" pitchFamily="49" charset="0"/>
              </a:rPr>
              <a:t>buf</a:t>
            </a:r>
            <a:r>
              <a:rPr lang="en-US" altLang="en-US" sz="2000" dirty="0"/>
              <a:t>: An array of at least </a:t>
            </a:r>
            <a:r>
              <a:rPr lang="en-US" altLang="en-US" sz="2000" b="1" dirty="0">
                <a:solidFill>
                  <a:srgbClr val="0033CC"/>
                </a:solidFill>
              </a:rPr>
              <a:t>n</a:t>
            </a:r>
            <a:r>
              <a:rPr lang="en-US" altLang="en-US" sz="2000" dirty="0"/>
              <a:t> bytes with values to be written</a:t>
            </a:r>
            <a:endParaRPr lang="en-US" altLang="en-US" sz="2000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100" dirty="0">
                <a:latin typeface="Lucida Console" panose="020B0609040504020204" pitchFamily="49" charset="0"/>
              </a:rPr>
              <a:t>Possible errors: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exceeds file size limit, quota, disk space, etc.</a:t>
            </a:r>
          </a:p>
          <a:p>
            <a:pPr>
              <a:lnSpc>
                <a:spcPct val="90000"/>
              </a:lnSpc>
            </a:pPr>
            <a:r>
              <a:rPr lang="en-US" altLang="en-US" sz="2100" dirty="0"/>
              <a:t>write() is </a:t>
            </a:r>
            <a:r>
              <a:rPr lang="en-US" altLang="en-US" sz="2100" b="1" i="1" dirty="0"/>
              <a:t>sequential write:</a:t>
            </a:r>
            <a:r>
              <a:rPr lang="en-US" altLang="en-US" sz="2100" dirty="0"/>
              <a:t> 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starts at current offset and increments offset by bytes written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can increase file size beyond EOF </a:t>
            </a:r>
            <a:r>
              <a:rPr lang="en-US" altLang="en-US" sz="2000" dirty="0">
                <a:sym typeface="Wingdings" panose="05000000000000000000" pitchFamily="2" charset="2"/>
              </a:rPr>
              <a:t></a:t>
            </a:r>
            <a:r>
              <a:rPr lang="en-US" altLang="en-US" sz="2000" dirty="0"/>
              <a:t> append new data</a:t>
            </a:r>
            <a:endParaRPr lang="en-US" alt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56824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Repositioning: </a:t>
            </a:r>
            <a:r>
              <a:rPr lang="en-US" altLang="en-US" sz="3800" b="1">
                <a:latin typeface="Courier New" panose="02070309020205020404" pitchFamily="49" charset="0"/>
              </a:rPr>
              <a:t>lseek()</a:t>
            </a:r>
          </a:p>
        </p:txBody>
      </p:sp>
      <p:sp>
        <p:nvSpPr>
          <p:cNvPr id="984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100" dirty="0"/>
              <a:t>Function Call: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100" dirty="0">
                <a:latin typeface="Lucida Console" panose="020B0609040504020204" pitchFamily="49" charset="0"/>
              </a:rPr>
              <a:t>	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off_t</a:t>
            </a:r>
            <a:r>
              <a:rPr lang="en-US" altLang="en-US" sz="2000" b="1" dirty="0">
                <a:latin typeface="Courier New" panose="02070309020205020404" pitchFamily="49" charset="0"/>
              </a:rPr>
              <a:t> </a:t>
            </a:r>
            <a:r>
              <a:rPr lang="en-US" altLang="en-US" sz="2000" b="1" i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lseek</a:t>
            </a:r>
            <a:r>
              <a:rPr lang="en-US" altLang="en-US" sz="2000" b="1" dirty="0">
                <a:latin typeface="Courier New" panose="02070309020205020404" pitchFamily="49" charset="0"/>
              </a:rPr>
              <a:t>(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fd</a:t>
            </a:r>
            <a:r>
              <a:rPr lang="en-US" altLang="en-US" sz="2000" b="1" dirty="0">
                <a:latin typeface="Courier New" panose="02070309020205020404" pitchFamily="49" charset="0"/>
              </a:rPr>
              <a:t>,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off_t</a:t>
            </a:r>
            <a:r>
              <a:rPr lang="en-US" altLang="en-US" sz="2000" b="1" dirty="0">
                <a:latin typeface="Courier New" panose="02070309020205020404" pitchFamily="49" charset="0"/>
              </a:rPr>
              <a:t> </a:t>
            </a:r>
            <a:r>
              <a:rPr lang="en-US" alt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offset</a:t>
            </a:r>
            <a:r>
              <a:rPr lang="en-US" altLang="en-US" sz="2000" b="1" dirty="0">
                <a:latin typeface="Courier New" panose="02070309020205020404" pitchFamily="49" charset="0"/>
              </a:rPr>
              <a:t>,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 </a:t>
            </a:r>
            <a:r>
              <a:rPr lang="en-US" altLang="en-US" sz="2000" b="1" dirty="0">
                <a:solidFill>
                  <a:srgbClr val="0033CC"/>
                </a:solidFill>
                <a:latin typeface="Courier New" panose="02070309020205020404" pitchFamily="49" charset="0"/>
              </a:rPr>
              <a:t>whence</a:t>
            </a:r>
            <a:r>
              <a:rPr lang="en-US" altLang="en-US" sz="2000" b="1" dirty="0"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en-US" sz="2100" dirty="0"/>
              <a:t>Purpose: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Move current position in file by </a:t>
            </a:r>
            <a:r>
              <a:rPr lang="en-US" altLang="en-US" sz="2000" b="1" dirty="0"/>
              <a:t>offset 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100" dirty="0"/>
              <a:t>Return: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 dirty="0"/>
              <a:t>-1:</a:t>
            </a:r>
            <a:r>
              <a:rPr lang="en-US" altLang="en-US" sz="2000" dirty="0"/>
              <a:t> Error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 dirty="0"/>
              <a:t>&gt;= 0:</a:t>
            </a:r>
            <a:r>
              <a:rPr lang="en-US" altLang="en-US" sz="2000" dirty="0"/>
              <a:t> Current offset in file</a:t>
            </a:r>
          </a:p>
          <a:p>
            <a:pPr>
              <a:lnSpc>
                <a:spcPct val="90000"/>
              </a:lnSpc>
            </a:pPr>
            <a:r>
              <a:rPr lang="en-US" altLang="en-US" sz="2100" dirty="0"/>
              <a:t>Parameters: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 dirty="0" err="1">
                <a:latin typeface="Courier New" panose="02070309020205020404" pitchFamily="49" charset="0"/>
              </a:rPr>
              <a:t>fd</a:t>
            </a:r>
            <a:r>
              <a:rPr lang="en-US" altLang="en-US" sz="2000" dirty="0"/>
              <a:t>:   file descriptor (must be opened)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 dirty="0"/>
              <a:t>offset</a:t>
            </a:r>
            <a:r>
              <a:rPr lang="en-US" altLang="en-US" sz="2000" dirty="0"/>
              <a:t>: positive = move forward, negative = move backward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 dirty="0"/>
              <a:t>whence:</a:t>
            </a:r>
            <a:r>
              <a:rPr lang="en-US" altLang="en-US" sz="1700" b="1" dirty="0">
                <a:solidFill>
                  <a:srgbClr val="0033CC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000" dirty="0"/>
              <a:t>Point of reference for interpreting the </a:t>
            </a:r>
            <a:r>
              <a:rPr lang="en-US" altLang="en-US" sz="2000" b="1" dirty="0"/>
              <a:t>offset</a:t>
            </a:r>
          </a:p>
          <a:p>
            <a:pPr lvl="2">
              <a:lnSpc>
                <a:spcPct val="90000"/>
              </a:lnSpc>
            </a:pPr>
            <a:r>
              <a:rPr lang="en-US" altLang="en-US" sz="1500" b="1" dirty="0">
                <a:latin typeface="Lucida Console" panose="020B0609040504020204" pitchFamily="49" charset="0"/>
              </a:rPr>
              <a:t>SEEK_SET:</a:t>
            </a:r>
            <a:r>
              <a:rPr lang="en-US" altLang="en-US" sz="1500" dirty="0">
                <a:latin typeface="Lucida Console" panose="020B0609040504020204" pitchFamily="49" charset="0"/>
              </a:rPr>
              <a:t> </a:t>
            </a:r>
            <a:r>
              <a:rPr lang="en-US" altLang="en-US" sz="1700" dirty="0"/>
              <a:t>absolute </a:t>
            </a:r>
            <a:r>
              <a:rPr lang="en-US" altLang="en-US" sz="1700" b="1" dirty="0">
                <a:solidFill>
                  <a:srgbClr val="008000"/>
                </a:solidFill>
              </a:rPr>
              <a:t>offset </a:t>
            </a:r>
            <a:r>
              <a:rPr lang="en-US" altLang="en-US" sz="1700" b="1" dirty="0"/>
              <a:t>(</a:t>
            </a:r>
            <a:r>
              <a:rPr lang="en-US" altLang="en-US" sz="1700" dirty="0"/>
              <a:t>count from the file start)</a:t>
            </a:r>
          </a:p>
          <a:p>
            <a:pPr lvl="2">
              <a:lnSpc>
                <a:spcPct val="90000"/>
              </a:lnSpc>
            </a:pPr>
            <a:r>
              <a:rPr lang="en-US" altLang="en-US" sz="1500" b="1" dirty="0">
                <a:latin typeface="Lucida Console" panose="020B0609040504020204" pitchFamily="49" charset="0"/>
              </a:rPr>
              <a:t>SEEK_CUR</a:t>
            </a:r>
            <a:r>
              <a:rPr lang="en-US" altLang="en-US" sz="1500" b="1" dirty="0">
                <a:latin typeface="Courier New" panose="02070309020205020404" pitchFamily="49" charset="0"/>
              </a:rPr>
              <a:t>:</a:t>
            </a:r>
            <a:r>
              <a:rPr lang="en-US" altLang="en-US" sz="1500" dirty="0">
                <a:latin typeface="Courier New" panose="02070309020205020404" pitchFamily="49" charset="0"/>
              </a:rPr>
              <a:t> </a:t>
            </a:r>
            <a:r>
              <a:rPr lang="en-US" altLang="en-US" sz="1700" dirty="0"/>
              <a:t>relative </a:t>
            </a:r>
            <a:r>
              <a:rPr lang="en-US" altLang="en-US" sz="1700" b="1" dirty="0">
                <a:solidFill>
                  <a:srgbClr val="008000"/>
                </a:solidFill>
              </a:rPr>
              <a:t>offset</a:t>
            </a:r>
            <a:r>
              <a:rPr lang="en-US" altLang="en-US" sz="1700" dirty="0"/>
              <a:t> from current position (+/-)</a:t>
            </a:r>
          </a:p>
          <a:p>
            <a:pPr lvl="2">
              <a:lnSpc>
                <a:spcPct val="90000"/>
              </a:lnSpc>
            </a:pPr>
            <a:r>
              <a:rPr lang="en-US" altLang="en-US" sz="1500" b="1" dirty="0">
                <a:latin typeface="Lucida Console" panose="020B0609040504020204" pitchFamily="49" charset="0"/>
              </a:rPr>
              <a:t>SEEK_END</a:t>
            </a:r>
            <a:r>
              <a:rPr lang="en-US" altLang="en-US" sz="1500" b="1" dirty="0">
                <a:latin typeface="Courier New" panose="02070309020205020404" pitchFamily="49" charset="0"/>
              </a:rPr>
              <a:t>:</a:t>
            </a:r>
            <a:r>
              <a:rPr lang="en-US" altLang="en-US" sz="1500" dirty="0">
                <a:latin typeface="Courier New" panose="02070309020205020404" pitchFamily="49" charset="0"/>
              </a:rPr>
              <a:t> </a:t>
            </a:r>
            <a:r>
              <a:rPr lang="en-US" altLang="en-US" sz="1700" dirty="0"/>
              <a:t>relative </a:t>
            </a:r>
            <a:r>
              <a:rPr lang="en-US" altLang="en-US" sz="1700" b="1" dirty="0">
                <a:solidFill>
                  <a:srgbClr val="008000"/>
                </a:solidFill>
              </a:rPr>
              <a:t>offset</a:t>
            </a:r>
            <a:r>
              <a:rPr lang="en-US" altLang="en-US" sz="1700" dirty="0"/>
              <a:t> from end of file (+/-)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Can seek anywhere in file, even beyond end of existing data</a:t>
            </a:r>
            <a:endParaRPr lang="en-US" altLang="en-US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88377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Closing Files: </a:t>
            </a:r>
            <a:r>
              <a:rPr lang="en-US" altLang="en-US" sz="3800" b="1">
                <a:latin typeface="Courier New" panose="02070309020205020404" pitchFamily="49" charset="0"/>
              </a:rPr>
              <a:t>close()</a:t>
            </a:r>
          </a:p>
        </p:txBody>
      </p:sp>
      <p:sp>
        <p:nvSpPr>
          <p:cNvPr id="975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600" dirty="0"/>
              <a:t>Function Call: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600" dirty="0">
                <a:latin typeface="Lucida Console" panose="020B0609040504020204" pitchFamily="49" charset="0"/>
              </a:rPr>
              <a:t>	</a:t>
            </a:r>
            <a:r>
              <a:rPr lang="en-US" altLang="en-US" sz="22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2200" b="1" dirty="0">
                <a:latin typeface="Courier New" panose="02070309020205020404" pitchFamily="49" charset="0"/>
              </a:rPr>
              <a:t> </a:t>
            </a:r>
            <a:r>
              <a:rPr lang="en-US" altLang="en-US" sz="2200" b="1" i="1" dirty="0">
                <a:solidFill>
                  <a:srgbClr val="C00000"/>
                </a:solidFill>
                <a:latin typeface="Courier New" panose="02070309020205020404" pitchFamily="49" charset="0"/>
              </a:rPr>
              <a:t>close</a:t>
            </a:r>
            <a:r>
              <a:rPr lang="en-US" altLang="en-US" sz="2200" b="1" dirty="0">
                <a:latin typeface="Courier New" panose="02070309020205020404" pitchFamily="49" charset="0"/>
              </a:rPr>
              <a:t>( </a:t>
            </a:r>
            <a:r>
              <a:rPr lang="en-US" altLang="en-US" sz="22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2200" b="1" dirty="0">
                <a:solidFill>
                  <a:srgbClr val="660066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200" b="1" dirty="0" err="1">
                <a:solidFill>
                  <a:srgbClr val="660066"/>
                </a:solidFill>
                <a:latin typeface="Courier New" panose="02070309020205020404" pitchFamily="49" charset="0"/>
              </a:rPr>
              <a:t>fd</a:t>
            </a:r>
            <a:r>
              <a:rPr lang="en-US" altLang="en-US" sz="2200" b="1" dirty="0">
                <a:solidFill>
                  <a:srgbClr val="660066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200" b="1" dirty="0">
                <a:latin typeface="Courier New" panose="02070309020205020404" pitchFamily="49" charset="0"/>
              </a:rPr>
              <a:t>)</a:t>
            </a:r>
            <a:endParaRPr lang="en-US" altLang="en-US" sz="25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600" dirty="0"/>
              <a:t>Return:</a:t>
            </a:r>
          </a:p>
          <a:p>
            <a:pPr lvl="1">
              <a:lnSpc>
                <a:spcPct val="90000"/>
              </a:lnSpc>
            </a:pPr>
            <a:r>
              <a:rPr lang="en-US" altLang="en-US" sz="2200" b="1" dirty="0"/>
              <a:t>-1:</a:t>
            </a:r>
            <a:r>
              <a:rPr lang="en-US" altLang="en-US" sz="2200" dirty="0"/>
              <a:t> Error</a:t>
            </a:r>
          </a:p>
          <a:p>
            <a:pPr lvl="1">
              <a:lnSpc>
                <a:spcPct val="90000"/>
              </a:lnSpc>
            </a:pPr>
            <a:r>
              <a:rPr lang="en-US" altLang="en-US" sz="2200" b="1" dirty="0"/>
              <a:t>0:</a:t>
            </a:r>
            <a:r>
              <a:rPr lang="en-US" altLang="en-US" sz="2200" dirty="0"/>
              <a:t> Successful</a:t>
            </a:r>
          </a:p>
          <a:p>
            <a:pPr>
              <a:lnSpc>
                <a:spcPct val="90000"/>
              </a:lnSpc>
            </a:pPr>
            <a:r>
              <a:rPr lang="en-US" altLang="en-US" sz="2600" dirty="0"/>
              <a:t>Parameters:</a:t>
            </a:r>
          </a:p>
          <a:p>
            <a:pPr lvl="1">
              <a:lnSpc>
                <a:spcPct val="90000"/>
              </a:lnSpc>
            </a:pPr>
            <a:r>
              <a:rPr lang="en-US" altLang="en-US" sz="2200" b="1" dirty="0" err="1">
                <a:latin typeface="Courier New" panose="02070309020205020404" pitchFamily="49" charset="0"/>
              </a:rPr>
              <a:t>fd</a:t>
            </a:r>
            <a:r>
              <a:rPr lang="en-US" altLang="en-US" sz="2200" dirty="0">
                <a:latin typeface="Courier New" panose="02070309020205020404" pitchFamily="49" charset="0"/>
              </a:rPr>
              <a:t>:</a:t>
            </a:r>
            <a:r>
              <a:rPr lang="en-US" altLang="en-US" sz="2200" dirty="0"/>
              <a:t>   file descriptor (must be opened)</a:t>
            </a:r>
          </a:p>
          <a:p>
            <a:pPr>
              <a:lnSpc>
                <a:spcPct val="90000"/>
              </a:lnSpc>
            </a:pPr>
            <a:r>
              <a:rPr lang="en-US" altLang="en-US" sz="2600" dirty="0"/>
              <a:t>With close():</a:t>
            </a:r>
          </a:p>
          <a:p>
            <a:pPr lvl="1">
              <a:lnSpc>
                <a:spcPct val="90000"/>
              </a:lnSpc>
            </a:pPr>
            <a:r>
              <a:rPr lang="en-US" altLang="en-US" sz="2200" b="1" dirty="0" err="1">
                <a:latin typeface="Courier New" panose="02070309020205020404" pitchFamily="49" charset="0"/>
              </a:rPr>
              <a:t>fd</a:t>
            </a:r>
            <a:r>
              <a:rPr lang="en-US" altLang="en-US" sz="2200" dirty="0"/>
              <a:t> no longer used anymore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Kernel can remove associated data structures 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The identifier </a:t>
            </a:r>
            <a:r>
              <a:rPr lang="en-US" altLang="en-US" sz="2200" b="1" dirty="0" err="1">
                <a:latin typeface="Courier New" panose="02070309020205020404" pitchFamily="49" charset="0"/>
              </a:rPr>
              <a:t>fd</a:t>
            </a:r>
            <a:r>
              <a:rPr lang="en-US" altLang="en-US" sz="2200" dirty="0"/>
              <a:t> can be reused later</a:t>
            </a:r>
          </a:p>
          <a:p>
            <a:pPr>
              <a:lnSpc>
                <a:spcPct val="90000"/>
              </a:lnSpc>
            </a:pPr>
            <a:r>
              <a:rPr lang="en-US" altLang="en-US" sz="2600" dirty="0"/>
              <a:t>By default: 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Process termination automatically closes all open files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9560733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CS2106 0809S2</Template>
  <TotalTime>8655</TotalTime>
  <Words>2963</Words>
  <Application>Microsoft Macintosh PowerPoint</Application>
  <PresentationFormat>On-screen Show (4:3)</PresentationFormat>
  <Paragraphs>647</Paragraphs>
  <Slides>50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50</vt:i4>
      </vt:variant>
    </vt:vector>
  </HeadingPairs>
  <TitlesOfParts>
    <vt:vector size="57" baseType="lpstr">
      <vt:lpstr>Arial</vt:lpstr>
      <vt:lpstr>Courier New</vt:lpstr>
      <vt:lpstr>Garamond</vt:lpstr>
      <vt:lpstr>Lucida Console</vt:lpstr>
      <vt:lpstr>Wingdings</vt:lpstr>
      <vt:lpstr>Edge</vt:lpstr>
      <vt:lpstr>1_Edge</vt:lpstr>
      <vt:lpstr>File System Management File System Introduction</vt:lpstr>
      <vt:lpstr>Overview</vt:lpstr>
      <vt:lpstr>File System: Motivation</vt:lpstr>
      <vt:lpstr>Recap: Hard Disk Layout</vt:lpstr>
      <vt:lpstr>File System: General Criteria</vt:lpstr>
      <vt:lpstr>Memory Management vs File Management</vt:lpstr>
      <vt:lpstr>Key Topics</vt:lpstr>
      <vt:lpstr>File System abstractions</vt:lpstr>
      <vt:lpstr>File System Abstraction</vt:lpstr>
      <vt:lpstr>File: Overview</vt:lpstr>
      <vt:lpstr>File: Basic Description</vt:lpstr>
      <vt:lpstr>File Metadata</vt:lpstr>
      <vt:lpstr>File Name</vt:lpstr>
      <vt:lpstr>File Type</vt:lpstr>
      <vt:lpstr>Two Major Types of Regular Files</vt:lpstr>
      <vt:lpstr>Distinguishing File Type</vt:lpstr>
      <vt:lpstr>File Protection</vt:lpstr>
      <vt:lpstr>File Protection: How?</vt:lpstr>
      <vt:lpstr>File Protection: Permission Bits</vt:lpstr>
      <vt:lpstr>File Protection: Access Control List</vt:lpstr>
      <vt:lpstr>Operations on File Metadata</vt:lpstr>
      <vt:lpstr>File Data: Structure</vt:lpstr>
      <vt:lpstr>File Data: Access Methods</vt:lpstr>
      <vt:lpstr>File Data: Access Methods (cont )</vt:lpstr>
      <vt:lpstr>File Data: Generic Operations</vt:lpstr>
      <vt:lpstr>File Operations as System Calls</vt:lpstr>
      <vt:lpstr>File Operations as System Calls (cont)</vt:lpstr>
      <vt:lpstr>File Operations: Unix Illustration</vt:lpstr>
      <vt:lpstr>Process Sharing File in Unix: Case 1</vt:lpstr>
      <vt:lpstr>Process Sharing File in Unix: Case 2</vt:lpstr>
      <vt:lpstr>Directory</vt:lpstr>
      <vt:lpstr>Directory: Basics</vt:lpstr>
      <vt:lpstr>Directory Structure: Single-Level</vt:lpstr>
      <vt:lpstr>Directory Structure: Tree-Structured</vt:lpstr>
      <vt:lpstr>Directory Structure: Tree-Structured</vt:lpstr>
      <vt:lpstr>Directory Structure: DAG</vt:lpstr>
      <vt:lpstr>Directory Structure: DAG</vt:lpstr>
      <vt:lpstr>DAG: Unix Hard Link</vt:lpstr>
      <vt:lpstr>DAG: Unix Symbolic Link</vt:lpstr>
      <vt:lpstr>Directory Structure: General Graph</vt:lpstr>
      <vt:lpstr>Directory Structure: General Graph</vt:lpstr>
      <vt:lpstr>Summary</vt:lpstr>
      <vt:lpstr>Unix File Operations</vt:lpstr>
      <vt:lpstr>File Operations Example: Unix System Calls</vt:lpstr>
      <vt:lpstr>Opening Files:  open( )</vt:lpstr>
      <vt:lpstr>Opening Files:  open() (cont)</vt:lpstr>
      <vt:lpstr>Read Operation: read() </vt:lpstr>
      <vt:lpstr>Write Operation: write() </vt:lpstr>
      <vt:lpstr>Repositioning: lseek()</vt:lpstr>
      <vt:lpstr>Closing Files: close()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Soo Yuen Jien</dc:creator>
  <cp:lastModifiedBy>Tan Keng Yan, Colin</cp:lastModifiedBy>
  <cp:revision>713</cp:revision>
  <cp:lastPrinted>2018-10-21T05:05:42Z</cp:lastPrinted>
  <dcterms:created xsi:type="dcterms:W3CDTF">1601-01-01T00:00:00Z</dcterms:created>
  <dcterms:modified xsi:type="dcterms:W3CDTF">2022-03-29T06:33:20Z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