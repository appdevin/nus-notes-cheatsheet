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7"/>
  </p:notesMasterIdLst>
  <p:sldIdLst>
    <p:sldId id="256" r:id="rId2"/>
    <p:sldId id="354" r:id="rId3"/>
    <p:sldId id="355" r:id="rId4"/>
    <p:sldId id="356" r:id="rId5"/>
    <p:sldId id="382" r:id="rId6"/>
    <p:sldId id="357" r:id="rId7"/>
    <p:sldId id="358" r:id="rId8"/>
    <p:sldId id="359" r:id="rId9"/>
    <p:sldId id="360" r:id="rId10"/>
    <p:sldId id="361" r:id="rId11"/>
    <p:sldId id="362" r:id="rId12"/>
    <p:sldId id="363" r:id="rId13"/>
    <p:sldId id="364" r:id="rId14"/>
    <p:sldId id="365" r:id="rId15"/>
    <p:sldId id="387" r:id="rId16"/>
    <p:sldId id="366" r:id="rId17"/>
    <p:sldId id="367" r:id="rId18"/>
    <p:sldId id="368" r:id="rId19"/>
    <p:sldId id="369" r:id="rId20"/>
    <p:sldId id="390" r:id="rId21"/>
    <p:sldId id="391" r:id="rId22"/>
    <p:sldId id="370" r:id="rId23"/>
    <p:sldId id="371" r:id="rId24"/>
    <p:sldId id="372" r:id="rId25"/>
    <p:sldId id="375" r:id="rId26"/>
    <p:sldId id="376" r:id="rId27"/>
    <p:sldId id="377" r:id="rId28"/>
    <p:sldId id="388" r:id="rId29"/>
    <p:sldId id="389" r:id="rId30"/>
    <p:sldId id="380" r:id="rId31"/>
    <p:sldId id="383" r:id="rId32"/>
    <p:sldId id="384" r:id="rId33"/>
    <p:sldId id="385" r:id="rId34"/>
    <p:sldId id="393" r:id="rId35"/>
    <p:sldId id="381" r:id="rId36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C4E1F2"/>
    <a:srgbClr val="660066"/>
    <a:srgbClr val="003300"/>
    <a:srgbClr val="000000"/>
    <a:srgbClr val="006600"/>
    <a:srgbClr val="FFFFCC"/>
    <a:srgbClr val="0033CC"/>
    <a:srgbClr val="00CC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5" autoAdjust="0"/>
    <p:restoredTop sz="96586" autoAdjust="0"/>
  </p:normalViewPr>
  <p:slideViewPr>
    <p:cSldViewPr>
      <p:cViewPr varScale="1">
        <p:scale>
          <a:sx n="65" d="100"/>
          <a:sy n="65" d="100"/>
        </p:scale>
        <p:origin x="957" y="2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D8C63D3E-5435-421A-B6F7-705351D560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9534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6312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Page table can allow several processes to share the same physical memory frame</a:t>
            </a:r>
          </a:p>
          <a:p>
            <a:pPr lvl="1"/>
            <a:r>
              <a:rPr lang="en-US" altLang="en-US" dirty="0"/>
              <a:t>Use the same physical frame number in the page table entries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Possible usage:</a:t>
            </a:r>
          </a:p>
          <a:p>
            <a:pPr lvl="1"/>
            <a:r>
              <a:rPr lang="en-US" altLang="en-US" dirty="0"/>
              <a:t>Shared code page:</a:t>
            </a:r>
          </a:p>
          <a:p>
            <a:pPr lvl="2"/>
            <a:r>
              <a:rPr lang="en-US" altLang="en-US" dirty="0"/>
              <a:t>Some code are being used by many processes, e.g. C standard library, system calls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/>
            <a:r>
              <a:rPr lang="en-US" altLang="en-US" dirty="0"/>
              <a:t>Implement Copy-On-Write:</a:t>
            </a:r>
          </a:p>
          <a:p>
            <a:pPr lvl="2"/>
            <a:r>
              <a:rPr lang="en-US" altLang="en-US" dirty="0"/>
              <a:t>As discussed in "Process Abstraction", parent and child process can share a page until one tries to update a value in 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2570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Page table can allow several processes to share the same physical memory frame</a:t>
            </a:r>
          </a:p>
          <a:p>
            <a:pPr lvl="1"/>
            <a:r>
              <a:rPr lang="en-US" altLang="en-US" dirty="0"/>
              <a:t>Use the same physical frame number in the page table entries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Possible usage:</a:t>
            </a:r>
          </a:p>
          <a:p>
            <a:pPr lvl="1"/>
            <a:r>
              <a:rPr lang="en-US" altLang="en-US" dirty="0"/>
              <a:t>Shared code page:</a:t>
            </a:r>
          </a:p>
          <a:p>
            <a:pPr lvl="2"/>
            <a:r>
              <a:rPr lang="en-US" altLang="en-US" dirty="0"/>
              <a:t>Some code are being used by many processes, e.g. C standard library, system calls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/>
            <a:r>
              <a:rPr lang="en-US" altLang="en-US" dirty="0"/>
              <a:t>Implement Copy-On-Write:</a:t>
            </a:r>
          </a:p>
          <a:p>
            <a:pPr lvl="2"/>
            <a:r>
              <a:rPr lang="en-US" altLang="en-US" dirty="0"/>
              <a:t>As discussed in "Process Abstraction", parent and child process can share a page until one tries to update a value in 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9003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Page table can allow several processes to share the same physical memory frame</a:t>
            </a:r>
          </a:p>
          <a:p>
            <a:pPr lvl="1"/>
            <a:r>
              <a:rPr lang="en-US" altLang="en-US" dirty="0"/>
              <a:t>Use the same physical frame number in the page table entries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Possible usage:</a:t>
            </a:r>
          </a:p>
          <a:p>
            <a:pPr lvl="1"/>
            <a:r>
              <a:rPr lang="en-US" altLang="en-US" dirty="0"/>
              <a:t>Shared code page:</a:t>
            </a:r>
          </a:p>
          <a:p>
            <a:pPr lvl="2"/>
            <a:r>
              <a:rPr lang="en-US" altLang="en-US" dirty="0"/>
              <a:t>Some code are being used by many processes, e.g. C standard library, system calls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/>
            <a:r>
              <a:rPr lang="en-US" altLang="en-US" dirty="0"/>
              <a:t>Implement Copy-On-Write:</a:t>
            </a:r>
          </a:p>
          <a:p>
            <a:pPr lvl="2"/>
            <a:r>
              <a:rPr lang="en-US" altLang="en-US" dirty="0"/>
              <a:t>As discussed in "Process Abstraction", parent and child process can share a page until one tries to update a value in 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2776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177D97-4823-4F7B-8850-314FB921F4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L8 - AY1819S1 ]</a:t>
            </a:r>
          </a:p>
        </p:txBody>
      </p:sp>
    </p:spTree>
    <p:extLst>
      <p:ext uri="{BB962C8B-B14F-4D97-AF65-F5344CB8AC3E}">
        <p14:creationId xmlns:p14="http://schemas.microsoft.com/office/powerpoint/2010/main" val="39365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9B78E5-7CBB-416F-85A9-6A6E33CFDE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L8 -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47822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3F01D5-1E4D-4AB2-BA30-06DD7E1CE6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L8 -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0051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A9961-5DF7-4572-9C10-2FA82B8B523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L8 -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3822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48CA81-7D9B-4EB8-93B9-0D05F3834E0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L8 -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6889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1C99A1-EC1E-46F1-8A80-869AC29E4F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L8 -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7815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C73B67-0DE8-4D98-BAAA-91C5FDC1FF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L8 -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2584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EE1922-6EFC-498D-A404-600BF5AADB6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L8 - AY1819S1 ]</a:t>
            </a:r>
          </a:p>
        </p:txBody>
      </p:sp>
    </p:spTree>
    <p:extLst>
      <p:ext uri="{BB962C8B-B14F-4D97-AF65-F5344CB8AC3E}">
        <p14:creationId xmlns:p14="http://schemas.microsoft.com/office/powerpoint/2010/main" val="241057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A4C580-959A-4DCA-AC37-879387F4037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L8 - AY1819S1 ]</a:t>
            </a:r>
          </a:p>
        </p:txBody>
      </p:sp>
    </p:spTree>
    <p:extLst>
      <p:ext uri="{BB962C8B-B14F-4D97-AF65-F5344CB8AC3E}">
        <p14:creationId xmlns:p14="http://schemas.microsoft.com/office/powerpoint/2010/main" val="108604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D0C08E-D693-46C9-A6E9-2EECB9F459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L8 -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6568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63A473AF-C3EB-4885-86D1-A60D69D2DE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L8 - AY1819S1 ]</a:t>
            </a:r>
          </a:p>
        </p:txBody>
      </p:sp>
    </p:spTree>
    <p:extLst>
      <p:ext uri="{BB962C8B-B14F-4D97-AF65-F5344CB8AC3E}">
        <p14:creationId xmlns:p14="http://schemas.microsoft.com/office/powerpoint/2010/main" val="4666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4511BD33-39C3-401A-9196-1A39F03979B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09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[ CS2106 L8 - AY1819S1 ]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dirty="0">
                <a:solidFill>
                  <a:prstClr val="black"/>
                </a:solidFill>
              </a:rPr>
              <a:t>Memory Management</a:t>
            </a:r>
            <a:br>
              <a:rPr lang="en-US" altLang="en-US" dirty="0">
                <a:solidFill>
                  <a:prstClr val="black"/>
                </a:solidFill>
              </a:rPr>
            </a:br>
            <a:r>
              <a:rPr lang="en-US" altLang="en-US" b="1" dirty="0">
                <a:solidFill>
                  <a:srgbClr val="C00000"/>
                </a:solidFill>
              </a:rPr>
              <a:t>Disjoint Memory Schemes</a:t>
            </a:r>
            <a:endParaRPr lang="en-US" altLang="en-US" sz="4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r>
              <a:rPr lang="en-US" altLang="en-US" dirty="0"/>
              <a:t>Paging Scheme</a:t>
            </a:r>
          </a:p>
          <a:p>
            <a:pPr lvl="1"/>
            <a:r>
              <a:rPr lang="en-US" altLang="en-US" dirty="0"/>
              <a:t>Basic Idea</a:t>
            </a:r>
          </a:p>
          <a:p>
            <a:pPr lvl="1"/>
            <a:r>
              <a:rPr lang="en-US" altLang="en-US" dirty="0"/>
              <a:t>Logical Address Translation</a:t>
            </a:r>
          </a:p>
          <a:p>
            <a:pPr lvl="1"/>
            <a:r>
              <a:rPr lang="en-US" altLang="en-US" dirty="0"/>
              <a:t>Hardware Support</a:t>
            </a:r>
          </a:p>
          <a:p>
            <a:pPr lvl="1"/>
            <a:r>
              <a:rPr lang="en-US" altLang="en-US" dirty="0"/>
              <a:t>Protection &amp; Page Sharing</a:t>
            </a:r>
          </a:p>
          <a:p>
            <a:r>
              <a:rPr lang="en-US" altLang="en-US" dirty="0"/>
              <a:t>Segmentation Scheme</a:t>
            </a:r>
          </a:p>
          <a:p>
            <a:pPr lvl="1"/>
            <a:r>
              <a:rPr lang="en-US" altLang="en-US" dirty="0"/>
              <a:t>Motivation</a:t>
            </a:r>
          </a:p>
          <a:p>
            <a:pPr lvl="1"/>
            <a:r>
              <a:rPr lang="en-US" altLang="en-US" dirty="0"/>
              <a:t>Basic Idea</a:t>
            </a:r>
          </a:p>
          <a:p>
            <a:pPr lvl="1"/>
            <a:r>
              <a:rPr lang="en-US" altLang="en-US" dirty="0"/>
              <a:t>Logical Address Translation</a:t>
            </a:r>
          </a:p>
          <a:p>
            <a:pPr lvl="1"/>
            <a:r>
              <a:rPr lang="en-US" altLang="en-US" dirty="0"/>
              <a:t>Hardware Support</a:t>
            </a:r>
          </a:p>
          <a:p>
            <a:r>
              <a:rPr lang="en-US" altLang="en-US" dirty="0"/>
              <a:t>Segmentation with Paging Scheme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2209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Disjoined Memory Space with Paging</a:t>
            </a:r>
          </a:p>
        </p:txBody>
      </p:sp>
      <p:sp>
        <p:nvSpPr>
          <p:cNvPr id="76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In lecture 7, memory management was discussed with two assumptions: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altLang="en-US" dirty="0"/>
              <a:t>Process is in contiguous physical memory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altLang="en-US" dirty="0"/>
              <a:t>Physical memory is large enough to hold the whole process</a:t>
            </a:r>
          </a:p>
          <a:p>
            <a:endParaRPr lang="en-US" altLang="en-US" dirty="0"/>
          </a:p>
          <a:p>
            <a:r>
              <a:rPr lang="en-US" altLang="en-US" dirty="0"/>
              <a:t>Let us remove assumption(1) in this lecture:</a:t>
            </a:r>
          </a:p>
          <a:p>
            <a:pPr lvl="1"/>
            <a:r>
              <a:rPr lang="en-US" altLang="en-US" dirty="0"/>
              <a:t>Process memory space can now be in </a:t>
            </a:r>
            <a:r>
              <a:rPr lang="en-US" altLang="en-US" b="1" dirty="0"/>
              <a:t>disjoint physical memory locations</a:t>
            </a:r>
            <a:endParaRPr lang="en-US" altLang="en-US" dirty="0"/>
          </a:p>
          <a:p>
            <a:pPr lvl="1"/>
            <a:r>
              <a:rPr lang="en-US" altLang="en-US" dirty="0"/>
              <a:t>Via a main mechanism known as </a:t>
            </a:r>
            <a:r>
              <a:rPr lang="en-US" altLang="en-US" b="1" dirty="0"/>
              <a:t>paging</a:t>
            </a: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4163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Paging Scheme: Basic Idea</a:t>
            </a:r>
          </a:p>
        </p:txBody>
      </p:sp>
      <p:sp>
        <p:nvSpPr>
          <p:cNvPr id="76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US" dirty="0"/>
              <a:t>The </a:t>
            </a:r>
            <a:r>
              <a:rPr lang="en-US" altLang="en-US" b="1" dirty="0"/>
              <a:t>physical memory</a:t>
            </a:r>
            <a:r>
              <a:rPr lang="en-US" altLang="en-US" dirty="0"/>
              <a:t> is split into regions of fixed size (decided by hardware)</a:t>
            </a:r>
          </a:p>
          <a:p>
            <a:pPr lvl="1"/>
            <a:r>
              <a:rPr lang="en-US" altLang="en-US" dirty="0"/>
              <a:t>known as </a:t>
            </a:r>
            <a:r>
              <a:rPr lang="en-US" altLang="en-US" b="1" dirty="0"/>
              <a:t>physical frame</a:t>
            </a:r>
          </a:p>
          <a:p>
            <a:pPr marL="344487" lvl="1" indent="0">
              <a:buNone/>
            </a:pPr>
            <a:endParaRPr lang="en-US" altLang="en-US" b="1" dirty="0"/>
          </a:p>
          <a:p>
            <a:r>
              <a:rPr lang="en-US" altLang="en-US" dirty="0"/>
              <a:t>The </a:t>
            </a:r>
            <a:r>
              <a:rPr lang="en-US" altLang="en-US" b="1" dirty="0"/>
              <a:t>logical memory</a:t>
            </a:r>
            <a:r>
              <a:rPr lang="en-US" altLang="en-US" dirty="0"/>
              <a:t> of a process is similarly split into regions of </a:t>
            </a:r>
            <a:r>
              <a:rPr lang="en-US" altLang="en-US" b="1" i="1" dirty="0"/>
              <a:t>same size</a:t>
            </a:r>
          </a:p>
          <a:p>
            <a:pPr lvl="1"/>
            <a:r>
              <a:rPr lang="en-US" altLang="en-US" dirty="0"/>
              <a:t>known as </a:t>
            </a:r>
            <a:r>
              <a:rPr lang="en-US" altLang="en-US" b="1" dirty="0"/>
              <a:t>logical page</a:t>
            </a:r>
          </a:p>
          <a:p>
            <a:pPr lvl="1"/>
            <a:endParaRPr lang="en-US" altLang="en-US" b="1" dirty="0"/>
          </a:p>
          <a:p>
            <a:r>
              <a:rPr lang="en-US" altLang="en-US" dirty="0"/>
              <a:t>At execution time, the pages of a process are loaded into </a:t>
            </a:r>
            <a:r>
              <a:rPr lang="en-US" altLang="en-US" b="1" dirty="0"/>
              <a:t>any available </a:t>
            </a:r>
            <a:r>
              <a:rPr lang="en-US" altLang="en-US" dirty="0"/>
              <a:t>memory frame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altLang="en-US" dirty="0">
                <a:sym typeface="Wingdings" panose="05000000000000000000" pitchFamily="2" charset="2"/>
              </a:rPr>
              <a:t>Logical memory space remain contiguous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altLang="en-US" dirty="0"/>
              <a:t>Occupied physical memory region can be disjoined!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8185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Table: Lookup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contiguous memory allocation, it is very simple to keep track of the usage of a process:</a:t>
            </a:r>
          </a:p>
          <a:p>
            <a:pPr lvl="1"/>
            <a:r>
              <a:rPr lang="en-US" dirty="0"/>
              <a:t>Minimally, </a:t>
            </a:r>
            <a:r>
              <a:rPr lang="en-US" b="1" dirty="0"/>
              <a:t>starting address </a:t>
            </a:r>
            <a:r>
              <a:rPr lang="en-US" dirty="0"/>
              <a:t>and </a:t>
            </a:r>
            <a:r>
              <a:rPr lang="en-US" b="1" dirty="0"/>
              <a:t>size of process</a:t>
            </a:r>
          </a:p>
          <a:p>
            <a:pPr lvl="1"/>
            <a:endParaRPr lang="en-US" b="1" dirty="0"/>
          </a:p>
          <a:p>
            <a:r>
              <a:rPr lang="en-US" dirty="0"/>
              <a:t>Under paging scheme:</a:t>
            </a:r>
          </a:p>
          <a:p>
            <a:pPr lvl="1"/>
            <a:r>
              <a:rPr lang="en-US" dirty="0"/>
              <a:t>Logical page </a:t>
            </a:r>
            <a:r>
              <a:rPr lang="en-US" dirty="0">
                <a:sym typeface="Wingdings" panose="05000000000000000000" pitchFamily="2" charset="2"/>
              </a:rPr>
              <a:t> Physical frame mapping is no longer straightforward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Need a lookup table to provide the translation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This structure is known as a </a:t>
            </a:r>
            <a:r>
              <a:rPr lang="en-US" b="1" dirty="0">
                <a:sym typeface="Wingdings" panose="05000000000000000000" pitchFamily="2" charset="2"/>
              </a:rPr>
              <a:t>Page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5223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Paging: Illustration</a:t>
            </a:r>
          </a:p>
        </p:txBody>
      </p:sp>
      <p:grpSp>
        <p:nvGrpSpPr>
          <p:cNvPr id="769032" name="Group 8"/>
          <p:cNvGrpSpPr>
            <a:grpSpLocks/>
          </p:cNvGrpSpPr>
          <p:nvPr/>
        </p:nvGrpSpPr>
        <p:grpSpPr bwMode="auto">
          <a:xfrm>
            <a:off x="1066800" y="1905000"/>
            <a:ext cx="1143000" cy="2438400"/>
            <a:chOff x="672" y="672"/>
            <a:chExt cx="720" cy="1536"/>
          </a:xfrm>
        </p:grpSpPr>
        <p:sp>
          <p:nvSpPr>
            <p:cNvPr id="769028" name="Rectangle 4"/>
            <p:cNvSpPr>
              <a:spLocks noChangeArrowheads="1"/>
            </p:cNvSpPr>
            <p:nvPr/>
          </p:nvSpPr>
          <p:spPr bwMode="auto">
            <a:xfrm>
              <a:off x="672" y="1824"/>
              <a:ext cx="720" cy="38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3</a:t>
              </a:r>
            </a:p>
          </p:txBody>
        </p:sp>
        <p:sp>
          <p:nvSpPr>
            <p:cNvPr id="769029" name="Rectangle 5"/>
            <p:cNvSpPr>
              <a:spLocks noChangeArrowheads="1"/>
            </p:cNvSpPr>
            <p:nvPr/>
          </p:nvSpPr>
          <p:spPr bwMode="auto">
            <a:xfrm>
              <a:off x="672" y="1440"/>
              <a:ext cx="720" cy="38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2</a:t>
              </a:r>
            </a:p>
          </p:txBody>
        </p:sp>
        <p:sp>
          <p:nvSpPr>
            <p:cNvPr id="769030" name="Rectangle 6"/>
            <p:cNvSpPr>
              <a:spLocks noChangeArrowheads="1"/>
            </p:cNvSpPr>
            <p:nvPr/>
          </p:nvSpPr>
          <p:spPr bwMode="auto">
            <a:xfrm>
              <a:off x="672" y="1056"/>
              <a:ext cx="720" cy="38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1</a:t>
              </a:r>
            </a:p>
          </p:txBody>
        </p:sp>
        <p:sp>
          <p:nvSpPr>
            <p:cNvPr id="769031" name="Rectangle 7"/>
            <p:cNvSpPr>
              <a:spLocks noChangeArrowheads="1"/>
            </p:cNvSpPr>
            <p:nvPr/>
          </p:nvSpPr>
          <p:spPr bwMode="auto">
            <a:xfrm>
              <a:off x="672" y="672"/>
              <a:ext cx="720" cy="38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0</a:t>
              </a:r>
            </a:p>
          </p:txBody>
        </p:sp>
      </p:grpSp>
      <p:sp>
        <p:nvSpPr>
          <p:cNvPr id="769039" name="Rectangle 15"/>
          <p:cNvSpPr>
            <a:spLocks noChangeArrowheads="1"/>
          </p:cNvSpPr>
          <p:nvPr/>
        </p:nvSpPr>
        <p:spPr bwMode="auto">
          <a:xfrm>
            <a:off x="838200" y="4343400"/>
            <a:ext cx="1600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/>
              <a:t>logical memory</a:t>
            </a:r>
          </a:p>
        </p:txBody>
      </p:sp>
      <p:sp>
        <p:nvSpPr>
          <p:cNvPr id="769034" name="Rectangle 10"/>
          <p:cNvSpPr>
            <a:spLocks noChangeArrowheads="1"/>
          </p:cNvSpPr>
          <p:nvPr/>
        </p:nvSpPr>
        <p:spPr bwMode="auto">
          <a:xfrm>
            <a:off x="6705600" y="4038600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3</a:t>
            </a:r>
          </a:p>
        </p:txBody>
      </p:sp>
      <p:sp>
        <p:nvSpPr>
          <p:cNvPr id="769035" name="Rectangle 11"/>
          <p:cNvSpPr>
            <a:spLocks noChangeArrowheads="1"/>
          </p:cNvSpPr>
          <p:nvPr/>
        </p:nvSpPr>
        <p:spPr bwMode="auto">
          <a:xfrm>
            <a:off x="6705600" y="990600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769036" name="Rectangle 12"/>
          <p:cNvSpPr>
            <a:spLocks noChangeArrowheads="1"/>
          </p:cNvSpPr>
          <p:nvPr/>
        </p:nvSpPr>
        <p:spPr bwMode="auto">
          <a:xfrm>
            <a:off x="6705600" y="4648200"/>
            <a:ext cx="1143000" cy="6096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769037" name="Rectangle 13"/>
          <p:cNvSpPr>
            <a:spLocks noChangeArrowheads="1"/>
          </p:cNvSpPr>
          <p:nvPr/>
        </p:nvSpPr>
        <p:spPr bwMode="auto">
          <a:xfrm>
            <a:off x="6705600" y="2209800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0</a:t>
            </a:r>
          </a:p>
        </p:txBody>
      </p:sp>
      <p:sp>
        <p:nvSpPr>
          <p:cNvPr id="769038" name="Rectangle 14"/>
          <p:cNvSpPr>
            <a:spLocks noChangeArrowheads="1"/>
          </p:cNvSpPr>
          <p:nvPr/>
        </p:nvSpPr>
        <p:spPr bwMode="auto">
          <a:xfrm>
            <a:off x="6705600" y="2819400"/>
            <a:ext cx="1143000" cy="6096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en-US" altLang="en-US" sz="1600" b="1">
              <a:latin typeface="Courier New" panose="02070309020205020404" pitchFamily="49" charset="0"/>
            </a:endParaRPr>
          </a:p>
        </p:txBody>
      </p:sp>
      <p:sp>
        <p:nvSpPr>
          <p:cNvPr id="769040" name="Rectangle 16"/>
          <p:cNvSpPr>
            <a:spLocks noChangeArrowheads="1"/>
          </p:cNvSpPr>
          <p:nvPr/>
        </p:nvSpPr>
        <p:spPr bwMode="auto">
          <a:xfrm>
            <a:off x="6705600" y="3429000"/>
            <a:ext cx="1143000" cy="6096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en-US" altLang="en-US" sz="1600" b="1">
              <a:latin typeface="Courier New" panose="02070309020205020404" pitchFamily="49" charset="0"/>
            </a:endParaRPr>
          </a:p>
        </p:txBody>
      </p:sp>
      <p:sp>
        <p:nvSpPr>
          <p:cNvPr id="769041" name="Rectangle 17"/>
          <p:cNvSpPr>
            <a:spLocks noChangeArrowheads="1"/>
          </p:cNvSpPr>
          <p:nvPr/>
        </p:nvSpPr>
        <p:spPr bwMode="auto">
          <a:xfrm>
            <a:off x="6705600" y="1600200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2</a:t>
            </a:r>
          </a:p>
        </p:txBody>
      </p:sp>
      <p:sp>
        <p:nvSpPr>
          <p:cNvPr id="769042" name="Rectangle 18"/>
          <p:cNvSpPr>
            <a:spLocks noChangeArrowheads="1"/>
          </p:cNvSpPr>
          <p:nvPr/>
        </p:nvSpPr>
        <p:spPr bwMode="auto">
          <a:xfrm>
            <a:off x="6705600" y="5257800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1</a:t>
            </a:r>
          </a:p>
        </p:txBody>
      </p:sp>
      <p:sp>
        <p:nvSpPr>
          <p:cNvPr id="769044" name="Rectangle 20"/>
          <p:cNvSpPr>
            <a:spLocks noChangeArrowheads="1"/>
          </p:cNvSpPr>
          <p:nvPr/>
        </p:nvSpPr>
        <p:spPr bwMode="auto">
          <a:xfrm>
            <a:off x="6553200" y="5867400"/>
            <a:ext cx="1600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/>
              <a:t>physical memory</a:t>
            </a:r>
          </a:p>
        </p:txBody>
      </p:sp>
      <p:grpSp>
        <p:nvGrpSpPr>
          <p:cNvPr id="769054" name="Group 30"/>
          <p:cNvGrpSpPr>
            <a:grpSpLocks/>
          </p:cNvGrpSpPr>
          <p:nvPr/>
        </p:nvGrpSpPr>
        <p:grpSpPr bwMode="auto">
          <a:xfrm>
            <a:off x="5715000" y="990600"/>
            <a:ext cx="990600" cy="4876800"/>
            <a:chOff x="3216" y="672"/>
            <a:chExt cx="624" cy="3072"/>
          </a:xfrm>
        </p:grpSpPr>
        <p:sp>
          <p:nvSpPr>
            <p:cNvPr id="769055" name="Rectangle 31"/>
            <p:cNvSpPr>
              <a:spLocks noChangeArrowheads="1"/>
            </p:cNvSpPr>
            <p:nvPr/>
          </p:nvSpPr>
          <p:spPr bwMode="auto">
            <a:xfrm>
              <a:off x="3216" y="3360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frame 7</a:t>
              </a:r>
            </a:p>
          </p:txBody>
        </p:sp>
        <p:sp>
          <p:nvSpPr>
            <p:cNvPr id="769056" name="Rectangle 32"/>
            <p:cNvSpPr>
              <a:spLocks noChangeArrowheads="1"/>
            </p:cNvSpPr>
            <p:nvPr/>
          </p:nvSpPr>
          <p:spPr bwMode="auto">
            <a:xfrm>
              <a:off x="3216" y="2976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6</a:t>
              </a:r>
            </a:p>
          </p:txBody>
        </p:sp>
        <p:sp>
          <p:nvSpPr>
            <p:cNvPr id="769057" name="Rectangle 33"/>
            <p:cNvSpPr>
              <a:spLocks noChangeArrowheads="1"/>
            </p:cNvSpPr>
            <p:nvPr/>
          </p:nvSpPr>
          <p:spPr bwMode="auto">
            <a:xfrm>
              <a:off x="3216" y="2592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5</a:t>
              </a:r>
            </a:p>
          </p:txBody>
        </p:sp>
        <p:sp>
          <p:nvSpPr>
            <p:cNvPr id="769058" name="Rectangle 34"/>
            <p:cNvSpPr>
              <a:spLocks noChangeArrowheads="1"/>
            </p:cNvSpPr>
            <p:nvPr/>
          </p:nvSpPr>
          <p:spPr bwMode="auto">
            <a:xfrm>
              <a:off x="3216" y="2208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4</a:t>
              </a:r>
            </a:p>
          </p:txBody>
        </p:sp>
        <p:sp>
          <p:nvSpPr>
            <p:cNvPr id="769059" name="Rectangle 35"/>
            <p:cNvSpPr>
              <a:spLocks noChangeArrowheads="1"/>
            </p:cNvSpPr>
            <p:nvPr/>
          </p:nvSpPr>
          <p:spPr bwMode="auto">
            <a:xfrm>
              <a:off x="3216" y="1824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3</a:t>
              </a:r>
            </a:p>
          </p:txBody>
        </p:sp>
        <p:sp>
          <p:nvSpPr>
            <p:cNvPr id="769060" name="Rectangle 36"/>
            <p:cNvSpPr>
              <a:spLocks noChangeArrowheads="1"/>
            </p:cNvSpPr>
            <p:nvPr/>
          </p:nvSpPr>
          <p:spPr bwMode="auto">
            <a:xfrm>
              <a:off x="3216" y="1440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2</a:t>
              </a:r>
            </a:p>
          </p:txBody>
        </p:sp>
        <p:sp>
          <p:nvSpPr>
            <p:cNvPr id="769061" name="Rectangle 37"/>
            <p:cNvSpPr>
              <a:spLocks noChangeArrowheads="1"/>
            </p:cNvSpPr>
            <p:nvPr/>
          </p:nvSpPr>
          <p:spPr bwMode="auto">
            <a:xfrm>
              <a:off x="3216" y="1056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1</a:t>
              </a:r>
            </a:p>
          </p:txBody>
        </p:sp>
        <p:sp>
          <p:nvSpPr>
            <p:cNvPr id="769062" name="Rectangle 38"/>
            <p:cNvSpPr>
              <a:spLocks noChangeArrowheads="1"/>
            </p:cNvSpPr>
            <p:nvPr/>
          </p:nvSpPr>
          <p:spPr bwMode="auto">
            <a:xfrm>
              <a:off x="3216" y="672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frame 0</a:t>
              </a:r>
            </a:p>
          </p:txBody>
        </p:sp>
      </p:grpSp>
      <p:grpSp>
        <p:nvGrpSpPr>
          <p:cNvPr id="769082" name="Group 58"/>
          <p:cNvGrpSpPr>
            <a:grpSpLocks/>
          </p:cNvGrpSpPr>
          <p:nvPr/>
        </p:nvGrpSpPr>
        <p:grpSpPr bwMode="auto">
          <a:xfrm>
            <a:off x="3581400" y="2514600"/>
            <a:ext cx="990600" cy="1524000"/>
            <a:chOff x="2112" y="2160"/>
            <a:chExt cx="624" cy="960"/>
          </a:xfrm>
        </p:grpSpPr>
        <p:grpSp>
          <p:nvGrpSpPr>
            <p:cNvPr id="769072" name="Group 48"/>
            <p:cNvGrpSpPr>
              <a:grpSpLocks/>
            </p:cNvGrpSpPr>
            <p:nvPr/>
          </p:nvGrpSpPr>
          <p:grpSpPr bwMode="auto">
            <a:xfrm>
              <a:off x="2112" y="2160"/>
              <a:ext cx="624" cy="240"/>
              <a:chOff x="2208" y="3648"/>
              <a:chExt cx="624" cy="240"/>
            </a:xfrm>
          </p:grpSpPr>
          <p:sp>
            <p:nvSpPr>
              <p:cNvPr id="769045" name="Rectangle 21"/>
              <p:cNvSpPr>
                <a:spLocks noChangeArrowheads="1"/>
              </p:cNvSpPr>
              <p:nvPr/>
            </p:nvSpPr>
            <p:spPr bwMode="auto">
              <a:xfrm>
                <a:off x="2208" y="3648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dirty="0"/>
                  <a:t>0</a:t>
                </a:r>
              </a:p>
            </p:txBody>
          </p:sp>
          <p:sp>
            <p:nvSpPr>
              <p:cNvPr id="769071" name="Rectangle 47"/>
              <p:cNvSpPr>
                <a:spLocks noChangeArrowheads="1"/>
              </p:cNvSpPr>
              <p:nvPr/>
            </p:nvSpPr>
            <p:spPr bwMode="auto">
              <a:xfrm>
                <a:off x="2496" y="3648"/>
                <a:ext cx="336" cy="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2</a:t>
                </a:r>
              </a:p>
            </p:txBody>
          </p:sp>
        </p:grpSp>
        <p:grpSp>
          <p:nvGrpSpPr>
            <p:cNvPr id="769073" name="Group 49"/>
            <p:cNvGrpSpPr>
              <a:grpSpLocks/>
            </p:cNvGrpSpPr>
            <p:nvPr/>
          </p:nvGrpSpPr>
          <p:grpSpPr bwMode="auto">
            <a:xfrm>
              <a:off x="2112" y="2400"/>
              <a:ext cx="624" cy="240"/>
              <a:chOff x="2208" y="3648"/>
              <a:chExt cx="624" cy="240"/>
            </a:xfrm>
          </p:grpSpPr>
          <p:sp>
            <p:nvSpPr>
              <p:cNvPr id="769074" name="Rectangle 50"/>
              <p:cNvSpPr>
                <a:spLocks noChangeArrowheads="1"/>
              </p:cNvSpPr>
              <p:nvPr/>
            </p:nvSpPr>
            <p:spPr bwMode="auto">
              <a:xfrm>
                <a:off x="2208" y="3648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dirty="0"/>
                  <a:t>1</a:t>
                </a:r>
              </a:p>
            </p:txBody>
          </p:sp>
          <p:sp>
            <p:nvSpPr>
              <p:cNvPr id="769075" name="Rectangle 51"/>
              <p:cNvSpPr>
                <a:spLocks noChangeArrowheads="1"/>
              </p:cNvSpPr>
              <p:nvPr/>
            </p:nvSpPr>
            <p:spPr bwMode="auto">
              <a:xfrm>
                <a:off x="2496" y="3648"/>
                <a:ext cx="336" cy="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7</a:t>
                </a:r>
              </a:p>
            </p:txBody>
          </p:sp>
        </p:grpSp>
        <p:grpSp>
          <p:nvGrpSpPr>
            <p:cNvPr id="769076" name="Group 52"/>
            <p:cNvGrpSpPr>
              <a:grpSpLocks/>
            </p:cNvGrpSpPr>
            <p:nvPr/>
          </p:nvGrpSpPr>
          <p:grpSpPr bwMode="auto">
            <a:xfrm>
              <a:off x="2112" y="2640"/>
              <a:ext cx="624" cy="240"/>
              <a:chOff x="2208" y="3648"/>
              <a:chExt cx="624" cy="240"/>
            </a:xfrm>
          </p:grpSpPr>
          <p:sp>
            <p:nvSpPr>
              <p:cNvPr id="769077" name="Rectangle 53"/>
              <p:cNvSpPr>
                <a:spLocks noChangeArrowheads="1"/>
              </p:cNvSpPr>
              <p:nvPr/>
            </p:nvSpPr>
            <p:spPr bwMode="auto">
              <a:xfrm>
                <a:off x="2208" y="3648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dirty="0"/>
                  <a:t>2</a:t>
                </a:r>
              </a:p>
            </p:txBody>
          </p:sp>
          <p:sp>
            <p:nvSpPr>
              <p:cNvPr id="769078" name="Rectangle 54"/>
              <p:cNvSpPr>
                <a:spLocks noChangeArrowheads="1"/>
              </p:cNvSpPr>
              <p:nvPr/>
            </p:nvSpPr>
            <p:spPr bwMode="auto">
              <a:xfrm>
                <a:off x="2496" y="3648"/>
                <a:ext cx="336" cy="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1</a:t>
                </a:r>
              </a:p>
            </p:txBody>
          </p:sp>
        </p:grpSp>
        <p:grpSp>
          <p:nvGrpSpPr>
            <p:cNvPr id="769079" name="Group 55"/>
            <p:cNvGrpSpPr>
              <a:grpSpLocks/>
            </p:cNvGrpSpPr>
            <p:nvPr/>
          </p:nvGrpSpPr>
          <p:grpSpPr bwMode="auto">
            <a:xfrm>
              <a:off x="2112" y="2880"/>
              <a:ext cx="624" cy="240"/>
              <a:chOff x="2208" y="3648"/>
              <a:chExt cx="624" cy="240"/>
            </a:xfrm>
          </p:grpSpPr>
          <p:sp>
            <p:nvSpPr>
              <p:cNvPr id="769080" name="Rectangle 56"/>
              <p:cNvSpPr>
                <a:spLocks noChangeArrowheads="1"/>
              </p:cNvSpPr>
              <p:nvPr/>
            </p:nvSpPr>
            <p:spPr bwMode="auto">
              <a:xfrm>
                <a:off x="2208" y="3648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dirty="0"/>
                  <a:t>3</a:t>
                </a:r>
              </a:p>
            </p:txBody>
          </p:sp>
          <p:sp>
            <p:nvSpPr>
              <p:cNvPr id="769081" name="Rectangle 57"/>
              <p:cNvSpPr>
                <a:spLocks noChangeArrowheads="1"/>
              </p:cNvSpPr>
              <p:nvPr/>
            </p:nvSpPr>
            <p:spPr bwMode="auto">
              <a:xfrm>
                <a:off x="2496" y="3648"/>
                <a:ext cx="336" cy="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5</a:t>
                </a:r>
              </a:p>
            </p:txBody>
          </p:sp>
        </p:grpSp>
      </p:grpSp>
      <p:sp>
        <p:nvSpPr>
          <p:cNvPr id="769083" name="Rectangle 59"/>
          <p:cNvSpPr>
            <a:spLocks noChangeArrowheads="1"/>
          </p:cNvSpPr>
          <p:nvPr/>
        </p:nvSpPr>
        <p:spPr bwMode="auto">
          <a:xfrm>
            <a:off x="3429000" y="4114800"/>
            <a:ext cx="16002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/>
              <a:t>page table</a:t>
            </a:r>
          </a:p>
          <a:p>
            <a:pPr algn="ctr"/>
            <a:endParaRPr lang="en-US" altLang="en-US" sz="1600" b="1" dirty="0"/>
          </a:p>
          <a:p>
            <a:pPr algn="ctr"/>
            <a:r>
              <a:rPr lang="en-US" altLang="en-US" sz="1600" dirty="0"/>
              <a:t>A mapping mechanism to convert page# to frame#</a:t>
            </a:r>
          </a:p>
        </p:txBody>
      </p:sp>
      <p:sp>
        <p:nvSpPr>
          <p:cNvPr id="769086" name="Line 62"/>
          <p:cNvSpPr>
            <a:spLocks noChangeShapeType="1"/>
          </p:cNvSpPr>
          <p:nvPr/>
        </p:nvSpPr>
        <p:spPr bwMode="auto">
          <a:xfrm>
            <a:off x="2133600" y="2286000"/>
            <a:ext cx="1600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9087" name="Line 63"/>
          <p:cNvSpPr>
            <a:spLocks noChangeShapeType="1"/>
          </p:cNvSpPr>
          <p:nvPr/>
        </p:nvSpPr>
        <p:spPr bwMode="auto">
          <a:xfrm flipV="1">
            <a:off x="4495800" y="2514600"/>
            <a:ext cx="1905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9088" name="Line 64"/>
          <p:cNvSpPr>
            <a:spLocks noChangeShapeType="1"/>
          </p:cNvSpPr>
          <p:nvPr/>
        </p:nvSpPr>
        <p:spPr bwMode="auto">
          <a:xfrm>
            <a:off x="4495800" y="3048000"/>
            <a:ext cx="190500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9089" name="Line 65"/>
          <p:cNvSpPr>
            <a:spLocks noChangeShapeType="1"/>
          </p:cNvSpPr>
          <p:nvPr/>
        </p:nvSpPr>
        <p:spPr bwMode="auto">
          <a:xfrm flipV="1">
            <a:off x="4495800" y="1905000"/>
            <a:ext cx="198120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9090" name="Line 66"/>
          <p:cNvSpPr>
            <a:spLocks noChangeShapeType="1"/>
          </p:cNvSpPr>
          <p:nvPr/>
        </p:nvSpPr>
        <p:spPr bwMode="auto">
          <a:xfrm>
            <a:off x="4419600" y="3810000"/>
            <a:ext cx="1981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9091" name="Line 67"/>
          <p:cNvSpPr>
            <a:spLocks noChangeShapeType="1"/>
          </p:cNvSpPr>
          <p:nvPr/>
        </p:nvSpPr>
        <p:spPr bwMode="auto">
          <a:xfrm>
            <a:off x="2133600" y="2819400"/>
            <a:ext cx="1600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9092" name="Line 68"/>
          <p:cNvSpPr>
            <a:spLocks noChangeShapeType="1"/>
          </p:cNvSpPr>
          <p:nvPr/>
        </p:nvSpPr>
        <p:spPr bwMode="auto">
          <a:xfrm>
            <a:off x="2133600" y="3429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9093" name="Line 69"/>
          <p:cNvSpPr>
            <a:spLocks noChangeShapeType="1"/>
          </p:cNvSpPr>
          <p:nvPr/>
        </p:nvSpPr>
        <p:spPr bwMode="auto">
          <a:xfrm flipV="1">
            <a:off x="2133600" y="3810000"/>
            <a:ext cx="1600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6198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Logical Address Translation</a:t>
            </a:r>
          </a:p>
        </p:txBody>
      </p:sp>
      <p:sp>
        <p:nvSpPr>
          <p:cNvPr id="77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Program code uses logical memory address</a:t>
            </a:r>
          </a:p>
          <a:p>
            <a:pPr lvl="1"/>
            <a:r>
              <a:rPr lang="en-US" altLang="en-US" dirty="0"/>
              <a:t>However, to actually access the value, physical memory address is needed </a:t>
            </a:r>
          </a:p>
          <a:p>
            <a:endParaRPr lang="en-US" altLang="en-US" dirty="0">
              <a:sym typeface="Wingdings" panose="05000000000000000000" pitchFamily="2" charset="2"/>
            </a:endParaRPr>
          </a:p>
          <a:p>
            <a:r>
              <a:rPr lang="en-US" altLang="en-US" dirty="0">
                <a:sym typeface="Wingdings" panose="05000000000000000000" pitchFamily="2" charset="2"/>
              </a:rPr>
              <a:t>To locate a value in physical memory in paging scheme, we need to know:</a:t>
            </a:r>
          </a:p>
          <a:p>
            <a:pPr lvl="1"/>
            <a:r>
              <a:rPr lang="en-US" altLang="en-US" b="1" dirty="0">
                <a:sym typeface="Wingdings" panose="05000000000000000000" pitchFamily="2" charset="2"/>
              </a:rPr>
              <a:t>F</a:t>
            </a:r>
            <a:r>
              <a:rPr lang="en-US" altLang="en-US" dirty="0">
                <a:sym typeface="Wingdings" panose="05000000000000000000" pitchFamily="2" charset="2"/>
              </a:rPr>
              <a:t>, the physical frame number</a:t>
            </a:r>
          </a:p>
          <a:p>
            <a:pPr lvl="1"/>
            <a:r>
              <a:rPr lang="en-US" altLang="en-US" b="1" dirty="0">
                <a:sym typeface="Wingdings" panose="05000000000000000000" pitchFamily="2" charset="2"/>
              </a:rPr>
              <a:t>Offset</a:t>
            </a:r>
            <a:r>
              <a:rPr lang="en-US" altLang="en-US" dirty="0">
                <a:sym typeface="Wingdings" panose="05000000000000000000" pitchFamily="2" charset="2"/>
              </a:rPr>
              <a:t>, displacement from the beginning of the physical frame</a:t>
            </a:r>
          </a:p>
          <a:p>
            <a:pPr lvl="1"/>
            <a:endParaRPr lang="en-US" altLang="en-US" dirty="0">
              <a:sym typeface="Wingdings" panose="05000000000000000000" pitchFamily="2" charset="2"/>
            </a:endParaRPr>
          </a:p>
          <a:p>
            <a:r>
              <a:rPr lang="en-US" altLang="en-US" dirty="0">
                <a:sym typeface="Wingdings" panose="05000000000000000000" pitchFamily="2" charset="2"/>
              </a:rPr>
              <a:t>Physical Address </a:t>
            </a:r>
          </a:p>
          <a:p>
            <a:pPr marL="0" indent="0">
              <a:buNone/>
            </a:pPr>
            <a:r>
              <a:rPr lang="en-US" altLang="en-US" dirty="0">
                <a:sym typeface="Wingdings" panose="05000000000000000000" pitchFamily="2" charset="2"/>
              </a:rPr>
              <a:t>   = </a:t>
            </a:r>
            <a:r>
              <a:rPr lang="en-US" altLang="en-US" b="1" dirty="0">
                <a:sym typeface="Wingdings" panose="05000000000000000000" pitchFamily="2" charset="2"/>
              </a:rPr>
              <a:t>F x size of physical frame + Offset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7958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800" dirty="0"/>
              <a:t>Logical Address Translation: </a:t>
            </a:r>
            <a:r>
              <a:rPr lang="en-US" altLang="en-US" sz="3800" b="1" dirty="0"/>
              <a:t>Essential Tricks</a:t>
            </a:r>
          </a:p>
        </p:txBody>
      </p:sp>
      <p:sp>
        <p:nvSpPr>
          <p:cNvPr id="77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7606" y="959644"/>
            <a:ext cx="8229600" cy="2043112"/>
          </a:xfrm>
        </p:spPr>
        <p:txBody>
          <a:bodyPr/>
          <a:lstStyle/>
          <a:p>
            <a:r>
              <a:rPr lang="en-US" altLang="en-US" dirty="0"/>
              <a:t>Two important design decisions simplifies the address translation calculation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altLang="en-US" dirty="0"/>
              <a:t>Keep frame size (page size) as a power-of-2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altLang="en-US" dirty="0"/>
              <a:t>Physical frame size == Logical page size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>
              <a:sym typeface="Wingdings" panose="05000000000000000000" pitchFamily="2" charset="2"/>
            </a:endParaRPr>
          </a:p>
        </p:txBody>
      </p:sp>
      <p:sp>
        <p:nvSpPr>
          <p:cNvPr id="771076" name="Rectangle 4"/>
          <p:cNvSpPr>
            <a:spLocks noChangeArrowheads="1"/>
          </p:cNvSpPr>
          <p:nvPr/>
        </p:nvSpPr>
        <p:spPr bwMode="auto">
          <a:xfrm>
            <a:off x="3352800" y="3519487"/>
            <a:ext cx="1752600" cy="533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b="1" i="1" dirty="0"/>
              <a:t>p</a:t>
            </a:r>
          </a:p>
        </p:txBody>
      </p:sp>
      <p:sp>
        <p:nvSpPr>
          <p:cNvPr id="771077" name="Rectangle 5"/>
          <p:cNvSpPr>
            <a:spLocks noChangeArrowheads="1"/>
          </p:cNvSpPr>
          <p:nvPr/>
        </p:nvSpPr>
        <p:spPr bwMode="auto">
          <a:xfrm>
            <a:off x="5105400" y="3519487"/>
            <a:ext cx="1905000" cy="533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b="1" i="1"/>
              <a:t>d</a:t>
            </a:r>
          </a:p>
        </p:txBody>
      </p:sp>
      <p:sp>
        <p:nvSpPr>
          <p:cNvPr id="771078" name="Text Box 6"/>
          <p:cNvSpPr txBox="1">
            <a:spLocks noChangeArrowheads="1"/>
          </p:cNvSpPr>
          <p:nvPr/>
        </p:nvSpPr>
        <p:spPr bwMode="auto">
          <a:xfrm>
            <a:off x="3352800" y="3138487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Page Number</a:t>
            </a:r>
          </a:p>
        </p:txBody>
      </p:sp>
      <p:sp>
        <p:nvSpPr>
          <p:cNvPr id="771079" name="Text Box 7"/>
          <p:cNvSpPr txBox="1">
            <a:spLocks noChangeArrowheads="1"/>
          </p:cNvSpPr>
          <p:nvPr/>
        </p:nvSpPr>
        <p:spPr bwMode="auto">
          <a:xfrm>
            <a:off x="5181600" y="3138487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Offset</a:t>
            </a:r>
          </a:p>
        </p:txBody>
      </p:sp>
      <p:sp>
        <p:nvSpPr>
          <p:cNvPr id="771081" name="Text Box 9"/>
          <p:cNvSpPr txBox="1">
            <a:spLocks noChangeArrowheads="1"/>
          </p:cNvSpPr>
          <p:nvPr/>
        </p:nvSpPr>
        <p:spPr bwMode="auto">
          <a:xfrm>
            <a:off x="5181600" y="4052887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n bits</a:t>
            </a:r>
          </a:p>
        </p:txBody>
      </p:sp>
      <p:sp>
        <p:nvSpPr>
          <p:cNvPr id="771082" name="Text Box 10"/>
          <p:cNvSpPr txBox="1">
            <a:spLocks noChangeArrowheads="1"/>
          </p:cNvSpPr>
          <p:nvPr/>
        </p:nvSpPr>
        <p:spPr bwMode="auto">
          <a:xfrm>
            <a:off x="3352800" y="4052887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(m – n) bits</a:t>
            </a:r>
          </a:p>
        </p:txBody>
      </p:sp>
      <p:sp>
        <p:nvSpPr>
          <p:cNvPr id="771083" name="Line 11"/>
          <p:cNvSpPr>
            <a:spLocks noChangeShapeType="1"/>
          </p:cNvSpPr>
          <p:nvPr/>
        </p:nvSpPr>
        <p:spPr bwMode="auto">
          <a:xfrm>
            <a:off x="6096000" y="4433887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1084" name="Line 12"/>
          <p:cNvSpPr>
            <a:spLocks noChangeShapeType="1"/>
          </p:cNvSpPr>
          <p:nvPr/>
        </p:nvSpPr>
        <p:spPr bwMode="auto">
          <a:xfrm>
            <a:off x="4191000" y="4433887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1085" name="Text Box 13"/>
          <p:cNvSpPr txBox="1">
            <a:spLocks noChangeArrowheads="1"/>
          </p:cNvSpPr>
          <p:nvPr/>
        </p:nvSpPr>
        <p:spPr bwMode="auto">
          <a:xfrm>
            <a:off x="3429000" y="4573012"/>
            <a:ext cx="1524000" cy="584775"/>
          </a:xfrm>
          <a:prstGeom prst="rect">
            <a:avLst/>
          </a:prstGeom>
          <a:solidFill>
            <a:schemeClr val="bg1">
              <a:alpha val="8500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600" b="1" dirty="0">
                <a:solidFill>
                  <a:srgbClr val="C00000"/>
                </a:solidFill>
              </a:rPr>
              <a:t>Translation mechanism</a:t>
            </a:r>
          </a:p>
        </p:txBody>
      </p:sp>
      <p:sp>
        <p:nvSpPr>
          <p:cNvPr id="771086" name="Rectangle 14"/>
          <p:cNvSpPr>
            <a:spLocks noChangeArrowheads="1"/>
          </p:cNvSpPr>
          <p:nvPr/>
        </p:nvSpPr>
        <p:spPr bwMode="auto">
          <a:xfrm>
            <a:off x="3352800" y="5424487"/>
            <a:ext cx="1752600" cy="533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b="1" i="1"/>
              <a:t>f</a:t>
            </a:r>
          </a:p>
        </p:txBody>
      </p:sp>
      <p:sp>
        <p:nvSpPr>
          <p:cNvPr id="771087" name="Rectangle 15"/>
          <p:cNvSpPr>
            <a:spLocks noChangeArrowheads="1"/>
          </p:cNvSpPr>
          <p:nvPr/>
        </p:nvSpPr>
        <p:spPr bwMode="auto">
          <a:xfrm>
            <a:off x="5105400" y="5424487"/>
            <a:ext cx="1905000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b="1" i="1" dirty="0"/>
              <a:t>d</a:t>
            </a:r>
          </a:p>
        </p:txBody>
      </p:sp>
      <p:sp>
        <p:nvSpPr>
          <p:cNvPr id="771088" name="Text Box 16"/>
          <p:cNvSpPr txBox="1">
            <a:spLocks noChangeArrowheads="1"/>
          </p:cNvSpPr>
          <p:nvPr/>
        </p:nvSpPr>
        <p:spPr bwMode="auto">
          <a:xfrm>
            <a:off x="3352800" y="5957887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Frame Number</a:t>
            </a:r>
          </a:p>
        </p:txBody>
      </p:sp>
      <p:sp>
        <p:nvSpPr>
          <p:cNvPr id="771089" name="Text Box 17"/>
          <p:cNvSpPr txBox="1">
            <a:spLocks noChangeArrowheads="1"/>
          </p:cNvSpPr>
          <p:nvPr/>
        </p:nvSpPr>
        <p:spPr bwMode="auto">
          <a:xfrm>
            <a:off x="5181600" y="5957887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Offset</a:t>
            </a:r>
          </a:p>
        </p:txBody>
      </p:sp>
      <p:sp>
        <p:nvSpPr>
          <p:cNvPr id="771090" name="Text Box 18"/>
          <p:cNvSpPr txBox="1">
            <a:spLocks noChangeArrowheads="1"/>
          </p:cNvSpPr>
          <p:nvPr/>
        </p:nvSpPr>
        <p:spPr bwMode="auto">
          <a:xfrm>
            <a:off x="1517469" y="3457971"/>
            <a:ext cx="1752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 dirty="0">
                <a:solidFill>
                  <a:srgbClr val="003300"/>
                </a:solidFill>
              </a:rPr>
              <a:t>Logical Address</a:t>
            </a:r>
          </a:p>
        </p:txBody>
      </p:sp>
      <p:sp>
        <p:nvSpPr>
          <p:cNvPr id="771091" name="Text Box 19"/>
          <p:cNvSpPr txBox="1">
            <a:spLocks noChangeArrowheads="1"/>
          </p:cNvSpPr>
          <p:nvPr/>
        </p:nvSpPr>
        <p:spPr bwMode="auto">
          <a:xfrm>
            <a:off x="1524000" y="5348287"/>
            <a:ext cx="1752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 dirty="0">
                <a:solidFill>
                  <a:srgbClr val="660066"/>
                </a:solidFill>
              </a:rPr>
              <a:t>Physical Address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0564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Logical Address Translation: Formula</a:t>
            </a:r>
          </a:p>
        </p:txBody>
      </p:sp>
      <p:sp>
        <p:nvSpPr>
          <p:cNvPr id="77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Given:</a:t>
            </a:r>
          </a:p>
          <a:p>
            <a:pPr lvl="1"/>
            <a:r>
              <a:rPr lang="en-US" altLang="en-US" dirty="0"/>
              <a:t>Page/Frame size of 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b="1" baseline="30000" dirty="0">
                <a:solidFill>
                  <a:srgbClr val="0033CC"/>
                </a:solidFill>
                <a:latin typeface="Courier New" panose="02070309020205020404" pitchFamily="49" charset="0"/>
              </a:rPr>
              <a:t>n</a:t>
            </a:r>
          </a:p>
          <a:p>
            <a:pPr lvl="1"/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m</a:t>
            </a:r>
            <a:r>
              <a:rPr lang="en-US" altLang="en-US" dirty="0"/>
              <a:t> bits of logical address</a:t>
            </a:r>
          </a:p>
          <a:p>
            <a:r>
              <a:rPr lang="en-US" altLang="en-US" dirty="0"/>
              <a:t>Logical Address </a:t>
            </a:r>
            <a:r>
              <a:rPr lang="en-US" altLang="en-US" sz="2600" b="1" dirty="0">
                <a:solidFill>
                  <a:srgbClr val="0033CC"/>
                </a:solidFill>
                <a:latin typeface="Courier New" panose="02070309020205020404" pitchFamily="49" charset="0"/>
              </a:rPr>
              <a:t>LA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p</a:t>
            </a:r>
            <a:r>
              <a:rPr lang="en-US" altLang="en-US" dirty="0"/>
              <a:t> = Most significant 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m-n</a:t>
            </a:r>
            <a:r>
              <a:rPr lang="en-US" altLang="en-US" dirty="0"/>
              <a:t> bits of 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LA</a:t>
            </a:r>
          </a:p>
          <a:p>
            <a:pPr lvl="1"/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d</a:t>
            </a:r>
            <a:r>
              <a:rPr lang="en-US" altLang="en-US" dirty="0"/>
              <a:t> = Remaining 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n</a:t>
            </a:r>
            <a:r>
              <a:rPr lang="en-US" altLang="en-US" dirty="0"/>
              <a:t> bits of 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LA</a:t>
            </a:r>
          </a:p>
          <a:p>
            <a:r>
              <a:rPr lang="en-US" altLang="en-US" dirty="0"/>
              <a:t>Use </a:t>
            </a:r>
            <a:r>
              <a:rPr lang="en-US" altLang="en-US" sz="2600" b="1" dirty="0">
                <a:solidFill>
                  <a:srgbClr val="0033CC"/>
                </a:solidFill>
                <a:latin typeface="Courier New" panose="02070309020205020404" pitchFamily="49" charset="0"/>
              </a:rPr>
              <a:t>p</a:t>
            </a:r>
            <a:r>
              <a:rPr lang="en-US" altLang="en-US" dirty="0"/>
              <a:t> to find frame number </a:t>
            </a:r>
            <a:r>
              <a:rPr lang="en-US" altLang="en-US" sz="2600" b="1" dirty="0">
                <a:solidFill>
                  <a:srgbClr val="0033CC"/>
                </a:solidFill>
                <a:latin typeface="Courier New" panose="02070309020205020404" pitchFamily="49" charset="0"/>
              </a:rPr>
              <a:t>f</a:t>
            </a:r>
          </a:p>
          <a:p>
            <a:pPr lvl="1"/>
            <a:r>
              <a:rPr lang="en-US" altLang="en-US" dirty="0"/>
              <a:t>from mapping mechanism like page table</a:t>
            </a:r>
          </a:p>
          <a:p>
            <a:r>
              <a:rPr lang="en-US" altLang="en-US" dirty="0"/>
              <a:t>Physical Address </a:t>
            </a:r>
            <a:r>
              <a:rPr lang="en-US" altLang="en-US" sz="2600" b="1" dirty="0">
                <a:solidFill>
                  <a:srgbClr val="0033CC"/>
                </a:solidFill>
                <a:latin typeface="Courier New" panose="02070309020205020404" pitchFamily="49" charset="0"/>
              </a:rPr>
              <a:t>PA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PA = f*2</a:t>
            </a:r>
            <a:r>
              <a:rPr lang="en-US" altLang="en-US" b="1" baseline="30000" dirty="0">
                <a:solidFill>
                  <a:srgbClr val="0033CC"/>
                </a:solidFill>
                <a:latin typeface="Courier New" panose="02070309020205020404" pitchFamily="49" charset="0"/>
              </a:rPr>
              <a:t>n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 + d 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b="1" dirty="0">
              <a:solidFill>
                <a:srgbClr val="0033CC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4372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800" dirty="0"/>
              <a:t>Example: 4 Logical Pages, 8 Physical Frames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10</a:t>
            </a:fld>
            <a:endParaRPr lang="en-US" altLang="en-US"/>
          </a:p>
        </p:txBody>
      </p:sp>
      <p:grpSp>
        <p:nvGrpSpPr>
          <p:cNvPr id="4" name="Group 3"/>
          <p:cNvGrpSpPr/>
          <p:nvPr/>
        </p:nvGrpSpPr>
        <p:grpSpPr>
          <a:xfrm>
            <a:off x="294459" y="1066800"/>
            <a:ext cx="3181894" cy="4834891"/>
            <a:chOff x="856706" y="1181100"/>
            <a:chExt cx="3181894" cy="4834891"/>
          </a:xfrm>
        </p:grpSpPr>
        <p:grpSp>
          <p:nvGrpSpPr>
            <p:cNvPr id="772100" name="Group 4"/>
            <p:cNvGrpSpPr>
              <a:grpSpLocks/>
            </p:cNvGrpSpPr>
            <p:nvPr/>
          </p:nvGrpSpPr>
          <p:grpSpPr bwMode="auto">
            <a:xfrm>
              <a:off x="1828800" y="1752600"/>
              <a:ext cx="838200" cy="3810000"/>
              <a:chOff x="672" y="672"/>
              <a:chExt cx="720" cy="1536"/>
            </a:xfrm>
          </p:grpSpPr>
          <p:sp>
            <p:nvSpPr>
              <p:cNvPr id="772101" name="Rectangle 5"/>
              <p:cNvSpPr>
                <a:spLocks noChangeArrowheads="1"/>
              </p:cNvSpPr>
              <p:nvPr/>
            </p:nvSpPr>
            <p:spPr bwMode="auto">
              <a:xfrm>
                <a:off x="672" y="1824"/>
                <a:ext cx="720" cy="384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m</a:t>
                </a:r>
              </a:p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n</a:t>
                </a:r>
              </a:p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o</a:t>
                </a:r>
              </a:p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</a:t>
                </a:r>
              </a:p>
            </p:txBody>
          </p:sp>
          <p:sp>
            <p:nvSpPr>
              <p:cNvPr id="772102" name="Rectangle 6"/>
              <p:cNvSpPr>
                <a:spLocks noChangeArrowheads="1"/>
              </p:cNvSpPr>
              <p:nvPr/>
            </p:nvSpPr>
            <p:spPr bwMode="auto">
              <a:xfrm>
                <a:off x="672" y="1440"/>
                <a:ext cx="720" cy="38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 err="1">
                    <a:latin typeface="Courier New" panose="02070309020205020404" pitchFamily="49" charset="0"/>
                  </a:rPr>
                  <a:t>i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j</a:t>
                </a:r>
              </a:p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k</a:t>
                </a:r>
              </a:p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l</a:t>
                </a:r>
              </a:p>
            </p:txBody>
          </p:sp>
          <p:sp>
            <p:nvSpPr>
              <p:cNvPr id="772103" name="Rectangle 7"/>
              <p:cNvSpPr>
                <a:spLocks noChangeArrowheads="1"/>
              </p:cNvSpPr>
              <p:nvPr/>
            </p:nvSpPr>
            <p:spPr bwMode="auto">
              <a:xfrm>
                <a:off x="672" y="1056"/>
                <a:ext cx="720" cy="38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>
                    <a:latin typeface="Courier New" panose="02070309020205020404" pitchFamily="49" charset="0"/>
                  </a:rPr>
                  <a:t>.</a:t>
                </a:r>
              </a:p>
              <a:p>
                <a:pPr algn="ctr"/>
                <a:r>
                  <a:rPr lang="en-US" altLang="en-US" sz="1600" b="1">
                    <a:latin typeface="Courier New" panose="02070309020205020404" pitchFamily="49" charset="0"/>
                  </a:rPr>
                  <a:t>.</a:t>
                </a:r>
              </a:p>
              <a:p>
                <a:pPr algn="ctr"/>
                <a:r>
                  <a:rPr lang="en-US" altLang="en-US" sz="1600" b="1">
                    <a:latin typeface="Courier New" panose="02070309020205020404" pitchFamily="49" charset="0"/>
                  </a:rPr>
                  <a:t>.</a:t>
                </a:r>
              </a:p>
              <a:p>
                <a:pPr algn="ctr"/>
                <a:r>
                  <a:rPr lang="en-US" altLang="en-US" sz="1600" b="1">
                    <a:latin typeface="Courier New" panose="02070309020205020404" pitchFamily="49" charset="0"/>
                  </a:rPr>
                  <a:t>.</a:t>
                </a:r>
              </a:p>
            </p:txBody>
          </p:sp>
          <p:sp>
            <p:nvSpPr>
              <p:cNvPr id="772104" name="Rectangle 8"/>
              <p:cNvSpPr>
                <a:spLocks noChangeArrowheads="1"/>
              </p:cNvSpPr>
              <p:nvPr/>
            </p:nvSpPr>
            <p:spPr bwMode="auto">
              <a:xfrm>
                <a:off x="672" y="672"/>
                <a:ext cx="720" cy="384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a</a:t>
                </a:r>
              </a:p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b</a:t>
                </a:r>
              </a:p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c</a:t>
                </a:r>
              </a:p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d</a:t>
                </a:r>
              </a:p>
            </p:txBody>
          </p:sp>
        </p:grpSp>
        <p:sp>
          <p:nvSpPr>
            <p:cNvPr id="772105" name="Rectangle 9"/>
            <p:cNvSpPr>
              <a:spLocks noChangeArrowheads="1"/>
            </p:cNvSpPr>
            <p:nvPr/>
          </p:nvSpPr>
          <p:spPr bwMode="auto">
            <a:xfrm>
              <a:off x="1570809" y="5634991"/>
              <a:ext cx="1467394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logical memory</a:t>
              </a:r>
            </a:p>
          </p:txBody>
        </p:sp>
        <p:sp>
          <p:nvSpPr>
            <p:cNvPr id="772148" name="Rectangle 52"/>
            <p:cNvSpPr>
              <a:spLocks noChangeArrowheads="1"/>
            </p:cNvSpPr>
            <p:nvPr/>
          </p:nvSpPr>
          <p:spPr bwMode="auto">
            <a:xfrm>
              <a:off x="990600" y="4610100"/>
              <a:ext cx="838200" cy="952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11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00</a:t>
              </a:r>
            </a:p>
            <a:p>
              <a:pPr algn="r"/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11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01</a:t>
              </a:r>
            </a:p>
            <a:p>
              <a:pPr algn="r"/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11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10</a:t>
              </a:r>
            </a:p>
            <a:p>
              <a:pPr algn="r"/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11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11</a:t>
              </a:r>
            </a:p>
          </p:txBody>
        </p:sp>
        <p:sp>
          <p:nvSpPr>
            <p:cNvPr id="772149" name="Rectangle 53"/>
            <p:cNvSpPr>
              <a:spLocks noChangeArrowheads="1"/>
            </p:cNvSpPr>
            <p:nvPr/>
          </p:nvSpPr>
          <p:spPr bwMode="auto">
            <a:xfrm>
              <a:off x="990600" y="3657600"/>
              <a:ext cx="838200" cy="952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10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00</a:t>
              </a:r>
            </a:p>
            <a:p>
              <a:pPr algn="r"/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10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01</a:t>
              </a:r>
            </a:p>
            <a:p>
              <a:pPr algn="r"/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10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10</a:t>
              </a:r>
            </a:p>
            <a:p>
              <a:pPr algn="r"/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10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11</a:t>
              </a:r>
            </a:p>
          </p:txBody>
        </p:sp>
        <p:sp>
          <p:nvSpPr>
            <p:cNvPr id="772150" name="Rectangle 54"/>
            <p:cNvSpPr>
              <a:spLocks noChangeArrowheads="1"/>
            </p:cNvSpPr>
            <p:nvPr/>
          </p:nvSpPr>
          <p:spPr bwMode="auto">
            <a:xfrm>
              <a:off x="990600" y="2705100"/>
              <a:ext cx="838200" cy="952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b="1">
                  <a:latin typeface="Courier New" panose="02070309020205020404" pitchFamily="49" charset="0"/>
                </a:rPr>
                <a:t>.</a:t>
              </a:r>
            </a:p>
            <a:p>
              <a:pPr algn="r"/>
              <a:r>
                <a:rPr lang="en-US" altLang="en-US" sz="1600" b="1">
                  <a:latin typeface="Courier New" panose="02070309020205020404" pitchFamily="49" charset="0"/>
                </a:rPr>
                <a:t>.</a:t>
              </a:r>
            </a:p>
            <a:p>
              <a:pPr algn="r"/>
              <a:r>
                <a:rPr lang="en-US" altLang="en-US" sz="1600" b="1">
                  <a:latin typeface="Courier New" panose="02070309020205020404" pitchFamily="49" charset="0"/>
                </a:rPr>
                <a:t>.</a:t>
              </a:r>
            </a:p>
            <a:p>
              <a:pPr algn="r"/>
              <a:r>
                <a:rPr lang="en-US" altLang="en-US" sz="1600" b="1">
                  <a:latin typeface="Courier New" panose="02070309020205020404" pitchFamily="49" charset="0"/>
                </a:rPr>
                <a:t>.</a:t>
              </a:r>
            </a:p>
          </p:txBody>
        </p:sp>
        <p:sp>
          <p:nvSpPr>
            <p:cNvPr id="772151" name="Rectangle 55"/>
            <p:cNvSpPr>
              <a:spLocks noChangeArrowheads="1"/>
            </p:cNvSpPr>
            <p:nvPr/>
          </p:nvSpPr>
          <p:spPr bwMode="auto">
            <a:xfrm>
              <a:off x="990600" y="1752600"/>
              <a:ext cx="838200" cy="952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00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00</a:t>
              </a:r>
            </a:p>
            <a:p>
              <a:pPr algn="r"/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00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01</a:t>
              </a:r>
            </a:p>
            <a:p>
              <a:pPr algn="r"/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00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10</a:t>
              </a:r>
            </a:p>
            <a:p>
              <a:pPr algn="r"/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00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11</a:t>
              </a:r>
            </a:p>
          </p:txBody>
        </p:sp>
        <p:sp>
          <p:nvSpPr>
            <p:cNvPr id="772188" name="Rectangle 92"/>
            <p:cNvSpPr>
              <a:spLocks noChangeArrowheads="1"/>
            </p:cNvSpPr>
            <p:nvPr/>
          </p:nvSpPr>
          <p:spPr bwMode="auto">
            <a:xfrm>
              <a:off x="914401" y="5634991"/>
              <a:ext cx="10668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dirty="0"/>
                <a:t>logical address</a:t>
              </a:r>
            </a:p>
          </p:txBody>
        </p:sp>
        <p:sp>
          <p:nvSpPr>
            <p:cNvPr id="772192" name="AutoShape 96"/>
            <p:cNvSpPr>
              <a:spLocks/>
            </p:cNvSpPr>
            <p:nvPr/>
          </p:nvSpPr>
          <p:spPr bwMode="auto">
            <a:xfrm rot="16200000">
              <a:off x="1466306" y="1409700"/>
              <a:ext cx="76200" cy="381000"/>
            </a:xfrm>
            <a:prstGeom prst="rightBrace">
              <a:avLst>
                <a:gd name="adj1" fmla="val 41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2193" name="Rectangle 97"/>
            <p:cNvSpPr>
              <a:spLocks noChangeArrowheads="1"/>
            </p:cNvSpPr>
            <p:nvPr/>
          </p:nvSpPr>
          <p:spPr bwMode="auto">
            <a:xfrm>
              <a:off x="2971800" y="1981200"/>
              <a:ext cx="10668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/>
                <a:t>page size = 4 bytes</a:t>
              </a:r>
            </a:p>
            <a:p>
              <a:pPr algn="ctr"/>
              <a:r>
                <a:rPr lang="en-US" altLang="en-US" sz="1600"/>
                <a:t>(n = 2)</a:t>
              </a:r>
            </a:p>
          </p:txBody>
        </p:sp>
        <p:sp>
          <p:nvSpPr>
            <p:cNvPr id="772194" name="AutoShape 98"/>
            <p:cNvSpPr>
              <a:spLocks/>
            </p:cNvSpPr>
            <p:nvPr/>
          </p:nvSpPr>
          <p:spPr bwMode="auto">
            <a:xfrm flipH="1">
              <a:off x="2743200" y="1752600"/>
              <a:ext cx="152400" cy="990600"/>
            </a:xfrm>
            <a:prstGeom prst="leftBrace">
              <a:avLst>
                <a:gd name="adj1" fmla="val 541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2195" name="Rectangle 99"/>
            <p:cNvSpPr>
              <a:spLocks noChangeArrowheads="1"/>
            </p:cNvSpPr>
            <p:nvPr/>
          </p:nvSpPr>
          <p:spPr bwMode="auto">
            <a:xfrm>
              <a:off x="856706" y="1181100"/>
              <a:ext cx="16002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/>
                <a:t>m = 4 bits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581400" y="3267212"/>
            <a:ext cx="1193800" cy="1809750"/>
            <a:chOff x="3771900" y="3149237"/>
            <a:chExt cx="1193800" cy="1809750"/>
          </a:xfrm>
        </p:grpSpPr>
        <p:sp>
          <p:nvSpPr>
            <p:cNvPr id="772138" name="Rectangle 42"/>
            <p:cNvSpPr>
              <a:spLocks noChangeArrowheads="1"/>
            </p:cNvSpPr>
            <p:nvPr/>
          </p:nvSpPr>
          <p:spPr bwMode="auto">
            <a:xfrm>
              <a:off x="3771900" y="4654187"/>
              <a:ext cx="1193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page table</a:t>
              </a:r>
            </a:p>
          </p:txBody>
        </p:sp>
        <p:grpSp>
          <p:nvGrpSpPr>
            <p:cNvPr id="66" name="Group 29"/>
            <p:cNvGrpSpPr>
              <a:grpSpLocks/>
            </p:cNvGrpSpPr>
            <p:nvPr/>
          </p:nvGrpSpPr>
          <p:grpSpPr bwMode="auto">
            <a:xfrm>
              <a:off x="3771900" y="3149237"/>
              <a:ext cx="1193800" cy="1524000"/>
              <a:chOff x="2112" y="2160"/>
              <a:chExt cx="752" cy="960"/>
            </a:xfrm>
          </p:grpSpPr>
          <p:grpSp>
            <p:nvGrpSpPr>
              <p:cNvPr id="67" name="Group 30"/>
              <p:cNvGrpSpPr>
                <a:grpSpLocks/>
              </p:cNvGrpSpPr>
              <p:nvPr/>
            </p:nvGrpSpPr>
            <p:grpSpPr bwMode="auto">
              <a:xfrm>
                <a:off x="2112" y="2160"/>
                <a:ext cx="752" cy="240"/>
                <a:chOff x="2208" y="3648"/>
                <a:chExt cx="752" cy="240"/>
              </a:xfrm>
            </p:grpSpPr>
            <p:sp>
              <p:nvSpPr>
                <p:cNvPr id="77" name="Rectangle 31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00</a:t>
                  </a:r>
                </a:p>
              </p:txBody>
            </p:sp>
            <p:sp>
              <p:nvSpPr>
                <p:cNvPr id="78" name="Rectangle 32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464" cy="2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i="1" dirty="0">
                      <a:latin typeface="Courier New" panose="02070309020205020404" pitchFamily="49" charset="0"/>
                    </a:rPr>
                    <a:t>010</a:t>
                  </a:r>
                </a:p>
              </p:txBody>
            </p:sp>
          </p:grpSp>
          <p:grpSp>
            <p:nvGrpSpPr>
              <p:cNvPr id="68" name="Group 33"/>
              <p:cNvGrpSpPr>
                <a:grpSpLocks/>
              </p:cNvGrpSpPr>
              <p:nvPr/>
            </p:nvGrpSpPr>
            <p:grpSpPr bwMode="auto">
              <a:xfrm>
                <a:off x="2112" y="2400"/>
                <a:ext cx="752" cy="240"/>
                <a:chOff x="2208" y="3648"/>
                <a:chExt cx="752" cy="240"/>
              </a:xfrm>
            </p:grpSpPr>
            <p:sp>
              <p:nvSpPr>
                <p:cNvPr id="75" name="Rectangle 34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01</a:t>
                  </a:r>
                </a:p>
              </p:txBody>
            </p:sp>
            <p:sp>
              <p:nvSpPr>
                <p:cNvPr id="76" name="Rectangle 35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464" cy="2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i="1" dirty="0">
                      <a:latin typeface="Courier New" panose="02070309020205020404" pitchFamily="49" charset="0"/>
                    </a:rPr>
                    <a:t>111</a:t>
                  </a:r>
                </a:p>
              </p:txBody>
            </p:sp>
          </p:grpSp>
          <p:grpSp>
            <p:nvGrpSpPr>
              <p:cNvPr id="69" name="Group 36"/>
              <p:cNvGrpSpPr>
                <a:grpSpLocks/>
              </p:cNvGrpSpPr>
              <p:nvPr/>
            </p:nvGrpSpPr>
            <p:grpSpPr bwMode="auto">
              <a:xfrm>
                <a:off x="2112" y="2640"/>
                <a:ext cx="752" cy="240"/>
                <a:chOff x="2208" y="3648"/>
                <a:chExt cx="752" cy="240"/>
              </a:xfrm>
            </p:grpSpPr>
            <p:sp>
              <p:nvSpPr>
                <p:cNvPr id="73" name="Rectangle 37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10</a:t>
                  </a:r>
                </a:p>
              </p:txBody>
            </p:sp>
            <p:sp>
              <p:nvSpPr>
                <p:cNvPr id="74" name="Rectangle 38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464" cy="2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i="1" dirty="0">
                      <a:latin typeface="Courier New" panose="02070309020205020404" pitchFamily="49" charset="0"/>
                    </a:rPr>
                    <a:t>001</a:t>
                  </a:r>
                </a:p>
              </p:txBody>
            </p:sp>
          </p:grpSp>
          <p:grpSp>
            <p:nvGrpSpPr>
              <p:cNvPr id="70" name="Group 39"/>
              <p:cNvGrpSpPr>
                <a:grpSpLocks/>
              </p:cNvGrpSpPr>
              <p:nvPr/>
            </p:nvGrpSpPr>
            <p:grpSpPr bwMode="auto">
              <a:xfrm>
                <a:off x="2112" y="2880"/>
                <a:ext cx="752" cy="240"/>
                <a:chOff x="2208" y="3648"/>
                <a:chExt cx="752" cy="240"/>
              </a:xfrm>
            </p:grpSpPr>
            <p:sp>
              <p:nvSpPr>
                <p:cNvPr id="71" name="Rectangle 40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11</a:t>
                  </a:r>
                </a:p>
              </p:txBody>
            </p:sp>
            <p:sp>
              <p:nvSpPr>
                <p:cNvPr id="72" name="Rectangle 41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464" cy="2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i="1" dirty="0">
                      <a:latin typeface="Courier New" panose="02070309020205020404" pitchFamily="49" charset="0"/>
                    </a:rPr>
                    <a:t>101</a:t>
                  </a:r>
                </a:p>
              </p:txBody>
            </p:sp>
          </p:grpSp>
        </p:grpSp>
      </p:grpSp>
      <p:grpSp>
        <p:nvGrpSpPr>
          <p:cNvPr id="9" name="Group 8"/>
          <p:cNvGrpSpPr/>
          <p:nvPr/>
        </p:nvGrpSpPr>
        <p:grpSpPr>
          <a:xfrm>
            <a:off x="6455229" y="1143000"/>
            <a:ext cx="2155371" cy="5181600"/>
            <a:chOff x="6248400" y="1143000"/>
            <a:chExt cx="2155371" cy="5181600"/>
          </a:xfrm>
        </p:grpSpPr>
        <p:sp>
          <p:nvSpPr>
            <p:cNvPr id="772107" name="Rectangle 11"/>
            <p:cNvSpPr>
              <a:spLocks noChangeArrowheads="1"/>
            </p:cNvSpPr>
            <p:nvPr/>
          </p:nvSpPr>
          <p:spPr bwMode="auto">
            <a:xfrm>
              <a:off x="6248400" y="3943350"/>
              <a:ext cx="1143000" cy="10096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m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n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o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</a:t>
              </a:r>
            </a:p>
          </p:txBody>
        </p:sp>
        <p:sp>
          <p:nvSpPr>
            <p:cNvPr id="772110" name="Rectangle 14"/>
            <p:cNvSpPr>
              <a:spLocks noChangeArrowheads="1"/>
            </p:cNvSpPr>
            <p:nvPr/>
          </p:nvSpPr>
          <p:spPr bwMode="auto">
            <a:xfrm>
              <a:off x="6248400" y="2057400"/>
              <a:ext cx="1143000" cy="990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a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b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c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d</a:t>
              </a:r>
            </a:p>
          </p:txBody>
        </p:sp>
        <p:sp>
          <p:nvSpPr>
            <p:cNvPr id="772114" name="Rectangle 18"/>
            <p:cNvSpPr>
              <a:spLocks noChangeArrowheads="1"/>
            </p:cNvSpPr>
            <p:nvPr/>
          </p:nvSpPr>
          <p:spPr bwMode="auto">
            <a:xfrm>
              <a:off x="6248400" y="4953000"/>
              <a:ext cx="1143000" cy="457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772115" name="Rectangle 19"/>
            <p:cNvSpPr>
              <a:spLocks noChangeArrowheads="1"/>
            </p:cNvSpPr>
            <p:nvPr/>
          </p:nvSpPr>
          <p:spPr bwMode="auto">
            <a:xfrm>
              <a:off x="6248400" y="5867400"/>
              <a:ext cx="1143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physical memory</a:t>
              </a:r>
            </a:p>
          </p:txBody>
        </p:sp>
        <p:sp>
          <p:nvSpPr>
            <p:cNvPr id="772154" name="Rectangle 58"/>
            <p:cNvSpPr>
              <a:spLocks noChangeArrowheads="1"/>
            </p:cNvSpPr>
            <p:nvPr/>
          </p:nvSpPr>
          <p:spPr bwMode="auto">
            <a:xfrm>
              <a:off x="6248400" y="5410200"/>
              <a:ext cx="1143000" cy="457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772155" name="Rectangle 59"/>
            <p:cNvSpPr>
              <a:spLocks noChangeArrowheads="1"/>
            </p:cNvSpPr>
            <p:nvPr/>
          </p:nvSpPr>
          <p:spPr bwMode="auto">
            <a:xfrm>
              <a:off x="6248400" y="3048000"/>
              <a:ext cx="1143000" cy="457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772156" name="Rectangle 60"/>
            <p:cNvSpPr>
              <a:spLocks noChangeArrowheads="1"/>
            </p:cNvSpPr>
            <p:nvPr/>
          </p:nvSpPr>
          <p:spPr bwMode="auto">
            <a:xfrm>
              <a:off x="6248400" y="3505200"/>
              <a:ext cx="1143000" cy="457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772157" name="Rectangle 61"/>
            <p:cNvSpPr>
              <a:spLocks noChangeArrowheads="1"/>
            </p:cNvSpPr>
            <p:nvPr/>
          </p:nvSpPr>
          <p:spPr bwMode="auto">
            <a:xfrm>
              <a:off x="6248400" y="1143000"/>
              <a:ext cx="1143000" cy="457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772158" name="Rectangle 62"/>
            <p:cNvSpPr>
              <a:spLocks noChangeArrowheads="1"/>
            </p:cNvSpPr>
            <p:nvPr/>
          </p:nvSpPr>
          <p:spPr bwMode="auto">
            <a:xfrm>
              <a:off x="6248400" y="1600200"/>
              <a:ext cx="1143000" cy="457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772179" name="Rectangle 83"/>
            <p:cNvSpPr>
              <a:spLocks noChangeArrowheads="1"/>
            </p:cNvSpPr>
            <p:nvPr/>
          </p:nvSpPr>
          <p:spPr bwMode="auto">
            <a:xfrm>
              <a:off x="7413171" y="5418297"/>
              <a:ext cx="990600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4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111</a:t>
              </a:r>
              <a:r>
                <a:rPr lang="en-US" altLang="en-US" sz="1400" b="1" dirty="0">
                  <a:latin typeface="Courier New" panose="02070309020205020404" pitchFamily="49" charset="0"/>
                </a:rPr>
                <a:t>00</a:t>
              </a:r>
            </a:p>
          </p:txBody>
        </p:sp>
        <p:sp>
          <p:nvSpPr>
            <p:cNvPr id="772180" name="Rectangle 84"/>
            <p:cNvSpPr>
              <a:spLocks noChangeArrowheads="1"/>
            </p:cNvSpPr>
            <p:nvPr/>
          </p:nvSpPr>
          <p:spPr bwMode="auto">
            <a:xfrm>
              <a:off x="7413171" y="4984436"/>
              <a:ext cx="9906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4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110</a:t>
              </a:r>
              <a:r>
                <a:rPr lang="en-US" altLang="en-US" sz="1400" b="1" dirty="0">
                  <a:latin typeface="Courier New" panose="02070309020205020404" pitchFamily="49" charset="0"/>
                </a:rPr>
                <a:t>00</a:t>
              </a:r>
            </a:p>
          </p:txBody>
        </p:sp>
        <p:sp>
          <p:nvSpPr>
            <p:cNvPr id="772181" name="Rectangle 85"/>
            <p:cNvSpPr>
              <a:spLocks noChangeArrowheads="1"/>
            </p:cNvSpPr>
            <p:nvPr/>
          </p:nvSpPr>
          <p:spPr bwMode="auto">
            <a:xfrm>
              <a:off x="7391400" y="4038600"/>
              <a:ext cx="990600" cy="838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101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00</a:t>
              </a:r>
            </a:p>
            <a:p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101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01</a:t>
              </a:r>
            </a:p>
            <a:p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101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10</a:t>
              </a:r>
            </a:p>
            <a:p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101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11</a:t>
              </a:r>
            </a:p>
          </p:txBody>
        </p:sp>
        <p:sp>
          <p:nvSpPr>
            <p:cNvPr id="772182" name="Rectangle 86"/>
            <p:cNvSpPr>
              <a:spLocks noChangeArrowheads="1"/>
            </p:cNvSpPr>
            <p:nvPr/>
          </p:nvSpPr>
          <p:spPr bwMode="auto">
            <a:xfrm>
              <a:off x="7413171" y="3449683"/>
              <a:ext cx="9906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4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100</a:t>
              </a:r>
              <a:r>
                <a:rPr lang="en-US" altLang="en-US" sz="1400" b="1" dirty="0">
                  <a:latin typeface="Courier New" panose="02070309020205020404" pitchFamily="49" charset="0"/>
                </a:rPr>
                <a:t>00</a:t>
              </a:r>
            </a:p>
          </p:txBody>
        </p:sp>
        <p:sp>
          <p:nvSpPr>
            <p:cNvPr id="772183" name="Rectangle 87"/>
            <p:cNvSpPr>
              <a:spLocks noChangeArrowheads="1"/>
            </p:cNvSpPr>
            <p:nvPr/>
          </p:nvSpPr>
          <p:spPr bwMode="auto">
            <a:xfrm>
              <a:off x="7413171" y="3071946"/>
              <a:ext cx="990600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4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011</a:t>
              </a:r>
              <a:r>
                <a:rPr lang="en-US" altLang="en-US" sz="1400" b="1" dirty="0">
                  <a:latin typeface="Courier New" panose="02070309020205020404" pitchFamily="49" charset="0"/>
                </a:rPr>
                <a:t>00</a:t>
              </a:r>
            </a:p>
          </p:txBody>
        </p:sp>
        <p:sp>
          <p:nvSpPr>
            <p:cNvPr id="772185" name="Rectangle 89"/>
            <p:cNvSpPr>
              <a:spLocks noChangeArrowheads="1"/>
            </p:cNvSpPr>
            <p:nvPr/>
          </p:nvSpPr>
          <p:spPr bwMode="auto">
            <a:xfrm>
              <a:off x="7413171" y="1581150"/>
              <a:ext cx="9906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4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001</a:t>
              </a:r>
              <a:r>
                <a:rPr lang="en-US" altLang="en-US" sz="1400" b="1" dirty="0">
                  <a:latin typeface="Courier New" panose="02070309020205020404" pitchFamily="49" charset="0"/>
                </a:rPr>
                <a:t>00</a:t>
              </a:r>
            </a:p>
          </p:txBody>
        </p:sp>
        <p:sp>
          <p:nvSpPr>
            <p:cNvPr id="772186" name="Rectangle 90"/>
            <p:cNvSpPr>
              <a:spLocks noChangeArrowheads="1"/>
            </p:cNvSpPr>
            <p:nvPr/>
          </p:nvSpPr>
          <p:spPr bwMode="auto">
            <a:xfrm>
              <a:off x="7413171" y="1143000"/>
              <a:ext cx="9906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4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000</a:t>
              </a:r>
              <a:r>
                <a:rPr lang="en-US" altLang="en-US" sz="1400" b="1" dirty="0">
                  <a:latin typeface="Courier New" panose="02070309020205020404" pitchFamily="49" charset="0"/>
                </a:rPr>
                <a:t>00</a:t>
              </a:r>
            </a:p>
          </p:txBody>
        </p:sp>
        <p:sp>
          <p:nvSpPr>
            <p:cNvPr id="772187" name="Rectangle 91"/>
            <p:cNvSpPr>
              <a:spLocks noChangeArrowheads="1"/>
            </p:cNvSpPr>
            <p:nvPr/>
          </p:nvSpPr>
          <p:spPr bwMode="auto">
            <a:xfrm>
              <a:off x="7391400" y="2133600"/>
              <a:ext cx="990600" cy="838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010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00</a:t>
              </a:r>
            </a:p>
            <a:p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010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01</a:t>
              </a:r>
            </a:p>
            <a:p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010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10</a:t>
              </a:r>
            </a:p>
            <a:p>
              <a:r>
                <a:rPr lang="en-US" altLang="en-US" sz="1600" b="1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010</a:t>
              </a:r>
              <a:r>
                <a:rPr lang="en-US" altLang="en-US" sz="1600" b="1" dirty="0">
                  <a:latin typeface="Courier New" panose="02070309020205020404" pitchFamily="49" charset="0"/>
                </a:rPr>
                <a:t>11</a:t>
              </a:r>
            </a:p>
          </p:txBody>
        </p:sp>
        <p:sp>
          <p:nvSpPr>
            <p:cNvPr id="772189" name="Rectangle 93"/>
            <p:cNvSpPr>
              <a:spLocks noChangeArrowheads="1"/>
            </p:cNvSpPr>
            <p:nvPr/>
          </p:nvSpPr>
          <p:spPr bwMode="auto">
            <a:xfrm>
              <a:off x="7315200" y="5905500"/>
              <a:ext cx="10668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dirty="0"/>
                <a:t>physical address</a:t>
              </a: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7315200" y="1600200"/>
              <a:ext cx="914400" cy="3810000"/>
              <a:chOff x="7315200" y="1600200"/>
              <a:chExt cx="1447800" cy="3810000"/>
            </a:xfrm>
          </p:grpSpPr>
          <p:cxnSp>
            <p:nvCxnSpPr>
              <p:cNvPr id="7" name="Straight Connector 6"/>
              <p:cNvCxnSpPr/>
              <p:nvPr/>
            </p:nvCxnSpPr>
            <p:spPr>
              <a:xfrm>
                <a:off x="7315200" y="1600200"/>
                <a:ext cx="14478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>
                <a:off x="7315200" y="2057400"/>
                <a:ext cx="14478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7315200" y="3048000"/>
                <a:ext cx="14478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>
                <a:off x="7315200" y="3505200"/>
                <a:ext cx="14478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>
                <a:off x="7315200" y="3962400"/>
                <a:ext cx="14478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>
                <a:off x="7315200" y="4953000"/>
                <a:ext cx="14478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>
                <a:off x="7315200" y="5410200"/>
                <a:ext cx="14478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1" name="Straight Connector 90"/>
          <p:cNvCxnSpPr/>
          <p:nvPr/>
        </p:nvCxnSpPr>
        <p:spPr>
          <a:xfrm>
            <a:off x="609600" y="2590800"/>
            <a:ext cx="9144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570415" y="3540036"/>
            <a:ext cx="9144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609600" y="4495800"/>
            <a:ext cx="9144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2119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Paging: Observations</a:t>
            </a:r>
          </a:p>
        </p:txBody>
      </p:sp>
      <p:sp>
        <p:nvSpPr>
          <p:cNvPr id="77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Paging removes </a:t>
            </a:r>
            <a:r>
              <a:rPr lang="en-US" altLang="en-US" b="1" dirty="0"/>
              <a:t>external fragmentation</a:t>
            </a:r>
          </a:p>
          <a:p>
            <a:pPr lvl="1"/>
            <a:r>
              <a:rPr lang="en-US" altLang="en-US" dirty="0"/>
              <a:t>No left-over physical memory region</a:t>
            </a:r>
          </a:p>
          <a:p>
            <a:pPr lvl="1"/>
            <a:r>
              <a:rPr lang="en-US" altLang="en-US" dirty="0"/>
              <a:t>All free frame can be used with no wastage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Paging can still have </a:t>
            </a:r>
            <a:r>
              <a:rPr lang="en-US" altLang="en-US" b="1" dirty="0"/>
              <a:t>internal fragmentation</a:t>
            </a:r>
          </a:p>
          <a:p>
            <a:pPr lvl="1"/>
            <a:r>
              <a:rPr lang="en-US" altLang="en-US" dirty="0"/>
              <a:t>Logical memory space may not be multiple of page size</a:t>
            </a:r>
          </a:p>
          <a:p>
            <a:endParaRPr lang="en-US" altLang="en-US" dirty="0"/>
          </a:p>
          <a:p>
            <a:r>
              <a:rPr lang="en-US" altLang="en-US" dirty="0"/>
              <a:t>Clear separation of logical and physical address space</a:t>
            </a:r>
          </a:p>
          <a:p>
            <a:pPr lvl="1"/>
            <a:r>
              <a:rPr lang="en-US" altLang="en-US" dirty="0"/>
              <a:t>Allow great flexibility</a:t>
            </a:r>
          </a:p>
          <a:p>
            <a:pPr lvl="1"/>
            <a:r>
              <a:rPr lang="en-US" altLang="en-US" dirty="0"/>
              <a:t>Simple address translation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5591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Implementing Paging Scheme</a:t>
            </a:r>
          </a:p>
        </p:txBody>
      </p:sp>
      <p:sp>
        <p:nvSpPr>
          <p:cNvPr id="77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Common pure-software solution:</a:t>
            </a:r>
          </a:p>
          <a:p>
            <a:pPr lvl="1"/>
            <a:r>
              <a:rPr lang="en-US" altLang="en-US" dirty="0"/>
              <a:t>OS stores page table information with the process information (e.g. PCB)</a:t>
            </a:r>
          </a:p>
          <a:p>
            <a:pPr lvl="1"/>
            <a:r>
              <a:rPr lang="en-US" altLang="en-US" b="1" dirty="0"/>
              <a:t>Improved understanding: </a:t>
            </a:r>
            <a:r>
              <a:rPr lang="en-US" altLang="en-US" dirty="0"/>
              <a:t>Memory context of a process == Page table</a:t>
            </a:r>
            <a:endParaRPr lang="en-US" altLang="en-US" b="1" dirty="0"/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Issues:</a:t>
            </a:r>
          </a:p>
          <a:p>
            <a:pPr lvl="1"/>
            <a:r>
              <a:rPr lang="en-US" altLang="en-US" dirty="0"/>
              <a:t>Require two memory access for every memory reference</a:t>
            </a:r>
          </a:p>
          <a:p>
            <a:pPr lvl="2"/>
            <a:r>
              <a:rPr lang="en-US" altLang="en-US" dirty="0"/>
              <a:t>1</a:t>
            </a:r>
            <a:r>
              <a:rPr lang="en-US" altLang="en-US" baseline="30000" dirty="0"/>
              <a:t>st</a:t>
            </a:r>
            <a:r>
              <a:rPr lang="en-US" altLang="en-US" dirty="0"/>
              <a:t> access is to read the indexed page table entry to get frame number</a:t>
            </a:r>
          </a:p>
          <a:p>
            <a:pPr lvl="2"/>
            <a:r>
              <a:rPr lang="en-US" altLang="en-US" dirty="0"/>
              <a:t>2</a:t>
            </a:r>
            <a:r>
              <a:rPr lang="en-US" altLang="en-US" baseline="30000" dirty="0"/>
              <a:t>nd</a:t>
            </a:r>
            <a:r>
              <a:rPr lang="en-US" altLang="en-US" dirty="0"/>
              <a:t> access is to access the actual memory item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1403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Paging Scheme: </a:t>
            </a:r>
            <a:r>
              <a:rPr lang="en-US" altLang="en-US" sz="3800" b="1" dirty="0"/>
              <a:t>Hardware Support</a:t>
            </a:r>
          </a:p>
        </p:txBody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Modern processors provide specialized on-chip component to support paging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C00000"/>
                </a:solidFill>
              </a:rPr>
              <a:t>T</a:t>
            </a:r>
            <a:r>
              <a:rPr lang="en-US" altLang="en-US" dirty="0">
                <a:solidFill>
                  <a:srgbClr val="C00000"/>
                </a:solidFill>
              </a:rPr>
              <a:t>ranslation </a:t>
            </a:r>
            <a:r>
              <a:rPr lang="en-US" altLang="en-US" b="1" dirty="0">
                <a:solidFill>
                  <a:srgbClr val="C00000"/>
                </a:solidFill>
              </a:rPr>
              <a:t>L</a:t>
            </a:r>
            <a:r>
              <a:rPr lang="en-US" altLang="en-US" dirty="0">
                <a:solidFill>
                  <a:srgbClr val="C00000"/>
                </a:solidFill>
              </a:rPr>
              <a:t>ook-Aside </a:t>
            </a:r>
            <a:r>
              <a:rPr lang="en-US" altLang="en-US" b="1" dirty="0">
                <a:solidFill>
                  <a:srgbClr val="C00000"/>
                </a:solidFill>
              </a:rPr>
              <a:t>B</a:t>
            </a:r>
            <a:r>
              <a:rPr lang="en-US" altLang="en-US" dirty="0">
                <a:solidFill>
                  <a:srgbClr val="C00000"/>
                </a:solidFill>
              </a:rPr>
              <a:t>uffer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C00000"/>
                </a:solidFill>
              </a:rPr>
              <a:t>TLB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TLB acts as a </a:t>
            </a:r>
            <a:r>
              <a:rPr lang="en-US" altLang="en-US" b="1" dirty="0"/>
              <a:t>cache </a:t>
            </a:r>
            <a:r>
              <a:rPr lang="en-US" altLang="en-US" dirty="0"/>
              <a:t>of </a:t>
            </a:r>
            <a:r>
              <a:rPr lang="en-US" altLang="en-US" i="1" dirty="0"/>
              <a:t>a few</a:t>
            </a:r>
            <a:r>
              <a:rPr lang="en-US" altLang="en-US" dirty="0"/>
              <a:t> page table entries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Logical address translation with TLB: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Use page number to search TLB associatively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Entry found (</a:t>
            </a:r>
            <a:r>
              <a:rPr lang="en-US" altLang="en-US" b="1" dirty="0"/>
              <a:t>TLB-Hit</a:t>
            </a:r>
            <a:r>
              <a:rPr lang="en-US" altLang="en-US" dirty="0"/>
              <a:t>):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Frame number is retrieved to generate physical address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Entry not found (</a:t>
            </a:r>
            <a:r>
              <a:rPr lang="en-US" altLang="en-US" b="1" dirty="0"/>
              <a:t>TLB-Miss</a:t>
            </a:r>
            <a:r>
              <a:rPr lang="en-US" altLang="en-US" dirty="0"/>
              <a:t>):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Memory access to access the full page table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Retrieved frame number is used to generate physical address and update TLB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0794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Translation Look-Aside Buffer: Illustration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8" name="Rectangle 7"/>
          <p:cNvSpPr/>
          <p:nvPr/>
        </p:nvSpPr>
        <p:spPr>
          <a:xfrm>
            <a:off x="573025" y="1488894"/>
            <a:ext cx="990600" cy="1219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CPU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563625" y="1946094"/>
            <a:ext cx="1828800" cy="304800"/>
            <a:chOff x="1648097" y="2128430"/>
            <a:chExt cx="1828800" cy="304800"/>
          </a:xfrm>
        </p:grpSpPr>
        <p:sp>
          <p:nvSpPr>
            <p:cNvPr id="10" name="Rectangle 9"/>
            <p:cNvSpPr/>
            <p:nvPr/>
          </p:nvSpPr>
          <p:spPr>
            <a:xfrm>
              <a:off x="2410097" y="2128430"/>
              <a:ext cx="533400" cy="304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943497" y="2128430"/>
              <a:ext cx="533400" cy="3048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12" name="Straight Arrow Connector 11"/>
            <p:cNvCxnSpPr>
              <a:stCxn id="8" idx="3"/>
              <a:endCxn id="10" idx="1"/>
            </p:cNvCxnSpPr>
            <p:nvPr/>
          </p:nvCxnSpPr>
          <p:spPr>
            <a:xfrm>
              <a:off x="1648097" y="2280830"/>
              <a:ext cx="76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Elbow Connector 12"/>
          <p:cNvCxnSpPr>
            <a:stCxn id="11" idx="0"/>
            <a:endCxn id="17" idx="0"/>
          </p:cNvCxnSpPr>
          <p:nvPr/>
        </p:nvCxnSpPr>
        <p:spPr>
          <a:xfrm rot="5400000" flipH="1" flipV="1">
            <a:off x="4676968" y="377435"/>
            <a:ext cx="17417" cy="3119902"/>
          </a:xfrm>
          <a:prstGeom prst="bentConnector3">
            <a:avLst>
              <a:gd name="adj1" fmla="val 1412511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925928" y="1172935"/>
            <a:ext cx="1524000" cy="504552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Physical Memory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5445527" y="1928677"/>
            <a:ext cx="1452098" cy="304800"/>
            <a:chOff x="5529999" y="2111013"/>
            <a:chExt cx="1452098" cy="304800"/>
          </a:xfrm>
        </p:grpSpPr>
        <p:sp>
          <p:nvSpPr>
            <p:cNvPr id="16" name="Rectangle 15"/>
            <p:cNvSpPr/>
            <p:nvPr/>
          </p:nvSpPr>
          <p:spPr>
            <a:xfrm>
              <a:off x="5529999" y="2111013"/>
              <a:ext cx="533400" cy="304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063399" y="2111013"/>
              <a:ext cx="533400" cy="3048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6596799" y="2253070"/>
              <a:ext cx="385298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Elbow Connector 18"/>
          <p:cNvCxnSpPr>
            <a:stCxn id="24" idx="3"/>
            <a:endCxn id="16" idx="2"/>
          </p:cNvCxnSpPr>
          <p:nvPr/>
        </p:nvCxnSpPr>
        <p:spPr>
          <a:xfrm flipV="1">
            <a:off x="4959145" y="2233477"/>
            <a:ext cx="753082" cy="705665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3311318" y="2520042"/>
            <a:ext cx="1647827" cy="1637210"/>
            <a:chOff x="3395790" y="2702378"/>
            <a:chExt cx="1647827" cy="1637210"/>
          </a:xfrm>
        </p:grpSpPr>
        <p:sp>
          <p:nvSpPr>
            <p:cNvPr id="21" name="Rectangle 20"/>
            <p:cNvSpPr/>
            <p:nvPr/>
          </p:nvSpPr>
          <p:spPr>
            <a:xfrm>
              <a:off x="3395791" y="2702378"/>
              <a:ext cx="769394" cy="122436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165185" y="2702378"/>
              <a:ext cx="878432" cy="122436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395790" y="2914649"/>
              <a:ext cx="769395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Page#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165185" y="2914649"/>
              <a:ext cx="878432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Frame #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630098" y="3887726"/>
              <a:ext cx="1008105" cy="451862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TLB</a:t>
              </a:r>
            </a:p>
          </p:txBody>
        </p:sp>
      </p:grpSp>
      <p:cxnSp>
        <p:nvCxnSpPr>
          <p:cNvPr id="26" name="Elbow Connector 25"/>
          <p:cNvCxnSpPr>
            <a:stCxn id="29" idx="3"/>
            <a:endCxn id="16" idx="2"/>
          </p:cNvCxnSpPr>
          <p:nvPr/>
        </p:nvCxnSpPr>
        <p:spPr>
          <a:xfrm flipV="1">
            <a:off x="4727074" y="2233477"/>
            <a:ext cx="985153" cy="2787558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3638636" y="4398646"/>
            <a:ext cx="1303900" cy="1819818"/>
            <a:chOff x="3723108" y="4580982"/>
            <a:chExt cx="1303900" cy="1819818"/>
          </a:xfrm>
        </p:grpSpPr>
        <p:sp>
          <p:nvSpPr>
            <p:cNvPr id="28" name="Rectangle 27"/>
            <p:cNvSpPr/>
            <p:nvPr/>
          </p:nvSpPr>
          <p:spPr>
            <a:xfrm>
              <a:off x="3933114" y="4580982"/>
              <a:ext cx="878432" cy="142820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933114" y="4996542"/>
              <a:ext cx="878432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Frame #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723108" y="5948938"/>
              <a:ext cx="1303900" cy="451862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Page Table</a:t>
              </a:r>
            </a:p>
          </p:txBody>
        </p:sp>
      </p:grpSp>
      <p:cxnSp>
        <p:nvCxnSpPr>
          <p:cNvPr id="31" name="Elbow Connector 30"/>
          <p:cNvCxnSpPr>
            <a:stCxn id="10" idx="2"/>
            <a:endCxn id="29" idx="1"/>
          </p:cNvCxnSpPr>
          <p:nvPr/>
        </p:nvCxnSpPr>
        <p:spPr>
          <a:xfrm rot="16200000" flipH="1">
            <a:off x="1835413" y="3007805"/>
            <a:ext cx="2770141" cy="1256317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3225497" y="4349112"/>
            <a:ext cx="541640" cy="465094"/>
            <a:chOff x="3309969" y="4531448"/>
            <a:chExt cx="541640" cy="304800"/>
          </a:xfrm>
        </p:grpSpPr>
        <p:sp>
          <p:nvSpPr>
            <p:cNvPr id="33" name="Left Brace 32"/>
            <p:cNvSpPr/>
            <p:nvPr/>
          </p:nvSpPr>
          <p:spPr>
            <a:xfrm>
              <a:off x="3667356" y="4571727"/>
              <a:ext cx="184253" cy="226421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309969" y="4531448"/>
              <a:ext cx="533400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737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TLB: Impact on Memory Access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Suppose:</a:t>
            </a:r>
          </a:p>
          <a:p>
            <a:pPr lvl="1"/>
            <a:r>
              <a:rPr lang="en-US" dirty="0"/>
              <a:t>TLB access takes 1ns</a:t>
            </a:r>
          </a:p>
          <a:p>
            <a:pPr lvl="1"/>
            <a:r>
              <a:rPr lang="en-US" dirty="0"/>
              <a:t>Main memory access takes 50ns</a:t>
            </a:r>
          </a:p>
          <a:p>
            <a:pPr lvl="1"/>
            <a:r>
              <a:rPr lang="en-US" dirty="0"/>
              <a:t>What is the average memory access time if TLB contains 40% of the whole page table?</a:t>
            </a:r>
          </a:p>
          <a:p>
            <a:pPr lvl="1"/>
            <a:endParaRPr lang="en-US" dirty="0"/>
          </a:p>
          <a:p>
            <a:r>
              <a:rPr lang="en-US" dirty="0"/>
              <a:t>Memory access time</a:t>
            </a:r>
          </a:p>
          <a:p>
            <a:pPr marL="0" indent="0">
              <a:buNone/>
            </a:pPr>
            <a:r>
              <a:rPr lang="en-US" dirty="0"/>
              <a:t>= TLB hit + TLB miss</a:t>
            </a:r>
          </a:p>
          <a:p>
            <a:pPr marL="0" indent="0">
              <a:buNone/>
            </a:pPr>
            <a:r>
              <a:rPr lang="en-US" dirty="0"/>
              <a:t>= 40% x (1ns + 50ns) + 60%(1ns + 50ns + 50ns)</a:t>
            </a:r>
          </a:p>
          <a:p>
            <a:pPr marL="0" indent="0">
              <a:buNone/>
            </a:pPr>
            <a:r>
              <a:rPr lang="en-US"/>
              <a:t>= 81ns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Note: </a:t>
            </a:r>
          </a:p>
          <a:p>
            <a:pPr lvl="1"/>
            <a:r>
              <a:rPr lang="en-US" dirty="0"/>
              <a:t>Overhead of filling in TLB entry and impact of cache ignored.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733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TLB and Process Switching</a:t>
            </a:r>
          </a:p>
        </p:txBody>
      </p:sp>
      <p:sp>
        <p:nvSpPr>
          <p:cNvPr id="78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/>
              <a:t>Improved Understanding:</a:t>
            </a:r>
            <a:r>
              <a:rPr lang="en-US" altLang="en-US" dirty="0"/>
              <a:t> TLB is part of the </a:t>
            </a:r>
            <a:r>
              <a:rPr lang="en-US" altLang="en-US" b="1" dirty="0"/>
              <a:t>hardware context</a:t>
            </a:r>
            <a:r>
              <a:rPr lang="en-US" altLang="en-US" dirty="0"/>
              <a:t> of a process</a:t>
            </a:r>
          </a:p>
          <a:p>
            <a:endParaRPr lang="en-US" altLang="en-US" dirty="0"/>
          </a:p>
          <a:p>
            <a:r>
              <a:rPr lang="en-US" altLang="en-US" dirty="0"/>
              <a:t>When a context switch occurs:</a:t>
            </a:r>
          </a:p>
          <a:p>
            <a:pPr lvl="1"/>
            <a:r>
              <a:rPr lang="en-US" altLang="en-US" dirty="0"/>
              <a:t>TLB entries are flushed</a:t>
            </a:r>
          </a:p>
          <a:p>
            <a:pPr lvl="2"/>
            <a:r>
              <a:rPr lang="en-US" altLang="en-US" dirty="0"/>
              <a:t>So that new process will not get incorrect translation</a:t>
            </a:r>
          </a:p>
          <a:p>
            <a:endParaRPr lang="en-US" altLang="en-US" dirty="0"/>
          </a:p>
          <a:p>
            <a:r>
              <a:rPr lang="en-US" altLang="en-US" dirty="0"/>
              <a:t>Hence, when a process resume running:</a:t>
            </a:r>
          </a:p>
          <a:p>
            <a:pPr lvl="1"/>
            <a:r>
              <a:rPr lang="en-US" altLang="en-US" dirty="0"/>
              <a:t>Will encounter many TLB misses to fill the TLB </a:t>
            </a:r>
          </a:p>
          <a:p>
            <a:pPr lvl="2"/>
            <a:r>
              <a:rPr lang="en-US" altLang="en-US" dirty="0"/>
              <a:t>It is possible to place some entries initially, e.g. the code pages to reduce TLB misses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2206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Paging Scheme: Protection</a:t>
            </a:r>
          </a:p>
        </p:txBody>
      </p:sp>
      <p:sp>
        <p:nvSpPr>
          <p:cNvPr id="78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The basic paging scheme can be easily extended to provide memory protection between processes using: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Access-Right Bits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Valid Bit</a:t>
            </a:r>
          </a:p>
          <a:p>
            <a:pPr>
              <a:lnSpc>
                <a:spcPct val="90000"/>
              </a:lnSpc>
            </a:pPr>
            <a:r>
              <a:rPr lang="en-US" altLang="en-US"/>
              <a:t>Access Right Bits: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Each Page Table Entries has several bits attached to it to indicate: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Whether it is writable, readable, executable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E.g. page containing code should be executable, page containing data should be readable and writable etc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Memory access is checked against the access right bits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563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Paging Scheme: Protection (cont)</a:t>
            </a:r>
          </a:p>
        </p:txBody>
      </p:sp>
      <p:sp>
        <p:nvSpPr>
          <p:cNvPr id="783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Observation:</a:t>
            </a:r>
          </a:p>
          <a:p>
            <a:pPr lvl="1"/>
            <a:r>
              <a:rPr lang="en-US" altLang="en-US"/>
              <a:t>The logical memory range is usually the same for </a:t>
            </a:r>
            <a:r>
              <a:rPr lang="en-US" altLang="en-US" b="1"/>
              <a:t>all </a:t>
            </a:r>
            <a:r>
              <a:rPr lang="en-US" altLang="en-US"/>
              <a:t>processes</a:t>
            </a:r>
          </a:p>
          <a:p>
            <a:pPr lvl="1"/>
            <a:r>
              <a:rPr lang="en-US" altLang="en-US"/>
              <a:t>However, not all process utilized the whole range</a:t>
            </a:r>
          </a:p>
          <a:p>
            <a:pPr lvl="2">
              <a:buFont typeface="Wingdings" panose="05000000000000000000" pitchFamily="2" charset="2"/>
              <a:buChar char="è"/>
            </a:pPr>
            <a:r>
              <a:rPr lang="en-US" altLang="en-US">
                <a:sym typeface="Wingdings" panose="05000000000000000000" pitchFamily="2" charset="2"/>
              </a:rPr>
              <a:t>Some pages are out-of-range for a particular process</a:t>
            </a:r>
          </a:p>
          <a:p>
            <a:r>
              <a:rPr lang="en-US" altLang="en-US"/>
              <a:t>Valid bit:</a:t>
            </a:r>
            <a:endParaRPr lang="en-US" altLang="en-US">
              <a:sym typeface="Wingdings" panose="05000000000000000000" pitchFamily="2" charset="2"/>
            </a:endParaRPr>
          </a:p>
          <a:p>
            <a:pPr lvl="1"/>
            <a:r>
              <a:rPr lang="en-US" altLang="en-US"/>
              <a:t>Attached to each page table entry to indicate:</a:t>
            </a:r>
          </a:p>
          <a:p>
            <a:pPr lvl="2"/>
            <a:r>
              <a:rPr lang="en-US" altLang="en-US"/>
              <a:t>Whether the page is valid for the process to access</a:t>
            </a:r>
          </a:p>
          <a:p>
            <a:pPr lvl="1"/>
            <a:r>
              <a:rPr lang="en-US" altLang="en-US"/>
              <a:t>OS will set the valid bits when a process is running</a:t>
            </a:r>
          </a:p>
          <a:p>
            <a:pPr lvl="1"/>
            <a:r>
              <a:rPr lang="en-US" altLang="en-US"/>
              <a:t>Memory access is checked against this bit:</a:t>
            </a:r>
          </a:p>
          <a:p>
            <a:pPr lvl="2"/>
            <a:r>
              <a:rPr lang="en-US" altLang="en-US"/>
              <a:t>Out-of-range access will be caught by OS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1230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Paging Scheme: Page sharing</a:t>
            </a:r>
          </a:p>
        </p:txBody>
      </p:sp>
      <p:sp>
        <p:nvSpPr>
          <p:cNvPr id="79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Page table can allow several processes to share the same physical memory frame</a:t>
            </a:r>
          </a:p>
          <a:p>
            <a:pPr lvl="1"/>
            <a:r>
              <a:rPr lang="en-US" altLang="en-US" dirty="0"/>
              <a:t>Use the same physical frame number in the page table entries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Possible usage:</a:t>
            </a:r>
          </a:p>
          <a:p>
            <a:pPr lvl="1"/>
            <a:r>
              <a:rPr lang="en-US" altLang="en-US" dirty="0"/>
              <a:t>Shared code page:</a:t>
            </a:r>
          </a:p>
          <a:p>
            <a:pPr lvl="2"/>
            <a:r>
              <a:rPr lang="en-US" altLang="en-US" dirty="0"/>
              <a:t>Some code are being used by many processes, e.g. C standard library, system calls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/>
            <a:r>
              <a:rPr lang="en-US" altLang="en-US" dirty="0"/>
              <a:t>Implement Copy-On-Write:</a:t>
            </a:r>
          </a:p>
          <a:p>
            <a:pPr lvl="2"/>
            <a:r>
              <a:rPr lang="en-US" altLang="en-US" dirty="0"/>
              <a:t>As discussed earlier in "Process Abstraction" lecture, parent and child process can share a page until one tries to change a value in it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4341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Paging Scheme: </a:t>
            </a:r>
            <a:r>
              <a:rPr lang="en-US" altLang="en-US" sz="3800" b="1" dirty="0">
                <a:solidFill>
                  <a:srgbClr val="C00000"/>
                </a:solidFill>
              </a:rPr>
              <a:t>Page sharing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20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694508" y="990600"/>
            <a:ext cx="1143000" cy="1828800"/>
            <a:chOff x="711926" y="1013764"/>
            <a:chExt cx="1143000" cy="2438400"/>
          </a:xfrm>
        </p:grpSpPr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711926" y="2842564"/>
              <a:ext cx="1143000" cy="609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3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711926" y="2232964"/>
              <a:ext cx="1143000" cy="609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2</a:t>
              </a: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711926" y="1623364"/>
              <a:ext cx="1143000" cy="609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1</a:t>
              </a: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711926" y="1013764"/>
              <a:ext cx="1143000" cy="609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0</a:t>
              </a:r>
            </a:p>
          </p:txBody>
        </p:sp>
      </p:grp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457199" y="2853207"/>
            <a:ext cx="1600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solidFill>
                  <a:srgbClr val="C00000"/>
                </a:solidFill>
              </a:rPr>
              <a:t>Process P's</a:t>
            </a:r>
          </a:p>
          <a:p>
            <a:pPr algn="ctr"/>
            <a:r>
              <a:rPr lang="en-US" altLang="en-US" sz="1600" b="1" dirty="0"/>
              <a:t>logical memory</a:t>
            </a: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7391400" y="914605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7391400" y="4572205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7391400" y="2743405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1600" b="1">
              <a:latin typeface="Courier New" panose="02070309020205020404" pitchFamily="49" charset="0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7391400" y="3353005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1600" b="1">
              <a:latin typeface="Courier New" panose="02070309020205020404" pitchFamily="49" charset="0"/>
            </a:endParaRPr>
          </a:p>
        </p:txBody>
      </p:sp>
      <p:sp>
        <p:nvSpPr>
          <p:cNvPr id="18" name="Rectangle 20"/>
          <p:cNvSpPr>
            <a:spLocks noChangeArrowheads="1"/>
          </p:cNvSpPr>
          <p:nvPr/>
        </p:nvSpPr>
        <p:spPr bwMode="auto">
          <a:xfrm>
            <a:off x="7239000" y="5791405"/>
            <a:ext cx="1600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/>
              <a:t>physical memory</a:t>
            </a:r>
          </a:p>
        </p:txBody>
      </p:sp>
      <p:grpSp>
        <p:nvGrpSpPr>
          <p:cNvPr id="19" name="Group 30"/>
          <p:cNvGrpSpPr>
            <a:grpSpLocks/>
          </p:cNvGrpSpPr>
          <p:nvPr/>
        </p:nvGrpSpPr>
        <p:grpSpPr bwMode="auto">
          <a:xfrm>
            <a:off x="6400846" y="914195"/>
            <a:ext cx="990600" cy="4876800"/>
            <a:chOff x="3323" y="823"/>
            <a:chExt cx="624" cy="3072"/>
          </a:xfrm>
        </p:grpSpPr>
        <p:sp>
          <p:nvSpPr>
            <p:cNvPr id="39" name="Rectangle 31"/>
            <p:cNvSpPr>
              <a:spLocks noChangeArrowheads="1"/>
            </p:cNvSpPr>
            <p:nvPr/>
          </p:nvSpPr>
          <p:spPr bwMode="auto">
            <a:xfrm>
              <a:off x="3323" y="3511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frame 7</a:t>
              </a:r>
            </a:p>
          </p:txBody>
        </p:sp>
        <p:sp>
          <p:nvSpPr>
            <p:cNvPr id="40" name="Rectangle 32"/>
            <p:cNvSpPr>
              <a:spLocks noChangeArrowheads="1"/>
            </p:cNvSpPr>
            <p:nvPr/>
          </p:nvSpPr>
          <p:spPr bwMode="auto">
            <a:xfrm>
              <a:off x="3323" y="3127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6</a:t>
              </a:r>
            </a:p>
          </p:txBody>
        </p:sp>
        <p:sp>
          <p:nvSpPr>
            <p:cNvPr id="41" name="Rectangle 33"/>
            <p:cNvSpPr>
              <a:spLocks noChangeArrowheads="1"/>
            </p:cNvSpPr>
            <p:nvPr/>
          </p:nvSpPr>
          <p:spPr bwMode="auto">
            <a:xfrm>
              <a:off x="3323" y="2743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5</a:t>
              </a:r>
            </a:p>
          </p:txBody>
        </p:sp>
        <p:sp>
          <p:nvSpPr>
            <p:cNvPr id="42" name="Rectangle 34"/>
            <p:cNvSpPr>
              <a:spLocks noChangeArrowheads="1"/>
            </p:cNvSpPr>
            <p:nvPr/>
          </p:nvSpPr>
          <p:spPr bwMode="auto">
            <a:xfrm>
              <a:off x="3323" y="2359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4</a:t>
              </a:r>
            </a:p>
          </p:txBody>
        </p:sp>
        <p:sp>
          <p:nvSpPr>
            <p:cNvPr id="43" name="Rectangle 35"/>
            <p:cNvSpPr>
              <a:spLocks noChangeArrowheads="1"/>
            </p:cNvSpPr>
            <p:nvPr/>
          </p:nvSpPr>
          <p:spPr bwMode="auto">
            <a:xfrm>
              <a:off x="3323" y="1975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3</a:t>
              </a:r>
            </a:p>
          </p:txBody>
        </p:sp>
        <p:sp>
          <p:nvSpPr>
            <p:cNvPr id="44" name="Rectangle 36"/>
            <p:cNvSpPr>
              <a:spLocks noChangeArrowheads="1"/>
            </p:cNvSpPr>
            <p:nvPr/>
          </p:nvSpPr>
          <p:spPr bwMode="auto">
            <a:xfrm>
              <a:off x="3323" y="1591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2</a:t>
              </a:r>
            </a:p>
          </p:txBody>
        </p:sp>
        <p:sp>
          <p:nvSpPr>
            <p:cNvPr id="45" name="Rectangle 37"/>
            <p:cNvSpPr>
              <a:spLocks noChangeArrowheads="1"/>
            </p:cNvSpPr>
            <p:nvPr/>
          </p:nvSpPr>
          <p:spPr bwMode="auto">
            <a:xfrm>
              <a:off x="3323" y="1207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1</a:t>
              </a:r>
            </a:p>
          </p:txBody>
        </p:sp>
        <p:sp>
          <p:nvSpPr>
            <p:cNvPr id="46" name="Rectangle 38"/>
            <p:cNvSpPr>
              <a:spLocks noChangeArrowheads="1"/>
            </p:cNvSpPr>
            <p:nvPr/>
          </p:nvSpPr>
          <p:spPr bwMode="auto">
            <a:xfrm>
              <a:off x="3323" y="823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frame 0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319077" y="1134976"/>
            <a:ext cx="1600200" cy="1905404"/>
            <a:chOff x="3446417" y="2906715"/>
            <a:chExt cx="1600200" cy="1905404"/>
          </a:xfrm>
        </p:grpSpPr>
        <p:grpSp>
          <p:nvGrpSpPr>
            <p:cNvPr id="25" name="Group 58"/>
            <p:cNvGrpSpPr>
              <a:grpSpLocks/>
            </p:cNvGrpSpPr>
            <p:nvPr/>
          </p:nvGrpSpPr>
          <p:grpSpPr bwMode="auto">
            <a:xfrm>
              <a:off x="3598862" y="2906715"/>
              <a:ext cx="990600" cy="1524001"/>
              <a:chOff x="2123" y="2407"/>
              <a:chExt cx="624" cy="960"/>
            </a:xfrm>
          </p:grpSpPr>
          <p:grpSp>
            <p:nvGrpSpPr>
              <p:cNvPr id="27" name="Group 48"/>
              <p:cNvGrpSpPr>
                <a:grpSpLocks/>
              </p:cNvGrpSpPr>
              <p:nvPr/>
            </p:nvGrpSpPr>
            <p:grpSpPr bwMode="auto">
              <a:xfrm>
                <a:off x="2123" y="2407"/>
                <a:ext cx="624" cy="240"/>
                <a:chOff x="2219" y="3895"/>
                <a:chExt cx="624" cy="240"/>
              </a:xfrm>
            </p:grpSpPr>
            <p:sp>
              <p:nvSpPr>
                <p:cNvPr id="37" name="Rectangle 21"/>
                <p:cNvSpPr>
                  <a:spLocks noChangeArrowheads="1"/>
                </p:cNvSpPr>
                <p:nvPr/>
              </p:nvSpPr>
              <p:spPr bwMode="auto">
                <a:xfrm>
                  <a:off x="2219" y="3895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0</a:t>
                  </a:r>
                </a:p>
              </p:txBody>
            </p:sp>
            <p:sp>
              <p:nvSpPr>
                <p:cNvPr id="38" name="Rectangle 47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anose="02070309020205020404" pitchFamily="49" charset="0"/>
                    </a:rPr>
                    <a:t>2</a:t>
                  </a:r>
                </a:p>
              </p:txBody>
            </p:sp>
          </p:grpSp>
          <p:grpSp>
            <p:nvGrpSpPr>
              <p:cNvPr id="28" name="Group 49"/>
              <p:cNvGrpSpPr>
                <a:grpSpLocks/>
              </p:cNvGrpSpPr>
              <p:nvPr/>
            </p:nvGrpSpPr>
            <p:grpSpPr bwMode="auto">
              <a:xfrm>
                <a:off x="2123" y="2647"/>
                <a:ext cx="624" cy="240"/>
                <a:chOff x="2219" y="3895"/>
                <a:chExt cx="624" cy="240"/>
              </a:xfrm>
            </p:grpSpPr>
            <p:sp>
              <p:nvSpPr>
                <p:cNvPr id="35" name="Rectangle 50"/>
                <p:cNvSpPr>
                  <a:spLocks noChangeArrowheads="1"/>
                </p:cNvSpPr>
                <p:nvPr/>
              </p:nvSpPr>
              <p:spPr bwMode="auto">
                <a:xfrm>
                  <a:off x="2219" y="3895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1</a:t>
                  </a:r>
                </a:p>
              </p:txBody>
            </p:sp>
            <p:sp>
              <p:nvSpPr>
                <p:cNvPr id="36" name="Rectangle 51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anose="02070309020205020404" pitchFamily="49" charset="0"/>
                    </a:rPr>
                    <a:t>7</a:t>
                  </a:r>
                </a:p>
              </p:txBody>
            </p:sp>
          </p:grpSp>
          <p:grpSp>
            <p:nvGrpSpPr>
              <p:cNvPr id="29" name="Group 52"/>
              <p:cNvGrpSpPr>
                <a:grpSpLocks/>
              </p:cNvGrpSpPr>
              <p:nvPr/>
            </p:nvGrpSpPr>
            <p:grpSpPr bwMode="auto">
              <a:xfrm>
                <a:off x="2123" y="2887"/>
                <a:ext cx="624" cy="240"/>
                <a:chOff x="2219" y="3895"/>
                <a:chExt cx="624" cy="240"/>
              </a:xfrm>
            </p:grpSpPr>
            <p:sp>
              <p:nvSpPr>
                <p:cNvPr id="33" name="Rectangle 53"/>
                <p:cNvSpPr>
                  <a:spLocks noChangeArrowheads="1"/>
                </p:cNvSpPr>
                <p:nvPr/>
              </p:nvSpPr>
              <p:spPr bwMode="auto">
                <a:xfrm>
                  <a:off x="2219" y="3895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2</a:t>
                  </a:r>
                </a:p>
              </p:txBody>
            </p:sp>
            <p:sp>
              <p:nvSpPr>
                <p:cNvPr id="34" name="Rectangle 54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anose="02070309020205020404" pitchFamily="49" charset="0"/>
                    </a:rPr>
                    <a:t>1</a:t>
                  </a:r>
                </a:p>
              </p:txBody>
            </p:sp>
          </p:grpSp>
          <p:grpSp>
            <p:nvGrpSpPr>
              <p:cNvPr id="30" name="Group 55"/>
              <p:cNvGrpSpPr>
                <a:grpSpLocks/>
              </p:cNvGrpSpPr>
              <p:nvPr/>
            </p:nvGrpSpPr>
            <p:grpSpPr bwMode="auto">
              <a:xfrm>
                <a:off x="2123" y="3127"/>
                <a:ext cx="624" cy="240"/>
                <a:chOff x="2219" y="3895"/>
                <a:chExt cx="624" cy="240"/>
              </a:xfrm>
            </p:grpSpPr>
            <p:sp>
              <p:nvSpPr>
                <p:cNvPr id="31" name="Rectangle 56"/>
                <p:cNvSpPr>
                  <a:spLocks noChangeArrowheads="1"/>
                </p:cNvSpPr>
                <p:nvPr/>
              </p:nvSpPr>
              <p:spPr bwMode="auto">
                <a:xfrm>
                  <a:off x="2219" y="3895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3</a:t>
                  </a:r>
                </a:p>
              </p:txBody>
            </p:sp>
            <p:sp>
              <p:nvSpPr>
                <p:cNvPr id="32" name="Rectangle 57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anose="02070309020205020404" pitchFamily="49" charset="0"/>
                    </a:rPr>
                    <a:t>5</a:t>
                  </a:r>
                </a:p>
              </p:txBody>
            </p:sp>
          </p:grpSp>
        </p:grpSp>
        <p:sp>
          <p:nvSpPr>
            <p:cNvPr id="26" name="Rectangle 59"/>
            <p:cNvSpPr>
              <a:spLocks noChangeArrowheads="1"/>
            </p:cNvSpPr>
            <p:nvPr/>
          </p:nvSpPr>
          <p:spPr bwMode="auto">
            <a:xfrm>
              <a:off x="3446417" y="4507320"/>
              <a:ext cx="1600200" cy="304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</a:rPr>
                <a:t>Process P's</a:t>
              </a:r>
            </a:p>
            <a:p>
              <a:pPr algn="ctr"/>
              <a:r>
                <a:rPr lang="en-US" altLang="en-US" sz="1600" b="1" dirty="0"/>
                <a:t>page table</a:t>
              </a:r>
            </a:p>
          </p:txBody>
        </p:sp>
      </p:grp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7391400" y="3962605"/>
            <a:ext cx="11430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3</a:t>
            </a:r>
          </a:p>
        </p:txBody>
      </p:sp>
      <p:sp>
        <p:nvSpPr>
          <p:cNvPr id="22" name="Rectangle 13"/>
          <p:cNvSpPr>
            <a:spLocks noChangeArrowheads="1"/>
          </p:cNvSpPr>
          <p:nvPr/>
        </p:nvSpPr>
        <p:spPr bwMode="auto">
          <a:xfrm>
            <a:off x="7391400" y="2133805"/>
            <a:ext cx="11430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0</a:t>
            </a:r>
          </a:p>
        </p:txBody>
      </p:sp>
      <p:sp>
        <p:nvSpPr>
          <p:cNvPr id="23" name="Rectangle 17"/>
          <p:cNvSpPr>
            <a:spLocks noChangeArrowheads="1"/>
          </p:cNvSpPr>
          <p:nvPr/>
        </p:nvSpPr>
        <p:spPr bwMode="auto">
          <a:xfrm>
            <a:off x="7391400" y="1524205"/>
            <a:ext cx="11430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2</a:t>
            </a:r>
          </a:p>
        </p:txBody>
      </p:sp>
      <p:sp>
        <p:nvSpPr>
          <p:cNvPr id="24" name="Rectangle 18"/>
          <p:cNvSpPr>
            <a:spLocks noChangeArrowheads="1"/>
          </p:cNvSpPr>
          <p:nvPr/>
        </p:nvSpPr>
        <p:spPr bwMode="auto">
          <a:xfrm>
            <a:off x="7391400" y="5181805"/>
            <a:ext cx="11430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1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33399" y="3819736"/>
            <a:ext cx="4414181" cy="2548407"/>
            <a:chOff x="533399" y="3819736"/>
            <a:chExt cx="4414181" cy="2548407"/>
          </a:xfrm>
        </p:grpSpPr>
        <p:grpSp>
          <p:nvGrpSpPr>
            <p:cNvPr id="54" name="Group 53"/>
            <p:cNvGrpSpPr/>
            <p:nvPr/>
          </p:nvGrpSpPr>
          <p:grpSpPr>
            <a:xfrm>
              <a:off x="770708" y="3819736"/>
              <a:ext cx="1143000" cy="1828800"/>
              <a:chOff x="711926" y="1013764"/>
              <a:chExt cx="1143000" cy="2438400"/>
            </a:xfrm>
          </p:grpSpPr>
          <p:sp>
            <p:nvSpPr>
              <p:cNvPr id="55" name="Rectangle 4"/>
              <p:cNvSpPr>
                <a:spLocks noChangeArrowheads="1"/>
              </p:cNvSpPr>
              <p:nvPr/>
            </p:nvSpPr>
            <p:spPr bwMode="auto">
              <a:xfrm>
                <a:off x="711926" y="2842564"/>
                <a:ext cx="1143000" cy="609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3</a:t>
                </a:r>
              </a:p>
            </p:txBody>
          </p:sp>
          <p:sp>
            <p:nvSpPr>
              <p:cNvPr id="56" name="Rectangle 5"/>
              <p:cNvSpPr>
                <a:spLocks noChangeArrowheads="1"/>
              </p:cNvSpPr>
              <p:nvPr/>
            </p:nvSpPr>
            <p:spPr bwMode="auto">
              <a:xfrm>
                <a:off x="711926" y="2232964"/>
                <a:ext cx="1143000" cy="609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2</a:t>
                </a:r>
              </a:p>
            </p:txBody>
          </p:sp>
          <p:sp>
            <p:nvSpPr>
              <p:cNvPr id="57" name="Rectangle 6"/>
              <p:cNvSpPr>
                <a:spLocks noChangeArrowheads="1"/>
              </p:cNvSpPr>
              <p:nvPr/>
            </p:nvSpPr>
            <p:spPr bwMode="auto">
              <a:xfrm>
                <a:off x="711926" y="1623364"/>
                <a:ext cx="1143000" cy="609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1</a:t>
                </a:r>
              </a:p>
            </p:txBody>
          </p:sp>
          <p:sp>
            <p:nvSpPr>
              <p:cNvPr id="58" name="Rectangle 7"/>
              <p:cNvSpPr>
                <a:spLocks noChangeArrowheads="1"/>
              </p:cNvSpPr>
              <p:nvPr/>
            </p:nvSpPr>
            <p:spPr bwMode="auto">
              <a:xfrm>
                <a:off x="711926" y="1013764"/>
                <a:ext cx="1143000" cy="609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0</a:t>
                </a:r>
              </a:p>
            </p:txBody>
          </p:sp>
        </p:grpSp>
        <p:sp>
          <p:nvSpPr>
            <p:cNvPr id="59" name="Rectangle 15"/>
            <p:cNvSpPr>
              <a:spLocks noChangeArrowheads="1"/>
            </p:cNvSpPr>
            <p:nvPr/>
          </p:nvSpPr>
          <p:spPr bwMode="auto">
            <a:xfrm>
              <a:off x="533399" y="5682343"/>
              <a:ext cx="1600200" cy="685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</a:rPr>
                <a:t>Process Q's</a:t>
              </a:r>
            </a:p>
            <a:p>
              <a:pPr algn="ctr"/>
              <a:r>
                <a:rPr lang="en-US" altLang="en-US" sz="1600" b="1" dirty="0"/>
                <a:t>logical memory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3347380" y="4228693"/>
              <a:ext cx="1600200" cy="1905404"/>
              <a:chOff x="3446417" y="2906715"/>
              <a:chExt cx="1600200" cy="1905404"/>
            </a:xfrm>
          </p:grpSpPr>
          <p:grpSp>
            <p:nvGrpSpPr>
              <p:cNvPr id="61" name="Group 58"/>
              <p:cNvGrpSpPr>
                <a:grpSpLocks/>
              </p:cNvGrpSpPr>
              <p:nvPr/>
            </p:nvGrpSpPr>
            <p:grpSpPr bwMode="auto">
              <a:xfrm>
                <a:off x="3598862" y="2906715"/>
                <a:ext cx="990600" cy="1524001"/>
                <a:chOff x="2123" y="2407"/>
                <a:chExt cx="624" cy="960"/>
              </a:xfrm>
            </p:grpSpPr>
            <p:grpSp>
              <p:nvGrpSpPr>
                <p:cNvPr id="63" name="Group 48"/>
                <p:cNvGrpSpPr>
                  <a:grpSpLocks/>
                </p:cNvGrpSpPr>
                <p:nvPr/>
              </p:nvGrpSpPr>
              <p:grpSpPr bwMode="auto">
                <a:xfrm>
                  <a:off x="2123" y="2407"/>
                  <a:ext cx="624" cy="240"/>
                  <a:chOff x="2219" y="3895"/>
                  <a:chExt cx="624" cy="240"/>
                </a:xfrm>
              </p:grpSpPr>
              <p:sp>
                <p:nvSpPr>
                  <p:cNvPr id="73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89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/>
                      <a:t>0</a:t>
                    </a:r>
                  </a:p>
                </p:txBody>
              </p:sp>
              <p:sp>
                <p:nvSpPr>
                  <p:cNvPr id="74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895"/>
                    <a:ext cx="336" cy="240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  <p:grpSp>
              <p:nvGrpSpPr>
                <p:cNvPr id="64" name="Group 49"/>
                <p:cNvGrpSpPr>
                  <a:grpSpLocks/>
                </p:cNvGrpSpPr>
                <p:nvPr/>
              </p:nvGrpSpPr>
              <p:grpSpPr bwMode="auto">
                <a:xfrm>
                  <a:off x="2123" y="2647"/>
                  <a:ext cx="624" cy="240"/>
                  <a:chOff x="2219" y="3895"/>
                  <a:chExt cx="624" cy="240"/>
                </a:xfrm>
              </p:grpSpPr>
              <p:sp>
                <p:nvSpPr>
                  <p:cNvPr id="71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89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/>
                      <a:t>1</a:t>
                    </a:r>
                  </a:p>
                </p:txBody>
              </p:sp>
              <p:sp>
                <p:nvSpPr>
                  <p:cNvPr id="72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895"/>
                    <a:ext cx="336" cy="240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  <p:grpSp>
              <p:nvGrpSpPr>
                <p:cNvPr id="65" name="Group 52"/>
                <p:cNvGrpSpPr>
                  <a:grpSpLocks/>
                </p:cNvGrpSpPr>
                <p:nvPr/>
              </p:nvGrpSpPr>
              <p:grpSpPr bwMode="auto">
                <a:xfrm>
                  <a:off x="2123" y="2887"/>
                  <a:ext cx="624" cy="240"/>
                  <a:chOff x="2219" y="3895"/>
                  <a:chExt cx="624" cy="240"/>
                </a:xfrm>
              </p:grpSpPr>
              <p:sp>
                <p:nvSpPr>
                  <p:cNvPr id="69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89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/>
                      <a:t>2</a:t>
                    </a:r>
                  </a:p>
                </p:txBody>
              </p:sp>
              <p:sp>
                <p:nvSpPr>
                  <p:cNvPr id="70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895"/>
                    <a:ext cx="336" cy="240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  <p:grpSp>
              <p:nvGrpSpPr>
                <p:cNvPr id="66" name="Group 55"/>
                <p:cNvGrpSpPr>
                  <a:grpSpLocks/>
                </p:cNvGrpSpPr>
                <p:nvPr/>
              </p:nvGrpSpPr>
              <p:grpSpPr bwMode="auto">
                <a:xfrm>
                  <a:off x="2123" y="3127"/>
                  <a:ext cx="624" cy="240"/>
                  <a:chOff x="2219" y="3895"/>
                  <a:chExt cx="624" cy="240"/>
                </a:xfrm>
              </p:grpSpPr>
              <p:sp>
                <p:nvSpPr>
                  <p:cNvPr id="67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89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/>
                      <a:t>3</a:t>
                    </a:r>
                  </a:p>
                </p:txBody>
              </p:sp>
              <p:sp>
                <p:nvSpPr>
                  <p:cNvPr id="68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895"/>
                    <a:ext cx="336" cy="240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</p:grpSp>
          <p:sp>
            <p:nvSpPr>
              <p:cNvPr id="62" name="Rectangle 59"/>
              <p:cNvSpPr>
                <a:spLocks noChangeArrowheads="1"/>
              </p:cNvSpPr>
              <p:nvPr/>
            </p:nvSpPr>
            <p:spPr bwMode="auto">
              <a:xfrm>
                <a:off x="3446417" y="4507320"/>
                <a:ext cx="1600200" cy="3047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solidFill>
                      <a:srgbClr val="C00000"/>
                    </a:solidFill>
                  </a:rPr>
                  <a:t>Process Q's</a:t>
                </a:r>
              </a:p>
              <a:p>
                <a:pPr algn="ctr"/>
                <a:r>
                  <a:rPr lang="en-US" altLang="en-US" sz="1600" b="1" dirty="0"/>
                  <a:t>page table</a:t>
                </a:r>
              </a:p>
            </p:txBody>
          </p:sp>
        </p:grpSp>
      </p:grpSp>
      <p:grpSp>
        <p:nvGrpSpPr>
          <p:cNvPr id="7" name="Group 6"/>
          <p:cNvGrpSpPr/>
          <p:nvPr/>
        </p:nvGrpSpPr>
        <p:grpSpPr>
          <a:xfrm>
            <a:off x="7391400" y="914605"/>
            <a:ext cx="1143046" cy="4276731"/>
            <a:chOff x="7391400" y="914605"/>
            <a:chExt cx="1143046" cy="4276731"/>
          </a:xfrm>
        </p:grpSpPr>
        <p:sp>
          <p:nvSpPr>
            <p:cNvPr id="75" name="Rectangle 10"/>
            <p:cNvSpPr>
              <a:spLocks noChangeArrowheads="1"/>
            </p:cNvSpPr>
            <p:nvPr/>
          </p:nvSpPr>
          <p:spPr bwMode="auto">
            <a:xfrm>
              <a:off x="7391446" y="3353005"/>
              <a:ext cx="1143000" cy="609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0</a:t>
              </a:r>
            </a:p>
          </p:txBody>
        </p:sp>
        <p:sp>
          <p:nvSpPr>
            <p:cNvPr id="76" name="Rectangle 13"/>
            <p:cNvSpPr>
              <a:spLocks noChangeArrowheads="1"/>
            </p:cNvSpPr>
            <p:nvPr/>
          </p:nvSpPr>
          <p:spPr bwMode="auto">
            <a:xfrm>
              <a:off x="7391400" y="2735581"/>
              <a:ext cx="1143000" cy="609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2</a:t>
              </a:r>
            </a:p>
          </p:txBody>
        </p:sp>
        <p:sp>
          <p:nvSpPr>
            <p:cNvPr id="77" name="Rectangle 17"/>
            <p:cNvSpPr>
              <a:spLocks noChangeArrowheads="1"/>
            </p:cNvSpPr>
            <p:nvPr/>
          </p:nvSpPr>
          <p:spPr bwMode="auto">
            <a:xfrm>
              <a:off x="7391400" y="914605"/>
              <a:ext cx="1143000" cy="609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1</a:t>
              </a:r>
            </a:p>
          </p:txBody>
        </p:sp>
        <p:sp>
          <p:nvSpPr>
            <p:cNvPr id="78" name="Rectangle 18"/>
            <p:cNvSpPr>
              <a:spLocks noChangeArrowheads="1"/>
            </p:cNvSpPr>
            <p:nvPr/>
          </p:nvSpPr>
          <p:spPr bwMode="auto">
            <a:xfrm>
              <a:off x="7391446" y="4581736"/>
              <a:ext cx="1143000" cy="609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3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5078408" y="6521450"/>
            <a:ext cx="3505200" cy="2286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Incomplete diagram, to be filled in during lecture.</a:t>
            </a:r>
          </a:p>
        </p:txBody>
      </p:sp>
    </p:spTree>
    <p:extLst>
      <p:ext uri="{BB962C8B-B14F-4D97-AF65-F5344CB8AC3E}">
        <p14:creationId xmlns:p14="http://schemas.microsoft.com/office/powerpoint/2010/main" val="230703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Paging Scheme: </a:t>
            </a:r>
            <a:r>
              <a:rPr lang="en-US" altLang="en-US" sz="3800" b="1" dirty="0">
                <a:solidFill>
                  <a:srgbClr val="C00000"/>
                </a:solidFill>
              </a:rPr>
              <a:t>Copy-On-Write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21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694509" y="944678"/>
            <a:ext cx="1143000" cy="1828800"/>
            <a:chOff x="711926" y="1013764"/>
            <a:chExt cx="1143000" cy="2438400"/>
          </a:xfrm>
        </p:grpSpPr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711926" y="2842564"/>
              <a:ext cx="1143000" cy="609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3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711926" y="2232964"/>
              <a:ext cx="1143000" cy="609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2</a:t>
              </a: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711926" y="1623364"/>
              <a:ext cx="1143000" cy="609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1</a:t>
              </a: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711926" y="1013764"/>
              <a:ext cx="1143000" cy="609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0</a:t>
              </a:r>
            </a:p>
          </p:txBody>
        </p:sp>
      </p:grp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457200" y="2807285"/>
            <a:ext cx="1600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solidFill>
                  <a:srgbClr val="C00000"/>
                </a:solidFill>
              </a:rPr>
              <a:t>Process P's</a:t>
            </a:r>
          </a:p>
          <a:p>
            <a:pPr algn="ctr"/>
            <a:r>
              <a:rPr lang="en-US" altLang="en-US" sz="1600" b="1" dirty="0"/>
              <a:t>logical memory</a:t>
            </a: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7391400" y="914605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7391400" y="4572205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7391400" y="2743405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1600" b="1">
              <a:latin typeface="Courier New" panose="02070309020205020404" pitchFamily="49" charset="0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7391400" y="3353005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sz="1600" b="1">
              <a:latin typeface="Courier New" panose="02070309020205020404" pitchFamily="49" charset="0"/>
            </a:endParaRPr>
          </a:p>
        </p:txBody>
      </p:sp>
      <p:sp>
        <p:nvSpPr>
          <p:cNvPr id="18" name="Rectangle 20"/>
          <p:cNvSpPr>
            <a:spLocks noChangeArrowheads="1"/>
          </p:cNvSpPr>
          <p:nvPr/>
        </p:nvSpPr>
        <p:spPr bwMode="auto">
          <a:xfrm>
            <a:off x="7239000" y="5791405"/>
            <a:ext cx="1600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/>
              <a:t>physical memory</a:t>
            </a:r>
          </a:p>
        </p:txBody>
      </p:sp>
      <p:grpSp>
        <p:nvGrpSpPr>
          <p:cNvPr id="19" name="Group 30"/>
          <p:cNvGrpSpPr>
            <a:grpSpLocks/>
          </p:cNvGrpSpPr>
          <p:nvPr/>
        </p:nvGrpSpPr>
        <p:grpSpPr bwMode="auto">
          <a:xfrm>
            <a:off x="6400846" y="914195"/>
            <a:ext cx="990600" cy="4876800"/>
            <a:chOff x="3323" y="823"/>
            <a:chExt cx="624" cy="3072"/>
          </a:xfrm>
        </p:grpSpPr>
        <p:sp>
          <p:nvSpPr>
            <p:cNvPr id="39" name="Rectangle 31"/>
            <p:cNvSpPr>
              <a:spLocks noChangeArrowheads="1"/>
            </p:cNvSpPr>
            <p:nvPr/>
          </p:nvSpPr>
          <p:spPr bwMode="auto">
            <a:xfrm>
              <a:off x="3323" y="3511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frame 7</a:t>
              </a:r>
            </a:p>
          </p:txBody>
        </p:sp>
        <p:sp>
          <p:nvSpPr>
            <p:cNvPr id="40" name="Rectangle 32"/>
            <p:cNvSpPr>
              <a:spLocks noChangeArrowheads="1"/>
            </p:cNvSpPr>
            <p:nvPr/>
          </p:nvSpPr>
          <p:spPr bwMode="auto">
            <a:xfrm>
              <a:off x="3323" y="3127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6</a:t>
              </a:r>
            </a:p>
          </p:txBody>
        </p:sp>
        <p:sp>
          <p:nvSpPr>
            <p:cNvPr id="41" name="Rectangle 33"/>
            <p:cNvSpPr>
              <a:spLocks noChangeArrowheads="1"/>
            </p:cNvSpPr>
            <p:nvPr/>
          </p:nvSpPr>
          <p:spPr bwMode="auto">
            <a:xfrm>
              <a:off x="3323" y="2743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5</a:t>
              </a:r>
            </a:p>
          </p:txBody>
        </p:sp>
        <p:sp>
          <p:nvSpPr>
            <p:cNvPr id="42" name="Rectangle 34"/>
            <p:cNvSpPr>
              <a:spLocks noChangeArrowheads="1"/>
            </p:cNvSpPr>
            <p:nvPr/>
          </p:nvSpPr>
          <p:spPr bwMode="auto">
            <a:xfrm>
              <a:off x="3323" y="2359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4</a:t>
              </a:r>
            </a:p>
          </p:txBody>
        </p:sp>
        <p:sp>
          <p:nvSpPr>
            <p:cNvPr id="43" name="Rectangle 35"/>
            <p:cNvSpPr>
              <a:spLocks noChangeArrowheads="1"/>
            </p:cNvSpPr>
            <p:nvPr/>
          </p:nvSpPr>
          <p:spPr bwMode="auto">
            <a:xfrm>
              <a:off x="3323" y="1975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3</a:t>
              </a:r>
            </a:p>
          </p:txBody>
        </p:sp>
        <p:sp>
          <p:nvSpPr>
            <p:cNvPr id="44" name="Rectangle 36"/>
            <p:cNvSpPr>
              <a:spLocks noChangeArrowheads="1"/>
            </p:cNvSpPr>
            <p:nvPr/>
          </p:nvSpPr>
          <p:spPr bwMode="auto">
            <a:xfrm>
              <a:off x="3323" y="1591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2</a:t>
              </a:r>
            </a:p>
          </p:txBody>
        </p:sp>
        <p:sp>
          <p:nvSpPr>
            <p:cNvPr id="45" name="Rectangle 37"/>
            <p:cNvSpPr>
              <a:spLocks noChangeArrowheads="1"/>
            </p:cNvSpPr>
            <p:nvPr/>
          </p:nvSpPr>
          <p:spPr bwMode="auto">
            <a:xfrm>
              <a:off x="3323" y="1207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1</a:t>
              </a:r>
            </a:p>
          </p:txBody>
        </p:sp>
        <p:sp>
          <p:nvSpPr>
            <p:cNvPr id="46" name="Rectangle 38"/>
            <p:cNvSpPr>
              <a:spLocks noChangeArrowheads="1"/>
            </p:cNvSpPr>
            <p:nvPr/>
          </p:nvSpPr>
          <p:spPr bwMode="auto">
            <a:xfrm>
              <a:off x="3323" y="823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frame 0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319077" y="1134976"/>
            <a:ext cx="1600200" cy="1905404"/>
            <a:chOff x="3446417" y="2906715"/>
            <a:chExt cx="1600200" cy="1905404"/>
          </a:xfrm>
        </p:grpSpPr>
        <p:grpSp>
          <p:nvGrpSpPr>
            <p:cNvPr id="25" name="Group 58"/>
            <p:cNvGrpSpPr>
              <a:grpSpLocks/>
            </p:cNvGrpSpPr>
            <p:nvPr/>
          </p:nvGrpSpPr>
          <p:grpSpPr bwMode="auto">
            <a:xfrm>
              <a:off x="3598862" y="2906715"/>
              <a:ext cx="990600" cy="1524001"/>
              <a:chOff x="2123" y="2407"/>
              <a:chExt cx="624" cy="960"/>
            </a:xfrm>
          </p:grpSpPr>
          <p:grpSp>
            <p:nvGrpSpPr>
              <p:cNvPr id="27" name="Group 48"/>
              <p:cNvGrpSpPr>
                <a:grpSpLocks/>
              </p:cNvGrpSpPr>
              <p:nvPr/>
            </p:nvGrpSpPr>
            <p:grpSpPr bwMode="auto">
              <a:xfrm>
                <a:off x="2123" y="2407"/>
                <a:ext cx="624" cy="240"/>
                <a:chOff x="2219" y="3895"/>
                <a:chExt cx="624" cy="240"/>
              </a:xfrm>
            </p:grpSpPr>
            <p:sp>
              <p:nvSpPr>
                <p:cNvPr id="37" name="Rectangle 21"/>
                <p:cNvSpPr>
                  <a:spLocks noChangeArrowheads="1"/>
                </p:cNvSpPr>
                <p:nvPr/>
              </p:nvSpPr>
              <p:spPr bwMode="auto">
                <a:xfrm>
                  <a:off x="2219" y="3895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0</a:t>
                  </a:r>
                </a:p>
              </p:txBody>
            </p:sp>
            <p:sp>
              <p:nvSpPr>
                <p:cNvPr id="38" name="Rectangle 47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anose="02070309020205020404" pitchFamily="49" charset="0"/>
                    </a:rPr>
                    <a:t>2</a:t>
                  </a:r>
                </a:p>
              </p:txBody>
            </p:sp>
          </p:grpSp>
          <p:grpSp>
            <p:nvGrpSpPr>
              <p:cNvPr id="28" name="Group 49"/>
              <p:cNvGrpSpPr>
                <a:grpSpLocks/>
              </p:cNvGrpSpPr>
              <p:nvPr/>
            </p:nvGrpSpPr>
            <p:grpSpPr bwMode="auto">
              <a:xfrm>
                <a:off x="2123" y="2647"/>
                <a:ext cx="624" cy="240"/>
                <a:chOff x="2219" y="3895"/>
                <a:chExt cx="624" cy="240"/>
              </a:xfrm>
            </p:grpSpPr>
            <p:sp>
              <p:nvSpPr>
                <p:cNvPr id="35" name="Rectangle 50"/>
                <p:cNvSpPr>
                  <a:spLocks noChangeArrowheads="1"/>
                </p:cNvSpPr>
                <p:nvPr/>
              </p:nvSpPr>
              <p:spPr bwMode="auto">
                <a:xfrm>
                  <a:off x="2219" y="3895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1</a:t>
                  </a:r>
                </a:p>
              </p:txBody>
            </p:sp>
            <p:sp>
              <p:nvSpPr>
                <p:cNvPr id="36" name="Rectangle 51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anose="02070309020205020404" pitchFamily="49" charset="0"/>
                    </a:rPr>
                    <a:t>7</a:t>
                  </a:r>
                </a:p>
              </p:txBody>
            </p:sp>
          </p:grpSp>
          <p:grpSp>
            <p:nvGrpSpPr>
              <p:cNvPr id="29" name="Group 52"/>
              <p:cNvGrpSpPr>
                <a:grpSpLocks/>
              </p:cNvGrpSpPr>
              <p:nvPr/>
            </p:nvGrpSpPr>
            <p:grpSpPr bwMode="auto">
              <a:xfrm>
                <a:off x="2123" y="2887"/>
                <a:ext cx="624" cy="240"/>
                <a:chOff x="2219" y="3895"/>
                <a:chExt cx="624" cy="240"/>
              </a:xfrm>
            </p:grpSpPr>
            <p:sp>
              <p:nvSpPr>
                <p:cNvPr id="33" name="Rectangle 53"/>
                <p:cNvSpPr>
                  <a:spLocks noChangeArrowheads="1"/>
                </p:cNvSpPr>
                <p:nvPr/>
              </p:nvSpPr>
              <p:spPr bwMode="auto">
                <a:xfrm>
                  <a:off x="2219" y="3895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2</a:t>
                  </a:r>
                </a:p>
              </p:txBody>
            </p:sp>
            <p:sp>
              <p:nvSpPr>
                <p:cNvPr id="34" name="Rectangle 54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anose="02070309020205020404" pitchFamily="49" charset="0"/>
                    </a:rPr>
                    <a:t>1</a:t>
                  </a:r>
                </a:p>
              </p:txBody>
            </p:sp>
          </p:grpSp>
          <p:grpSp>
            <p:nvGrpSpPr>
              <p:cNvPr id="30" name="Group 55"/>
              <p:cNvGrpSpPr>
                <a:grpSpLocks/>
              </p:cNvGrpSpPr>
              <p:nvPr/>
            </p:nvGrpSpPr>
            <p:grpSpPr bwMode="auto">
              <a:xfrm>
                <a:off x="2123" y="3127"/>
                <a:ext cx="624" cy="240"/>
                <a:chOff x="2219" y="3895"/>
                <a:chExt cx="624" cy="240"/>
              </a:xfrm>
            </p:grpSpPr>
            <p:sp>
              <p:nvSpPr>
                <p:cNvPr id="31" name="Rectangle 56"/>
                <p:cNvSpPr>
                  <a:spLocks noChangeArrowheads="1"/>
                </p:cNvSpPr>
                <p:nvPr/>
              </p:nvSpPr>
              <p:spPr bwMode="auto">
                <a:xfrm>
                  <a:off x="2219" y="3895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/>
                    <a:t>3</a:t>
                  </a:r>
                </a:p>
              </p:txBody>
            </p:sp>
            <p:sp>
              <p:nvSpPr>
                <p:cNvPr id="32" name="Rectangle 57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>
                      <a:latin typeface="Courier New" panose="02070309020205020404" pitchFamily="49" charset="0"/>
                    </a:rPr>
                    <a:t>5</a:t>
                  </a:r>
                </a:p>
              </p:txBody>
            </p:sp>
          </p:grpSp>
        </p:grpSp>
        <p:sp>
          <p:nvSpPr>
            <p:cNvPr id="26" name="Rectangle 59"/>
            <p:cNvSpPr>
              <a:spLocks noChangeArrowheads="1"/>
            </p:cNvSpPr>
            <p:nvPr/>
          </p:nvSpPr>
          <p:spPr bwMode="auto">
            <a:xfrm>
              <a:off x="3446417" y="4507320"/>
              <a:ext cx="1600200" cy="304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</a:rPr>
                <a:t>Process P's</a:t>
              </a:r>
            </a:p>
            <a:p>
              <a:pPr algn="ctr"/>
              <a:r>
                <a:rPr lang="en-US" altLang="en-US" sz="1600" b="1" dirty="0"/>
                <a:t>page table</a:t>
              </a:r>
            </a:p>
          </p:txBody>
        </p:sp>
      </p:grp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7391400" y="3962605"/>
            <a:ext cx="11430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3</a:t>
            </a:r>
          </a:p>
        </p:txBody>
      </p:sp>
      <p:sp>
        <p:nvSpPr>
          <p:cNvPr id="22" name="Rectangle 13"/>
          <p:cNvSpPr>
            <a:spLocks noChangeArrowheads="1"/>
          </p:cNvSpPr>
          <p:nvPr/>
        </p:nvSpPr>
        <p:spPr bwMode="auto">
          <a:xfrm>
            <a:off x="7391400" y="2133805"/>
            <a:ext cx="11430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0</a:t>
            </a:r>
          </a:p>
        </p:txBody>
      </p:sp>
      <p:sp>
        <p:nvSpPr>
          <p:cNvPr id="23" name="Rectangle 17"/>
          <p:cNvSpPr>
            <a:spLocks noChangeArrowheads="1"/>
          </p:cNvSpPr>
          <p:nvPr/>
        </p:nvSpPr>
        <p:spPr bwMode="auto">
          <a:xfrm>
            <a:off x="7391400" y="1524205"/>
            <a:ext cx="11430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2</a:t>
            </a:r>
          </a:p>
        </p:txBody>
      </p:sp>
      <p:sp>
        <p:nvSpPr>
          <p:cNvPr id="24" name="Rectangle 18"/>
          <p:cNvSpPr>
            <a:spLocks noChangeArrowheads="1"/>
          </p:cNvSpPr>
          <p:nvPr/>
        </p:nvSpPr>
        <p:spPr bwMode="auto">
          <a:xfrm>
            <a:off x="7391400" y="5181805"/>
            <a:ext cx="11430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1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33399" y="3819736"/>
            <a:ext cx="4414181" cy="2548407"/>
            <a:chOff x="533399" y="3819736"/>
            <a:chExt cx="4414181" cy="2548407"/>
          </a:xfrm>
        </p:grpSpPr>
        <p:grpSp>
          <p:nvGrpSpPr>
            <p:cNvPr id="54" name="Group 53"/>
            <p:cNvGrpSpPr/>
            <p:nvPr/>
          </p:nvGrpSpPr>
          <p:grpSpPr>
            <a:xfrm>
              <a:off x="770708" y="3819736"/>
              <a:ext cx="1143000" cy="1828800"/>
              <a:chOff x="711926" y="1013764"/>
              <a:chExt cx="1143000" cy="2438400"/>
            </a:xfrm>
          </p:grpSpPr>
          <p:sp>
            <p:nvSpPr>
              <p:cNvPr id="55" name="Rectangle 4"/>
              <p:cNvSpPr>
                <a:spLocks noChangeArrowheads="1"/>
              </p:cNvSpPr>
              <p:nvPr/>
            </p:nvSpPr>
            <p:spPr bwMode="auto">
              <a:xfrm>
                <a:off x="711926" y="2842564"/>
                <a:ext cx="1143000" cy="609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3</a:t>
                </a:r>
              </a:p>
            </p:txBody>
          </p:sp>
          <p:sp>
            <p:nvSpPr>
              <p:cNvPr id="56" name="Rectangle 5"/>
              <p:cNvSpPr>
                <a:spLocks noChangeArrowheads="1"/>
              </p:cNvSpPr>
              <p:nvPr/>
            </p:nvSpPr>
            <p:spPr bwMode="auto">
              <a:xfrm>
                <a:off x="711926" y="2232964"/>
                <a:ext cx="1143000" cy="609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2</a:t>
                </a:r>
              </a:p>
            </p:txBody>
          </p:sp>
          <p:sp>
            <p:nvSpPr>
              <p:cNvPr id="57" name="Rectangle 6"/>
              <p:cNvSpPr>
                <a:spLocks noChangeArrowheads="1"/>
              </p:cNvSpPr>
              <p:nvPr/>
            </p:nvSpPr>
            <p:spPr bwMode="auto">
              <a:xfrm>
                <a:off x="711926" y="1623364"/>
                <a:ext cx="1143000" cy="609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1</a:t>
                </a:r>
              </a:p>
            </p:txBody>
          </p:sp>
          <p:sp>
            <p:nvSpPr>
              <p:cNvPr id="58" name="Rectangle 7"/>
              <p:cNvSpPr>
                <a:spLocks noChangeArrowheads="1"/>
              </p:cNvSpPr>
              <p:nvPr/>
            </p:nvSpPr>
            <p:spPr bwMode="auto">
              <a:xfrm>
                <a:off x="711926" y="1013764"/>
                <a:ext cx="1143000" cy="609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0</a:t>
                </a:r>
              </a:p>
            </p:txBody>
          </p:sp>
        </p:grpSp>
        <p:sp>
          <p:nvSpPr>
            <p:cNvPr id="59" name="Rectangle 15"/>
            <p:cNvSpPr>
              <a:spLocks noChangeArrowheads="1"/>
            </p:cNvSpPr>
            <p:nvPr/>
          </p:nvSpPr>
          <p:spPr bwMode="auto">
            <a:xfrm>
              <a:off x="533399" y="5682343"/>
              <a:ext cx="1600200" cy="685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C00000"/>
                  </a:solidFill>
                </a:rPr>
                <a:t>Process Q's</a:t>
              </a:r>
            </a:p>
            <a:p>
              <a:pPr algn="ctr"/>
              <a:r>
                <a:rPr lang="en-US" altLang="en-US" sz="1600" b="1" dirty="0"/>
                <a:t>logical memory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3347380" y="4228693"/>
              <a:ext cx="1600200" cy="1905404"/>
              <a:chOff x="3446417" y="2906715"/>
              <a:chExt cx="1600200" cy="1905404"/>
            </a:xfrm>
          </p:grpSpPr>
          <p:grpSp>
            <p:nvGrpSpPr>
              <p:cNvPr id="61" name="Group 58"/>
              <p:cNvGrpSpPr>
                <a:grpSpLocks/>
              </p:cNvGrpSpPr>
              <p:nvPr/>
            </p:nvGrpSpPr>
            <p:grpSpPr bwMode="auto">
              <a:xfrm>
                <a:off x="3598862" y="2906715"/>
                <a:ext cx="990600" cy="1524001"/>
                <a:chOff x="2123" y="2407"/>
                <a:chExt cx="624" cy="960"/>
              </a:xfrm>
            </p:grpSpPr>
            <p:grpSp>
              <p:nvGrpSpPr>
                <p:cNvPr id="63" name="Group 48"/>
                <p:cNvGrpSpPr>
                  <a:grpSpLocks/>
                </p:cNvGrpSpPr>
                <p:nvPr/>
              </p:nvGrpSpPr>
              <p:grpSpPr bwMode="auto">
                <a:xfrm>
                  <a:off x="2123" y="2407"/>
                  <a:ext cx="624" cy="240"/>
                  <a:chOff x="2219" y="3895"/>
                  <a:chExt cx="624" cy="240"/>
                </a:xfrm>
              </p:grpSpPr>
              <p:sp>
                <p:nvSpPr>
                  <p:cNvPr id="73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89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/>
                      <a:t>0</a:t>
                    </a:r>
                  </a:p>
                </p:txBody>
              </p:sp>
              <p:sp>
                <p:nvSpPr>
                  <p:cNvPr id="74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895"/>
                    <a:ext cx="336" cy="240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  <p:grpSp>
              <p:nvGrpSpPr>
                <p:cNvPr id="64" name="Group 49"/>
                <p:cNvGrpSpPr>
                  <a:grpSpLocks/>
                </p:cNvGrpSpPr>
                <p:nvPr/>
              </p:nvGrpSpPr>
              <p:grpSpPr bwMode="auto">
                <a:xfrm>
                  <a:off x="2123" y="2647"/>
                  <a:ext cx="624" cy="240"/>
                  <a:chOff x="2219" y="3895"/>
                  <a:chExt cx="624" cy="240"/>
                </a:xfrm>
              </p:grpSpPr>
              <p:sp>
                <p:nvSpPr>
                  <p:cNvPr id="71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89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/>
                      <a:t>1</a:t>
                    </a:r>
                  </a:p>
                </p:txBody>
              </p:sp>
              <p:sp>
                <p:nvSpPr>
                  <p:cNvPr id="72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895"/>
                    <a:ext cx="336" cy="240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  <p:grpSp>
              <p:nvGrpSpPr>
                <p:cNvPr id="65" name="Group 52"/>
                <p:cNvGrpSpPr>
                  <a:grpSpLocks/>
                </p:cNvGrpSpPr>
                <p:nvPr/>
              </p:nvGrpSpPr>
              <p:grpSpPr bwMode="auto">
                <a:xfrm>
                  <a:off x="2123" y="2887"/>
                  <a:ext cx="624" cy="240"/>
                  <a:chOff x="2219" y="3895"/>
                  <a:chExt cx="624" cy="240"/>
                </a:xfrm>
              </p:grpSpPr>
              <p:sp>
                <p:nvSpPr>
                  <p:cNvPr id="69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89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/>
                      <a:t>2</a:t>
                    </a:r>
                  </a:p>
                </p:txBody>
              </p:sp>
              <p:sp>
                <p:nvSpPr>
                  <p:cNvPr id="70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895"/>
                    <a:ext cx="336" cy="240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  <p:grpSp>
              <p:nvGrpSpPr>
                <p:cNvPr id="66" name="Group 55"/>
                <p:cNvGrpSpPr>
                  <a:grpSpLocks/>
                </p:cNvGrpSpPr>
                <p:nvPr/>
              </p:nvGrpSpPr>
              <p:grpSpPr bwMode="auto">
                <a:xfrm>
                  <a:off x="2123" y="3127"/>
                  <a:ext cx="624" cy="240"/>
                  <a:chOff x="2219" y="3895"/>
                  <a:chExt cx="624" cy="240"/>
                </a:xfrm>
              </p:grpSpPr>
              <p:sp>
                <p:nvSpPr>
                  <p:cNvPr id="67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89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/>
                      <a:t>3</a:t>
                    </a:r>
                  </a:p>
                </p:txBody>
              </p:sp>
              <p:sp>
                <p:nvSpPr>
                  <p:cNvPr id="68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895"/>
                    <a:ext cx="336" cy="240"/>
                  </a:xfrm>
                  <a:prstGeom prst="rect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</p:grpSp>
          <p:sp>
            <p:nvSpPr>
              <p:cNvPr id="62" name="Rectangle 59"/>
              <p:cNvSpPr>
                <a:spLocks noChangeArrowheads="1"/>
              </p:cNvSpPr>
              <p:nvPr/>
            </p:nvSpPr>
            <p:spPr bwMode="auto">
              <a:xfrm>
                <a:off x="3446417" y="4507320"/>
                <a:ext cx="1600200" cy="3047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solidFill>
                      <a:srgbClr val="C00000"/>
                    </a:solidFill>
                  </a:rPr>
                  <a:t>Process Q's</a:t>
                </a:r>
              </a:p>
              <a:p>
                <a:pPr algn="ctr"/>
                <a:r>
                  <a:rPr lang="en-US" altLang="en-US" sz="1600" b="1" dirty="0"/>
                  <a:t>page table</a:t>
                </a:r>
              </a:p>
            </p:txBody>
          </p:sp>
        </p:grpSp>
      </p:grpSp>
      <p:sp>
        <p:nvSpPr>
          <p:cNvPr id="79" name="Rectangle 78"/>
          <p:cNvSpPr/>
          <p:nvPr/>
        </p:nvSpPr>
        <p:spPr>
          <a:xfrm>
            <a:off x="5078408" y="6521450"/>
            <a:ext cx="3505200" cy="2286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Incomplete diagram, to be filled in during lecture.</a:t>
            </a:r>
          </a:p>
        </p:txBody>
      </p:sp>
    </p:spTree>
    <p:extLst>
      <p:ext uri="{BB962C8B-B14F-4D97-AF65-F5344CB8AC3E}">
        <p14:creationId xmlns:p14="http://schemas.microsoft.com/office/powerpoint/2010/main" val="4040141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3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Segmentation Scheme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memory error is often called </a:t>
            </a:r>
            <a:r>
              <a:rPr lang="en-US" b="1" i="1" dirty="0"/>
              <a:t>segmentation fault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8827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Segmentation Scheme: </a:t>
            </a:r>
            <a:r>
              <a:rPr lang="en-US" altLang="en-US" sz="3800" b="1" dirty="0"/>
              <a:t>Motivation</a:t>
            </a:r>
          </a:p>
        </p:txBody>
      </p:sp>
      <p:sp>
        <p:nvSpPr>
          <p:cNvPr id="78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dirty="0"/>
              <a:t>The memory space of a process is treated as a single entity so far</a:t>
            </a:r>
          </a:p>
          <a:p>
            <a:pPr lvl="1"/>
            <a:r>
              <a:rPr lang="en-US" altLang="en-US" sz="2200" dirty="0"/>
              <a:t>However, there are actually a number of memory regions with different usage in a process</a:t>
            </a:r>
          </a:p>
          <a:p>
            <a:r>
              <a:rPr lang="en-US" altLang="en-US" sz="2600" dirty="0"/>
              <a:t>For example, in a typical C program:</a:t>
            </a:r>
          </a:p>
          <a:p>
            <a:pPr lvl="1"/>
            <a:r>
              <a:rPr lang="en-US" altLang="en-US" sz="2200" dirty="0"/>
              <a:t>User Code Region</a:t>
            </a:r>
          </a:p>
          <a:p>
            <a:pPr lvl="1"/>
            <a:r>
              <a:rPr lang="en-US" altLang="en-US" sz="2200" dirty="0"/>
              <a:t>Global Variables Region</a:t>
            </a:r>
          </a:p>
          <a:p>
            <a:pPr lvl="2"/>
            <a:r>
              <a:rPr lang="en-US" altLang="en-US" sz="2000" dirty="0"/>
              <a:t>Static Data (persistent as long as program executes)</a:t>
            </a:r>
          </a:p>
          <a:p>
            <a:pPr lvl="1"/>
            <a:r>
              <a:rPr lang="en-US" altLang="en-US" sz="2200" dirty="0"/>
              <a:t>Heap Region:</a:t>
            </a:r>
          </a:p>
          <a:p>
            <a:pPr lvl="2"/>
            <a:r>
              <a:rPr lang="en-US" altLang="en-US" sz="2000" dirty="0"/>
              <a:t>Dynamic data (persistent as long as user don’t free)</a:t>
            </a:r>
          </a:p>
          <a:p>
            <a:pPr lvl="1"/>
            <a:r>
              <a:rPr lang="en-US" altLang="en-US" sz="2200" dirty="0"/>
              <a:t>Stack Region</a:t>
            </a:r>
          </a:p>
          <a:p>
            <a:pPr lvl="1"/>
            <a:r>
              <a:rPr lang="en-US" altLang="en-US" sz="2200" dirty="0"/>
              <a:t>Library Code Region</a:t>
            </a:r>
          </a:p>
          <a:p>
            <a:pPr lvl="1"/>
            <a:r>
              <a:rPr lang="en-US" altLang="en-US" sz="2200" dirty="0" err="1"/>
              <a:t>etc</a:t>
            </a:r>
            <a:endParaRPr lang="en-US" altLang="en-US" sz="2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05214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Segmentation Scheme: Motivation (cont)</a:t>
            </a:r>
          </a:p>
        </p:txBody>
      </p:sp>
      <p:sp>
        <p:nvSpPr>
          <p:cNvPr id="786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Some region may grow/shrink at execution time:</a:t>
            </a:r>
          </a:p>
          <a:p>
            <a:pPr lvl="1"/>
            <a:r>
              <a:rPr lang="en-US" altLang="en-US" dirty="0"/>
              <a:t>E.g. the stack region, the heap region, the library code region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It is hard to place different regions in a contiguous memory space and still allow them grow/shrink freely</a:t>
            </a:r>
          </a:p>
          <a:p>
            <a:pPr lvl="1"/>
            <a:r>
              <a:rPr lang="en-US" altLang="en-US" dirty="0"/>
              <a:t>Also hard to check whether a memory access in a region is in-range or not</a:t>
            </a:r>
          </a:p>
          <a:p>
            <a:pPr lvl="1"/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95252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Segmentation Scheme: </a:t>
            </a:r>
            <a:r>
              <a:rPr lang="en-US" altLang="en-US" sz="3800" b="1" dirty="0"/>
              <a:t>Basic Idea</a:t>
            </a:r>
          </a:p>
        </p:txBody>
      </p:sp>
      <p:sp>
        <p:nvSpPr>
          <p:cNvPr id="79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5638800" cy="5486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Separate the regions into multiple </a:t>
            </a:r>
            <a:r>
              <a:rPr lang="en-US" altLang="en-US" b="1" dirty="0"/>
              <a:t>memory</a:t>
            </a:r>
            <a:r>
              <a:rPr lang="en-US" altLang="en-US" dirty="0"/>
              <a:t> </a:t>
            </a:r>
            <a:r>
              <a:rPr lang="en-US" altLang="en-US" b="1" dirty="0"/>
              <a:t>segments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Logical memory space of a process is now a collection of </a:t>
            </a:r>
            <a:r>
              <a:rPr lang="en-US" altLang="en-US" b="1" dirty="0"/>
              <a:t>segments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Each memory segment: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Has a name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For ease of reference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Has a limit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Indicate the range of the segment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All memory reference is now specified as: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</a:rPr>
              <a:t>Segment name + Offset </a:t>
            </a:r>
          </a:p>
        </p:txBody>
      </p:sp>
      <p:sp>
        <p:nvSpPr>
          <p:cNvPr id="791556" name="Rectangle 4"/>
          <p:cNvSpPr>
            <a:spLocks noChangeArrowheads="1"/>
          </p:cNvSpPr>
          <p:nvPr/>
        </p:nvSpPr>
        <p:spPr bwMode="auto">
          <a:xfrm>
            <a:off x="6400800" y="3581400"/>
            <a:ext cx="1371600" cy="1447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Heap Segment</a:t>
            </a:r>
          </a:p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  <a:p>
            <a:pPr algn="ctr"/>
            <a:endParaRPr lang="en-US" altLang="en-US" sz="2000" b="1" dirty="0">
              <a:latin typeface="Courier New" panose="02070309020205020404" pitchFamily="49" charset="0"/>
            </a:endParaRPr>
          </a:p>
          <a:p>
            <a:pPr algn="ctr"/>
            <a:endParaRPr lang="en-US" altLang="en-US" sz="2000" b="1" dirty="0">
              <a:latin typeface="Courier New" panose="02070309020205020404" pitchFamily="49" charset="0"/>
            </a:endParaRPr>
          </a:p>
        </p:txBody>
      </p:sp>
      <p:sp>
        <p:nvSpPr>
          <p:cNvPr id="791557" name="Text Box 5"/>
          <p:cNvSpPr txBox="1">
            <a:spLocks noChangeArrowheads="1"/>
          </p:cNvSpPr>
          <p:nvPr/>
        </p:nvSpPr>
        <p:spPr bwMode="auto">
          <a:xfrm>
            <a:off x="6324600" y="2286000"/>
            <a:ext cx="2057400" cy="105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 dirty="0"/>
              <a:t>Memory Access Example:</a:t>
            </a:r>
          </a:p>
          <a:p>
            <a:pPr algn="ctr">
              <a:spcBef>
                <a:spcPct val="50000"/>
              </a:spcBef>
            </a:pPr>
            <a:r>
              <a:rPr lang="en-US" altLang="en-US" b="1" dirty="0"/>
              <a:t>"</a:t>
            </a:r>
            <a:r>
              <a:rPr lang="en-US" altLang="en-US" b="1" i="1" dirty="0">
                <a:solidFill>
                  <a:srgbClr val="0033CC"/>
                </a:solidFill>
              </a:rPr>
              <a:t>Heap</a:t>
            </a:r>
            <a:r>
              <a:rPr lang="en-US" altLang="en-US" b="1" dirty="0"/>
              <a:t>" +</a:t>
            </a:r>
            <a:r>
              <a:rPr lang="en-US" altLang="en-US" b="1" dirty="0">
                <a:solidFill>
                  <a:srgbClr val="0033CC"/>
                </a:solidFill>
              </a:rPr>
              <a:t> </a:t>
            </a:r>
            <a:r>
              <a:rPr lang="en-US" altLang="en-US" b="1" dirty="0">
                <a:solidFill>
                  <a:schemeClr val="accent2"/>
                </a:solidFill>
              </a:rPr>
              <a:t>245</a:t>
            </a:r>
          </a:p>
        </p:txBody>
      </p:sp>
      <p:sp>
        <p:nvSpPr>
          <p:cNvPr id="791558" name="Line 6"/>
          <p:cNvSpPr>
            <a:spLocks noChangeShapeType="1"/>
          </p:cNvSpPr>
          <p:nvPr/>
        </p:nvSpPr>
        <p:spPr bwMode="auto">
          <a:xfrm>
            <a:off x="7848600" y="3581400"/>
            <a:ext cx="381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1559" name="Line 7"/>
          <p:cNvSpPr>
            <a:spLocks noChangeShapeType="1"/>
          </p:cNvSpPr>
          <p:nvPr/>
        </p:nvSpPr>
        <p:spPr bwMode="auto">
          <a:xfrm>
            <a:off x="8077200" y="3581400"/>
            <a:ext cx="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1560" name="Text Box 8"/>
          <p:cNvSpPr txBox="1">
            <a:spLocks noChangeArrowheads="1"/>
          </p:cNvSpPr>
          <p:nvPr/>
        </p:nvSpPr>
        <p:spPr bwMode="auto">
          <a:xfrm>
            <a:off x="8145780" y="3898706"/>
            <a:ext cx="7620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b="1" dirty="0">
                <a:solidFill>
                  <a:schemeClr val="tx2"/>
                </a:solidFill>
              </a:rPr>
              <a:t>+</a:t>
            </a:r>
            <a:r>
              <a:rPr lang="en-US" altLang="en-US" sz="1600" b="1" dirty="0">
                <a:solidFill>
                  <a:srgbClr val="C00000"/>
                </a:solidFill>
              </a:rPr>
              <a:t>245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25</a:t>
            </a:fld>
            <a:endParaRPr lang="en-US" altLang="en-US"/>
          </a:p>
        </p:txBody>
      </p:sp>
      <p:sp>
        <p:nvSpPr>
          <p:cNvPr id="13" name="Rectangle 12"/>
          <p:cNvSpPr/>
          <p:nvPr/>
        </p:nvSpPr>
        <p:spPr>
          <a:xfrm>
            <a:off x="6418568" y="4305300"/>
            <a:ext cx="1353832" cy="4136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Item</a:t>
            </a:r>
          </a:p>
        </p:txBody>
      </p:sp>
      <p:sp>
        <p:nvSpPr>
          <p:cNvPr id="791562" name="Line 10"/>
          <p:cNvSpPr>
            <a:spLocks noChangeShapeType="1"/>
          </p:cNvSpPr>
          <p:nvPr/>
        </p:nvSpPr>
        <p:spPr bwMode="auto">
          <a:xfrm>
            <a:off x="7543800" y="4495800"/>
            <a:ext cx="990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2686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Segmentation: </a:t>
            </a:r>
            <a:r>
              <a:rPr lang="en-US" altLang="en-US" sz="3800" b="1" dirty="0"/>
              <a:t>Illustration</a:t>
            </a:r>
          </a:p>
        </p:txBody>
      </p:sp>
      <p:grpSp>
        <p:nvGrpSpPr>
          <p:cNvPr id="792609" name="Group 33"/>
          <p:cNvGrpSpPr>
            <a:grpSpLocks/>
          </p:cNvGrpSpPr>
          <p:nvPr/>
        </p:nvGrpSpPr>
        <p:grpSpPr bwMode="auto">
          <a:xfrm>
            <a:off x="386443" y="1676400"/>
            <a:ext cx="5257800" cy="4338639"/>
            <a:chOff x="432" y="1152"/>
            <a:chExt cx="3312" cy="2733"/>
          </a:xfrm>
        </p:grpSpPr>
        <p:sp>
          <p:nvSpPr>
            <p:cNvPr id="792584" name="Oval 8"/>
            <p:cNvSpPr>
              <a:spLocks noChangeArrowheads="1"/>
            </p:cNvSpPr>
            <p:nvPr/>
          </p:nvSpPr>
          <p:spPr bwMode="auto">
            <a:xfrm>
              <a:off x="432" y="1152"/>
              <a:ext cx="3312" cy="2016"/>
            </a:xfrm>
            <a:prstGeom prst="ellipse">
              <a:avLst/>
            </a:prstGeom>
            <a:solidFill>
              <a:srgbClr val="C4E1F2">
                <a:alpha val="74118"/>
              </a:srgbClr>
            </a:solidFill>
            <a:ln w="31750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2580" name="Rectangle 4"/>
            <p:cNvSpPr>
              <a:spLocks noChangeArrowheads="1"/>
            </p:cNvSpPr>
            <p:nvPr/>
          </p:nvSpPr>
          <p:spPr bwMode="auto">
            <a:xfrm>
              <a:off x="672" y="1680"/>
              <a:ext cx="816" cy="86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1">
                  <a:lumMod val="65000"/>
                </a:schemeClr>
              </a:outerShdw>
            </a:effectLst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User Code Segment</a:t>
              </a: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792581" name="Rectangle 5"/>
            <p:cNvSpPr>
              <a:spLocks noChangeArrowheads="1"/>
            </p:cNvSpPr>
            <p:nvPr/>
          </p:nvSpPr>
          <p:spPr bwMode="auto">
            <a:xfrm>
              <a:off x="1584" y="1344"/>
              <a:ext cx="816" cy="91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1">
                  <a:lumMod val="65000"/>
                </a:schemeClr>
              </a:outerShdw>
            </a:effectLst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Stack Segment</a:t>
              </a: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792582" name="Rectangle 6"/>
            <p:cNvSpPr>
              <a:spLocks noChangeArrowheads="1"/>
            </p:cNvSpPr>
            <p:nvPr/>
          </p:nvSpPr>
          <p:spPr bwMode="auto">
            <a:xfrm>
              <a:off x="1536" y="2400"/>
              <a:ext cx="816" cy="6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1">
                  <a:lumMod val="65000"/>
                </a:schemeClr>
              </a:outerShdw>
            </a:effectLst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Heap Segment</a:t>
              </a: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792583" name="Rectangle 7"/>
            <p:cNvSpPr>
              <a:spLocks noChangeArrowheads="1"/>
            </p:cNvSpPr>
            <p:nvPr/>
          </p:nvSpPr>
          <p:spPr bwMode="auto">
            <a:xfrm>
              <a:off x="2496" y="1536"/>
              <a:ext cx="816" cy="1248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1">
                  <a:lumMod val="65000"/>
                </a:schemeClr>
              </a:outerShdw>
            </a:effectLst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Global Data Segment</a:t>
              </a: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792586" name="Text Box 10"/>
            <p:cNvSpPr txBox="1">
              <a:spLocks noChangeArrowheads="1"/>
            </p:cNvSpPr>
            <p:nvPr/>
          </p:nvSpPr>
          <p:spPr bwMode="auto">
            <a:xfrm>
              <a:off x="1152" y="3216"/>
              <a:ext cx="1824" cy="6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dirty="0"/>
                <a:t>Logical Address Space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en-US" b="1" dirty="0">
                  <a:solidFill>
                    <a:srgbClr val="C00000"/>
                  </a:solidFill>
                </a:rPr>
                <a:t>(Segments can be of different sizes)</a:t>
              </a:r>
            </a:p>
          </p:txBody>
        </p:sp>
      </p:grpSp>
      <p:sp>
        <p:nvSpPr>
          <p:cNvPr id="792597" name="Text Box 21"/>
          <p:cNvSpPr txBox="1">
            <a:spLocks noChangeArrowheads="1"/>
          </p:cNvSpPr>
          <p:nvPr/>
        </p:nvSpPr>
        <p:spPr bwMode="auto">
          <a:xfrm>
            <a:off x="6177643" y="5573921"/>
            <a:ext cx="2699657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 dirty="0"/>
              <a:t>Physical Memory</a:t>
            </a:r>
          </a:p>
          <a:p>
            <a:pPr algn="ctr">
              <a:spcBef>
                <a:spcPct val="50000"/>
              </a:spcBef>
            </a:pPr>
            <a:r>
              <a:rPr lang="en-US" altLang="en-US" b="1" dirty="0">
                <a:solidFill>
                  <a:srgbClr val="C00000"/>
                </a:solidFill>
              </a:rPr>
              <a:t>(Segments are disjointed in RAM)</a:t>
            </a:r>
          </a:p>
        </p:txBody>
      </p:sp>
      <p:sp>
        <p:nvSpPr>
          <p:cNvPr id="792603" name="Rectangle 27"/>
          <p:cNvSpPr>
            <a:spLocks noChangeArrowheads="1"/>
          </p:cNvSpPr>
          <p:nvPr/>
        </p:nvSpPr>
        <p:spPr bwMode="auto">
          <a:xfrm>
            <a:off x="6781800" y="2438400"/>
            <a:ext cx="1295400" cy="105568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b="1" dirty="0">
                <a:latin typeface="Courier New" panose="02070309020205020404" pitchFamily="49" charset="0"/>
              </a:rPr>
              <a:t>User Code Segment</a:t>
            </a:r>
          </a:p>
        </p:txBody>
      </p:sp>
      <p:sp>
        <p:nvSpPr>
          <p:cNvPr id="792604" name="Rectangle 28"/>
          <p:cNvSpPr>
            <a:spLocks noChangeArrowheads="1"/>
          </p:cNvSpPr>
          <p:nvPr/>
        </p:nvSpPr>
        <p:spPr bwMode="auto">
          <a:xfrm>
            <a:off x="6781800" y="4648200"/>
            <a:ext cx="1295400" cy="90126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b="1" dirty="0">
                <a:latin typeface="Courier New" panose="02070309020205020404" pitchFamily="49" charset="0"/>
              </a:rPr>
              <a:t>Stack Segment</a:t>
            </a:r>
          </a:p>
          <a:p>
            <a:pPr algn="ctr"/>
            <a:endParaRPr lang="en-US" altLang="en-US" b="1" dirty="0">
              <a:latin typeface="Courier New" panose="02070309020205020404" pitchFamily="49" charset="0"/>
            </a:endParaRPr>
          </a:p>
        </p:txBody>
      </p:sp>
      <p:sp>
        <p:nvSpPr>
          <p:cNvPr id="792605" name="Rectangle 29"/>
          <p:cNvSpPr>
            <a:spLocks noChangeArrowheads="1"/>
          </p:cNvSpPr>
          <p:nvPr/>
        </p:nvSpPr>
        <p:spPr bwMode="auto">
          <a:xfrm>
            <a:off x="6781800" y="3505200"/>
            <a:ext cx="1295400" cy="762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b="1">
                <a:latin typeface="Courier New" panose="02070309020205020404" pitchFamily="49" charset="0"/>
              </a:rPr>
              <a:t>Heap Segment</a:t>
            </a:r>
          </a:p>
        </p:txBody>
      </p:sp>
      <p:sp>
        <p:nvSpPr>
          <p:cNvPr id="792606" name="Rectangle 30"/>
          <p:cNvSpPr>
            <a:spLocks noChangeArrowheads="1"/>
          </p:cNvSpPr>
          <p:nvPr/>
        </p:nvSpPr>
        <p:spPr bwMode="auto">
          <a:xfrm>
            <a:off x="6781800" y="609600"/>
            <a:ext cx="1295400" cy="1414463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b="1">
                <a:latin typeface="Courier New" panose="02070309020205020404" pitchFamily="49" charset="0"/>
              </a:rPr>
              <a:t>Global Data Segment</a:t>
            </a:r>
          </a:p>
          <a:p>
            <a:pPr algn="ctr"/>
            <a:endParaRPr lang="en-US" altLang="en-US" b="1">
              <a:latin typeface="Courier New" panose="02070309020205020404" pitchFamily="49" charset="0"/>
            </a:endParaRPr>
          </a:p>
        </p:txBody>
      </p:sp>
      <p:sp>
        <p:nvSpPr>
          <p:cNvPr id="792607" name="Rectangle 31"/>
          <p:cNvSpPr>
            <a:spLocks noChangeArrowheads="1"/>
          </p:cNvSpPr>
          <p:nvPr/>
        </p:nvSpPr>
        <p:spPr bwMode="auto">
          <a:xfrm>
            <a:off x="6781800" y="4267200"/>
            <a:ext cx="1295400" cy="4238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b="1">
              <a:latin typeface="Courier New" panose="02070309020205020404" pitchFamily="49" charset="0"/>
            </a:endParaRPr>
          </a:p>
        </p:txBody>
      </p:sp>
      <p:sp>
        <p:nvSpPr>
          <p:cNvPr id="792608" name="Rectangle 32"/>
          <p:cNvSpPr>
            <a:spLocks noChangeArrowheads="1"/>
          </p:cNvSpPr>
          <p:nvPr/>
        </p:nvSpPr>
        <p:spPr bwMode="auto">
          <a:xfrm>
            <a:off x="6781800" y="1981200"/>
            <a:ext cx="1295400" cy="5000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b="1" dirty="0">
              <a:latin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3080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Segmentation: Logical Address Translation </a:t>
            </a:r>
          </a:p>
        </p:txBody>
      </p:sp>
      <p:sp>
        <p:nvSpPr>
          <p:cNvPr id="79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Each segment is mapped to a contiguous physical memory region</a:t>
            </a:r>
          </a:p>
          <a:p>
            <a:pPr lvl="1"/>
            <a:r>
              <a:rPr lang="en-US" altLang="en-US" dirty="0"/>
              <a:t>with a </a:t>
            </a:r>
            <a:r>
              <a:rPr lang="en-US" altLang="en-US" b="1" i="1" dirty="0"/>
              <a:t>base address </a:t>
            </a:r>
            <a:r>
              <a:rPr lang="en-US" altLang="en-US" dirty="0"/>
              <a:t>and a </a:t>
            </a:r>
            <a:r>
              <a:rPr lang="en-US" altLang="en-US" b="1" i="1" dirty="0"/>
              <a:t>limit </a:t>
            </a:r>
            <a:endParaRPr lang="en-US" altLang="en-US" dirty="0"/>
          </a:p>
          <a:p>
            <a:r>
              <a:rPr lang="en-US" altLang="en-US" dirty="0"/>
              <a:t>The segmentation name is usually represented as a single number</a:t>
            </a:r>
          </a:p>
          <a:p>
            <a:pPr lvl="1"/>
            <a:r>
              <a:rPr lang="en-US" altLang="en-US" dirty="0"/>
              <a:t>Known as </a:t>
            </a:r>
            <a:r>
              <a:rPr lang="en-US" altLang="en-US" b="1" i="1" dirty="0"/>
              <a:t>segment id </a:t>
            </a:r>
          </a:p>
          <a:p>
            <a:r>
              <a:rPr lang="en-US" altLang="en-US" dirty="0"/>
              <a:t>Logical address </a:t>
            </a:r>
            <a:r>
              <a:rPr lang="en-US" altLang="en-US" sz="2800" b="1" dirty="0">
                <a:latin typeface="Courier New" panose="02070309020205020404" pitchFamily="49" charset="0"/>
              </a:rPr>
              <a:t>&lt;</a:t>
            </a:r>
            <a:r>
              <a:rPr lang="en-US" altLang="en-US" sz="2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SegID</a:t>
            </a:r>
            <a:r>
              <a:rPr lang="en-US" altLang="en-US" sz="2800" b="1" dirty="0">
                <a:latin typeface="Courier New" panose="02070309020205020404" pitchFamily="49" charset="0"/>
              </a:rPr>
              <a:t>, </a:t>
            </a:r>
            <a:r>
              <a:rPr lang="en-US" altLang="en-US" sz="2800" b="1" dirty="0">
                <a:solidFill>
                  <a:srgbClr val="0033CC"/>
                </a:solidFill>
                <a:latin typeface="Courier New" panose="02070309020205020404" pitchFamily="49" charset="0"/>
              </a:rPr>
              <a:t>Offset</a:t>
            </a:r>
            <a:r>
              <a:rPr lang="en-US" altLang="en-US" sz="2800" b="1" dirty="0">
                <a:latin typeface="Courier New" panose="02070309020205020404" pitchFamily="49" charset="0"/>
              </a:rPr>
              <a:t>&gt;:</a:t>
            </a:r>
          </a:p>
          <a:p>
            <a:pPr lvl="1"/>
            <a:r>
              <a:rPr lang="en-US" altLang="en-US" sz="24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SegID</a:t>
            </a:r>
            <a:r>
              <a:rPr lang="en-US" altLang="en-US" dirty="0"/>
              <a:t> is used to look up </a:t>
            </a:r>
            <a:r>
              <a:rPr lang="en-US" altLang="en-US" sz="2400" b="1" dirty="0">
                <a:latin typeface="Courier New" panose="02070309020205020404" pitchFamily="49" charset="0"/>
              </a:rPr>
              <a:t>&lt;</a:t>
            </a:r>
            <a:r>
              <a:rPr lang="en-US" altLang="en-US" sz="2400" b="1" dirty="0">
                <a:solidFill>
                  <a:srgbClr val="660066"/>
                </a:solidFill>
                <a:latin typeface="Courier New" panose="02070309020205020404" pitchFamily="49" charset="0"/>
              </a:rPr>
              <a:t>Base</a:t>
            </a:r>
            <a:r>
              <a:rPr lang="en-US" altLang="en-US" sz="2400" b="1" dirty="0">
                <a:latin typeface="Courier New" panose="02070309020205020404" pitchFamily="49" charset="0"/>
              </a:rPr>
              <a:t>, 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Limit</a:t>
            </a:r>
            <a:r>
              <a:rPr lang="en-US" altLang="en-US" sz="2400" b="1" dirty="0">
                <a:latin typeface="Courier New" panose="02070309020205020404" pitchFamily="49" charset="0"/>
              </a:rPr>
              <a:t>&gt;</a:t>
            </a:r>
            <a:r>
              <a:rPr lang="en-US" altLang="en-US" dirty="0"/>
              <a:t> of the segment in a </a:t>
            </a:r>
            <a:r>
              <a:rPr lang="en-US" altLang="en-US" b="1" dirty="0"/>
              <a:t>segment table</a:t>
            </a:r>
            <a:endParaRPr lang="en-US" altLang="en-US" dirty="0"/>
          </a:p>
          <a:p>
            <a:pPr lvl="1"/>
            <a:r>
              <a:rPr lang="en-US" altLang="en-US" dirty="0"/>
              <a:t>Physical Address </a:t>
            </a:r>
            <a:r>
              <a:rPr lang="en-US" altLang="en-US" sz="2400" b="1" dirty="0">
                <a:latin typeface="Courier New" panose="02070309020205020404" pitchFamily="49" charset="0"/>
              </a:rPr>
              <a:t>PA</a:t>
            </a:r>
            <a:r>
              <a:rPr lang="en-US" altLang="en-US" dirty="0"/>
              <a:t> </a:t>
            </a:r>
            <a:r>
              <a:rPr lang="en-US" altLang="en-US" sz="2400" b="1" dirty="0">
                <a:latin typeface="Courier New" panose="02070309020205020404" pitchFamily="49" charset="0"/>
              </a:rPr>
              <a:t>= </a:t>
            </a:r>
            <a:r>
              <a:rPr lang="en-US" altLang="en-US" sz="2400" b="1" dirty="0">
                <a:solidFill>
                  <a:srgbClr val="9900CC"/>
                </a:solidFill>
                <a:latin typeface="Courier New" panose="02070309020205020404" pitchFamily="49" charset="0"/>
              </a:rPr>
              <a:t>Base</a:t>
            </a:r>
            <a:r>
              <a:rPr lang="en-US" altLang="en-US" sz="2400" b="1" dirty="0">
                <a:latin typeface="Courier New" panose="02070309020205020404" pitchFamily="49" charset="0"/>
              </a:rPr>
              <a:t> + </a:t>
            </a:r>
            <a:r>
              <a:rPr lang="en-US" altLang="en-US" sz="2400" b="1" dirty="0">
                <a:solidFill>
                  <a:srgbClr val="0033CC"/>
                </a:solidFill>
                <a:latin typeface="Courier New" panose="02070309020205020404" pitchFamily="49" charset="0"/>
              </a:rPr>
              <a:t>Offset</a:t>
            </a:r>
          </a:p>
          <a:p>
            <a:pPr lvl="1"/>
            <a:r>
              <a:rPr lang="en-US" altLang="en-US" sz="2400" b="1" dirty="0">
                <a:solidFill>
                  <a:srgbClr val="0033CC"/>
                </a:solidFill>
                <a:latin typeface="Courier New" panose="02070309020205020404" pitchFamily="49" charset="0"/>
              </a:rPr>
              <a:t>Offset</a:t>
            </a:r>
            <a:r>
              <a:rPr lang="en-US" altLang="en-US" sz="2400" b="1" dirty="0">
                <a:latin typeface="Courier New" panose="02070309020205020404" pitchFamily="49" charset="0"/>
              </a:rPr>
              <a:t> &lt; 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Limit</a:t>
            </a:r>
            <a:r>
              <a:rPr lang="en-US" altLang="en-US" dirty="0"/>
              <a:t> for valid access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3150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51"/>
          <p:cNvGrpSpPr>
            <a:grpSpLocks/>
          </p:cNvGrpSpPr>
          <p:nvPr/>
        </p:nvGrpSpPr>
        <p:grpSpPr bwMode="auto">
          <a:xfrm>
            <a:off x="1968382" y="3429000"/>
            <a:ext cx="3048000" cy="2286000"/>
            <a:chOff x="1296" y="1728"/>
            <a:chExt cx="1920" cy="1440"/>
          </a:xfrm>
        </p:grpSpPr>
        <p:grpSp>
          <p:nvGrpSpPr>
            <p:cNvPr id="51" name="Group 44"/>
            <p:cNvGrpSpPr>
              <a:grpSpLocks/>
            </p:cNvGrpSpPr>
            <p:nvPr/>
          </p:nvGrpSpPr>
          <p:grpSpPr bwMode="auto">
            <a:xfrm>
              <a:off x="1296" y="1968"/>
              <a:ext cx="288" cy="960"/>
              <a:chOff x="1536" y="2064"/>
              <a:chExt cx="288" cy="960"/>
            </a:xfrm>
          </p:grpSpPr>
          <p:sp>
            <p:nvSpPr>
              <p:cNvPr id="65" name="Rectangle 19"/>
              <p:cNvSpPr>
                <a:spLocks noChangeArrowheads="1"/>
              </p:cNvSpPr>
              <p:nvPr/>
            </p:nvSpPr>
            <p:spPr bwMode="auto">
              <a:xfrm>
                <a:off x="1536" y="2064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/>
                  <a:t>0</a:t>
                </a:r>
              </a:p>
            </p:txBody>
          </p:sp>
          <p:sp>
            <p:nvSpPr>
              <p:cNvPr id="66" name="Rectangle 22"/>
              <p:cNvSpPr>
                <a:spLocks noChangeArrowheads="1"/>
              </p:cNvSpPr>
              <p:nvPr/>
            </p:nvSpPr>
            <p:spPr bwMode="auto">
              <a:xfrm>
                <a:off x="1536" y="2304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/>
                  <a:t>1</a:t>
                </a:r>
              </a:p>
            </p:txBody>
          </p:sp>
          <p:sp>
            <p:nvSpPr>
              <p:cNvPr id="67" name="Rectangle 25"/>
              <p:cNvSpPr>
                <a:spLocks noChangeArrowheads="1"/>
              </p:cNvSpPr>
              <p:nvPr/>
            </p:nvSpPr>
            <p:spPr bwMode="auto">
              <a:xfrm>
                <a:off x="1536" y="2544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/>
                  <a:t>2</a:t>
                </a:r>
              </a:p>
            </p:txBody>
          </p:sp>
          <p:sp>
            <p:nvSpPr>
              <p:cNvPr id="68" name="Rectangle 28"/>
              <p:cNvSpPr>
                <a:spLocks noChangeArrowheads="1"/>
              </p:cNvSpPr>
              <p:nvPr/>
            </p:nvSpPr>
            <p:spPr bwMode="auto">
              <a:xfrm>
                <a:off x="1536" y="2784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/>
                  <a:t>3</a:t>
                </a:r>
              </a:p>
            </p:txBody>
          </p:sp>
        </p:grpSp>
        <p:grpSp>
          <p:nvGrpSpPr>
            <p:cNvPr id="52" name="Group 38"/>
            <p:cNvGrpSpPr>
              <a:grpSpLocks/>
            </p:cNvGrpSpPr>
            <p:nvPr/>
          </p:nvGrpSpPr>
          <p:grpSpPr bwMode="auto">
            <a:xfrm>
              <a:off x="1584" y="1968"/>
              <a:ext cx="816" cy="960"/>
              <a:chOff x="1824" y="2064"/>
              <a:chExt cx="336" cy="960"/>
            </a:xfrm>
          </p:grpSpPr>
          <p:sp>
            <p:nvSpPr>
              <p:cNvPr id="61" name="Rectangle 20"/>
              <p:cNvSpPr>
                <a:spLocks noChangeArrowheads="1"/>
              </p:cNvSpPr>
              <p:nvPr/>
            </p:nvSpPr>
            <p:spPr bwMode="auto">
              <a:xfrm>
                <a:off x="1824" y="206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62" name="Rectangle 23"/>
              <p:cNvSpPr>
                <a:spLocks noChangeArrowheads="1"/>
              </p:cNvSpPr>
              <p:nvPr/>
            </p:nvSpPr>
            <p:spPr bwMode="auto">
              <a:xfrm>
                <a:off x="1824" y="230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63" name="Rectangle 26"/>
              <p:cNvSpPr>
                <a:spLocks noChangeArrowheads="1"/>
              </p:cNvSpPr>
              <p:nvPr/>
            </p:nvSpPr>
            <p:spPr bwMode="auto">
              <a:xfrm>
                <a:off x="1824" y="254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64" name="Rectangle 29"/>
              <p:cNvSpPr>
                <a:spLocks noChangeArrowheads="1"/>
              </p:cNvSpPr>
              <p:nvPr/>
            </p:nvSpPr>
            <p:spPr bwMode="auto">
              <a:xfrm>
                <a:off x="1824" y="278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53" name="Rectangle 30"/>
            <p:cNvSpPr>
              <a:spLocks noChangeArrowheads="1"/>
            </p:cNvSpPr>
            <p:nvPr/>
          </p:nvSpPr>
          <p:spPr bwMode="auto">
            <a:xfrm>
              <a:off x="1872" y="2976"/>
              <a:ext cx="10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/>
                <a:t>segment table</a:t>
              </a:r>
            </a:p>
          </p:txBody>
        </p:sp>
        <p:grpSp>
          <p:nvGrpSpPr>
            <p:cNvPr id="54" name="Group 39"/>
            <p:cNvGrpSpPr>
              <a:grpSpLocks/>
            </p:cNvGrpSpPr>
            <p:nvPr/>
          </p:nvGrpSpPr>
          <p:grpSpPr bwMode="auto">
            <a:xfrm>
              <a:off x="2400" y="1968"/>
              <a:ext cx="816" cy="960"/>
              <a:chOff x="1824" y="2064"/>
              <a:chExt cx="336" cy="960"/>
            </a:xfrm>
          </p:grpSpPr>
          <p:sp>
            <p:nvSpPr>
              <p:cNvPr id="57" name="Rectangle 40"/>
              <p:cNvSpPr>
                <a:spLocks noChangeArrowheads="1"/>
              </p:cNvSpPr>
              <p:nvPr/>
            </p:nvSpPr>
            <p:spPr bwMode="auto">
              <a:xfrm>
                <a:off x="1824" y="206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8" name="Rectangle 41"/>
              <p:cNvSpPr>
                <a:spLocks noChangeArrowheads="1"/>
              </p:cNvSpPr>
              <p:nvPr/>
            </p:nvSpPr>
            <p:spPr bwMode="auto">
              <a:xfrm>
                <a:off x="1824" y="230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9" name="Rectangle 42"/>
              <p:cNvSpPr>
                <a:spLocks noChangeArrowheads="1"/>
              </p:cNvSpPr>
              <p:nvPr/>
            </p:nvSpPr>
            <p:spPr bwMode="auto">
              <a:xfrm>
                <a:off x="1824" y="254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60" name="Rectangle 43"/>
              <p:cNvSpPr>
                <a:spLocks noChangeArrowheads="1"/>
              </p:cNvSpPr>
              <p:nvPr/>
            </p:nvSpPr>
            <p:spPr bwMode="auto">
              <a:xfrm>
                <a:off x="1824" y="278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55" name="Rectangle 47"/>
            <p:cNvSpPr>
              <a:spLocks noChangeArrowheads="1"/>
            </p:cNvSpPr>
            <p:nvPr/>
          </p:nvSpPr>
          <p:spPr bwMode="auto">
            <a:xfrm>
              <a:off x="2400" y="1728"/>
              <a:ext cx="816" cy="2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Limit</a:t>
              </a:r>
            </a:p>
          </p:txBody>
        </p:sp>
        <p:sp>
          <p:nvSpPr>
            <p:cNvPr id="56" name="Rectangle 50"/>
            <p:cNvSpPr>
              <a:spLocks noChangeArrowheads="1"/>
            </p:cNvSpPr>
            <p:nvPr/>
          </p:nvSpPr>
          <p:spPr bwMode="auto">
            <a:xfrm>
              <a:off x="1584" y="1728"/>
              <a:ext cx="816" cy="24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Base</a:t>
              </a:r>
            </a:p>
          </p:txBody>
        </p:sp>
      </p:grpSp>
      <p:sp>
        <p:nvSpPr>
          <p:cNvPr id="79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Logical Address Translation: Illustration</a:t>
            </a:r>
          </a:p>
        </p:txBody>
      </p:sp>
      <p:sp>
        <p:nvSpPr>
          <p:cNvPr id="795658" name="Text Box 10"/>
          <p:cNvSpPr txBox="1">
            <a:spLocks noChangeArrowheads="1"/>
          </p:cNvSpPr>
          <p:nvPr/>
        </p:nvSpPr>
        <p:spPr bwMode="auto">
          <a:xfrm>
            <a:off x="6248400" y="61722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Physical Memory</a:t>
            </a:r>
          </a:p>
        </p:txBody>
      </p:sp>
      <p:sp>
        <p:nvSpPr>
          <p:cNvPr id="795693" name="Text Box 45"/>
          <p:cNvSpPr txBox="1">
            <a:spLocks noChangeArrowheads="1"/>
          </p:cNvSpPr>
          <p:nvPr/>
        </p:nvSpPr>
        <p:spPr bwMode="auto">
          <a:xfrm>
            <a:off x="457200" y="960437"/>
            <a:ext cx="3810000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dirty="0"/>
              <a:t>Assume:</a:t>
            </a:r>
            <a:br>
              <a:rPr lang="en-US" altLang="en-US" dirty="0"/>
            </a:br>
            <a:r>
              <a:rPr lang="en-US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User Code </a:t>
            </a:r>
            <a:r>
              <a:rPr lang="en-US" altLang="en-US" b="1" dirty="0">
                <a:latin typeface="Courier New" panose="02070309020205020404" pitchFamily="49" charset="0"/>
              </a:rPr>
              <a:t>Segment   = 0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Global Data </a:t>
            </a:r>
            <a:r>
              <a:rPr lang="en-US" altLang="en-US" b="1" dirty="0">
                <a:latin typeface="Courier New" panose="02070309020205020404" pitchFamily="49" charset="0"/>
              </a:rPr>
              <a:t>Segment = 1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Heap</a:t>
            </a:r>
            <a:r>
              <a:rPr lang="en-US" altLang="en-US" b="1" dirty="0">
                <a:latin typeface="Courier New" panose="02070309020205020404" pitchFamily="49" charset="0"/>
              </a:rPr>
              <a:t> Segment        = 2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Stack</a:t>
            </a:r>
            <a:r>
              <a:rPr lang="en-US" altLang="en-US" b="1" dirty="0">
                <a:latin typeface="Courier New" panose="02070309020205020404" pitchFamily="49" charset="0"/>
              </a:rPr>
              <a:t> Segment       = 3</a:t>
            </a:r>
          </a:p>
        </p:txBody>
      </p:sp>
      <p:grpSp>
        <p:nvGrpSpPr>
          <p:cNvPr id="795699" name="Group 51"/>
          <p:cNvGrpSpPr>
            <a:grpSpLocks/>
          </p:cNvGrpSpPr>
          <p:nvPr/>
        </p:nvGrpSpPr>
        <p:grpSpPr bwMode="auto">
          <a:xfrm>
            <a:off x="1968382" y="3429000"/>
            <a:ext cx="3048000" cy="2286000"/>
            <a:chOff x="1296" y="1728"/>
            <a:chExt cx="1920" cy="1440"/>
          </a:xfrm>
        </p:grpSpPr>
        <p:grpSp>
          <p:nvGrpSpPr>
            <p:cNvPr id="795692" name="Group 44"/>
            <p:cNvGrpSpPr>
              <a:grpSpLocks/>
            </p:cNvGrpSpPr>
            <p:nvPr/>
          </p:nvGrpSpPr>
          <p:grpSpPr bwMode="auto">
            <a:xfrm>
              <a:off x="1296" y="1968"/>
              <a:ext cx="288" cy="960"/>
              <a:chOff x="1536" y="2064"/>
              <a:chExt cx="288" cy="960"/>
            </a:xfrm>
          </p:grpSpPr>
          <p:sp>
            <p:nvSpPr>
              <p:cNvPr id="795667" name="Rectangle 19"/>
              <p:cNvSpPr>
                <a:spLocks noChangeArrowheads="1"/>
              </p:cNvSpPr>
              <p:nvPr/>
            </p:nvSpPr>
            <p:spPr bwMode="auto">
              <a:xfrm>
                <a:off x="1536" y="2064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/>
                  <a:t>0</a:t>
                </a:r>
              </a:p>
            </p:txBody>
          </p:sp>
          <p:sp>
            <p:nvSpPr>
              <p:cNvPr id="795670" name="Rectangle 22"/>
              <p:cNvSpPr>
                <a:spLocks noChangeArrowheads="1"/>
              </p:cNvSpPr>
              <p:nvPr/>
            </p:nvSpPr>
            <p:spPr bwMode="auto">
              <a:xfrm>
                <a:off x="1536" y="2304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/>
                  <a:t>1</a:t>
                </a:r>
              </a:p>
            </p:txBody>
          </p:sp>
          <p:sp>
            <p:nvSpPr>
              <p:cNvPr id="795673" name="Rectangle 25"/>
              <p:cNvSpPr>
                <a:spLocks noChangeArrowheads="1"/>
              </p:cNvSpPr>
              <p:nvPr/>
            </p:nvSpPr>
            <p:spPr bwMode="auto">
              <a:xfrm>
                <a:off x="1536" y="2544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/>
                  <a:t>2</a:t>
                </a:r>
              </a:p>
            </p:txBody>
          </p:sp>
          <p:sp>
            <p:nvSpPr>
              <p:cNvPr id="795676" name="Rectangle 28"/>
              <p:cNvSpPr>
                <a:spLocks noChangeArrowheads="1"/>
              </p:cNvSpPr>
              <p:nvPr/>
            </p:nvSpPr>
            <p:spPr bwMode="auto">
              <a:xfrm>
                <a:off x="1536" y="2784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/>
                  <a:t>3</a:t>
                </a:r>
              </a:p>
            </p:txBody>
          </p:sp>
        </p:grpSp>
        <p:grpSp>
          <p:nvGrpSpPr>
            <p:cNvPr id="795686" name="Group 38"/>
            <p:cNvGrpSpPr>
              <a:grpSpLocks/>
            </p:cNvGrpSpPr>
            <p:nvPr/>
          </p:nvGrpSpPr>
          <p:grpSpPr bwMode="auto">
            <a:xfrm>
              <a:off x="1584" y="1968"/>
              <a:ext cx="816" cy="960"/>
              <a:chOff x="1824" y="2064"/>
              <a:chExt cx="336" cy="960"/>
            </a:xfrm>
          </p:grpSpPr>
          <p:sp>
            <p:nvSpPr>
              <p:cNvPr id="795668" name="Rectangle 20"/>
              <p:cNvSpPr>
                <a:spLocks noChangeArrowheads="1"/>
              </p:cNvSpPr>
              <p:nvPr/>
            </p:nvSpPr>
            <p:spPr bwMode="auto">
              <a:xfrm>
                <a:off x="1824" y="206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000" b="1" dirty="0">
                    <a:solidFill>
                      <a:schemeClr val="accent2"/>
                    </a:solidFill>
                    <a:latin typeface="Courier New" panose="02070309020205020404" pitchFamily="49" charset="0"/>
                  </a:rPr>
                  <a:t>3500</a:t>
                </a:r>
              </a:p>
            </p:txBody>
          </p:sp>
          <p:sp>
            <p:nvSpPr>
              <p:cNvPr id="795671" name="Rectangle 23"/>
              <p:cNvSpPr>
                <a:spLocks noChangeArrowheads="1"/>
              </p:cNvSpPr>
              <p:nvPr/>
            </p:nvSpPr>
            <p:spPr bwMode="auto">
              <a:xfrm>
                <a:off x="1824" y="230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000" b="1">
                    <a:solidFill>
                      <a:schemeClr val="accent2"/>
                    </a:solidFill>
                    <a:latin typeface="Courier New" panose="02070309020205020404" pitchFamily="49" charset="0"/>
                  </a:rPr>
                  <a:t>6000</a:t>
                </a:r>
              </a:p>
            </p:txBody>
          </p:sp>
          <p:sp>
            <p:nvSpPr>
              <p:cNvPr id="795674" name="Rectangle 26"/>
              <p:cNvSpPr>
                <a:spLocks noChangeArrowheads="1"/>
              </p:cNvSpPr>
              <p:nvPr/>
            </p:nvSpPr>
            <p:spPr bwMode="auto">
              <a:xfrm>
                <a:off x="1824" y="254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000" b="1">
                    <a:solidFill>
                      <a:schemeClr val="accent2"/>
                    </a:solidFill>
                    <a:latin typeface="Courier New" panose="02070309020205020404" pitchFamily="49" charset="0"/>
                  </a:rPr>
                  <a:t>2400</a:t>
                </a:r>
              </a:p>
            </p:txBody>
          </p:sp>
          <p:sp>
            <p:nvSpPr>
              <p:cNvPr id="795677" name="Rectangle 29"/>
              <p:cNvSpPr>
                <a:spLocks noChangeArrowheads="1"/>
              </p:cNvSpPr>
              <p:nvPr/>
            </p:nvSpPr>
            <p:spPr bwMode="auto">
              <a:xfrm>
                <a:off x="1824" y="278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000" b="1">
                    <a:solidFill>
                      <a:schemeClr val="accent2"/>
                    </a:solidFill>
                    <a:latin typeface="Courier New" panose="02070309020205020404" pitchFamily="49" charset="0"/>
                  </a:rPr>
                  <a:t>0</a:t>
                </a:r>
              </a:p>
            </p:txBody>
          </p:sp>
        </p:grpSp>
        <p:sp>
          <p:nvSpPr>
            <p:cNvPr id="795678" name="Rectangle 30"/>
            <p:cNvSpPr>
              <a:spLocks noChangeArrowheads="1"/>
            </p:cNvSpPr>
            <p:nvPr/>
          </p:nvSpPr>
          <p:spPr bwMode="auto">
            <a:xfrm>
              <a:off x="1872" y="2976"/>
              <a:ext cx="10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/>
                <a:t>segment table</a:t>
              </a:r>
            </a:p>
          </p:txBody>
        </p:sp>
        <p:grpSp>
          <p:nvGrpSpPr>
            <p:cNvPr id="795687" name="Group 39"/>
            <p:cNvGrpSpPr>
              <a:grpSpLocks/>
            </p:cNvGrpSpPr>
            <p:nvPr/>
          </p:nvGrpSpPr>
          <p:grpSpPr bwMode="auto">
            <a:xfrm>
              <a:off x="2400" y="1968"/>
              <a:ext cx="816" cy="960"/>
              <a:chOff x="1824" y="2064"/>
              <a:chExt cx="336" cy="960"/>
            </a:xfrm>
          </p:grpSpPr>
          <p:sp>
            <p:nvSpPr>
              <p:cNvPr id="795688" name="Rectangle 40"/>
              <p:cNvSpPr>
                <a:spLocks noChangeArrowheads="1"/>
              </p:cNvSpPr>
              <p:nvPr/>
            </p:nvSpPr>
            <p:spPr bwMode="auto">
              <a:xfrm>
                <a:off x="1824" y="206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000" b="1" dirty="0">
                    <a:solidFill>
                      <a:srgbClr val="006600"/>
                    </a:solidFill>
                    <a:latin typeface="Courier New" panose="02070309020205020404" pitchFamily="49" charset="0"/>
                  </a:rPr>
                  <a:t>2200</a:t>
                </a:r>
              </a:p>
            </p:txBody>
          </p:sp>
          <p:sp>
            <p:nvSpPr>
              <p:cNvPr id="795689" name="Rectangle 41"/>
              <p:cNvSpPr>
                <a:spLocks noChangeArrowheads="1"/>
              </p:cNvSpPr>
              <p:nvPr/>
            </p:nvSpPr>
            <p:spPr bwMode="auto">
              <a:xfrm>
                <a:off x="1824" y="230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000" b="1">
                    <a:solidFill>
                      <a:srgbClr val="006600"/>
                    </a:solidFill>
                    <a:latin typeface="Courier New" panose="02070309020205020404" pitchFamily="49" charset="0"/>
                  </a:rPr>
                  <a:t>1500</a:t>
                </a:r>
              </a:p>
            </p:txBody>
          </p:sp>
          <p:sp>
            <p:nvSpPr>
              <p:cNvPr id="795690" name="Rectangle 42"/>
              <p:cNvSpPr>
                <a:spLocks noChangeArrowheads="1"/>
              </p:cNvSpPr>
              <p:nvPr/>
            </p:nvSpPr>
            <p:spPr bwMode="auto">
              <a:xfrm>
                <a:off x="1824" y="254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000" b="1">
                    <a:solidFill>
                      <a:srgbClr val="006600"/>
                    </a:solidFill>
                    <a:latin typeface="Courier New" panose="02070309020205020404" pitchFamily="49" charset="0"/>
                  </a:rPr>
                  <a:t>1100</a:t>
                </a:r>
              </a:p>
            </p:txBody>
          </p:sp>
          <p:sp>
            <p:nvSpPr>
              <p:cNvPr id="795691" name="Rectangle 43"/>
              <p:cNvSpPr>
                <a:spLocks noChangeArrowheads="1"/>
              </p:cNvSpPr>
              <p:nvPr/>
            </p:nvSpPr>
            <p:spPr bwMode="auto">
              <a:xfrm>
                <a:off x="1824" y="278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000" b="1">
                    <a:solidFill>
                      <a:srgbClr val="006600"/>
                    </a:solidFill>
                    <a:latin typeface="Courier New" panose="02070309020205020404" pitchFamily="49" charset="0"/>
                  </a:rPr>
                  <a:t>1300</a:t>
                </a:r>
              </a:p>
            </p:txBody>
          </p:sp>
        </p:grpSp>
        <p:sp>
          <p:nvSpPr>
            <p:cNvPr id="795695" name="Rectangle 47"/>
            <p:cNvSpPr>
              <a:spLocks noChangeArrowheads="1"/>
            </p:cNvSpPr>
            <p:nvPr/>
          </p:nvSpPr>
          <p:spPr bwMode="auto">
            <a:xfrm>
              <a:off x="2400" y="1728"/>
              <a:ext cx="816" cy="2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Limit</a:t>
              </a:r>
            </a:p>
          </p:txBody>
        </p:sp>
        <p:sp>
          <p:nvSpPr>
            <p:cNvPr id="795698" name="Rectangle 50"/>
            <p:cNvSpPr>
              <a:spLocks noChangeArrowheads="1"/>
            </p:cNvSpPr>
            <p:nvPr/>
          </p:nvSpPr>
          <p:spPr bwMode="auto">
            <a:xfrm>
              <a:off x="1584" y="1728"/>
              <a:ext cx="816" cy="24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Base</a:t>
              </a:r>
            </a:p>
          </p:txBody>
        </p:sp>
      </p:grpSp>
      <p:sp>
        <p:nvSpPr>
          <p:cNvPr id="795719" name="Text Box 71"/>
          <p:cNvSpPr txBox="1">
            <a:spLocks noChangeArrowheads="1"/>
          </p:cNvSpPr>
          <p:nvPr/>
        </p:nvSpPr>
        <p:spPr bwMode="auto">
          <a:xfrm>
            <a:off x="2362200" y="2455863"/>
            <a:ext cx="2620711" cy="784830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 dirty="0"/>
              <a:t>Memory Access </a:t>
            </a:r>
          </a:p>
          <a:p>
            <a:pPr algn="ctr">
              <a:spcBef>
                <a:spcPct val="50000"/>
              </a:spcBef>
            </a:pPr>
            <a:r>
              <a:rPr lang="en-US" altLang="en-US" b="1" dirty="0"/>
              <a:t>&lt; </a:t>
            </a:r>
            <a:r>
              <a:rPr lang="en-US" altLang="en-US" b="1" dirty="0">
                <a:solidFill>
                  <a:srgbClr val="C00000"/>
                </a:solidFill>
              </a:rPr>
              <a:t>Segment Id</a:t>
            </a:r>
            <a:r>
              <a:rPr lang="en-US" altLang="en-US" b="1" dirty="0"/>
              <a:t>, </a:t>
            </a:r>
            <a:r>
              <a:rPr lang="en-US" altLang="en-US" b="1" dirty="0">
                <a:solidFill>
                  <a:srgbClr val="006600"/>
                </a:solidFill>
              </a:rPr>
              <a:t>Offset </a:t>
            </a:r>
            <a:r>
              <a:rPr lang="en-US" altLang="en-US" b="1" dirty="0"/>
              <a:t>&gt;</a:t>
            </a:r>
          </a:p>
        </p:txBody>
      </p:sp>
      <p:sp>
        <p:nvSpPr>
          <p:cNvPr id="795659" name="Rectangle 11"/>
          <p:cNvSpPr>
            <a:spLocks noChangeArrowheads="1"/>
          </p:cNvSpPr>
          <p:nvPr/>
        </p:nvSpPr>
        <p:spPr bwMode="auto">
          <a:xfrm>
            <a:off x="7315200" y="2895600"/>
            <a:ext cx="1295400" cy="105568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b="1">
                <a:latin typeface="Courier New" panose="02070309020205020404" pitchFamily="49" charset="0"/>
              </a:rPr>
              <a:t>User Code Segment</a:t>
            </a:r>
          </a:p>
        </p:txBody>
      </p:sp>
      <p:sp>
        <p:nvSpPr>
          <p:cNvPr id="795660" name="Rectangle 12"/>
          <p:cNvSpPr>
            <a:spLocks noChangeArrowheads="1"/>
          </p:cNvSpPr>
          <p:nvPr/>
        </p:nvSpPr>
        <p:spPr bwMode="auto">
          <a:xfrm>
            <a:off x="7315200" y="5105400"/>
            <a:ext cx="1295400" cy="1033463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b="1">
                <a:latin typeface="Courier New" panose="02070309020205020404" pitchFamily="49" charset="0"/>
              </a:rPr>
              <a:t>Stack Segment</a:t>
            </a:r>
          </a:p>
          <a:p>
            <a:pPr algn="ctr"/>
            <a:endParaRPr lang="en-US" altLang="en-US" b="1">
              <a:latin typeface="Courier New" panose="02070309020205020404" pitchFamily="49" charset="0"/>
            </a:endParaRPr>
          </a:p>
        </p:txBody>
      </p:sp>
      <p:sp>
        <p:nvSpPr>
          <p:cNvPr id="795661" name="Rectangle 13"/>
          <p:cNvSpPr>
            <a:spLocks noChangeArrowheads="1"/>
          </p:cNvSpPr>
          <p:nvPr/>
        </p:nvSpPr>
        <p:spPr bwMode="auto">
          <a:xfrm>
            <a:off x="7315200" y="3962400"/>
            <a:ext cx="1295400" cy="762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b="1">
                <a:latin typeface="Courier New" panose="02070309020205020404" pitchFamily="49" charset="0"/>
              </a:rPr>
              <a:t>Heap Segment</a:t>
            </a:r>
          </a:p>
        </p:txBody>
      </p:sp>
      <p:sp>
        <p:nvSpPr>
          <p:cNvPr id="795662" name="Rectangle 14"/>
          <p:cNvSpPr>
            <a:spLocks noChangeArrowheads="1"/>
          </p:cNvSpPr>
          <p:nvPr/>
        </p:nvSpPr>
        <p:spPr bwMode="auto">
          <a:xfrm>
            <a:off x="7315200" y="1066800"/>
            <a:ext cx="1295400" cy="1414463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b="1">
                <a:latin typeface="Courier New" panose="02070309020205020404" pitchFamily="49" charset="0"/>
              </a:rPr>
              <a:t>Global Data Segment</a:t>
            </a:r>
          </a:p>
          <a:p>
            <a:pPr algn="ctr"/>
            <a:endParaRPr lang="en-US" altLang="en-US" b="1">
              <a:latin typeface="Courier New" panose="02070309020205020404" pitchFamily="49" charset="0"/>
            </a:endParaRPr>
          </a:p>
        </p:txBody>
      </p:sp>
      <p:sp>
        <p:nvSpPr>
          <p:cNvPr id="795663" name="Rectangle 15"/>
          <p:cNvSpPr>
            <a:spLocks noChangeArrowheads="1"/>
          </p:cNvSpPr>
          <p:nvPr/>
        </p:nvSpPr>
        <p:spPr bwMode="auto">
          <a:xfrm>
            <a:off x="7315200" y="4724400"/>
            <a:ext cx="1295400" cy="4238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b="1">
              <a:latin typeface="Courier New" panose="02070309020205020404" pitchFamily="49" charset="0"/>
            </a:endParaRPr>
          </a:p>
        </p:txBody>
      </p:sp>
      <p:sp>
        <p:nvSpPr>
          <p:cNvPr id="795664" name="Rectangle 16"/>
          <p:cNvSpPr>
            <a:spLocks noChangeArrowheads="1"/>
          </p:cNvSpPr>
          <p:nvPr/>
        </p:nvSpPr>
        <p:spPr bwMode="auto">
          <a:xfrm>
            <a:off x="7315200" y="2438400"/>
            <a:ext cx="1295400" cy="5000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US" altLang="en-US" b="1">
              <a:latin typeface="Courier New" panose="02070309020205020404" pitchFamily="49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629400" y="5029200"/>
            <a:ext cx="685800" cy="1219200"/>
            <a:chOff x="6629400" y="5029200"/>
            <a:chExt cx="685800" cy="1219200"/>
          </a:xfrm>
        </p:grpSpPr>
        <p:sp>
          <p:nvSpPr>
            <p:cNvPr id="795679" name="Rectangle 31"/>
            <p:cNvSpPr>
              <a:spLocks noChangeArrowheads="1"/>
            </p:cNvSpPr>
            <p:nvPr/>
          </p:nvSpPr>
          <p:spPr bwMode="auto">
            <a:xfrm>
              <a:off x="6629400" y="6019800"/>
              <a:ext cx="6858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b="1" dirty="0"/>
                <a:t>0</a:t>
              </a:r>
            </a:p>
          </p:txBody>
        </p:sp>
        <p:sp>
          <p:nvSpPr>
            <p:cNvPr id="795680" name="Rectangle 32"/>
            <p:cNvSpPr>
              <a:spLocks noChangeArrowheads="1"/>
            </p:cNvSpPr>
            <p:nvPr/>
          </p:nvSpPr>
          <p:spPr bwMode="auto">
            <a:xfrm>
              <a:off x="6629400" y="5029200"/>
              <a:ext cx="6858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b="1" dirty="0"/>
                <a:t>1300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629400" y="990600"/>
            <a:ext cx="685800" cy="3810000"/>
            <a:chOff x="6629400" y="990600"/>
            <a:chExt cx="685800" cy="3810000"/>
          </a:xfrm>
        </p:grpSpPr>
        <p:grpSp>
          <p:nvGrpSpPr>
            <p:cNvPr id="6" name="Group 5"/>
            <p:cNvGrpSpPr/>
            <p:nvPr/>
          </p:nvGrpSpPr>
          <p:grpSpPr>
            <a:xfrm>
              <a:off x="6629400" y="2895600"/>
              <a:ext cx="685800" cy="1905000"/>
              <a:chOff x="6629400" y="2895600"/>
              <a:chExt cx="685800" cy="1905000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6629400" y="3886200"/>
                <a:ext cx="685800" cy="914400"/>
                <a:chOff x="6629400" y="3886200"/>
                <a:chExt cx="685800" cy="914400"/>
              </a:xfrm>
            </p:grpSpPr>
            <p:sp>
              <p:nvSpPr>
                <p:cNvPr id="795681" name="Rectangle 33"/>
                <p:cNvSpPr>
                  <a:spLocks noChangeArrowheads="1"/>
                </p:cNvSpPr>
                <p:nvPr/>
              </p:nvSpPr>
              <p:spPr bwMode="auto">
                <a:xfrm>
                  <a:off x="6629400" y="4572000"/>
                  <a:ext cx="685800" cy="228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b="1" dirty="0"/>
                    <a:t>2400</a:t>
                  </a:r>
                </a:p>
              </p:txBody>
            </p:sp>
            <p:sp>
              <p:nvSpPr>
                <p:cNvPr id="795682" name="Rectangle 34"/>
                <p:cNvSpPr>
                  <a:spLocks noChangeArrowheads="1"/>
                </p:cNvSpPr>
                <p:nvPr/>
              </p:nvSpPr>
              <p:spPr bwMode="auto">
                <a:xfrm>
                  <a:off x="6629400" y="3886200"/>
                  <a:ext cx="685800" cy="228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b="1"/>
                    <a:t>3500</a:t>
                  </a:r>
                </a:p>
              </p:txBody>
            </p:sp>
          </p:grpSp>
          <p:sp>
            <p:nvSpPr>
              <p:cNvPr id="795683" name="Rectangle 35"/>
              <p:cNvSpPr>
                <a:spLocks noChangeArrowheads="1"/>
              </p:cNvSpPr>
              <p:nvPr/>
            </p:nvSpPr>
            <p:spPr bwMode="auto">
              <a:xfrm>
                <a:off x="6629400" y="2895600"/>
                <a:ext cx="685800" cy="228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/>
                  <a:t>5700</a:t>
                </a:r>
              </a:p>
            </p:txBody>
          </p:sp>
        </p:grpSp>
        <p:sp>
          <p:nvSpPr>
            <p:cNvPr id="795684" name="Rectangle 36"/>
            <p:cNvSpPr>
              <a:spLocks noChangeArrowheads="1"/>
            </p:cNvSpPr>
            <p:nvPr/>
          </p:nvSpPr>
          <p:spPr bwMode="auto">
            <a:xfrm>
              <a:off x="6629400" y="2286000"/>
              <a:ext cx="6858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b="1"/>
                <a:t>6000</a:t>
              </a:r>
            </a:p>
          </p:txBody>
        </p:sp>
        <p:sp>
          <p:nvSpPr>
            <p:cNvPr id="795685" name="Rectangle 37"/>
            <p:cNvSpPr>
              <a:spLocks noChangeArrowheads="1"/>
            </p:cNvSpPr>
            <p:nvPr/>
          </p:nvSpPr>
          <p:spPr bwMode="auto">
            <a:xfrm>
              <a:off x="6629400" y="990600"/>
              <a:ext cx="6858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b="1"/>
                <a:t>7500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410200" y="4114800"/>
            <a:ext cx="1828800" cy="304800"/>
            <a:chOff x="5410200" y="4114800"/>
            <a:chExt cx="1828800" cy="304800"/>
          </a:xfrm>
        </p:grpSpPr>
        <p:sp>
          <p:nvSpPr>
            <p:cNvPr id="795722" name="Line 74"/>
            <p:cNvSpPr>
              <a:spLocks noChangeShapeType="1"/>
            </p:cNvSpPr>
            <p:nvPr/>
          </p:nvSpPr>
          <p:spPr bwMode="auto">
            <a:xfrm>
              <a:off x="6324600" y="4267200"/>
              <a:ext cx="914400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5723" name="Rectangle 75"/>
            <p:cNvSpPr>
              <a:spLocks noChangeArrowheads="1"/>
            </p:cNvSpPr>
            <p:nvPr/>
          </p:nvSpPr>
          <p:spPr bwMode="auto">
            <a:xfrm>
              <a:off x="5410200" y="4114800"/>
              <a:ext cx="9906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2800" b="1" dirty="0">
                  <a:solidFill>
                    <a:srgbClr val="C00000"/>
                  </a:solidFill>
                </a:rPr>
                <a:t>2900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28</a:t>
            </a:fld>
            <a:endParaRPr lang="en-US" altLang="en-US"/>
          </a:p>
        </p:txBody>
      </p:sp>
      <p:sp>
        <p:nvSpPr>
          <p:cNvPr id="69" name="Text Box 71"/>
          <p:cNvSpPr txBox="1">
            <a:spLocks noChangeArrowheads="1"/>
          </p:cNvSpPr>
          <p:nvPr/>
        </p:nvSpPr>
        <p:spPr bwMode="auto">
          <a:xfrm>
            <a:off x="2083037" y="5770781"/>
            <a:ext cx="2946163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200" b="1" dirty="0"/>
              <a:t>&lt; </a:t>
            </a:r>
            <a:r>
              <a:rPr lang="en-US" altLang="en-US" sz="3200" b="1" dirty="0">
                <a:solidFill>
                  <a:srgbClr val="C00000"/>
                </a:solidFill>
              </a:rPr>
              <a:t>2</a:t>
            </a:r>
            <a:r>
              <a:rPr lang="en-US" altLang="en-US" sz="3200" b="1" dirty="0"/>
              <a:t>, </a:t>
            </a:r>
            <a:r>
              <a:rPr lang="en-US" altLang="en-US" sz="3200" b="1" dirty="0">
                <a:solidFill>
                  <a:srgbClr val="006600"/>
                </a:solidFill>
              </a:rPr>
              <a:t>500</a:t>
            </a:r>
            <a:r>
              <a:rPr lang="en-US" altLang="en-US" sz="3200" b="1" dirty="0"/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107827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5693" grpId="0"/>
      <p:bldP spid="795719" grpId="0" animBg="1"/>
      <p:bldP spid="6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Segmentation: </a:t>
            </a:r>
            <a:r>
              <a:rPr lang="en-US" altLang="en-US" sz="3600" b="1" dirty="0"/>
              <a:t>Hardware Support</a:t>
            </a: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29</a:t>
            </a:fld>
            <a:endParaRPr lang="en-US" altLang="en-US"/>
          </a:p>
        </p:txBody>
      </p:sp>
      <p:cxnSp>
        <p:nvCxnSpPr>
          <p:cNvPr id="67" name="Elbow Connector 66"/>
          <p:cNvCxnSpPr>
            <a:endCxn id="3" idx="0"/>
          </p:cNvCxnSpPr>
          <p:nvPr/>
        </p:nvCxnSpPr>
        <p:spPr>
          <a:xfrm rot="16200000" flipH="1">
            <a:off x="4204796" y="1881892"/>
            <a:ext cx="1982286" cy="701316"/>
          </a:xfrm>
          <a:prstGeom prst="bentConnector3">
            <a:avLst>
              <a:gd name="adj1" fmla="val 16805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13" idx="2"/>
            <a:endCxn id="21" idx="0"/>
          </p:cNvCxnSpPr>
          <p:nvPr/>
        </p:nvCxnSpPr>
        <p:spPr>
          <a:xfrm rot="5400000">
            <a:off x="2922043" y="2094746"/>
            <a:ext cx="1431472" cy="779838"/>
          </a:xfrm>
          <a:prstGeom prst="bentConnector3">
            <a:avLst>
              <a:gd name="adj1" fmla="val -5520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4267200"/>
            <a:ext cx="990600" cy="1219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CPU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1676400" y="4724400"/>
            <a:ext cx="1295400" cy="304800"/>
            <a:chOff x="1676400" y="4724400"/>
            <a:chExt cx="1295400" cy="304800"/>
          </a:xfrm>
        </p:grpSpPr>
        <p:sp>
          <p:nvSpPr>
            <p:cNvPr id="8" name="Rectangle 7"/>
            <p:cNvSpPr/>
            <p:nvPr/>
          </p:nvSpPr>
          <p:spPr>
            <a:xfrm>
              <a:off x="1905000" y="4724400"/>
              <a:ext cx="5334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2438400" y="4724400"/>
              <a:ext cx="533400" cy="304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20" name="Straight Arrow Connector 19"/>
            <p:cNvCxnSpPr>
              <a:stCxn id="7" idx="3"/>
            </p:cNvCxnSpPr>
            <p:nvPr/>
          </p:nvCxnSpPr>
          <p:spPr>
            <a:xfrm>
              <a:off x="1676400" y="4876800"/>
              <a:ext cx="228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Diamond 20"/>
          <p:cNvSpPr/>
          <p:nvPr/>
        </p:nvSpPr>
        <p:spPr>
          <a:xfrm>
            <a:off x="2904960" y="3200401"/>
            <a:ext cx="685800" cy="685799"/>
          </a:xfrm>
          <a:prstGeom prst="diamond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&lt;</a:t>
            </a:r>
          </a:p>
        </p:txBody>
      </p:sp>
      <p:cxnSp>
        <p:nvCxnSpPr>
          <p:cNvPr id="23" name="Elbow Connector 22"/>
          <p:cNvCxnSpPr>
            <a:stCxn id="8" idx="0"/>
            <a:endCxn id="13" idx="1"/>
          </p:cNvCxnSpPr>
          <p:nvPr/>
        </p:nvCxnSpPr>
        <p:spPr>
          <a:xfrm rot="5400000" flipH="1" flipV="1">
            <a:off x="1347786" y="2386014"/>
            <a:ext cx="3162300" cy="1514473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/>
          <p:cNvCxnSpPr>
            <a:stCxn id="9" idx="0"/>
            <a:endCxn id="21" idx="1"/>
          </p:cNvCxnSpPr>
          <p:nvPr/>
        </p:nvCxnSpPr>
        <p:spPr>
          <a:xfrm rot="5400000" flipH="1" flipV="1">
            <a:off x="2214481" y="4033921"/>
            <a:ext cx="1181099" cy="199860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3"/>
            <a:endCxn id="3" idx="2"/>
          </p:cNvCxnSpPr>
          <p:nvPr/>
        </p:nvCxnSpPr>
        <p:spPr>
          <a:xfrm flipV="1">
            <a:off x="3590760" y="3543196"/>
            <a:ext cx="1635033" cy="105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3532629" y="3252654"/>
            <a:ext cx="533400" cy="304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Yes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3231932" y="3886200"/>
            <a:ext cx="730468" cy="1676400"/>
            <a:chOff x="3231932" y="3886200"/>
            <a:chExt cx="730468" cy="1676400"/>
          </a:xfrm>
        </p:grpSpPr>
        <p:sp>
          <p:nvSpPr>
            <p:cNvPr id="47" name="Rectangle 46"/>
            <p:cNvSpPr/>
            <p:nvPr/>
          </p:nvSpPr>
          <p:spPr>
            <a:xfrm>
              <a:off x="3231932" y="4244263"/>
              <a:ext cx="730468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No</a:t>
              </a:r>
            </a:p>
          </p:txBody>
        </p:sp>
        <p:cxnSp>
          <p:nvCxnSpPr>
            <p:cNvPr id="48" name="Straight Arrow Connector 47"/>
            <p:cNvCxnSpPr>
              <a:stCxn id="21" idx="2"/>
            </p:cNvCxnSpPr>
            <p:nvPr/>
          </p:nvCxnSpPr>
          <p:spPr>
            <a:xfrm>
              <a:off x="3247860" y="3886200"/>
              <a:ext cx="0" cy="16764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Rectangle 50"/>
          <p:cNvSpPr/>
          <p:nvPr/>
        </p:nvSpPr>
        <p:spPr>
          <a:xfrm>
            <a:off x="2135278" y="5585388"/>
            <a:ext cx="2894481" cy="304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Addressing Error!</a:t>
            </a:r>
          </a:p>
        </p:txBody>
      </p:sp>
      <p:grpSp>
        <p:nvGrpSpPr>
          <p:cNvPr id="58" name="Group 57"/>
          <p:cNvGrpSpPr/>
          <p:nvPr/>
        </p:nvGrpSpPr>
        <p:grpSpPr>
          <a:xfrm>
            <a:off x="3049119" y="1088571"/>
            <a:ext cx="541640" cy="304800"/>
            <a:chOff x="3125319" y="936171"/>
            <a:chExt cx="541640" cy="304800"/>
          </a:xfrm>
        </p:grpSpPr>
        <p:sp>
          <p:nvSpPr>
            <p:cNvPr id="53" name="Left Brace 52"/>
            <p:cNvSpPr/>
            <p:nvPr/>
          </p:nvSpPr>
          <p:spPr>
            <a:xfrm>
              <a:off x="3482706" y="976450"/>
              <a:ext cx="184253" cy="226421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125319" y="936171"/>
              <a:ext cx="533400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S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7010400" y="1355271"/>
            <a:ext cx="1524000" cy="504552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Physical Memory</a:t>
            </a:r>
          </a:p>
        </p:txBody>
      </p:sp>
      <p:grpSp>
        <p:nvGrpSpPr>
          <p:cNvPr id="61" name="Group 60"/>
          <p:cNvGrpSpPr/>
          <p:nvPr/>
        </p:nvGrpSpPr>
        <p:grpSpPr>
          <a:xfrm>
            <a:off x="3686173" y="1143000"/>
            <a:ext cx="1647827" cy="1709600"/>
            <a:chOff x="3686173" y="1143000"/>
            <a:chExt cx="1647827" cy="1709600"/>
          </a:xfrm>
        </p:grpSpPr>
        <p:sp>
          <p:nvSpPr>
            <p:cNvPr id="11" name="Rectangle 10"/>
            <p:cNvSpPr/>
            <p:nvPr/>
          </p:nvSpPr>
          <p:spPr>
            <a:xfrm>
              <a:off x="3686174" y="1145176"/>
              <a:ext cx="685800" cy="14456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362450" y="1143000"/>
              <a:ext cx="971550" cy="14456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686173" y="1355271"/>
              <a:ext cx="683049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Limit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362450" y="1355271"/>
              <a:ext cx="971550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Base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3689936" y="2547800"/>
              <a:ext cx="1535857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Segment Table</a:t>
              </a:r>
            </a:p>
          </p:txBody>
        </p:sp>
      </p:grpSp>
      <p:sp>
        <p:nvSpPr>
          <p:cNvPr id="3" name="Oval 2"/>
          <p:cNvSpPr/>
          <p:nvPr/>
        </p:nvSpPr>
        <p:spPr>
          <a:xfrm>
            <a:off x="5225793" y="3223693"/>
            <a:ext cx="641607" cy="639006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2"/>
                </a:solidFill>
              </a:rPr>
              <a:t>+</a:t>
            </a:r>
            <a:endParaRPr lang="en-SG" sz="2800" b="1" dirty="0">
              <a:solidFill>
                <a:schemeClr val="accent2"/>
              </a:solidFill>
            </a:endParaRPr>
          </a:p>
        </p:txBody>
      </p:sp>
      <p:cxnSp>
        <p:nvCxnSpPr>
          <p:cNvPr id="66" name="Straight Arrow Connector 65"/>
          <p:cNvCxnSpPr>
            <a:stCxn id="3" idx="6"/>
          </p:cNvCxnSpPr>
          <p:nvPr/>
        </p:nvCxnSpPr>
        <p:spPr>
          <a:xfrm>
            <a:off x="5867400" y="3543196"/>
            <a:ext cx="1143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73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46" grpId="0"/>
      <p:bldP spid="51" grpId="0"/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Segmentation: Summary</a:t>
            </a:r>
          </a:p>
        </p:txBody>
      </p:sp>
      <p:sp>
        <p:nvSpPr>
          <p:cNvPr id="796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b="1" dirty="0"/>
              <a:t>Pros:</a:t>
            </a:r>
          </a:p>
          <a:p>
            <a:pPr lvl="1"/>
            <a:r>
              <a:rPr lang="en-US" altLang="en-US" dirty="0"/>
              <a:t>Each segment is an independent contiguous memory space</a:t>
            </a:r>
          </a:p>
          <a:p>
            <a:pPr marL="344487" lvl="1" indent="0">
              <a:buNone/>
            </a:pPr>
            <a:r>
              <a:rPr lang="en-US" altLang="en-US" dirty="0">
                <a:sym typeface="Wingdings" panose="05000000000000000000" pitchFamily="2" charset="2"/>
              </a:rPr>
              <a:t> </a:t>
            </a:r>
            <a:r>
              <a:rPr lang="en-US" altLang="en-US" dirty="0"/>
              <a:t>Can grow / shrink independently</a:t>
            </a:r>
          </a:p>
          <a:p>
            <a:pPr marL="344487" lvl="1" indent="0">
              <a:buNone/>
            </a:pPr>
            <a:r>
              <a:rPr lang="en-US" altLang="en-US" dirty="0">
                <a:sym typeface="Wingdings" panose="05000000000000000000" pitchFamily="2" charset="2"/>
              </a:rPr>
              <a:t> </a:t>
            </a:r>
            <a:r>
              <a:rPr lang="en-US" altLang="en-US" dirty="0"/>
              <a:t>Can be protected / shared independently</a:t>
            </a:r>
          </a:p>
          <a:p>
            <a:endParaRPr lang="en-US" altLang="en-US" dirty="0"/>
          </a:p>
          <a:p>
            <a:r>
              <a:rPr lang="en-US" altLang="en-US" b="1" dirty="0"/>
              <a:t>Cons:</a:t>
            </a:r>
          </a:p>
          <a:p>
            <a:pPr lvl="1"/>
            <a:r>
              <a:rPr lang="en-US" altLang="en-US" dirty="0"/>
              <a:t>Segmentation requires variable-size contiguous memory regions</a:t>
            </a:r>
          </a:p>
          <a:p>
            <a:pPr marL="344487" lvl="1" indent="0">
              <a:buNone/>
            </a:pPr>
            <a:r>
              <a:rPr lang="en-US" altLang="en-US" dirty="0">
                <a:sym typeface="Wingdings" panose="05000000000000000000" pitchFamily="2" charset="2"/>
              </a:rPr>
              <a:t> can c</a:t>
            </a:r>
            <a:r>
              <a:rPr lang="en-US" altLang="en-US" dirty="0"/>
              <a:t>ause </a:t>
            </a:r>
            <a:r>
              <a:rPr lang="en-US" altLang="en-US" b="1" dirty="0"/>
              <a:t>external fragmentation</a:t>
            </a:r>
          </a:p>
          <a:p>
            <a:endParaRPr lang="en-US" altLang="en-US" dirty="0"/>
          </a:p>
          <a:p>
            <a:r>
              <a:rPr lang="en-US" altLang="en-US" dirty="0"/>
              <a:t>Important observation:</a:t>
            </a:r>
          </a:p>
          <a:p>
            <a:pPr lvl="1"/>
            <a:r>
              <a:rPr lang="en-US" altLang="en-US" dirty="0"/>
              <a:t>Segmentation is </a:t>
            </a:r>
            <a:r>
              <a:rPr lang="en-US" altLang="en-US" b="1" dirty="0"/>
              <a:t>not </a:t>
            </a:r>
            <a:r>
              <a:rPr lang="en-US" altLang="en-US" dirty="0"/>
              <a:t>the same as paging </a:t>
            </a:r>
          </a:p>
          <a:p>
            <a:pPr lvl="1"/>
            <a:r>
              <a:rPr lang="en-US" altLang="en-US" dirty="0"/>
              <a:t>Each of them trying to solve a different problem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23087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 </a:t>
            </a:r>
            <a:br>
              <a:rPr lang="en-US" dirty="0"/>
            </a:br>
            <a:r>
              <a:rPr lang="en-US" dirty="0"/>
              <a:t>with paging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is good; S is also good; Let's do S+P then!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0903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 with Paging: Basic Idea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intuitive next step is to combine segmentation with paging</a:t>
            </a:r>
          </a:p>
          <a:p>
            <a:endParaRPr lang="en-US" dirty="0"/>
          </a:p>
          <a:p>
            <a:r>
              <a:rPr lang="en-US" dirty="0"/>
              <a:t>Basic Idea:</a:t>
            </a:r>
          </a:p>
          <a:p>
            <a:pPr lvl="1"/>
            <a:r>
              <a:rPr lang="en-US" dirty="0"/>
              <a:t>Each segment is now composed of several pages instead of a contiguous memory region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dirty="0">
                <a:sym typeface="Wingdings" panose="05000000000000000000" pitchFamily="2" charset="2"/>
              </a:rPr>
              <a:t>Essentially, each segment has a page table</a:t>
            </a:r>
          </a:p>
          <a:p>
            <a:pPr marL="344487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Segment can grows by allocating new page then add to its page table and similarly for shrinking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70989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 with Paging: Illustration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33</a:t>
            </a:fld>
            <a:endParaRPr lang="en-US" altLang="en-US"/>
          </a:p>
        </p:txBody>
      </p:sp>
      <p:grpSp>
        <p:nvGrpSpPr>
          <p:cNvPr id="80" name="Group 79"/>
          <p:cNvGrpSpPr/>
          <p:nvPr/>
        </p:nvGrpSpPr>
        <p:grpSpPr>
          <a:xfrm>
            <a:off x="685800" y="1088571"/>
            <a:ext cx="7848600" cy="5312229"/>
            <a:chOff x="762000" y="936171"/>
            <a:chExt cx="7848600" cy="5312229"/>
          </a:xfrm>
        </p:grpSpPr>
        <p:cxnSp>
          <p:nvCxnSpPr>
            <p:cNvPr id="67" name="Elbow Connector 66"/>
            <p:cNvCxnSpPr/>
            <p:nvPr/>
          </p:nvCxnSpPr>
          <p:spPr>
            <a:xfrm rot="16200000" flipH="1">
              <a:off x="4257822" y="1691274"/>
              <a:ext cx="1851660" cy="524341"/>
            </a:xfrm>
            <a:prstGeom prst="bentConnector4">
              <a:avLst>
                <a:gd name="adj1" fmla="val 21428"/>
                <a:gd name="adj2" fmla="val 143598"/>
              </a:avLst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Elbow Connector 30"/>
            <p:cNvCxnSpPr>
              <a:stCxn id="13" idx="2"/>
              <a:endCxn id="21" idx="0"/>
            </p:cNvCxnSpPr>
            <p:nvPr/>
          </p:nvCxnSpPr>
          <p:spPr>
            <a:xfrm rot="5400000">
              <a:off x="3017294" y="1923295"/>
              <a:ext cx="1393371" cy="779838"/>
            </a:xfrm>
            <a:prstGeom prst="bentConnector3">
              <a:avLst>
                <a:gd name="adj1" fmla="val -5199"/>
              </a:avLst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/>
            <p:cNvSpPr/>
            <p:nvPr/>
          </p:nvSpPr>
          <p:spPr>
            <a:xfrm>
              <a:off x="762000" y="4114800"/>
              <a:ext cx="990600" cy="12192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CPU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81200" y="4572000"/>
              <a:ext cx="5334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2514600" y="4572000"/>
              <a:ext cx="533400" cy="304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48000" y="4572000"/>
              <a:ext cx="533400" cy="3048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762374" y="992776"/>
              <a:ext cx="685800" cy="14456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438650" y="990600"/>
              <a:ext cx="971550" cy="14456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762373" y="1202871"/>
              <a:ext cx="683049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Page limit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438650" y="1202871"/>
              <a:ext cx="971550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err="1">
                  <a:solidFill>
                    <a:schemeClr val="tx1"/>
                  </a:solidFill>
                </a:rPr>
                <a:t>Pg</a:t>
              </a:r>
              <a:r>
                <a:rPr lang="en-US" sz="1400" b="1" dirty="0">
                  <a:solidFill>
                    <a:schemeClr val="tx1"/>
                  </a:solidFill>
                </a:rPr>
                <a:t> Table Base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448174" y="2897777"/>
              <a:ext cx="1005354" cy="11408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448174" y="3149010"/>
              <a:ext cx="1005354" cy="41365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Frame Number</a:t>
              </a:r>
            </a:p>
          </p:txBody>
        </p:sp>
        <p:cxnSp>
          <p:nvCxnSpPr>
            <p:cNvPr id="20" name="Straight Arrow Connector 19"/>
            <p:cNvCxnSpPr>
              <a:stCxn id="7" idx="3"/>
            </p:cNvCxnSpPr>
            <p:nvPr/>
          </p:nvCxnSpPr>
          <p:spPr>
            <a:xfrm>
              <a:off x="1752600" y="4724400"/>
              <a:ext cx="228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Diamond 20"/>
            <p:cNvSpPr/>
            <p:nvPr/>
          </p:nvSpPr>
          <p:spPr>
            <a:xfrm>
              <a:off x="2981160" y="3009900"/>
              <a:ext cx="685800" cy="685799"/>
            </a:xfrm>
            <a:prstGeom prst="diamond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2"/>
                  </a:solidFill>
                </a:rPr>
                <a:t>&lt;</a:t>
              </a:r>
            </a:p>
          </p:txBody>
        </p:sp>
        <p:cxnSp>
          <p:nvCxnSpPr>
            <p:cNvPr id="23" name="Elbow Connector 22"/>
            <p:cNvCxnSpPr>
              <a:stCxn id="8" idx="0"/>
              <a:endCxn id="13" idx="1"/>
            </p:cNvCxnSpPr>
            <p:nvPr/>
          </p:nvCxnSpPr>
          <p:spPr>
            <a:xfrm rot="5400000" flipH="1" flipV="1">
              <a:off x="1423986" y="2233614"/>
              <a:ext cx="3162300" cy="1514473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lbow Connector 24"/>
            <p:cNvCxnSpPr>
              <a:stCxn id="9" idx="0"/>
              <a:endCxn id="21" idx="1"/>
            </p:cNvCxnSpPr>
            <p:nvPr/>
          </p:nvCxnSpPr>
          <p:spPr>
            <a:xfrm rot="5400000" flipH="1" flipV="1">
              <a:off x="2271630" y="3862470"/>
              <a:ext cx="1219200" cy="199860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21" idx="3"/>
              <a:endCxn id="18" idx="1"/>
            </p:cNvCxnSpPr>
            <p:nvPr/>
          </p:nvCxnSpPr>
          <p:spPr>
            <a:xfrm>
              <a:off x="3666960" y="3352800"/>
              <a:ext cx="781214" cy="30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Elbow Connector 36"/>
            <p:cNvCxnSpPr>
              <a:stCxn id="18" idx="3"/>
              <a:endCxn id="40" idx="0"/>
            </p:cNvCxnSpPr>
            <p:nvPr/>
          </p:nvCxnSpPr>
          <p:spPr>
            <a:xfrm>
              <a:off x="5453528" y="3355839"/>
              <a:ext cx="447674" cy="1198744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/>
            <p:cNvSpPr/>
            <p:nvPr/>
          </p:nvSpPr>
          <p:spPr>
            <a:xfrm>
              <a:off x="5634502" y="4554583"/>
              <a:ext cx="533400" cy="304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167902" y="4554583"/>
              <a:ext cx="533400" cy="3048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43" name="Elbow Connector 42"/>
            <p:cNvCxnSpPr>
              <a:stCxn id="10" idx="2"/>
              <a:endCxn id="42" idx="2"/>
            </p:cNvCxnSpPr>
            <p:nvPr/>
          </p:nvCxnSpPr>
          <p:spPr>
            <a:xfrm rot="5400000" flipH="1" flipV="1">
              <a:off x="4865942" y="3308141"/>
              <a:ext cx="17417" cy="3119902"/>
            </a:xfrm>
            <a:prstGeom prst="bentConnector3">
              <a:avLst>
                <a:gd name="adj1" fmla="val -1312511"/>
              </a:avLst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/>
            <p:cNvSpPr/>
            <p:nvPr/>
          </p:nvSpPr>
          <p:spPr>
            <a:xfrm>
              <a:off x="3608829" y="3100254"/>
              <a:ext cx="533400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Yes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412097" y="3596207"/>
              <a:ext cx="533400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No</a:t>
              </a:r>
            </a:p>
          </p:txBody>
        </p:sp>
        <p:cxnSp>
          <p:nvCxnSpPr>
            <p:cNvPr id="48" name="Straight Arrow Connector 47"/>
            <p:cNvCxnSpPr>
              <a:stCxn id="21" idx="2"/>
            </p:cNvCxnSpPr>
            <p:nvPr/>
          </p:nvCxnSpPr>
          <p:spPr>
            <a:xfrm flipH="1">
              <a:off x="3314699" y="3695699"/>
              <a:ext cx="9361" cy="24644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/>
            <p:cNvSpPr/>
            <p:nvPr/>
          </p:nvSpPr>
          <p:spPr>
            <a:xfrm>
              <a:off x="2905288" y="4009415"/>
              <a:ext cx="1154838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Addressing Error!</a:t>
              </a:r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3125319" y="936171"/>
              <a:ext cx="541640" cy="304800"/>
              <a:chOff x="3125319" y="936171"/>
              <a:chExt cx="541640" cy="304800"/>
            </a:xfrm>
          </p:grpSpPr>
          <p:sp>
            <p:nvSpPr>
              <p:cNvPr id="53" name="Left Brace 52"/>
              <p:cNvSpPr/>
              <p:nvPr/>
            </p:nvSpPr>
            <p:spPr>
              <a:xfrm>
                <a:off x="3482706" y="976450"/>
                <a:ext cx="184253" cy="226421"/>
              </a:xfrm>
              <a:prstGeom prst="leftBrac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3125319" y="936171"/>
                <a:ext cx="533400" cy="304800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S</a:t>
                </a:r>
              </a:p>
            </p:txBody>
          </p:sp>
        </p:grpSp>
        <p:grpSp>
          <p:nvGrpSpPr>
            <p:cNvPr id="57" name="Group 56"/>
            <p:cNvGrpSpPr/>
            <p:nvPr/>
          </p:nvGrpSpPr>
          <p:grpSpPr>
            <a:xfrm>
              <a:off x="3862580" y="2838450"/>
              <a:ext cx="557020" cy="304800"/>
              <a:chOff x="3815521" y="2838450"/>
              <a:chExt cx="557020" cy="304800"/>
            </a:xfrm>
          </p:grpSpPr>
          <p:sp>
            <p:nvSpPr>
              <p:cNvPr id="55" name="Left Brace 54"/>
              <p:cNvSpPr/>
              <p:nvPr/>
            </p:nvSpPr>
            <p:spPr>
              <a:xfrm>
                <a:off x="4188288" y="2879930"/>
                <a:ext cx="184253" cy="226421"/>
              </a:xfrm>
              <a:prstGeom prst="leftBrac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3815521" y="2838450"/>
                <a:ext cx="533400" cy="304800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P</a:t>
                </a:r>
              </a:p>
            </p:txBody>
          </p:sp>
        </p:grpSp>
        <p:sp>
          <p:nvSpPr>
            <p:cNvPr id="59" name="Rectangle 58"/>
            <p:cNvSpPr/>
            <p:nvPr/>
          </p:nvSpPr>
          <p:spPr>
            <a:xfrm>
              <a:off x="7086600" y="1202871"/>
              <a:ext cx="1524000" cy="504552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Physical Memory</a:t>
              </a:r>
            </a:p>
          </p:txBody>
        </p:sp>
        <p:cxnSp>
          <p:nvCxnSpPr>
            <p:cNvPr id="60" name="Straight Arrow Connector 59"/>
            <p:cNvCxnSpPr/>
            <p:nvPr/>
          </p:nvCxnSpPr>
          <p:spPr>
            <a:xfrm>
              <a:off x="6701302" y="4696640"/>
              <a:ext cx="385298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Rectangle 80"/>
          <p:cNvSpPr/>
          <p:nvPr/>
        </p:nvSpPr>
        <p:spPr>
          <a:xfrm>
            <a:off x="3689936" y="2547800"/>
            <a:ext cx="1535857" cy="304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Segment Table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369223" y="4194161"/>
            <a:ext cx="1008105" cy="45186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Page Table</a:t>
            </a:r>
          </a:p>
        </p:txBody>
      </p:sp>
    </p:spTree>
    <p:extLst>
      <p:ext uri="{BB962C8B-B14F-4D97-AF65-F5344CB8AC3E}">
        <p14:creationId xmlns:p14="http://schemas.microsoft.com/office/powerpoint/2010/main" val="9681742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47182" y="1568375"/>
            <a:ext cx="3045290" cy="4405193"/>
          </a:xfrm>
          <a:prstGeom prst="roundRect">
            <a:avLst>
              <a:gd name="adj" fmla="val 436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Segmentation with Paging</a:t>
            </a:r>
            <a:endParaRPr lang="en-US" altLang="en-US" sz="38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34</a:t>
            </a:fld>
            <a:endParaRPr lang="en-US" altLang="en-US"/>
          </a:p>
        </p:txBody>
      </p: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373659" y="1401568"/>
            <a:ext cx="1219200" cy="293028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  <a:effectLst/>
        </p:spPr>
        <p:txBody>
          <a:bodyPr anchor="ctr"/>
          <a:lstStyle/>
          <a:p>
            <a:pPr algn="ctr"/>
            <a:r>
              <a:rPr lang="en-US" altLang="en-US" sz="1600" b="1" dirty="0">
                <a:solidFill>
                  <a:srgbClr val="C00000"/>
                </a:solidFill>
              </a:rPr>
              <a:t>Process P</a:t>
            </a:r>
            <a:endParaRPr lang="en-US" altLang="en-US" sz="1600" b="1" dirty="0"/>
          </a:p>
        </p:txBody>
      </p:sp>
      <p:grpSp>
        <p:nvGrpSpPr>
          <p:cNvPr id="50" name="Group 49"/>
          <p:cNvGrpSpPr/>
          <p:nvPr/>
        </p:nvGrpSpPr>
        <p:grpSpPr>
          <a:xfrm>
            <a:off x="5257800" y="1200166"/>
            <a:ext cx="811208" cy="1143000"/>
            <a:chOff x="4736197" y="1324496"/>
            <a:chExt cx="811208" cy="1143000"/>
          </a:xfrm>
        </p:grpSpPr>
        <p:sp>
          <p:nvSpPr>
            <p:cNvPr id="37" name="Rectangle 21"/>
            <p:cNvSpPr>
              <a:spLocks noChangeArrowheads="1"/>
            </p:cNvSpPr>
            <p:nvPr/>
          </p:nvSpPr>
          <p:spPr bwMode="auto">
            <a:xfrm>
              <a:off x="4736197" y="1324496"/>
              <a:ext cx="277808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dirty="0"/>
                <a:t>0</a:t>
              </a:r>
            </a:p>
          </p:txBody>
        </p:sp>
        <p:sp>
          <p:nvSpPr>
            <p:cNvPr id="38" name="Rectangle 47"/>
            <p:cNvSpPr>
              <a:spLocks noChangeArrowheads="1"/>
            </p:cNvSpPr>
            <p:nvPr/>
          </p:nvSpPr>
          <p:spPr bwMode="auto">
            <a:xfrm>
              <a:off x="5014005" y="1324496"/>
              <a:ext cx="533400" cy="381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35" name="Rectangle 50"/>
            <p:cNvSpPr>
              <a:spLocks noChangeArrowheads="1"/>
            </p:cNvSpPr>
            <p:nvPr/>
          </p:nvSpPr>
          <p:spPr bwMode="auto">
            <a:xfrm>
              <a:off x="4736197" y="1705496"/>
              <a:ext cx="277808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dirty="0"/>
                <a:t>1</a:t>
              </a:r>
            </a:p>
          </p:txBody>
        </p:sp>
        <p:sp>
          <p:nvSpPr>
            <p:cNvPr id="36" name="Rectangle 51"/>
            <p:cNvSpPr>
              <a:spLocks noChangeArrowheads="1"/>
            </p:cNvSpPr>
            <p:nvPr/>
          </p:nvSpPr>
          <p:spPr bwMode="auto">
            <a:xfrm>
              <a:off x="5014005" y="1705496"/>
              <a:ext cx="533400" cy="381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33" name="Rectangle 53"/>
            <p:cNvSpPr>
              <a:spLocks noChangeArrowheads="1"/>
            </p:cNvSpPr>
            <p:nvPr/>
          </p:nvSpPr>
          <p:spPr bwMode="auto">
            <a:xfrm>
              <a:off x="4736197" y="2086496"/>
              <a:ext cx="277808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dirty="0"/>
                <a:t>2</a:t>
              </a:r>
            </a:p>
          </p:txBody>
        </p:sp>
        <p:sp>
          <p:nvSpPr>
            <p:cNvPr id="34" name="Rectangle 54"/>
            <p:cNvSpPr>
              <a:spLocks noChangeArrowheads="1"/>
            </p:cNvSpPr>
            <p:nvPr/>
          </p:nvSpPr>
          <p:spPr bwMode="auto">
            <a:xfrm>
              <a:off x="5014005" y="2086496"/>
              <a:ext cx="533400" cy="381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61" name="Group 58"/>
          <p:cNvGrpSpPr>
            <a:grpSpLocks/>
          </p:cNvGrpSpPr>
          <p:nvPr/>
        </p:nvGrpSpPr>
        <p:grpSpPr bwMode="auto">
          <a:xfrm>
            <a:off x="5717597" y="2925908"/>
            <a:ext cx="842963" cy="762001"/>
            <a:chOff x="2216" y="2407"/>
            <a:chExt cx="531" cy="480"/>
          </a:xfrm>
        </p:grpSpPr>
        <p:grpSp>
          <p:nvGrpSpPr>
            <p:cNvPr id="63" name="Group 48"/>
            <p:cNvGrpSpPr>
              <a:grpSpLocks/>
            </p:cNvGrpSpPr>
            <p:nvPr/>
          </p:nvGrpSpPr>
          <p:grpSpPr bwMode="auto">
            <a:xfrm>
              <a:off x="2216" y="2407"/>
              <a:ext cx="531" cy="240"/>
              <a:chOff x="2312" y="3895"/>
              <a:chExt cx="531" cy="240"/>
            </a:xfrm>
          </p:grpSpPr>
          <p:sp>
            <p:nvSpPr>
              <p:cNvPr id="73" name="Rectangle 21"/>
              <p:cNvSpPr>
                <a:spLocks noChangeArrowheads="1"/>
              </p:cNvSpPr>
              <p:nvPr/>
            </p:nvSpPr>
            <p:spPr bwMode="auto">
              <a:xfrm>
                <a:off x="2312" y="3895"/>
                <a:ext cx="195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dirty="0"/>
                  <a:t>0</a:t>
                </a:r>
              </a:p>
            </p:txBody>
          </p:sp>
          <p:sp>
            <p:nvSpPr>
              <p:cNvPr id="74" name="Rectangle 47"/>
              <p:cNvSpPr>
                <a:spLocks noChangeArrowheads="1"/>
              </p:cNvSpPr>
              <p:nvPr/>
            </p:nvSpPr>
            <p:spPr bwMode="auto">
              <a:xfrm>
                <a:off x="2507" y="3895"/>
                <a:ext cx="336" cy="24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  <p:grpSp>
          <p:nvGrpSpPr>
            <p:cNvPr id="64" name="Group 49"/>
            <p:cNvGrpSpPr>
              <a:grpSpLocks/>
            </p:cNvGrpSpPr>
            <p:nvPr/>
          </p:nvGrpSpPr>
          <p:grpSpPr bwMode="auto">
            <a:xfrm>
              <a:off x="2216" y="2647"/>
              <a:ext cx="531" cy="240"/>
              <a:chOff x="2312" y="3895"/>
              <a:chExt cx="531" cy="240"/>
            </a:xfrm>
          </p:grpSpPr>
          <p:sp>
            <p:nvSpPr>
              <p:cNvPr id="71" name="Rectangle 50"/>
              <p:cNvSpPr>
                <a:spLocks noChangeArrowheads="1"/>
              </p:cNvSpPr>
              <p:nvPr/>
            </p:nvSpPr>
            <p:spPr bwMode="auto">
              <a:xfrm>
                <a:off x="2312" y="3895"/>
                <a:ext cx="195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dirty="0"/>
                  <a:t>1</a:t>
                </a:r>
              </a:p>
            </p:txBody>
          </p:sp>
          <p:sp>
            <p:nvSpPr>
              <p:cNvPr id="72" name="Rectangle 51"/>
              <p:cNvSpPr>
                <a:spLocks noChangeArrowheads="1"/>
              </p:cNvSpPr>
              <p:nvPr/>
            </p:nvSpPr>
            <p:spPr bwMode="auto">
              <a:xfrm>
                <a:off x="2507" y="3895"/>
                <a:ext cx="336" cy="24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</p:grpSp>
      <p:sp>
        <p:nvSpPr>
          <p:cNvPr id="79" name="Rectangle 78"/>
          <p:cNvSpPr/>
          <p:nvPr/>
        </p:nvSpPr>
        <p:spPr>
          <a:xfrm>
            <a:off x="5078408" y="6521450"/>
            <a:ext cx="3505200" cy="22860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Incomplete diagram, to be filled in during lecture.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188273" y="1862748"/>
            <a:ext cx="1143000" cy="1633151"/>
            <a:chOff x="992706" y="1134975"/>
            <a:chExt cx="1143000" cy="1633151"/>
          </a:xfrm>
        </p:grpSpPr>
        <p:grpSp>
          <p:nvGrpSpPr>
            <p:cNvPr id="5" name="Group 4"/>
            <p:cNvGrpSpPr/>
            <p:nvPr/>
          </p:nvGrpSpPr>
          <p:grpSpPr>
            <a:xfrm>
              <a:off x="992706" y="1396526"/>
              <a:ext cx="1143000" cy="1371600"/>
              <a:chOff x="711926" y="1013764"/>
              <a:chExt cx="1143000" cy="1828800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711926" y="2232964"/>
                <a:ext cx="1143000" cy="6096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2</a:t>
                </a: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711926" y="1623364"/>
                <a:ext cx="1143000" cy="6096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1</a:t>
                </a:r>
              </a:p>
            </p:txBody>
          </p:sp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711926" y="1013764"/>
                <a:ext cx="1143000" cy="6096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0</a:t>
                </a:r>
              </a:p>
            </p:txBody>
          </p:sp>
        </p:grpSp>
        <p:sp>
          <p:nvSpPr>
            <p:cNvPr id="75" name="Rectangle 7"/>
            <p:cNvSpPr>
              <a:spLocks noChangeArrowheads="1"/>
            </p:cNvSpPr>
            <p:nvPr/>
          </p:nvSpPr>
          <p:spPr bwMode="auto">
            <a:xfrm>
              <a:off x="992706" y="1134975"/>
              <a:ext cx="1143000" cy="2639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Text(0)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39018" y="3598533"/>
            <a:ext cx="1143665" cy="1185113"/>
            <a:chOff x="227935" y="2935961"/>
            <a:chExt cx="1143665" cy="1185113"/>
          </a:xfrm>
        </p:grpSpPr>
        <p:grpSp>
          <p:nvGrpSpPr>
            <p:cNvPr id="54" name="Group 53"/>
            <p:cNvGrpSpPr/>
            <p:nvPr/>
          </p:nvGrpSpPr>
          <p:grpSpPr>
            <a:xfrm>
              <a:off x="228600" y="3206674"/>
              <a:ext cx="1143000" cy="914400"/>
              <a:chOff x="711926" y="1013764"/>
              <a:chExt cx="1143000" cy="1219200"/>
            </a:xfrm>
          </p:grpSpPr>
          <p:sp>
            <p:nvSpPr>
              <p:cNvPr id="57" name="Rectangle 6"/>
              <p:cNvSpPr>
                <a:spLocks noChangeArrowheads="1"/>
              </p:cNvSpPr>
              <p:nvPr/>
            </p:nvSpPr>
            <p:spPr bwMode="auto">
              <a:xfrm>
                <a:off x="711926" y="1623364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1</a:t>
                </a:r>
              </a:p>
            </p:txBody>
          </p:sp>
          <p:sp>
            <p:nvSpPr>
              <p:cNvPr id="58" name="Rectangle 7"/>
              <p:cNvSpPr>
                <a:spLocks noChangeArrowheads="1"/>
              </p:cNvSpPr>
              <p:nvPr/>
            </p:nvSpPr>
            <p:spPr bwMode="auto">
              <a:xfrm>
                <a:off x="711926" y="1013764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0</a:t>
                </a:r>
              </a:p>
            </p:txBody>
          </p:sp>
        </p:grpSp>
        <p:sp>
          <p:nvSpPr>
            <p:cNvPr id="76" name="Rectangle 7"/>
            <p:cNvSpPr>
              <a:spLocks noChangeArrowheads="1"/>
            </p:cNvSpPr>
            <p:nvPr/>
          </p:nvSpPr>
          <p:spPr bwMode="auto">
            <a:xfrm>
              <a:off x="227935" y="2935961"/>
              <a:ext cx="1143000" cy="2639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Data(1)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1994741" y="4056017"/>
            <a:ext cx="1143665" cy="727913"/>
            <a:chOff x="1972117" y="3349626"/>
            <a:chExt cx="1143665" cy="727913"/>
          </a:xfrm>
        </p:grpSpPr>
        <p:sp>
          <p:nvSpPr>
            <p:cNvPr id="80" name="Rectangle 7"/>
            <p:cNvSpPr>
              <a:spLocks noChangeArrowheads="1"/>
            </p:cNvSpPr>
            <p:nvPr/>
          </p:nvSpPr>
          <p:spPr bwMode="auto">
            <a:xfrm>
              <a:off x="1972782" y="3620339"/>
              <a:ext cx="1143000" cy="4572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0</a:t>
              </a:r>
            </a:p>
          </p:txBody>
        </p:sp>
        <p:sp>
          <p:nvSpPr>
            <p:cNvPr id="81" name="Rectangle 7"/>
            <p:cNvSpPr>
              <a:spLocks noChangeArrowheads="1"/>
            </p:cNvSpPr>
            <p:nvPr/>
          </p:nvSpPr>
          <p:spPr bwMode="auto">
            <a:xfrm>
              <a:off x="1972117" y="3349626"/>
              <a:ext cx="1143000" cy="2639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 err="1">
                  <a:solidFill>
                    <a:schemeClr val="accent4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Stck</a:t>
              </a:r>
              <a:r>
                <a:rPr lang="en-US" altLang="en-US" sz="1600" b="1" dirty="0">
                  <a:solidFill>
                    <a:schemeClr val="accent4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(2)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1188273" y="5118784"/>
            <a:ext cx="1143665" cy="727913"/>
            <a:chOff x="1184111" y="4691171"/>
            <a:chExt cx="1143665" cy="727913"/>
          </a:xfrm>
        </p:grpSpPr>
        <p:sp>
          <p:nvSpPr>
            <p:cNvPr id="82" name="Rectangle 7"/>
            <p:cNvSpPr>
              <a:spLocks noChangeArrowheads="1"/>
            </p:cNvSpPr>
            <p:nvPr/>
          </p:nvSpPr>
          <p:spPr bwMode="auto">
            <a:xfrm>
              <a:off x="1184776" y="4961884"/>
              <a:ext cx="1143000" cy="457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0</a:t>
              </a:r>
            </a:p>
          </p:txBody>
        </p:sp>
        <p:sp>
          <p:nvSpPr>
            <p:cNvPr id="83" name="Rectangle 7"/>
            <p:cNvSpPr>
              <a:spLocks noChangeArrowheads="1"/>
            </p:cNvSpPr>
            <p:nvPr/>
          </p:nvSpPr>
          <p:spPr bwMode="auto">
            <a:xfrm>
              <a:off x="1184111" y="4691171"/>
              <a:ext cx="1143000" cy="2639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Heap(3)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3230506" y="2840365"/>
            <a:ext cx="1584762" cy="1235826"/>
            <a:chOff x="3493645" y="4631574"/>
            <a:chExt cx="1584762" cy="1524001"/>
          </a:xfrm>
        </p:grpSpPr>
        <p:sp>
          <p:nvSpPr>
            <p:cNvPr id="95" name="Rectangle 21"/>
            <p:cNvSpPr>
              <a:spLocks noChangeArrowheads="1"/>
            </p:cNvSpPr>
            <p:nvPr/>
          </p:nvSpPr>
          <p:spPr bwMode="auto">
            <a:xfrm>
              <a:off x="3493645" y="4631574"/>
              <a:ext cx="4572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dirty="0"/>
                <a:t>0</a:t>
              </a:r>
            </a:p>
          </p:txBody>
        </p:sp>
        <p:sp>
          <p:nvSpPr>
            <p:cNvPr id="96" name="Rectangle 47"/>
            <p:cNvSpPr>
              <a:spLocks noChangeArrowheads="1"/>
            </p:cNvSpPr>
            <p:nvPr/>
          </p:nvSpPr>
          <p:spPr bwMode="auto">
            <a:xfrm>
              <a:off x="3950845" y="4631574"/>
              <a:ext cx="5334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3</a:t>
              </a:r>
            </a:p>
          </p:txBody>
        </p:sp>
        <p:sp>
          <p:nvSpPr>
            <p:cNvPr id="93" name="Rectangle 50"/>
            <p:cNvSpPr>
              <a:spLocks noChangeArrowheads="1"/>
            </p:cNvSpPr>
            <p:nvPr/>
          </p:nvSpPr>
          <p:spPr bwMode="auto">
            <a:xfrm>
              <a:off x="3493645" y="5012574"/>
              <a:ext cx="4572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dirty="0"/>
                <a:t>1</a:t>
              </a:r>
            </a:p>
          </p:txBody>
        </p:sp>
        <p:sp>
          <p:nvSpPr>
            <p:cNvPr id="94" name="Rectangle 51"/>
            <p:cNvSpPr>
              <a:spLocks noChangeArrowheads="1"/>
            </p:cNvSpPr>
            <p:nvPr/>
          </p:nvSpPr>
          <p:spPr bwMode="auto">
            <a:xfrm>
              <a:off x="3950845" y="5012574"/>
              <a:ext cx="5334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2</a:t>
              </a:r>
            </a:p>
          </p:txBody>
        </p:sp>
        <p:sp>
          <p:nvSpPr>
            <p:cNvPr id="91" name="Rectangle 53"/>
            <p:cNvSpPr>
              <a:spLocks noChangeArrowheads="1"/>
            </p:cNvSpPr>
            <p:nvPr/>
          </p:nvSpPr>
          <p:spPr bwMode="auto">
            <a:xfrm>
              <a:off x="3493645" y="5393574"/>
              <a:ext cx="4572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dirty="0"/>
                <a:t>2</a:t>
              </a:r>
            </a:p>
          </p:txBody>
        </p:sp>
        <p:sp>
          <p:nvSpPr>
            <p:cNvPr id="92" name="Rectangle 54"/>
            <p:cNvSpPr>
              <a:spLocks noChangeArrowheads="1"/>
            </p:cNvSpPr>
            <p:nvPr/>
          </p:nvSpPr>
          <p:spPr bwMode="auto">
            <a:xfrm>
              <a:off x="3950845" y="5393574"/>
              <a:ext cx="5334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89" name="Rectangle 56"/>
            <p:cNvSpPr>
              <a:spLocks noChangeArrowheads="1"/>
            </p:cNvSpPr>
            <p:nvPr/>
          </p:nvSpPr>
          <p:spPr bwMode="auto">
            <a:xfrm>
              <a:off x="3493645" y="5774575"/>
              <a:ext cx="4572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dirty="0"/>
                <a:t>3</a:t>
              </a:r>
            </a:p>
          </p:txBody>
        </p:sp>
        <p:sp>
          <p:nvSpPr>
            <p:cNvPr id="90" name="Rectangle 57"/>
            <p:cNvSpPr>
              <a:spLocks noChangeArrowheads="1"/>
            </p:cNvSpPr>
            <p:nvPr/>
          </p:nvSpPr>
          <p:spPr bwMode="auto">
            <a:xfrm>
              <a:off x="3950845" y="5774575"/>
              <a:ext cx="5334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97" name="Rectangle 47"/>
            <p:cNvSpPr>
              <a:spLocks noChangeArrowheads="1"/>
            </p:cNvSpPr>
            <p:nvPr/>
          </p:nvSpPr>
          <p:spPr bwMode="auto">
            <a:xfrm>
              <a:off x="4484244" y="4631574"/>
              <a:ext cx="594163" cy="381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98" name="Rectangle 51"/>
            <p:cNvSpPr>
              <a:spLocks noChangeArrowheads="1"/>
            </p:cNvSpPr>
            <p:nvPr/>
          </p:nvSpPr>
          <p:spPr bwMode="auto">
            <a:xfrm>
              <a:off x="4484245" y="5012574"/>
              <a:ext cx="594162" cy="381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99" name="Rectangle 54"/>
            <p:cNvSpPr>
              <a:spLocks noChangeArrowheads="1"/>
            </p:cNvSpPr>
            <p:nvPr/>
          </p:nvSpPr>
          <p:spPr bwMode="auto">
            <a:xfrm>
              <a:off x="4484245" y="5393574"/>
              <a:ext cx="594162" cy="381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100" name="Rectangle 57"/>
            <p:cNvSpPr>
              <a:spLocks noChangeArrowheads="1"/>
            </p:cNvSpPr>
            <p:nvPr/>
          </p:nvSpPr>
          <p:spPr bwMode="auto">
            <a:xfrm>
              <a:off x="4484245" y="5774575"/>
              <a:ext cx="594162" cy="381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...</a:t>
              </a:r>
            </a:p>
          </p:txBody>
        </p:sp>
      </p:grpSp>
      <p:grpSp>
        <p:nvGrpSpPr>
          <p:cNvPr id="102" name="Group 48"/>
          <p:cNvGrpSpPr>
            <a:grpSpLocks/>
          </p:cNvGrpSpPr>
          <p:nvPr/>
        </p:nvGrpSpPr>
        <p:grpSpPr bwMode="auto">
          <a:xfrm>
            <a:off x="5563903" y="4414705"/>
            <a:ext cx="804863" cy="381001"/>
            <a:chOff x="2336" y="3895"/>
            <a:chExt cx="507" cy="240"/>
          </a:xfrm>
        </p:grpSpPr>
        <p:sp>
          <p:nvSpPr>
            <p:cNvPr id="106" name="Rectangle 21"/>
            <p:cNvSpPr>
              <a:spLocks noChangeArrowheads="1"/>
            </p:cNvSpPr>
            <p:nvPr/>
          </p:nvSpPr>
          <p:spPr bwMode="auto">
            <a:xfrm>
              <a:off x="2336" y="3895"/>
              <a:ext cx="171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dirty="0"/>
                <a:t>0</a:t>
              </a:r>
            </a:p>
          </p:txBody>
        </p:sp>
        <p:sp>
          <p:nvSpPr>
            <p:cNvPr id="107" name="Rectangle 47"/>
            <p:cNvSpPr>
              <a:spLocks noChangeArrowheads="1"/>
            </p:cNvSpPr>
            <p:nvPr/>
          </p:nvSpPr>
          <p:spPr bwMode="auto">
            <a:xfrm>
              <a:off x="2507" y="3895"/>
              <a:ext cx="336" cy="24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109" name="Group 48"/>
          <p:cNvGrpSpPr>
            <a:grpSpLocks/>
          </p:cNvGrpSpPr>
          <p:nvPr/>
        </p:nvGrpSpPr>
        <p:grpSpPr bwMode="auto">
          <a:xfrm>
            <a:off x="5215437" y="5426356"/>
            <a:ext cx="809625" cy="381001"/>
            <a:chOff x="2333" y="3895"/>
            <a:chExt cx="510" cy="240"/>
          </a:xfrm>
        </p:grpSpPr>
        <p:sp>
          <p:nvSpPr>
            <p:cNvPr id="113" name="Rectangle 21"/>
            <p:cNvSpPr>
              <a:spLocks noChangeArrowheads="1"/>
            </p:cNvSpPr>
            <p:nvPr/>
          </p:nvSpPr>
          <p:spPr bwMode="auto">
            <a:xfrm>
              <a:off x="2333" y="3895"/>
              <a:ext cx="17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dirty="0"/>
                <a:t>0</a:t>
              </a:r>
            </a:p>
          </p:txBody>
        </p:sp>
        <p:sp>
          <p:nvSpPr>
            <p:cNvPr id="114" name="Rectangle 47"/>
            <p:cNvSpPr>
              <a:spLocks noChangeArrowheads="1"/>
            </p:cNvSpPr>
            <p:nvPr/>
          </p:nvSpPr>
          <p:spPr bwMode="auto">
            <a:xfrm>
              <a:off x="2507" y="3895"/>
              <a:ext cx="336" cy="24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</p:grpSp>
      <p:sp>
        <p:nvSpPr>
          <p:cNvPr id="120" name="Rectangle 31"/>
          <p:cNvSpPr>
            <a:spLocks noChangeArrowheads="1"/>
          </p:cNvSpPr>
          <p:nvPr/>
        </p:nvSpPr>
        <p:spPr bwMode="auto">
          <a:xfrm>
            <a:off x="6743746" y="2988208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7</a:t>
            </a:r>
          </a:p>
        </p:txBody>
      </p:sp>
      <p:sp>
        <p:nvSpPr>
          <p:cNvPr id="121" name="Rectangle 32"/>
          <p:cNvSpPr>
            <a:spLocks noChangeArrowheads="1"/>
          </p:cNvSpPr>
          <p:nvPr/>
        </p:nvSpPr>
        <p:spPr bwMode="auto">
          <a:xfrm>
            <a:off x="6743746" y="2616738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6</a:t>
            </a:r>
          </a:p>
        </p:txBody>
      </p:sp>
      <p:sp>
        <p:nvSpPr>
          <p:cNvPr id="122" name="Rectangle 33"/>
          <p:cNvSpPr>
            <a:spLocks noChangeArrowheads="1"/>
          </p:cNvSpPr>
          <p:nvPr/>
        </p:nvSpPr>
        <p:spPr bwMode="auto">
          <a:xfrm>
            <a:off x="6743746" y="2245269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5</a:t>
            </a:r>
          </a:p>
        </p:txBody>
      </p:sp>
      <p:sp>
        <p:nvSpPr>
          <p:cNvPr id="123" name="Rectangle 34"/>
          <p:cNvSpPr>
            <a:spLocks noChangeArrowheads="1"/>
          </p:cNvSpPr>
          <p:nvPr/>
        </p:nvSpPr>
        <p:spPr bwMode="auto">
          <a:xfrm>
            <a:off x="6743746" y="1873800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4</a:t>
            </a:r>
          </a:p>
        </p:txBody>
      </p:sp>
      <p:sp>
        <p:nvSpPr>
          <p:cNvPr id="124" name="Rectangle 35"/>
          <p:cNvSpPr>
            <a:spLocks noChangeArrowheads="1"/>
          </p:cNvSpPr>
          <p:nvPr/>
        </p:nvSpPr>
        <p:spPr bwMode="auto">
          <a:xfrm>
            <a:off x="6743746" y="1502330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3</a:t>
            </a:r>
          </a:p>
        </p:txBody>
      </p:sp>
      <p:sp>
        <p:nvSpPr>
          <p:cNvPr id="125" name="Rectangle 36"/>
          <p:cNvSpPr>
            <a:spLocks noChangeArrowheads="1"/>
          </p:cNvSpPr>
          <p:nvPr/>
        </p:nvSpPr>
        <p:spPr bwMode="auto">
          <a:xfrm>
            <a:off x="6743746" y="1130861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2</a:t>
            </a:r>
          </a:p>
        </p:txBody>
      </p:sp>
      <p:sp>
        <p:nvSpPr>
          <p:cNvPr id="126" name="Rectangle 37"/>
          <p:cNvSpPr>
            <a:spLocks noChangeArrowheads="1"/>
          </p:cNvSpPr>
          <p:nvPr/>
        </p:nvSpPr>
        <p:spPr bwMode="auto">
          <a:xfrm>
            <a:off x="6743746" y="759391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1</a:t>
            </a:r>
          </a:p>
        </p:txBody>
      </p:sp>
      <p:sp>
        <p:nvSpPr>
          <p:cNvPr id="127" name="Rectangle 38"/>
          <p:cNvSpPr>
            <a:spLocks noChangeArrowheads="1"/>
          </p:cNvSpPr>
          <p:nvPr/>
        </p:nvSpPr>
        <p:spPr bwMode="auto">
          <a:xfrm>
            <a:off x="6743746" y="387922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frame 0</a:t>
            </a:r>
          </a:p>
        </p:txBody>
      </p:sp>
      <p:sp>
        <p:nvSpPr>
          <p:cNvPr id="136" name="Rectangle 31"/>
          <p:cNvSpPr>
            <a:spLocks noChangeArrowheads="1"/>
          </p:cNvSpPr>
          <p:nvPr/>
        </p:nvSpPr>
        <p:spPr bwMode="auto">
          <a:xfrm>
            <a:off x="6591346" y="5959712"/>
            <a:ext cx="11430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frame 15</a:t>
            </a:r>
          </a:p>
        </p:txBody>
      </p:sp>
      <p:sp>
        <p:nvSpPr>
          <p:cNvPr id="137" name="Rectangle 32"/>
          <p:cNvSpPr>
            <a:spLocks noChangeArrowheads="1"/>
          </p:cNvSpPr>
          <p:nvPr/>
        </p:nvSpPr>
        <p:spPr bwMode="auto">
          <a:xfrm>
            <a:off x="6743746" y="5588242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14</a:t>
            </a:r>
          </a:p>
        </p:txBody>
      </p:sp>
      <p:sp>
        <p:nvSpPr>
          <p:cNvPr id="138" name="Rectangle 33"/>
          <p:cNvSpPr>
            <a:spLocks noChangeArrowheads="1"/>
          </p:cNvSpPr>
          <p:nvPr/>
        </p:nvSpPr>
        <p:spPr bwMode="auto">
          <a:xfrm>
            <a:off x="6743746" y="5216773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13</a:t>
            </a:r>
          </a:p>
        </p:txBody>
      </p:sp>
      <p:sp>
        <p:nvSpPr>
          <p:cNvPr id="139" name="Rectangle 34"/>
          <p:cNvSpPr>
            <a:spLocks noChangeArrowheads="1"/>
          </p:cNvSpPr>
          <p:nvPr/>
        </p:nvSpPr>
        <p:spPr bwMode="auto">
          <a:xfrm>
            <a:off x="6743746" y="4845304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12</a:t>
            </a:r>
          </a:p>
        </p:txBody>
      </p:sp>
      <p:sp>
        <p:nvSpPr>
          <p:cNvPr id="140" name="Rectangle 35"/>
          <p:cNvSpPr>
            <a:spLocks noChangeArrowheads="1"/>
          </p:cNvSpPr>
          <p:nvPr/>
        </p:nvSpPr>
        <p:spPr bwMode="auto">
          <a:xfrm>
            <a:off x="6743746" y="4473834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11</a:t>
            </a:r>
          </a:p>
        </p:txBody>
      </p:sp>
      <p:sp>
        <p:nvSpPr>
          <p:cNvPr id="141" name="Rectangle 36"/>
          <p:cNvSpPr>
            <a:spLocks noChangeArrowheads="1"/>
          </p:cNvSpPr>
          <p:nvPr/>
        </p:nvSpPr>
        <p:spPr bwMode="auto">
          <a:xfrm>
            <a:off x="6743746" y="4102365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10</a:t>
            </a:r>
          </a:p>
        </p:txBody>
      </p:sp>
      <p:sp>
        <p:nvSpPr>
          <p:cNvPr id="142" name="Rectangle 37"/>
          <p:cNvSpPr>
            <a:spLocks noChangeArrowheads="1"/>
          </p:cNvSpPr>
          <p:nvPr/>
        </p:nvSpPr>
        <p:spPr bwMode="auto">
          <a:xfrm>
            <a:off x="6743746" y="3730895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9</a:t>
            </a:r>
          </a:p>
        </p:txBody>
      </p:sp>
      <p:sp>
        <p:nvSpPr>
          <p:cNvPr id="143" name="Rectangle 38"/>
          <p:cNvSpPr>
            <a:spLocks noChangeArrowheads="1"/>
          </p:cNvSpPr>
          <p:nvPr/>
        </p:nvSpPr>
        <p:spPr bwMode="auto">
          <a:xfrm>
            <a:off x="6743746" y="3359426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8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7734300" y="388172"/>
            <a:ext cx="1143000" cy="5943259"/>
            <a:chOff x="7734300" y="388172"/>
            <a:chExt cx="1143000" cy="5943259"/>
          </a:xfrm>
          <a:solidFill>
            <a:schemeClr val="bg1">
              <a:lumMod val="95000"/>
            </a:schemeClr>
          </a:solidFill>
        </p:grpSpPr>
        <p:sp>
          <p:nvSpPr>
            <p:cNvPr id="116" name="Rectangle 11"/>
            <p:cNvSpPr>
              <a:spLocks noChangeArrowheads="1"/>
            </p:cNvSpPr>
            <p:nvPr/>
          </p:nvSpPr>
          <p:spPr bwMode="auto">
            <a:xfrm>
              <a:off x="7734300" y="388172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17" name="Rectangle 12"/>
            <p:cNvSpPr>
              <a:spLocks noChangeArrowheads="1"/>
            </p:cNvSpPr>
            <p:nvPr/>
          </p:nvSpPr>
          <p:spPr bwMode="auto">
            <a:xfrm>
              <a:off x="7734300" y="2616988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18" name="Rectangle 117"/>
            <p:cNvSpPr>
              <a:spLocks noChangeArrowheads="1"/>
            </p:cNvSpPr>
            <p:nvPr/>
          </p:nvSpPr>
          <p:spPr bwMode="auto">
            <a:xfrm>
              <a:off x="7734300" y="1502580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anose="02070309020205020404" pitchFamily="49" charset="0"/>
              </a:endParaRPr>
            </a:p>
          </p:txBody>
        </p:sp>
        <p:sp>
          <p:nvSpPr>
            <p:cNvPr id="119" name="Rectangle 118"/>
            <p:cNvSpPr>
              <a:spLocks noChangeArrowheads="1"/>
            </p:cNvSpPr>
            <p:nvPr/>
          </p:nvSpPr>
          <p:spPr bwMode="auto">
            <a:xfrm>
              <a:off x="7734300" y="1874049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anose="02070309020205020404" pitchFamily="49" charset="0"/>
              </a:endParaRPr>
            </a:p>
          </p:txBody>
        </p:sp>
        <p:sp>
          <p:nvSpPr>
            <p:cNvPr id="128" name="Rectangle 10"/>
            <p:cNvSpPr>
              <a:spLocks noChangeArrowheads="1"/>
            </p:cNvSpPr>
            <p:nvPr/>
          </p:nvSpPr>
          <p:spPr bwMode="auto">
            <a:xfrm>
              <a:off x="7734300" y="2245519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29" name="Rectangle 13"/>
            <p:cNvSpPr>
              <a:spLocks noChangeArrowheads="1"/>
            </p:cNvSpPr>
            <p:nvPr/>
          </p:nvSpPr>
          <p:spPr bwMode="auto">
            <a:xfrm>
              <a:off x="7734300" y="1131111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30" name="Rectangle 17"/>
            <p:cNvSpPr>
              <a:spLocks noChangeArrowheads="1"/>
            </p:cNvSpPr>
            <p:nvPr/>
          </p:nvSpPr>
          <p:spPr bwMode="auto">
            <a:xfrm>
              <a:off x="7734300" y="759641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31" name="Rectangle 18"/>
            <p:cNvSpPr>
              <a:spLocks noChangeArrowheads="1"/>
            </p:cNvSpPr>
            <p:nvPr/>
          </p:nvSpPr>
          <p:spPr bwMode="auto">
            <a:xfrm>
              <a:off x="7734300" y="2988458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32" name="Rectangle 11"/>
            <p:cNvSpPr>
              <a:spLocks noChangeArrowheads="1"/>
            </p:cNvSpPr>
            <p:nvPr/>
          </p:nvSpPr>
          <p:spPr bwMode="auto">
            <a:xfrm>
              <a:off x="7734300" y="3359676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33" name="Rectangle 12"/>
            <p:cNvSpPr>
              <a:spLocks noChangeArrowheads="1"/>
            </p:cNvSpPr>
            <p:nvPr/>
          </p:nvSpPr>
          <p:spPr bwMode="auto">
            <a:xfrm>
              <a:off x="7734300" y="5588492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34" name="Rectangle 133"/>
            <p:cNvSpPr>
              <a:spLocks noChangeArrowheads="1"/>
            </p:cNvSpPr>
            <p:nvPr/>
          </p:nvSpPr>
          <p:spPr bwMode="auto">
            <a:xfrm>
              <a:off x="7734300" y="4474084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anose="02070309020205020404" pitchFamily="49" charset="0"/>
              </a:endParaRPr>
            </a:p>
          </p:txBody>
        </p:sp>
        <p:sp>
          <p:nvSpPr>
            <p:cNvPr id="135" name="Rectangle 134"/>
            <p:cNvSpPr>
              <a:spLocks noChangeArrowheads="1"/>
            </p:cNvSpPr>
            <p:nvPr/>
          </p:nvSpPr>
          <p:spPr bwMode="auto">
            <a:xfrm>
              <a:off x="7734300" y="4845553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anose="02070309020205020404" pitchFamily="49" charset="0"/>
              </a:endParaRPr>
            </a:p>
          </p:txBody>
        </p:sp>
        <p:sp>
          <p:nvSpPr>
            <p:cNvPr id="144" name="Rectangle 10"/>
            <p:cNvSpPr>
              <a:spLocks noChangeArrowheads="1"/>
            </p:cNvSpPr>
            <p:nvPr/>
          </p:nvSpPr>
          <p:spPr bwMode="auto">
            <a:xfrm>
              <a:off x="7734300" y="5217023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45" name="Rectangle 13"/>
            <p:cNvSpPr>
              <a:spLocks noChangeArrowheads="1"/>
            </p:cNvSpPr>
            <p:nvPr/>
          </p:nvSpPr>
          <p:spPr bwMode="auto">
            <a:xfrm>
              <a:off x="7734300" y="4102615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46" name="Rectangle 17"/>
            <p:cNvSpPr>
              <a:spLocks noChangeArrowheads="1"/>
            </p:cNvSpPr>
            <p:nvPr/>
          </p:nvSpPr>
          <p:spPr bwMode="auto">
            <a:xfrm>
              <a:off x="7734300" y="3731145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47" name="Rectangle 18"/>
            <p:cNvSpPr>
              <a:spLocks noChangeArrowheads="1"/>
            </p:cNvSpPr>
            <p:nvPr/>
          </p:nvSpPr>
          <p:spPr bwMode="auto">
            <a:xfrm>
              <a:off x="7734300" y="5959962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</p:grpSp>
      <p:cxnSp>
        <p:nvCxnSpPr>
          <p:cNvPr id="799747" name="Elbow Connector 799746"/>
          <p:cNvCxnSpPr>
            <a:stCxn id="97" idx="3"/>
            <a:endCxn id="37" idx="1"/>
          </p:cNvCxnSpPr>
          <p:nvPr/>
        </p:nvCxnSpPr>
        <p:spPr>
          <a:xfrm flipV="1">
            <a:off x="4815268" y="1390666"/>
            <a:ext cx="442532" cy="1604177"/>
          </a:xfrm>
          <a:prstGeom prst="bentConnector3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lbow Connector 154"/>
          <p:cNvCxnSpPr>
            <a:stCxn id="98" idx="3"/>
            <a:endCxn id="73" idx="1"/>
          </p:cNvCxnSpPr>
          <p:nvPr/>
        </p:nvCxnSpPr>
        <p:spPr>
          <a:xfrm flipV="1">
            <a:off x="4815268" y="3116409"/>
            <a:ext cx="902027" cy="18739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Elbow Connector 158"/>
          <p:cNvCxnSpPr>
            <a:stCxn id="99" idx="3"/>
            <a:endCxn id="106" idx="1"/>
          </p:cNvCxnSpPr>
          <p:nvPr/>
        </p:nvCxnSpPr>
        <p:spPr>
          <a:xfrm>
            <a:off x="4815268" y="3612756"/>
            <a:ext cx="748635" cy="99245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Elbow Connector 162"/>
          <p:cNvCxnSpPr>
            <a:stCxn id="100" idx="3"/>
            <a:endCxn id="113" idx="1"/>
          </p:cNvCxnSpPr>
          <p:nvPr/>
        </p:nvCxnSpPr>
        <p:spPr>
          <a:xfrm>
            <a:off x="4815268" y="3921713"/>
            <a:ext cx="400169" cy="169514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8010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Discussed two popular memory management schemes</a:t>
            </a:r>
          </a:p>
          <a:p>
            <a:pPr lvl="1"/>
            <a:r>
              <a:rPr lang="en-US" altLang="en-US"/>
              <a:t>Both allow the logical address space to be in dis-joined physical region</a:t>
            </a:r>
          </a:p>
          <a:p>
            <a:r>
              <a:rPr lang="en-US" altLang="en-US"/>
              <a:t>Paging split the logical address into fixed size pages</a:t>
            </a:r>
          </a:p>
          <a:p>
            <a:pPr lvl="1"/>
            <a:r>
              <a:rPr lang="en-US" altLang="en-US"/>
              <a:t>Store in fixed size physical memory frames</a:t>
            </a:r>
          </a:p>
          <a:p>
            <a:r>
              <a:rPr lang="en-US" altLang="en-US"/>
              <a:t>Segmentation split the logical address into variable size segments according to their usage</a:t>
            </a:r>
          </a:p>
          <a:p>
            <a:pPr lvl="1"/>
            <a:r>
              <a:rPr lang="en-US" altLang="en-US"/>
              <a:t>Stored in variable-sized physical partitions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033509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8900</TotalTime>
  <Words>2386</Words>
  <Application>Microsoft Office PowerPoint</Application>
  <PresentationFormat>On-screen Show (4:3)</PresentationFormat>
  <Paragraphs>644</Paragraphs>
  <Slides>35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Courier New</vt:lpstr>
      <vt:lpstr>Garamond</vt:lpstr>
      <vt:lpstr>Wingdings</vt:lpstr>
      <vt:lpstr>Edge</vt:lpstr>
      <vt:lpstr>Memory Management Disjoint Memory Schemes</vt:lpstr>
      <vt:lpstr>Overview</vt:lpstr>
      <vt:lpstr>Disjoined Memory Space with Paging</vt:lpstr>
      <vt:lpstr>Paging Scheme: Basic Idea</vt:lpstr>
      <vt:lpstr>Page Table: Lookup Mechanism</vt:lpstr>
      <vt:lpstr>Paging: Illustration</vt:lpstr>
      <vt:lpstr>Logical Address Translation</vt:lpstr>
      <vt:lpstr>Logical Address Translation: Essential Tricks</vt:lpstr>
      <vt:lpstr>Logical Address Translation: Formula</vt:lpstr>
      <vt:lpstr>Example: 4 Logical Pages, 8 Physical Frames</vt:lpstr>
      <vt:lpstr>Paging: Observations</vt:lpstr>
      <vt:lpstr>Implementing Paging Scheme</vt:lpstr>
      <vt:lpstr>Paging Scheme: Hardware Support</vt:lpstr>
      <vt:lpstr>Translation Look-Aside Buffer: Illustration</vt:lpstr>
      <vt:lpstr>TLB: Impact on Memory Access Time</vt:lpstr>
      <vt:lpstr>TLB and Process Switching</vt:lpstr>
      <vt:lpstr>Paging Scheme: Protection</vt:lpstr>
      <vt:lpstr>Paging Scheme: Protection (cont)</vt:lpstr>
      <vt:lpstr>Paging Scheme: Page sharing</vt:lpstr>
      <vt:lpstr>Paging Scheme: Page sharing</vt:lpstr>
      <vt:lpstr>Paging Scheme: Copy-On-Write</vt:lpstr>
      <vt:lpstr>Segmentation Scheme</vt:lpstr>
      <vt:lpstr>Segmentation Scheme: Motivation</vt:lpstr>
      <vt:lpstr>Segmentation Scheme: Motivation (cont)</vt:lpstr>
      <vt:lpstr>Segmentation Scheme: Basic Idea</vt:lpstr>
      <vt:lpstr>Segmentation: Illustration</vt:lpstr>
      <vt:lpstr>Segmentation: Logical Address Translation </vt:lpstr>
      <vt:lpstr>Logical Address Translation: Illustration</vt:lpstr>
      <vt:lpstr>Segmentation: Hardware Support</vt:lpstr>
      <vt:lpstr>Segmentation: Summary</vt:lpstr>
      <vt:lpstr>Segmentation  with paging</vt:lpstr>
      <vt:lpstr>Segmentation with Paging: Basic Idea</vt:lpstr>
      <vt:lpstr>Segmentation with Paging: Illustration</vt:lpstr>
      <vt:lpstr>Segmentation with Paging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Tan Keng Yan, Colin</cp:lastModifiedBy>
  <cp:revision>712</cp:revision>
  <cp:lastPrinted>2016-09-30T08:09:15Z</cp:lastPrinted>
  <dcterms:created xsi:type="dcterms:W3CDTF">1601-01-01T00:00:00Z</dcterms:created>
  <dcterms:modified xsi:type="dcterms:W3CDTF">2025-10-13T10:06:33Z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