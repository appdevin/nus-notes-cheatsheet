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49" r:id="rId1"/>
  </p:sldMasterIdLst>
  <p:notesMasterIdLst>
    <p:notesMasterId r:id="rId46"/>
  </p:notesMasterIdLst>
  <p:sldIdLst>
    <p:sldId id="256" r:id="rId2"/>
    <p:sldId id="257" r:id="rId3"/>
    <p:sldId id="294" r:id="rId4"/>
    <p:sldId id="258" r:id="rId5"/>
    <p:sldId id="259" r:id="rId6"/>
    <p:sldId id="293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303" r:id="rId16"/>
    <p:sldId id="269" r:id="rId17"/>
    <p:sldId id="295" r:id="rId18"/>
    <p:sldId id="270" r:id="rId19"/>
    <p:sldId id="271" r:id="rId20"/>
    <p:sldId id="272" r:id="rId21"/>
    <p:sldId id="273" r:id="rId22"/>
    <p:sldId id="274" r:id="rId23"/>
    <p:sldId id="275" r:id="rId24"/>
    <p:sldId id="276" r:id="rId25"/>
    <p:sldId id="29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97" r:id="rId34"/>
    <p:sldId id="284" r:id="rId35"/>
    <p:sldId id="285" r:id="rId36"/>
    <p:sldId id="286" r:id="rId37"/>
    <p:sldId id="298" r:id="rId38"/>
    <p:sldId id="301" r:id="rId39"/>
    <p:sldId id="300" r:id="rId40"/>
    <p:sldId id="299" r:id="rId41"/>
    <p:sldId id="288" r:id="rId42"/>
    <p:sldId id="289" r:id="rId43"/>
    <p:sldId id="302" r:id="rId44"/>
    <p:sldId id="290" r:id="rId45"/>
  </p:sldIdLst>
  <p:sldSz cx="9144000" cy="6858000" type="screen4x3"/>
  <p:notesSz cx="7099300" cy="10234613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6600"/>
    <a:srgbClr val="0033CC"/>
    <a:srgbClr val="000000"/>
    <a:srgbClr val="660066"/>
    <a:srgbClr val="003300"/>
    <a:srgbClr val="FFFFCC"/>
    <a:srgbClr val="00CCFF"/>
    <a:srgbClr val="FF9900"/>
    <a:srgbClr val="008000"/>
    <a:srgbClr val="33CC3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565" autoAdjust="0"/>
    <p:restoredTop sz="94660"/>
  </p:normalViewPr>
  <p:slideViewPr>
    <p:cSldViewPr>
      <p:cViewPr varScale="1">
        <p:scale>
          <a:sx n="85" d="100"/>
          <a:sy n="85" d="100"/>
        </p:scale>
        <p:origin x="1210" y="34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5" name="Rectangle 3"/>
          <p:cNvSpPr>
            <a:spLocks noGrp="1" noChangeArrowheads="1"/>
          </p:cNvSpPr>
          <p:nvPr>
            <p:ph type="dt" idx="1"/>
          </p:nvPr>
        </p:nvSpPr>
        <p:spPr bwMode="auto">
          <a:xfrm>
            <a:off x="4021138" y="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6" name="Rectangle 4"/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990600" y="768350"/>
            <a:ext cx="5118100" cy="3836988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13317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709613" y="4860925"/>
            <a:ext cx="5680075" cy="460533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3318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defTabSz="990600">
              <a:defRPr sz="1300"/>
            </a:lvl1pPr>
          </a:lstStyle>
          <a:p>
            <a:endParaRPr lang="en-US" altLang="en-US"/>
          </a:p>
        </p:txBody>
      </p:sp>
      <p:sp>
        <p:nvSpPr>
          <p:cNvPr id="13319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4021138" y="9721850"/>
            <a:ext cx="3076575" cy="51117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9048" tIns="49524" rIns="99048" bIns="49524" numCol="1" anchor="b" anchorCtr="0" compatLnSpc="1">
            <a:prstTxWarp prst="textNoShape">
              <a:avLst/>
            </a:prstTxWarp>
          </a:bodyPr>
          <a:lstStyle>
            <a:lvl1pPr algn="r" defTabSz="990600">
              <a:defRPr sz="1300"/>
            </a:lvl1pPr>
          </a:lstStyle>
          <a:p>
            <a:fld id="{D8C63D3E-5435-421A-B6F7-705351D56035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24953422"/>
      </p:ext>
    </p:extLst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9046380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>
          <a:xfrm>
            <a:off x="992188" y="768350"/>
            <a:ext cx="5114925" cy="3836988"/>
          </a:xfrm>
        </p:spPr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D8C63D3E-5435-421A-B6F7-705351D56035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85479928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7"/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6EC56BFC-2A9F-42FC-9813-1A60BC626950}" type="slidenum">
              <a:rPr lang="en-US" altLang="en-US"/>
              <a:pPr/>
              <a:t>16</a:t>
            </a:fld>
            <a:endParaRPr lang="en-US" altLang="en-US"/>
          </a:p>
        </p:txBody>
      </p:sp>
      <p:sp>
        <p:nvSpPr>
          <p:cNvPr id="1048578" name="Rectangle 2"/>
          <p:cNvSpPr>
            <a:spLocks noGrp="1" noRot="1" noChangeAspect="1" noChangeArrowheads="1" noTextEdit="1"/>
          </p:cNvSpPr>
          <p:nvPr>
            <p:ph type="sldImg"/>
          </p:nvPr>
        </p:nvSpPr>
        <p:spPr>
          <a:xfrm>
            <a:off x="992188" y="768350"/>
            <a:ext cx="5118100" cy="3838575"/>
          </a:xfrm>
          <a:ln/>
        </p:spPr>
      </p:sp>
      <p:sp>
        <p:nvSpPr>
          <p:cNvPr id="10485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709613" y="4862513"/>
            <a:ext cx="5680075" cy="4603750"/>
          </a:xfrm>
        </p:spPr>
        <p:txBody>
          <a:bodyPr/>
          <a:lstStyle/>
          <a:p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11536583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4" name="Rectangle 2"/>
          <p:cNvSpPr>
            <a:spLocks noGrp="1" noChangeArrowheads="1"/>
          </p:cNvSpPr>
          <p:nvPr>
            <p:ph type="ctrTitle"/>
          </p:nvPr>
        </p:nvSpPr>
        <p:spPr>
          <a:xfrm>
            <a:off x="914400" y="1524000"/>
            <a:ext cx="7623175" cy="1752600"/>
          </a:xfrm>
        </p:spPr>
        <p:txBody>
          <a:bodyPr/>
          <a:lstStyle>
            <a:lvl1pPr>
              <a:defRPr sz="5000"/>
            </a:lvl1pPr>
          </a:lstStyle>
          <a:p>
            <a:pPr lvl="0"/>
            <a:r>
              <a:rPr lang="en-US" altLang="en-US" noProof="0"/>
              <a:t>Click to edit Master title style</a:t>
            </a:r>
          </a:p>
        </p:txBody>
      </p:sp>
      <p:sp>
        <p:nvSpPr>
          <p:cNvPr id="8195" name="Rectangle 3"/>
          <p:cNvSpPr>
            <a:spLocks noGrp="1" noChangeArrowheads="1"/>
          </p:cNvSpPr>
          <p:nvPr>
            <p:ph type="subTitle" idx="1"/>
          </p:nvPr>
        </p:nvSpPr>
        <p:spPr>
          <a:xfrm>
            <a:off x="1981200" y="3962400"/>
            <a:ext cx="6553200" cy="1752600"/>
          </a:xfrm>
        </p:spPr>
        <p:txBody>
          <a:bodyPr/>
          <a:lstStyle>
            <a:lvl1pPr marL="0" indent="0">
              <a:buFont typeface="Wingdings" pitchFamily="2" charset="2"/>
              <a:buNone/>
              <a:defRPr sz="2800"/>
            </a:lvl1pPr>
          </a:lstStyle>
          <a:p>
            <a:pPr lvl="0"/>
            <a:r>
              <a:rPr lang="en-US" altLang="en-US" noProof="0"/>
              <a:t>Click to edit Master subtitle style</a:t>
            </a:r>
          </a:p>
        </p:txBody>
      </p:sp>
      <p:sp>
        <p:nvSpPr>
          <p:cNvPr id="8196" name="Freeform 4"/>
          <p:cNvSpPr>
            <a:spLocks noChangeArrowheads="1"/>
          </p:cNvSpPr>
          <p:nvPr/>
        </p:nvSpPr>
        <p:spPr bwMode="auto">
          <a:xfrm>
            <a:off x="609600" y="1219200"/>
            <a:ext cx="7924800" cy="9144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2540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7" name="Line 5"/>
          <p:cNvSpPr>
            <a:spLocks noChangeShapeType="1"/>
          </p:cNvSpPr>
          <p:nvPr/>
        </p:nvSpPr>
        <p:spPr bwMode="auto">
          <a:xfrm>
            <a:off x="1981200" y="3962400"/>
            <a:ext cx="6511925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8198" name="Rectangle 6"/>
          <p:cNvSpPr>
            <a:spLocks noChangeArrowheads="1"/>
          </p:cNvSpPr>
          <p:nvPr/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anchor="b"/>
          <a:lstStyle/>
          <a:p>
            <a:pPr algn="r"/>
            <a:fld id="{2B9BC0BA-7162-46C8-A117-543B5FF937FE}" type="slidenum">
              <a:rPr lang="en-US" altLang="en-US" sz="1400" b="1">
                <a:latin typeface="Garamond" pitchFamily="18" charset="0"/>
              </a:rPr>
              <a:pPr algn="r"/>
              <a:t>‹#›</a:t>
            </a:fld>
            <a:endParaRPr lang="en-US" altLang="en-US" sz="1400" b="1">
              <a:latin typeface="Garamond" pitchFamily="18" charset="0"/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B177D97-4823-4F7B-8850-314FB921F4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  <a:endParaRPr lang="en-US" altLang="en-US" dirty="0"/>
          </a:p>
        </p:txBody>
      </p:sp>
    </p:spTree>
    <p:extLst>
      <p:ext uri="{BB962C8B-B14F-4D97-AF65-F5344CB8AC3E}">
        <p14:creationId xmlns:p14="http://schemas.microsoft.com/office/powerpoint/2010/main" val="39365619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679B78E5-7CBB-416F-85A9-6A6E33CFDEFA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47822862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990600"/>
            <a:ext cx="4038600" cy="5486400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F03F01D5-1E4D-4AB2-BA30-06DD7E1CE62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0051624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1AAA9961-5DF7-4572-9C10-2FA82B8B523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3822477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8048CA81-7D9B-4EB8-93B9-0D05F3834E0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356889314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F1C99A1-EC1E-46F1-8A80-869AC29E4FF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781573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3C73B67-0DE8-4D98-BAAA-91C5FDC1FF5D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2025844258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SG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D7EE1922-6EFC-498D-A404-600BF5AADB61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241057435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BBA4C580-959A-4DCA-AC37-879387F4037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10860438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7813"/>
            <a:ext cx="2057400" cy="6199187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7813"/>
            <a:ext cx="6019800" cy="6199187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>
            <a:lvl1pPr>
              <a:defRPr/>
            </a:lvl1pPr>
          </a:lstStyle>
          <a:p>
            <a:fld id="{9FD0C08E-D693-46C9-A6E9-2EECB9F45966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425656878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Title and Tab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229600" cy="71278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SG"/>
          </a:p>
        </p:txBody>
      </p:sp>
      <p:sp>
        <p:nvSpPr>
          <p:cNvPr id="3" name="Table Placeholder 2"/>
          <p:cNvSpPr>
            <a:spLocks noGrp="1"/>
          </p:cNvSpPr>
          <p:nvPr>
            <p:ph type="tbl" idx="1"/>
          </p:nvPr>
        </p:nvSpPr>
        <p:spPr>
          <a:xfrm>
            <a:off x="457200" y="990600"/>
            <a:ext cx="8229600" cy="5486400"/>
          </a:xfrm>
        </p:spPr>
        <p:txBody>
          <a:bodyPr/>
          <a:lstStyle/>
          <a:p>
            <a:endParaRPr lang="en-SG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>
          <a:xfrm>
            <a:off x="8610600" y="6400800"/>
            <a:ext cx="533400" cy="457200"/>
          </a:xfrm>
        </p:spPr>
        <p:txBody>
          <a:bodyPr/>
          <a:lstStyle>
            <a:lvl1pPr>
              <a:defRPr/>
            </a:lvl1pPr>
          </a:lstStyle>
          <a:p>
            <a:fld id="{63A473AF-C3EB-4885-86D1-A60D69D2DEE0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609600" y="6521450"/>
            <a:ext cx="2286000" cy="228600"/>
          </a:xfrm>
        </p:spPr>
        <p:txBody>
          <a:bodyPr/>
          <a:lstStyle>
            <a:lvl1pPr>
              <a:defRPr/>
            </a:lvl1pPr>
          </a:lstStyle>
          <a:p>
            <a:r>
              <a:rPr lang="en-US" altLang="en-US"/>
              <a:t>[ CS2106 L12 - AY1819S1 ]</a:t>
            </a:r>
          </a:p>
        </p:txBody>
      </p:sp>
    </p:spTree>
    <p:extLst>
      <p:ext uri="{BB962C8B-B14F-4D97-AF65-F5344CB8AC3E}">
        <p14:creationId xmlns:p14="http://schemas.microsoft.com/office/powerpoint/2010/main" val="466604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70" name="Rectangle 2"/>
          <p:cNvSpPr>
            <a:spLocks noGrp="1" noChangeArrowheads="1"/>
          </p:cNvSpPr>
          <p:nvPr>
            <p:ph type="title"/>
          </p:nvPr>
        </p:nvSpPr>
        <p:spPr bwMode="auto">
          <a:xfrm>
            <a:off x="457200" y="277813"/>
            <a:ext cx="8229600" cy="712787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7171" name="Rectangle 3"/>
          <p:cNvSpPr>
            <a:spLocks noGrp="1" noChangeArrowheads="1"/>
          </p:cNvSpPr>
          <p:nvPr>
            <p:ph type="body" idx="1"/>
          </p:nvPr>
        </p:nvSpPr>
        <p:spPr bwMode="auto">
          <a:xfrm>
            <a:off x="457200" y="990600"/>
            <a:ext cx="8229600" cy="54864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7172" name="Rectangle 4"/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8610600" y="6400800"/>
            <a:ext cx="5334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defRPr sz="1800" b="1" i="1">
                <a:solidFill>
                  <a:srgbClr val="C00000"/>
                </a:solidFill>
                <a:latin typeface="+mn-lt"/>
              </a:defRPr>
            </a:lvl1pPr>
          </a:lstStyle>
          <a:p>
            <a:fld id="{4511BD33-39C3-401A-9196-1A39F03979B5}" type="slidenum">
              <a:rPr lang="en-US" altLang="en-US" smtClean="0"/>
              <a:pPr/>
              <a:t>‹#›</a:t>
            </a:fld>
            <a:endParaRPr lang="en-US" altLang="en-US"/>
          </a:p>
        </p:txBody>
      </p:sp>
      <p:sp>
        <p:nvSpPr>
          <p:cNvPr id="7173" name="Freeform 5"/>
          <p:cNvSpPr>
            <a:spLocks noChangeArrowheads="1"/>
          </p:cNvSpPr>
          <p:nvPr/>
        </p:nvSpPr>
        <p:spPr bwMode="auto">
          <a:xfrm>
            <a:off x="381000" y="228600"/>
            <a:ext cx="8229600" cy="609600"/>
          </a:xfrm>
          <a:custGeom>
            <a:avLst/>
            <a:gdLst>
              <a:gd name="T0" fmla="*/ 0 w 1000"/>
              <a:gd name="T1" fmla="*/ 1000 h 1000"/>
              <a:gd name="T2" fmla="*/ 0 w 1000"/>
              <a:gd name="T3" fmla="*/ 0 h 1000"/>
              <a:gd name="T4" fmla="*/ 1000 w 1000"/>
              <a:gd name="T5" fmla="*/ 0 h 1000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</a:cxnLst>
            <a:rect l="0" t="0" r="r" b="b"/>
            <a:pathLst>
              <a:path w="1000" h="1000">
                <a:moveTo>
                  <a:pt x="0" y="1000"/>
                </a:moveTo>
                <a:lnTo>
                  <a:pt x="0" y="0"/>
                </a:lnTo>
                <a:lnTo>
                  <a:pt x="1000" y="0"/>
                </a:lnTo>
              </a:path>
            </a:pathLst>
          </a:custGeom>
          <a:noFill/>
          <a:ln w="19050" cap="flat" cmpd="sng">
            <a:solidFill>
              <a:schemeClr val="accent1"/>
            </a:solidFill>
            <a:prstDash val="solid"/>
            <a:miter lim="800000"/>
            <a:headEnd/>
            <a:tailEnd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4" name="Line 6"/>
          <p:cNvSpPr>
            <a:spLocks noChangeShapeType="1"/>
          </p:cNvSpPr>
          <p:nvPr/>
        </p:nvSpPr>
        <p:spPr bwMode="auto">
          <a:xfrm>
            <a:off x="457200" y="6629400"/>
            <a:ext cx="8229600" cy="0"/>
          </a:xfrm>
          <a:prstGeom prst="line">
            <a:avLst/>
          </a:prstGeom>
          <a:noFill/>
          <a:ln w="19050">
            <a:solidFill>
              <a:schemeClr val="accent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SG"/>
          </a:p>
        </p:txBody>
      </p:sp>
      <p:sp>
        <p:nvSpPr>
          <p:cNvPr id="7175" name="Rectangle 7"/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609600" y="6521450"/>
            <a:ext cx="2286000" cy="228600"/>
          </a:xfrm>
          <a:prstGeom prst="rect">
            <a:avLst/>
          </a:prstGeom>
          <a:solidFill>
            <a:schemeClr val="bg1">
              <a:alpha val="80000"/>
            </a:schemeClr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defRPr sz="1200">
                <a:latin typeface="+mj-lt"/>
              </a:defRPr>
            </a:lvl1pPr>
          </a:lstStyle>
          <a:p>
            <a:r>
              <a:rPr lang="en-US" altLang="en-US"/>
              <a:t>[ CS2106 L12 - AY1819S1 ]</a:t>
            </a:r>
            <a:endParaRPr lang="en-US" alt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1" r:id="rId2"/>
    <p:sldLayoutId id="2147483652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</p:sldLayoutIdLst>
  <p:hf hdr="0" ftr="0" dt="0"/>
  <p:txStyles>
    <p:titleStyle>
      <a:lvl1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200">
          <a:solidFill>
            <a:schemeClr val="tx2"/>
          </a:solidFill>
          <a:latin typeface="Garamond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3000">
          <a:solidFill>
            <a:schemeClr val="tx1"/>
          </a:solidFill>
          <a:latin typeface="+mn-lt"/>
          <a:ea typeface="+mn-ea"/>
          <a:cs typeface="+mn-cs"/>
        </a:defRPr>
      </a:lvl1pPr>
      <a:lvl2pPr marL="669925" indent="-325438" algn="l" rtl="0" fontAlgn="base">
        <a:spcBef>
          <a:spcPct val="20000"/>
        </a:spcBef>
        <a:spcAft>
          <a:spcPct val="0"/>
        </a:spcAft>
        <a:buClr>
          <a:schemeClr val="accent2"/>
        </a:buClr>
        <a:buSzPct val="60000"/>
        <a:buFont typeface="Wingdings" pitchFamily="2" charset="2"/>
        <a:buChar char="q"/>
        <a:defRPr sz="2600">
          <a:solidFill>
            <a:schemeClr val="tx1"/>
          </a:solidFill>
          <a:latin typeface="+mn-lt"/>
        </a:defRPr>
      </a:lvl2pPr>
      <a:lvl3pPr marL="1022350" indent="-350838" algn="l" rtl="0" fontAlgn="base">
        <a:spcBef>
          <a:spcPct val="20000"/>
        </a:spcBef>
        <a:spcAft>
          <a:spcPct val="0"/>
        </a:spcAft>
        <a:buClr>
          <a:schemeClr val="accent1"/>
        </a:buClr>
        <a:buSzPct val="65000"/>
        <a:buFont typeface="Wingdings" pitchFamily="2" charset="2"/>
        <a:buChar char="n"/>
        <a:defRPr sz="2200">
          <a:solidFill>
            <a:schemeClr val="tx1"/>
          </a:solidFill>
          <a:latin typeface="+mn-lt"/>
        </a:defRPr>
      </a:lvl3pPr>
      <a:lvl4pPr marL="1339850" indent="-315913" algn="l" rtl="0" fontAlgn="base">
        <a:spcBef>
          <a:spcPct val="20000"/>
        </a:spcBef>
        <a:spcAft>
          <a:spcPct val="0"/>
        </a:spcAft>
        <a:buClr>
          <a:schemeClr val="accent2"/>
        </a:buClr>
        <a:buSzPct val="70000"/>
        <a:buFont typeface="Wingdings" pitchFamily="2" charset="2"/>
        <a:buChar char="q"/>
        <a:defRPr sz="2000">
          <a:solidFill>
            <a:schemeClr val="tx1"/>
          </a:solidFill>
          <a:latin typeface="+mn-lt"/>
        </a:defRPr>
      </a:lvl4pPr>
      <a:lvl5pPr marL="16811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5pPr>
      <a:lvl6pPr marL="21383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6pPr>
      <a:lvl7pPr marL="25955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7pPr>
      <a:lvl8pPr marL="30527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8pPr>
      <a:lvl9pPr marL="3509963" indent="-339725" algn="l" rtl="0" fontAlgn="base">
        <a:spcBef>
          <a:spcPct val="20000"/>
        </a:spcBef>
        <a:spcAft>
          <a:spcPct val="0"/>
        </a:spcAft>
        <a:buClr>
          <a:schemeClr val="accent1"/>
        </a:buClr>
        <a:buSzPct val="75000"/>
        <a:buFont typeface="Wingdings" pitchFamily="2" charset="2"/>
        <a:buChar char="§"/>
        <a:defRPr sz="2000">
          <a:solidFill>
            <a:schemeClr val="tx1"/>
          </a:solidFill>
          <a:latin typeface="+mn-lt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6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22" name="Rectangle 2"/>
          <p:cNvSpPr>
            <a:spLocks noGrp="1" noChangeArrowheads="1"/>
          </p:cNvSpPr>
          <p:nvPr>
            <p:ph type="ctrTitle"/>
          </p:nvPr>
        </p:nvSpPr>
        <p:spPr/>
        <p:txBody>
          <a:bodyPr>
            <a:normAutofit fontScale="90000"/>
          </a:bodyPr>
          <a:lstStyle/>
          <a:p>
            <a:r>
              <a:rPr lang="en-US" altLang="en-US" sz="2800" dirty="0">
                <a:solidFill>
                  <a:prstClr val="black"/>
                </a:solidFill>
              </a:rPr>
              <a:t>File System Management</a:t>
            </a:r>
            <a:br>
              <a:rPr lang="en-US" altLang="en-US" dirty="0">
                <a:solidFill>
                  <a:prstClr val="black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File System Case Studies</a:t>
            </a:r>
            <a:br>
              <a:rPr lang="en-US" altLang="en-US" b="1" dirty="0">
                <a:solidFill>
                  <a:srgbClr val="C00000"/>
                </a:solidFill>
              </a:rPr>
            </a:br>
            <a:r>
              <a:rPr lang="en-US" altLang="en-US" b="1" dirty="0">
                <a:solidFill>
                  <a:srgbClr val="C00000"/>
                </a:solidFill>
              </a:rPr>
              <a:t>(NOT EXAMINABLE)</a:t>
            </a:r>
            <a:endParaRPr lang="en-US" altLang="en-US" sz="4800" dirty="0"/>
          </a:p>
        </p:txBody>
      </p:sp>
      <p:sp>
        <p:nvSpPr>
          <p:cNvPr id="5123" name="Rectangle 3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 dirty="0"/>
              <a:t>Lecture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Overview</a:t>
            </a:r>
          </a:p>
        </p:txBody>
      </p:sp>
      <p:sp>
        <p:nvSpPr>
          <p:cNvPr id="10243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/>
          </a:bodyPr>
          <a:lstStyle/>
          <a:p>
            <a:r>
              <a:rPr lang="en-US" altLang="en-US" b="1" dirty="0"/>
              <a:t>Microsoft FAT File System</a:t>
            </a:r>
          </a:p>
          <a:p>
            <a:pPr lvl="1"/>
            <a:r>
              <a:rPr lang="en-US" altLang="en-US" dirty="0"/>
              <a:t>Layout</a:t>
            </a:r>
          </a:p>
          <a:p>
            <a:pPr lvl="1"/>
            <a:r>
              <a:rPr lang="en-US" altLang="en-US" dirty="0"/>
              <a:t>Partition Information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r>
              <a:rPr lang="en-US" altLang="en-US" b="1" dirty="0"/>
              <a:t>Linux Ext2 File System</a:t>
            </a:r>
          </a:p>
          <a:p>
            <a:pPr lvl="1"/>
            <a:r>
              <a:rPr lang="en-US" altLang="en-US" dirty="0"/>
              <a:t>Layout</a:t>
            </a:r>
          </a:p>
          <a:p>
            <a:pPr lvl="1"/>
            <a:r>
              <a:rPr lang="en-US" altLang="en-US" dirty="0"/>
              <a:t>Partition Information</a:t>
            </a:r>
          </a:p>
          <a:p>
            <a:pPr lvl="1"/>
            <a:r>
              <a:rPr lang="en-US" altLang="en-US" dirty="0"/>
              <a:t>I-Node</a:t>
            </a:r>
          </a:p>
          <a:p>
            <a:pPr lvl="1"/>
            <a:r>
              <a:rPr lang="en-US" altLang="en-US" dirty="0"/>
              <a:t>Directory Structure</a:t>
            </a:r>
          </a:p>
          <a:p>
            <a:r>
              <a:rPr lang="en-US" altLang="en-US" b="1" dirty="0"/>
              <a:t>Extra topics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6845558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4400" dirty="0"/>
              <a:t>Microsoft FAT File System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Brief history:</a:t>
            </a:r>
          </a:p>
          <a:p>
            <a:pPr lvl="1"/>
            <a:r>
              <a:rPr lang="en-US" dirty="0"/>
              <a:t>Used in MS-DOS starting in 1980s</a:t>
            </a:r>
          </a:p>
          <a:p>
            <a:pPr lvl="1"/>
            <a:r>
              <a:rPr lang="en-US" dirty="0"/>
              <a:t>Shipped as default file system until Windows XP (2001)</a:t>
            </a:r>
          </a:p>
          <a:p>
            <a:pPr lvl="1"/>
            <a:r>
              <a:rPr lang="en-US" dirty="0"/>
              <a:t>Several major versions:</a:t>
            </a:r>
          </a:p>
          <a:p>
            <a:pPr lvl="2"/>
            <a:r>
              <a:rPr lang="en-US" dirty="0"/>
              <a:t>FAT12 </a:t>
            </a:r>
            <a:r>
              <a:rPr lang="en-US" dirty="0">
                <a:sym typeface="Wingdings" panose="05000000000000000000" pitchFamily="2" charset="2"/>
              </a:rPr>
              <a:t> FAT16  FAT32 </a:t>
            </a:r>
          </a:p>
          <a:p>
            <a:pPr lvl="1"/>
            <a:r>
              <a:rPr lang="en-US" dirty="0"/>
              <a:t>FAT32 still very prevalent nowadays</a:t>
            </a:r>
          </a:p>
          <a:p>
            <a:pPr lvl="2"/>
            <a:r>
              <a:rPr lang="en-US" dirty="0"/>
              <a:t>Supported across all major OSes</a:t>
            </a:r>
          </a:p>
          <a:p>
            <a:pPr lvl="2"/>
            <a:r>
              <a:rPr lang="en-US" dirty="0"/>
              <a:t>Used in portable drives, gaming console, digital camera, </a:t>
            </a:r>
            <a:r>
              <a:rPr lang="en-US" dirty="0" err="1"/>
              <a:t>etc</a:t>
            </a:r>
            <a:endParaRPr lang="en-US" dirty="0"/>
          </a:p>
          <a:p>
            <a:pPr marL="671512" lvl="2" indent="0">
              <a:buNone/>
            </a:pPr>
            <a:endParaRPr lang="en-US" dirty="0"/>
          </a:p>
          <a:p>
            <a:r>
              <a:rPr lang="en-US" dirty="0"/>
              <a:t>Simple and serves as a good introduction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838494384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947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Microsoft FAT File System Layout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</a:t>
            </a:fld>
            <a:endParaRPr lang="en-US" altLang="en-US"/>
          </a:p>
        </p:txBody>
      </p:sp>
      <p:sp>
        <p:nvSpPr>
          <p:cNvPr id="1129492" name="Rectangle 20" descr="Sphere"/>
          <p:cNvSpPr>
            <a:spLocks noChangeArrowheads="1"/>
          </p:cNvSpPr>
          <p:nvPr/>
        </p:nvSpPr>
        <p:spPr bwMode="auto">
          <a:xfrm>
            <a:off x="3959225" y="3838575"/>
            <a:ext cx="4572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3" name="Rectangle 21" descr="Sphere"/>
          <p:cNvSpPr>
            <a:spLocks noChangeArrowheads="1"/>
          </p:cNvSpPr>
          <p:nvPr/>
        </p:nvSpPr>
        <p:spPr bwMode="auto">
          <a:xfrm>
            <a:off x="4416425" y="3838575"/>
            <a:ext cx="4572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4" name="AutoShape 22"/>
          <p:cNvSpPr>
            <a:spLocks/>
          </p:cNvSpPr>
          <p:nvPr/>
        </p:nvSpPr>
        <p:spPr bwMode="auto">
          <a:xfrm rot="5400000">
            <a:off x="6106318" y="2529682"/>
            <a:ext cx="430213" cy="4724400"/>
          </a:xfrm>
          <a:prstGeom prst="rightBrace">
            <a:avLst>
              <a:gd name="adj1" fmla="val 91513"/>
              <a:gd name="adj2" fmla="val 48282"/>
            </a:avLst>
          </a:prstGeom>
          <a:noFill/>
          <a:ln w="19050">
            <a:solidFill>
              <a:schemeClr val="tx1"/>
            </a:solidFill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5" name="Text Box 23"/>
          <p:cNvSpPr txBox="1">
            <a:spLocks noChangeArrowheads="1"/>
          </p:cNvSpPr>
          <p:nvPr/>
        </p:nvSpPr>
        <p:spPr bwMode="auto">
          <a:xfrm>
            <a:off x="5635625" y="5133975"/>
            <a:ext cx="1528763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data blocks</a:t>
            </a:r>
          </a:p>
        </p:txBody>
      </p:sp>
      <p:sp>
        <p:nvSpPr>
          <p:cNvPr id="1129496" name="Rectangle 24" descr="Sphere"/>
          <p:cNvSpPr>
            <a:spLocks noChangeArrowheads="1"/>
          </p:cNvSpPr>
          <p:nvPr/>
        </p:nvSpPr>
        <p:spPr bwMode="auto">
          <a:xfrm>
            <a:off x="4873625" y="3838575"/>
            <a:ext cx="38100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497" name="Rectangle 25"/>
          <p:cNvSpPr>
            <a:spLocks noChangeArrowheads="1"/>
          </p:cNvSpPr>
          <p:nvPr/>
        </p:nvSpPr>
        <p:spPr bwMode="auto">
          <a:xfrm>
            <a:off x="1597025" y="2009775"/>
            <a:ext cx="16002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1</a:t>
            </a:r>
          </a:p>
        </p:txBody>
      </p:sp>
      <p:sp>
        <p:nvSpPr>
          <p:cNvPr id="1129498" name="Rectangle 26"/>
          <p:cNvSpPr>
            <a:spLocks noChangeArrowheads="1"/>
          </p:cNvSpPr>
          <p:nvPr/>
        </p:nvSpPr>
        <p:spPr bwMode="auto">
          <a:xfrm>
            <a:off x="6397625" y="2009775"/>
            <a:ext cx="16002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4</a:t>
            </a:r>
          </a:p>
        </p:txBody>
      </p:sp>
      <p:sp>
        <p:nvSpPr>
          <p:cNvPr id="1129499" name="Rectangle 27"/>
          <p:cNvSpPr>
            <a:spLocks noChangeArrowheads="1"/>
          </p:cNvSpPr>
          <p:nvPr/>
        </p:nvSpPr>
        <p:spPr bwMode="auto">
          <a:xfrm>
            <a:off x="4797425" y="2009775"/>
            <a:ext cx="16002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3</a:t>
            </a:r>
          </a:p>
        </p:txBody>
      </p:sp>
      <p:sp>
        <p:nvSpPr>
          <p:cNvPr id="1129500" name="Rectangle 28"/>
          <p:cNvSpPr>
            <a:spLocks noChangeArrowheads="1"/>
          </p:cNvSpPr>
          <p:nvPr/>
        </p:nvSpPr>
        <p:spPr bwMode="auto">
          <a:xfrm>
            <a:off x="3197225" y="2009775"/>
            <a:ext cx="16002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2</a:t>
            </a:r>
          </a:p>
        </p:txBody>
      </p:sp>
      <p:sp>
        <p:nvSpPr>
          <p:cNvPr id="1129501" name="Rectangle 29"/>
          <p:cNvSpPr>
            <a:spLocks noChangeArrowheads="1"/>
          </p:cNvSpPr>
          <p:nvPr/>
        </p:nvSpPr>
        <p:spPr bwMode="auto">
          <a:xfrm>
            <a:off x="1063625" y="2009775"/>
            <a:ext cx="533400" cy="838200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accent4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02" name="Text Box 30"/>
          <p:cNvSpPr txBox="1">
            <a:spLocks noChangeArrowheads="1"/>
          </p:cNvSpPr>
          <p:nvPr/>
        </p:nvSpPr>
        <p:spPr bwMode="auto">
          <a:xfrm>
            <a:off x="1211263" y="2085975"/>
            <a:ext cx="30956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 dirty="0">
                <a:latin typeface="Courier New" panose="02070309020205020404" pitchFamily="49" charset="0"/>
              </a:rPr>
              <a:t>M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B</a:t>
            </a:r>
            <a:br>
              <a:rPr lang="en-US" altLang="en-US" sz="1400" b="1" dirty="0">
                <a:latin typeface="Courier New" panose="02070309020205020404" pitchFamily="49" charset="0"/>
              </a:rPr>
            </a:br>
            <a:r>
              <a:rPr lang="en-US" altLang="en-US" sz="1400" b="1" dirty="0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1129503" name="Rectangle 31"/>
          <p:cNvSpPr>
            <a:spLocks noChangeArrowheads="1"/>
          </p:cNvSpPr>
          <p:nvPr/>
        </p:nvSpPr>
        <p:spPr bwMode="auto">
          <a:xfrm>
            <a:off x="530225" y="3838575"/>
            <a:ext cx="81534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04" name="Line 32"/>
          <p:cNvSpPr>
            <a:spLocks noChangeShapeType="1"/>
          </p:cNvSpPr>
          <p:nvPr/>
        </p:nvSpPr>
        <p:spPr bwMode="auto">
          <a:xfrm flipH="1">
            <a:off x="530225" y="2847975"/>
            <a:ext cx="1066800" cy="990600"/>
          </a:xfrm>
          <a:prstGeom prst="line">
            <a:avLst/>
          </a:prstGeom>
          <a:noFill/>
          <a:ln w="19050">
            <a:solidFill>
              <a:srgbClr val="008000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05" name="Line 33"/>
          <p:cNvSpPr>
            <a:spLocks noChangeShapeType="1"/>
          </p:cNvSpPr>
          <p:nvPr/>
        </p:nvSpPr>
        <p:spPr bwMode="auto">
          <a:xfrm>
            <a:off x="3197225" y="2847975"/>
            <a:ext cx="5486400" cy="990600"/>
          </a:xfrm>
          <a:prstGeom prst="line">
            <a:avLst/>
          </a:prstGeom>
          <a:noFill/>
          <a:ln w="19050">
            <a:solidFill>
              <a:srgbClr val="008000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06" name="Rectangle 34" descr="Large checker board"/>
          <p:cNvSpPr>
            <a:spLocks noChangeArrowheads="1"/>
          </p:cNvSpPr>
          <p:nvPr/>
        </p:nvSpPr>
        <p:spPr bwMode="auto">
          <a:xfrm>
            <a:off x="987425" y="3838575"/>
            <a:ext cx="990600" cy="838200"/>
          </a:xfrm>
          <a:prstGeom prst="rect">
            <a:avLst/>
          </a:prstGeo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 dirty="0">
                <a:solidFill>
                  <a:srgbClr val="000000"/>
                </a:solidFill>
                <a:latin typeface="Courier New" panose="02070309020205020404" pitchFamily="49" charset="0"/>
              </a:rPr>
              <a:t>FAT</a:t>
            </a:r>
          </a:p>
        </p:txBody>
      </p:sp>
      <p:sp>
        <p:nvSpPr>
          <p:cNvPr id="1129507" name="Rectangle 35" descr="Outlined diamond"/>
          <p:cNvSpPr>
            <a:spLocks noChangeArrowheads="1"/>
          </p:cNvSpPr>
          <p:nvPr/>
        </p:nvSpPr>
        <p:spPr bwMode="auto">
          <a:xfrm>
            <a:off x="1978025" y="3838575"/>
            <a:ext cx="990600" cy="838200"/>
          </a:xfrm>
          <a:prstGeom prst="rect">
            <a:avLst/>
          </a:prstGeom>
          <a:pattFill prst="openDmnd">
            <a:fgClr>
              <a:schemeClr val="accent2">
                <a:lumMod val="20000"/>
                <a:lumOff val="80000"/>
              </a:schemeClr>
            </a:fgClr>
            <a:bgClr>
              <a:srgbClr val="FFFFFF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FAT</a:t>
            </a:r>
          </a:p>
          <a:p>
            <a:pPr algn="ctr"/>
            <a:r>
              <a:rPr lang="en-US" altLang="en-US" sz="1200" b="1" dirty="0">
                <a:latin typeface="Courier New" panose="02070309020205020404" pitchFamily="49" charset="0"/>
              </a:rPr>
              <a:t>Duplicate</a:t>
            </a:r>
          </a:p>
        </p:txBody>
      </p:sp>
      <p:sp>
        <p:nvSpPr>
          <p:cNvPr id="1129508" name="Rectangle 36" descr="Dashed upward diagonal"/>
          <p:cNvSpPr>
            <a:spLocks noChangeArrowheads="1"/>
          </p:cNvSpPr>
          <p:nvPr/>
        </p:nvSpPr>
        <p:spPr bwMode="auto">
          <a:xfrm>
            <a:off x="2968625" y="3838575"/>
            <a:ext cx="990600" cy="838200"/>
          </a:xfrm>
          <a:prstGeom prst="rect">
            <a:avLst/>
          </a:prstGeom>
          <a:pattFill prst="dashUpDiag">
            <a:fgClr>
              <a:schemeClr val="accent2">
                <a:lumMod val="75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09" name="Rectangle 37"/>
          <p:cNvSpPr>
            <a:spLocks noChangeArrowheads="1"/>
          </p:cNvSpPr>
          <p:nvPr/>
        </p:nvSpPr>
        <p:spPr bwMode="auto">
          <a:xfrm>
            <a:off x="530225" y="3838575"/>
            <a:ext cx="4572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29510" name="Text Box 38"/>
          <p:cNvSpPr txBox="1">
            <a:spLocks noChangeArrowheads="1"/>
          </p:cNvSpPr>
          <p:nvPr/>
        </p:nvSpPr>
        <p:spPr bwMode="auto">
          <a:xfrm>
            <a:off x="424398" y="5133975"/>
            <a:ext cx="678379" cy="33854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Boot</a:t>
            </a:r>
          </a:p>
        </p:txBody>
      </p:sp>
      <p:sp>
        <p:nvSpPr>
          <p:cNvPr id="1129511" name="Line 39"/>
          <p:cNvSpPr>
            <a:spLocks noChangeShapeType="1"/>
          </p:cNvSpPr>
          <p:nvPr/>
        </p:nvSpPr>
        <p:spPr bwMode="auto">
          <a:xfrm flipV="1">
            <a:off x="758825" y="4371975"/>
            <a:ext cx="0" cy="838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12" name="Text Box 40"/>
          <p:cNvSpPr txBox="1">
            <a:spLocks noChangeArrowheads="1"/>
          </p:cNvSpPr>
          <p:nvPr/>
        </p:nvSpPr>
        <p:spPr bwMode="auto">
          <a:xfrm>
            <a:off x="2816225" y="5133975"/>
            <a:ext cx="1284288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root</a:t>
            </a:r>
          </a:p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directory</a:t>
            </a:r>
          </a:p>
        </p:txBody>
      </p:sp>
      <p:sp>
        <p:nvSpPr>
          <p:cNvPr id="1129513" name="Line 41"/>
          <p:cNvSpPr>
            <a:spLocks noChangeShapeType="1"/>
          </p:cNvSpPr>
          <p:nvPr/>
        </p:nvSpPr>
        <p:spPr bwMode="auto">
          <a:xfrm flipV="1">
            <a:off x="3425825" y="4448175"/>
            <a:ext cx="0" cy="7620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29514" name="Text Box 42"/>
          <p:cNvSpPr txBox="1">
            <a:spLocks noChangeArrowheads="1"/>
          </p:cNvSpPr>
          <p:nvPr/>
        </p:nvSpPr>
        <p:spPr bwMode="auto">
          <a:xfrm>
            <a:off x="1855788" y="4857750"/>
            <a:ext cx="116205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optional</a:t>
            </a:r>
          </a:p>
        </p:txBody>
      </p:sp>
      <p:sp>
        <p:nvSpPr>
          <p:cNvPr id="1129515" name="Line 43"/>
          <p:cNvSpPr>
            <a:spLocks noChangeShapeType="1"/>
          </p:cNvSpPr>
          <p:nvPr/>
        </p:nvSpPr>
        <p:spPr bwMode="auto">
          <a:xfrm>
            <a:off x="2435225" y="4448175"/>
            <a:ext cx="0" cy="457200"/>
          </a:xfrm>
          <a:prstGeom prst="line">
            <a:avLst/>
          </a:prstGeom>
          <a:noFill/>
          <a:ln w="12700">
            <a:solidFill>
              <a:schemeClr val="tx1"/>
            </a:solidFill>
            <a:round/>
            <a:headEnd type="stealth" w="lg" len="lg"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8956160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 nodeType="clickPar">
                      <p:stCondLst>
                        <p:cond delay="indefinite"/>
                      </p:stCondLst>
                      <p:childTnLst>
                        <p:par>
                          <p:cTn id="3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0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5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294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29492" grpId="0" animBg="1"/>
      <p:bldP spid="1129493" grpId="0" animBg="1"/>
      <p:bldP spid="1129494" grpId="0" animBg="1"/>
      <p:bldP spid="1129495" grpId="0"/>
      <p:bldP spid="1129496" grpId="0" animBg="1"/>
      <p:bldP spid="1129497" grpId="0" animBg="1"/>
      <p:bldP spid="1129498" grpId="0" animBg="1"/>
      <p:bldP spid="1129499" grpId="0" animBg="1"/>
      <p:bldP spid="1129500" grpId="0" animBg="1"/>
      <p:bldP spid="1129501" grpId="0" animBg="1"/>
      <p:bldP spid="1129502" grpId="0"/>
      <p:bldP spid="1129503" grpId="0" animBg="1"/>
      <p:bldP spid="1129504" grpId="0" animBg="1"/>
      <p:bldP spid="1129505" grpId="0" animBg="1"/>
      <p:bldP spid="1129506" grpId="0" animBg="1"/>
      <p:bldP spid="1129507" grpId="0" animBg="1"/>
      <p:bldP spid="1129508" grpId="0" animBg="1"/>
      <p:bldP spid="1129509" grpId="0" animBg="1"/>
      <p:bldP spid="1129510" grpId="0"/>
      <p:bldP spid="1129511" grpId="0" animBg="1"/>
      <p:bldP spid="1129512" grpId="0"/>
      <p:bldP spid="1129513" grpId="0" animBg="1"/>
      <p:bldP spid="1129514" grpId="0"/>
      <p:bldP spid="1129515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15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File Data and File Allocation Table</a:t>
            </a:r>
          </a:p>
        </p:txBody>
      </p:sp>
      <p:sp>
        <p:nvSpPr>
          <p:cNvPr id="11315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300" dirty="0"/>
              <a:t>File data are allocated to: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A number of data blocks / data block clusters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Allocation info is kept as a </a:t>
            </a:r>
            <a:r>
              <a:rPr lang="en-US" altLang="en-US" sz="2900" b="1" dirty="0"/>
              <a:t>linked list</a:t>
            </a:r>
          </a:p>
          <a:p>
            <a:pPr lvl="2">
              <a:lnSpc>
                <a:spcPct val="90000"/>
              </a:lnSpc>
            </a:pPr>
            <a:r>
              <a:rPr lang="en-US" altLang="en-US" sz="2500" dirty="0"/>
              <a:t>All data block pointers kept separately in the File Allocation Table</a:t>
            </a:r>
          </a:p>
          <a:p>
            <a:pPr marL="671512" lvl="2" indent="0">
              <a:lnSpc>
                <a:spcPct val="90000"/>
              </a:lnSpc>
              <a:buNone/>
            </a:pPr>
            <a:endParaRPr lang="en-US" altLang="en-US" sz="2500" dirty="0"/>
          </a:p>
          <a:p>
            <a:pPr>
              <a:lnSpc>
                <a:spcPct val="90000"/>
              </a:lnSpc>
            </a:pPr>
            <a:r>
              <a:rPr lang="en-US" altLang="en-US" sz="3300" dirty="0"/>
              <a:t>File Allocation Table (FAT):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One entry per data block/cluster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Store disk block information</a:t>
            </a:r>
          </a:p>
          <a:p>
            <a:pPr lvl="2">
              <a:lnSpc>
                <a:spcPct val="90000"/>
              </a:lnSpc>
            </a:pPr>
            <a:r>
              <a:rPr lang="en-US" altLang="en-US" sz="2500" dirty="0"/>
              <a:t>Free? Next block (if occupied)? Damaged?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OS will cache in RAM to facilitate linked list traversal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1244785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" name="Title 28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Allocation Table: Illustration</a:t>
            </a:r>
          </a:p>
        </p:txBody>
      </p:sp>
      <p:sp>
        <p:nvSpPr>
          <p:cNvPr id="30" name="Content Placeholder 29"/>
          <p:cNvSpPr>
            <a:spLocks noGrp="1"/>
          </p:cNvSpPr>
          <p:nvPr>
            <p:ph idx="1"/>
          </p:nvPr>
        </p:nvSpPr>
        <p:spPr>
          <a:xfrm>
            <a:off x="457200" y="990600"/>
            <a:ext cx="5638800" cy="5486400"/>
          </a:xfrm>
        </p:spPr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sz="3300" dirty="0"/>
              <a:t>FAT entry contains either: 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dirty="0">
                <a:solidFill>
                  <a:srgbClr val="008000"/>
                </a:solidFill>
              </a:rPr>
              <a:t>FREE</a:t>
            </a:r>
            <a:r>
              <a:rPr lang="en-US" altLang="en-US" sz="2900" dirty="0"/>
              <a:t> code (block is unused)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dirty="0">
                <a:solidFill>
                  <a:srgbClr val="0033CC"/>
                </a:solidFill>
              </a:rPr>
              <a:t>Block number</a:t>
            </a:r>
            <a:r>
              <a:rPr lang="en-US" altLang="en-US" sz="2900" dirty="0"/>
              <a:t> of next block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dirty="0">
                <a:solidFill>
                  <a:schemeClr val="accent2"/>
                </a:solidFill>
              </a:rPr>
              <a:t>EOF</a:t>
            </a:r>
            <a:r>
              <a:rPr lang="en-US" altLang="en-US" sz="2900" dirty="0"/>
              <a:t> code (i.e. NULL pointer)</a:t>
            </a:r>
          </a:p>
          <a:p>
            <a:pPr lvl="1">
              <a:lnSpc>
                <a:spcPct val="90000"/>
              </a:lnSpc>
            </a:pPr>
            <a:r>
              <a:rPr lang="en-US" altLang="en-US" sz="2900" b="1" dirty="0">
                <a:solidFill>
                  <a:srgbClr val="800000"/>
                </a:solidFill>
              </a:rPr>
              <a:t>BAD</a:t>
            </a:r>
            <a:r>
              <a:rPr lang="en-US" altLang="en-US" sz="2900" dirty="0"/>
              <a:t> block (block is unusable, i.e. disk error)</a:t>
            </a:r>
          </a:p>
          <a:p>
            <a:pPr lvl="1">
              <a:lnSpc>
                <a:spcPct val="90000"/>
              </a:lnSpc>
            </a:pPr>
            <a:endParaRPr lang="en-US" altLang="en-US" sz="2900" dirty="0"/>
          </a:p>
          <a:p>
            <a:pPr>
              <a:lnSpc>
                <a:spcPct val="90000"/>
              </a:lnSpc>
            </a:pPr>
            <a:r>
              <a:rPr lang="en-US" altLang="en-US" sz="3300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Block 3 </a:t>
            </a:r>
            <a:r>
              <a:rPr lang="en-US" altLang="en-US" sz="2900" dirty="0">
                <a:sym typeface="Wingdings" panose="05000000000000000000" pitchFamily="2" charset="2"/>
              </a:rPr>
              <a:t> 5  8  EOF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Block 4 and 9 are free</a:t>
            </a:r>
          </a:p>
          <a:p>
            <a:pPr lvl="1">
              <a:lnSpc>
                <a:spcPct val="90000"/>
              </a:lnSpc>
            </a:pPr>
            <a:r>
              <a:rPr lang="en-US" altLang="en-US" sz="2900" dirty="0"/>
              <a:t>Block 1 is unusable</a:t>
            </a:r>
            <a:endParaRPr lang="en-US" alt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6</a:t>
            </a:fld>
            <a:endParaRPr lang="en-US" altLang="en-US"/>
          </a:p>
        </p:txBody>
      </p:sp>
      <p:sp>
        <p:nvSpPr>
          <p:cNvPr id="7" name="Rectangle 4"/>
          <p:cNvSpPr>
            <a:spLocks noChangeArrowheads="1"/>
          </p:cNvSpPr>
          <p:nvPr/>
        </p:nvSpPr>
        <p:spPr bwMode="auto">
          <a:xfrm>
            <a:off x="7007225" y="1225465"/>
            <a:ext cx="1371600" cy="48006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8" name="Text Box 6"/>
          <p:cNvSpPr txBox="1">
            <a:spLocks noChangeArrowheads="1"/>
          </p:cNvSpPr>
          <p:nvPr/>
        </p:nvSpPr>
        <p:spPr bwMode="auto">
          <a:xfrm>
            <a:off x="7004050" y="6026065"/>
            <a:ext cx="1374775" cy="45093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80815" tIns="40407" rIns="80815" bIns="40407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sz="2400" b="1" dirty="0"/>
              <a:t>FAT</a:t>
            </a:r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7008813" y="1225465"/>
            <a:ext cx="1373187" cy="381000"/>
          </a:xfrm>
          <a:prstGeom prst="rect">
            <a:avLst/>
          </a:prstGeom>
          <a:solidFill>
            <a:srgbClr val="FFEB97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7007225" y="1606465"/>
            <a:ext cx="1371600" cy="381000"/>
          </a:xfrm>
          <a:prstGeom prst="rect">
            <a:avLst/>
          </a:prstGeom>
          <a:solidFill>
            <a:srgbClr val="C0C0C0">
              <a:alpha val="50000"/>
            </a:srgb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800000"/>
                </a:solidFill>
              </a:rPr>
              <a:t>BAD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7007225" y="1987465"/>
            <a:ext cx="1371600" cy="381000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>
                <a:solidFill>
                  <a:schemeClr val="tx2"/>
                </a:solidFill>
              </a:rPr>
              <a:t>EOF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7007225" y="2368465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7007225" y="2749465"/>
            <a:ext cx="1371600" cy="3810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>
                <a:solidFill>
                  <a:srgbClr val="008000"/>
                </a:solidFill>
              </a:rPr>
              <a:t>FREE</a:t>
            </a:r>
          </a:p>
        </p:txBody>
      </p:sp>
      <p:sp>
        <p:nvSpPr>
          <p:cNvPr id="14" name="Rectangle 15"/>
          <p:cNvSpPr>
            <a:spLocks noChangeArrowheads="1"/>
          </p:cNvSpPr>
          <p:nvPr/>
        </p:nvSpPr>
        <p:spPr bwMode="auto">
          <a:xfrm>
            <a:off x="7007225" y="3130465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7007225" y="3511465"/>
            <a:ext cx="13716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accent3">
                <a:lumMod val="50000"/>
              </a:schemeClr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6" name="Rectangle 17"/>
          <p:cNvSpPr>
            <a:spLocks noChangeArrowheads="1"/>
          </p:cNvSpPr>
          <p:nvPr/>
        </p:nvSpPr>
        <p:spPr bwMode="auto">
          <a:xfrm>
            <a:off x="7007225" y="3892465"/>
            <a:ext cx="13716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accent3">
                <a:lumMod val="50000"/>
              </a:schemeClr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solidFill>
                  <a:schemeClr val="tx2"/>
                </a:solidFill>
              </a:rPr>
              <a:t>EOF</a:t>
            </a:r>
          </a:p>
        </p:txBody>
      </p:sp>
      <p:sp>
        <p:nvSpPr>
          <p:cNvPr id="17" name="Rectangle 18"/>
          <p:cNvSpPr>
            <a:spLocks noChangeArrowheads="1"/>
          </p:cNvSpPr>
          <p:nvPr/>
        </p:nvSpPr>
        <p:spPr bwMode="auto">
          <a:xfrm>
            <a:off x="7007225" y="4273465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solidFill>
                  <a:schemeClr val="tx2"/>
                </a:solidFill>
              </a:rPr>
              <a:t>EOF</a:t>
            </a:r>
          </a:p>
        </p:txBody>
      </p:sp>
      <p:sp>
        <p:nvSpPr>
          <p:cNvPr id="18" name="Text Box 19"/>
          <p:cNvSpPr txBox="1">
            <a:spLocks noChangeArrowheads="1"/>
          </p:cNvSpPr>
          <p:nvPr/>
        </p:nvSpPr>
        <p:spPr bwMode="auto">
          <a:xfrm>
            <a:off x="6695157" y="1225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9" name="Text Box 20"/>
          <p:cNvSpPr txBox="1">
            <a:spLocks noChangeArrowheads="1"/>
          </p:cNvSpPr>
          <p:nvPr/>
        </p:nvSpPr>
        <p:spPr bwMode="auto">
          <a:xfrm>
            <a:off x="6695157" y="1606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20" name="Text Box 21"/>
          <p:cNvSpPr txBox="1">
            <a:spLocks noChangeArrowheads="1"/>
          </p:cNvSpPr>
          <p:nvPr/>
        </p:nvSpPr>
        <p:spPr bwMode="auto">
          <a:xfrm>
            <a:off x="6695157" y="1987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21" name="Text Box 22"/>
          <p:cNvSpPr txBox="1">
            <a:spLocks noChangeArrowheads="1"/>
          </p:cNvSpPr>
          <p:nvPr/>
        </p:nvSpPr>
        <p:spPr bwMode="auto">
          <a:xfrm>
            <a:off x="6695157" y="2368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22" name="Text Box 23"/>
          <p:cNvSpPr txBox="1">
            <a:spLocks noChangeArrowheads="1"/>
          </p:cNvSpPr>
          <p:nvPr/>
        </p:nvSpPr>
        <p:spPr bwMode="auto">
          <a:xfrm>
            <a:off x="6695157" y="2749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23" name="Text Box 24"/>
          <p:cNvSpPr txBox="1">
            <a:spLocks noChangeArrowheads="1"/>
          </p:cNvSpPr>
          <p:nvPr/>
        </p:nvSpPr>
        <p:spPr bwMode="auto">
          <a:xfrm>
            <a:off x="6695157" y="3130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24" name="Text Box 25"/>
          <p:cNvSpPr txBox="1">
            <a:spLocks noChangeArrowheads="1"/>
          </p:cNvSpPr>
          <p:nvPr/>
        </p:nvSpPr>
        <p:spPr bwMode="auto">
          <a:xfrm>
            <a:off x="6695157" y="3511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25" name="Text Box 26"/>
          <p:cNvSpPr txBox="1">
            <a:spLocks noChangeArrowheads="1"/>
          </p:cNvSpPr>
          <p:nvPr/>
        </p:nvSpPr>
        <p:spPr bwMode="auto">
          <a:xfrm>
            <a:off x="6695157" y="3892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26" name="Text Box 27"/>
          <p:cNvSpPr txBox="1">
            <a:spLocks noChangeArrowheads="1"/>
          </p:cNvSpPr>
          <p:nvPr/>
        </p:nvSpPr>
        <p:spPr bwMode="auto">
          <a:xfrm>
            <a:off x="6695157" y="4273465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>
                <a:solidFill>
                  <a:srgbClr val="000000"/>
                </a:solidFill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27" name="Rectangle 28"/>
          <p:cNvSpPr>
            <a:spLocks noChangeArrowheads="1"/>
          </p:cNvSpPr>
          <p:nvPr/>
        </p:nvSpPr>
        <p:spPr bwMode="auto">
          <a:xfrm>
            <a:off x="7007225" y="4654465"/>
            <a:ext cx="1371600" cy="3810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>
                <a:solidFill>
                  <a:srgbClr val="008000"/>
                </a:solidFill>
              </a:rPr>
              <a:t>FREE</a:t>
            </a: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7007225" y="5035465"/>
            <a:ext cx="1371600" cy="990600"/>
          </a:xfrm>
          <a:prstGeom prst="rect">
            <a:avLst/>
          </a:prstGeom>
          <a:solidFill>
            <a:srgbClr val="FFEB97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…</a:t>
            </a:r>
          </a:p>
          <a:p>
            <a:pPr algn="ctr"/>
            <a:r>
              <a:rPr lang="en-US" altLang="en-US"/>
              <a:t>…</a:t>
            </a:r>
          </a:p>
          <a:p>
            <a:pPr algn="ctr"/>
            <a:r>
              <a:rPr lang="en-US" altLang="en-US"/>
              <a:t>…</a:t>
            </a:r>
          </a:p>
        </p:txBody>
      </p:sp>
      <p:sp>
        <p:nvSpPr>
          <p:cNvPr id="31" name="Text Box 27"/>
          <p:cNvSpPr txBox="1">
            <a:spLocks noChangeArrowheads="1"/>
          </p:cNvSpPr>
          <p:nvPr/>
        </p:nvSpPr>
        <p:spPr bwMode="auto">
          <a:xfrm>
            <a:off x="6681538" y="4653076"/>
            <a:ext cx="322512" cy="369326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b="1" dirty="0">
                <a:solidFill>
                  <a:srgbClr val="000000"/>
                </a:solidFill>
                <a:latin typeface="Courier New" panose="02070309020205020404" pitchFamily="49" charset="0"/>
              </a:rPr>
              <a:t>9</a:t>
            </a:r>
          </a:p>
        </p:txBody>
      </p:sp>
    </p:spTree>
    <p:extLst>
      <p:ext uri="{BB962C8B-B14F-4D97-AF65-F5344CB8AC3E}">
        <p14:creationId xmlns:p14="http://schemas.microsoft.com/office/powerpoint/2010/main" val="3472396624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5" fill="hold">
                      <p:stCondLst>
                        <p:cond delay="indefinite"/>
                      </p:stCondLst>
                      <p:childTnLst>
                        <p:par>
                          <p:cTn id="56" fill="hold">
                            <p:stCondLst>
                              <p:cond delay="0"/>
                            </p:stCondLst>
                            <p:childTnLst>
                              <p:par>
                                <p:cTn id="5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7" grpId="0" animBg="1"/>
      <p:bldP spid="8" grpId="0"/>
      <p:bldP spid="9" grpId="0" animBg="1"/>
      <p:bldP spid="10" grpId="0" animBg="1"/>
      <p:bldP spid="11" grpId="0" animBg="1"/>
      <p:bldP spid="12" grpId="0" animBg="1"/>
      <p:bldP spid="13" grpId="0" animBg="1"/>
      <p:bldP spid="14" grpId="0" animBg="1"/>
      <p:bldP spid="15" grpId="0" animBg="1"/>
      <p:bldP spid="16" grpId="0" animBg="1"/>
      <p:bldP spid="17" grpId="0" animBg="1"/>
      <p:bldP spid="18" grpId="0"/>
      <p:bldP spid="19" grpId="0"/>
      <p:bldP spid="20" grpId="0"/>
      <p:bldP spid="21" grpId="0"/>
      <p:bldP spid="22" grpId="0"/>
      <p:bldP spid="23" grpId="0"/>
      <p:bldP spid="24" grpId="0"/>
      <p:bldP spid="25" grpId="0"/>
      <p:bldP spid="26" grpId="0"/>
      <p:bldP spid="27" grpId="0" animBg="1"/>
      <p:bldP spid="28" grpId="0" animBg="1"/>
      <p:bldP spid="3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04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 and File Information</a:t>
            </a:r>
          </a:p>
        </p:txBody>
      </p:sp>
      <p:sp>
        <p:nvSpPr>
          <p:cNvPr id="113049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Directory (Folder) is represented as: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Special type of file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Root directory is stored in a special location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Other directories are stored in the data blocks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file/subdirectory within the folder: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Represented as </a:t>
            </a:r>
            <a:r>
              <a:rPr lang="en-US" altLang="en-US" b="1" dirty="0"/>
              <a:t>directory entry</a:t>
            </a:r>
            <a:endParaRPr lang="en-US" altLang="en-US" dirty="0"/>
          </a:p>
          <a:p>
            <a:pPr>
              <a:lnSpc>
                <a:spcPct val="90000"/>
              </a:lnSpc>
            </a:pPr>
            <a:r>
              <a:rPr lang="en-US" altLang="en-US" dirty="0"/>
              <a:t>Directory Entry: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Fixed-size 32-bytes per entry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Contains: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Name + Extension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Attributes ( Read-Only, Directory/File flag, Hidden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Creation Date + Time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First disk block + File Size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8466027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45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Entry Illustration</a:t>
            </a:r>
          </a:p>
        </p:txBody>
      </p:sp>
      <p:sp>
        <p:nvSpPr>
          <p:cNvPr id="1134596" name="Rectangle 4"/>
          <p:cNvSpPr>
            <a:spLocks noChangeArrowheads="1"/>
          </p:cNvSpPr>
          <p:nvPr/>
        </p:nvSpPr>
        <p:spPr bwMode="auto">
          <a:xfrm>
            <a:off x="533400" y="3200400"/>
            <a:ext cx="1676400" cy="83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000" b="1"/>
              <a:t>File Name</a:t>
            </a:r>
          </a:p>
        </p:txBody>
      </p:sp>
      <p:sp>
        <p:nvSpPr>
          <p:cNvPr id="1134597" name="Rectangle 5"/>
          <p:cNvSpPr>
            <a:spLocks noChangeArrowheads="1"/>
          </p:cNvSpPr>
          <p:nvPr/>
        </p:nvSpPr>
        <p:spPr bwMode="auto">
          <a:xfrm>
            <a:off x="2209800" y="3200400"/>
            <a:ext cx="838200" cy="838200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598" name="Rectangle 6"/>
          <p:cNvSpPr>
            <a:spLocks noChangeArrowheads="1"/>
          </p:cNvSpPr>
          <p:nvPr/>
        </p:nvSpPr>
        <p:spPr bwMode="auto">
          <a:xfrm>
            <a:off x="3048000" y="3200400"/>
            <a:ext cx="304800" cy="838200"/>
          </a:xfrm>
          <a:prstGeom prst="rect">
            <a:avLst/>
          </a:prstGeom>
          <a:solidFill>
            <a:srgbClr val="CCFF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599" name="Rectangle 7"/>
          <p:cNvSpPr>
            <a:spLocks noChangeArrowheads="1"/>
          </p:cNvSpPr>
          <p:nvPr/>
        </p:nvSpPr>
        <p:spPr bwMode="auto">
          <a:xfrm>
            <a:off x="3352800" y="3200400"/>
            <a:ext cx="2819400" cy="838200"/>
          </a:xfrm>
          <a:prstGeom prst="rect">
            <a:avLst/>
          </a:prstGeom>
          <a:solidFill>
            <a:srgbClr val="C0C0C0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/>
              <a:t>Reserved</a:t>
            </a:r>
          </a:p>
        </p:txBody>
      </p:sp>
      <p:sp>
        <p:nvSpPr>
          <p:cNvPr id="1134601" name="Rectangle 9"/>
          <p:cNvSpPr>
            <a:spLocks noChangeArrowheads="1"/>
          </p:cNvSpPr>
          <p:nvPr/>
        </p:nvSpPr>
        <p:spPr bwMode="auto">
          <a:xfrm>
            <a:off x="6172200" y="3200400"/>
            <a:ext cx="533400" cy="8382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2" name="Rectangle 10"/>
          <p:cNvSpPr>
            <a:spLocks noChangeArrowheads="1"/>
          </p:cNvSpPr>
          <p:nvPr/>
        </p:nvSpPr>
        <p:spPr bwMode="auto">
          <a:xfrm>
            <a:off x="6705600" y="3200400"/>
            <a:ext cx="533400" cy="838200"/>
          </a:xfrm>
          <a:prstGeom prst="rect">
            <a:avLst/>
          </a:prstGeom>
          <a:solidFill>
            <a:srgbClr val="CCFF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3" name="Rectangle 11"/>
          <p:cNvSpPr>
            <a:spLocks noChangeArrowheads="1"/>
          </p:cNvSpPr>
          <p:nvPr/>
        </p:nvSpPr>
        <p:spPr bwMode="auto">
          <a:xfrm>
            <a:off x="7239000" y="3200400"/>
            <a:ext cx="533400" cy="838200"/>
          </a:xfrm>
          <a:prstGeom prst="rect">
            <a:avLst/>
          </a:prstGeom>
          <a:solidFill>
            <a:srgbClr val="99CCFF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4" name="Rectangle 12"/>
          <p:cNvSpPr>
            <a:spLocks noChangeArrowheads="1"/>
          </p:cNvSpPr>
          <p:nvPr/>
        </p:nvSpPr>
        <p:spPr bwMode="auto">
          <a:xfrm>
            <a:off x="7772400" y="3200400"/>
            <a:ext cx="914400" cy="838200"/>
          </a:xfrm>
          <a:prstGeom prst="rect">
            <a:avLst/>
          </a:prstGeom>
          <a:solidFill>
            <a:srgbClr val="FF99CC"/>
          </a:solidFill>
          <a:ln w="19050">
            <a:solidFill>
              <a:schemeClr val="tx1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endParaRPr lang="en-US" altLang="en-US" b="1"/>
          </a:p>
        </p:txBody>
      </p:sp>
      <p:sp>
        <p:nvSpPr>
          <p:cNvPr id="1134605" name="AutoShape 13"/>
          <p:cNvSpPr>
            <a:spLocks/>
          </p:cNvSpPr>
          <p:nvPr/>
        </p:nvSpPr>
        <p:spPr bwMode="auto">
          <a:xfrm>
            <a:off x="685800" y="4381500"/>
            <a:ext cx="1371600" cy="609600"/>
          </a:xfrm>
          <a:prstGeom prst="accentCallout2">
            <a:avLst>
              <a:gd name="adj1" fmla="val 18750"/>
              <a:gd name="adj2" fmla="val 105556"/>
              <a:gd name="adj3" fmla="val 18750"/>
              <a:gd name="adj4" fmla="val 119213"/>
              <a:gd name="adj5" fmla="val -93750"/>
              <a:gd name="adj6" fmla="val 13333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File Extension</a:t>
            </a:r>
          </a:p>
        </p:txBody>
      </p:sp>
      <p:sp>
        <p:nvSpPr>
          <p:cNvPr id="1134606" name="AutoShape 14"/>
          <p:cNvSpPr>
            <a:spLocks/>
          </p:cNvSpPr>
          <p:nvPr/>
        </p:nvSpPr>
        <p:spPr bwMode="auto">
          <a:xfrm>
            <a:off x="1219200" y="5410200"/>
            <a:ext cx="1371600" cy="381000"/>
          </a:xfrm>
          <a:prstGeom prst="accentCallout2">
            <a:avLst>
              <a:gd name="adj1" fmla="val 30000"/>
              <a:gd name="adj2" fmla="val 105556"/>
              <a:gd name="adj3" fmla="val 30000"/>
              <a:gd name="adj4" fmla="val 124306"/>
              <a:gd name="adj5" fmla="val -380000"/>
              <a:gd name="adj6" fmla="val 14375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Attributes</a:t>
            </a:r>
          </a:p>
        </p:txBody>
      </p:sp>
      <p:sp>
        <p:nvSpPr>
          <p:cNvPr id="1134607" name="AutoShape 15"/>
          <p:cNvSpPr>
            <a:spLocks/>
          </p:cNvSpPr>
          <p:nvPr/>
        </p:nvSpPr>
        <p:spPr bwMode="auto">
          <a:xfrm>
            <a:off x="4343400" y="4554583"/>
            <a:ext cx="1676400" cy="685800"/>
          </a:xfrm>
          <a:prstGeom prst="accentCallout2">
            <a:avLst>
              <a:gd name="adj1" fmla="val 16667"/>
              <a:gd name="adj2" fmla="val 104347"/>
              <a:gd name="adj3" fmla="val 16667"/>
              <a:gd name="adj4" fmla="val 121468"/>
              <a:gd name="adj5" fmla="val -26852"/>
              <a:gd name="adj6" fmla="val 13931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Creation Date + Time</a:t>
            </a:r>
          </a:p>
        </p:txBody>
      </p:sp>
      <p:sp>
        <p:nvSpPr>
          <p:cNvPr id="1134608" name="AutoShape 16"/>
          <p:cNvSpPr>
            <a:spLocks/>
          </p:cNvSpPr>
          <p:nvPr/>
        </p:nvSpPr>
        <p:spPr bwMode="auto">
          <a:xfrm rot="5400000">
            <a:off x="6610350" y="3687536"/>
            <a:ext cx="228600" cy="1028700"/>
          </a:xfrm>
          <a:prstGeom prst="rightBrace">
            <a:avLst>
              <a:gd name="adj1" fmla="val 22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4609" name="AutoShape 17"/>
          <p:cNvSpPr>
            <a:spLocks/>
          </p:cNvSpPr>
          <p:nvPr/>
        </p:nvSpPr>
        <p:spPr bwMode="auto">
          <a:xfrm>
            <a:off x="5181600" y="5381897"/>
            <a:ext cx="1752600" cy="685800"/>
          </a:xfrm>
          <a:prstGeom prst="accentCallout2">
            <a:avLst>
              <a:gd name="adj1" fmla="val 16667"/>
              <a:gd name="adj2" fmla="val 104347"/>
              <a:gd name="adj3" fmla="val 16667"/>
              <a:gd name="adj4" fmla="val 117120"/>
              <a:gd name="adj5" fmla="val -237963"/>
              <a:gd name="adj6" fmla="val 13061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First Disk Block</a:t>
            </a:r>
          </a:p>
        </p:txBody>
      </p:sp>
      <p:sp>
        <p:nvSpPr>
          <p:cNvPr id="1134610" name="AutoShape 18"/>
          <p:cNvSpPr>
            <a:spLocks/>
          </p:cNvSpPr>
          <p:nvPr/>
        </p:nvSpPr>
        <p:spPr bwMode="auto">
          <a:xfrm>
            <a:off x="5715000" y="6209211"/>
            <a:ext cx="2212975" cy="304800"/>
          </a:xfrm>
          <a:prstGeom prst="accentCallout2">
            <a:avLst>
              <a:gd name="adj1" fmla="val 37500"/>
              <a:gd name="adj2" fmla="val 103444"/>
              <a:gd name="adj3" fmla="val 37500"/>
              <a:gd name="adj4" fmla="val 109829"/>
              <a:gd name="adj5" fmla="val -791072"/>
              <a:gd name="adj6" fmla="val 12100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/>
              <a:t>File Size in Bytes</a:t>
            </a:r>
          </a:p>
        </p:txBody>
      </p:sp>
      <p:sp>
        <p:nvSpPr>
          <p:cNvPr id="1134611" name="Text Box 19"/>
          <p:cNvSpPr txBox="1">
            <a:spLocks noChangeArrowheads="1"/>
          </p:cNvSpPr>
          <p:nvPr/>
        </p:nvSpPr>
        <p:spPr bwMode="auto">
          <a:xfrm>
            <a:off x="2286000" y="2819400"/>
            <a:ext cx="685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3</a:t>
            </a:r>
          </a:p>
        </p:txBody>
      </p:sp>
      <p:sp>
        <p:nvSpPr>
          <p:cNvPr id="1134612" name="Text Box 20"/>
          <p:cNvSpPr txBox="1">
            <a:spLocks noChangeArrowheads="1"/>
          </p:cNvSpPr>
          <p:nvPr/>
        </p:nvSpPr>
        <p:spPr bwMode="auto">
          <a:xfrm>
            <a:off x="685800" y="2819400"/>
            <a:ext cx="14478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8 bytes</a:t>
            </a:r>
          </a:p>
        </p:txBody>
      </p:sp>
      <p:sp>
        <p:nvSpPr>
          <p:cNvPr id="1134613" name="Text Box 21"/>
          <p:cNvSpPr txBox="1">
            <a:spLocks noChangeArrowheads="1"/>
          </p:cNvSpPr>
          <p:nvPr/>
        </p:nvSpPr>
        <p:spPr bwMode="auto">
          <a:xfrm>
            <a:off x="3048000" y="2819400"/>
            <a:ext cx="2286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1</a:t>
            </a:r>
          </a:p>
        </p:txBody>
      </p:sp>
      <p:sp>
        <p:nvSpPr>
          <p:cNvPr id="1134614" name="Text Box 22"/>
          <p:cNvSpPr txBox="1">
            <a:spLocks noChangeArrowheads="1"/>
          </p:cNvSpPr>
          <p:nvPr/>
        </p:nvSpPr>
        <p:spPr bwMode="auto">
          <a:xfrm>
            <a:off x="3352800" y="2819400"/>
            <a:ext cx="2819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10</a:t>
            </a:r>
          </a:p>
        </p:txBody>
      </p:sp>
      <p:sp>
        <p:nvSpPr>
          <p:cNvPr id="1134615" name="Text Box 23"/>
          <p:cNvSpPr txBox="1">
            <a:spLocks noChangeArrowheads="1"/>
          </p:cNvSpPr>
          <p:nvPr/>
        </p:nvSpPr>
        <p:spPr bwMode="auto">
          <a:xfrm>
            <a:off x="6172200" y="28194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2</a:t>
            </a:r>
          </a:p>
        </p:txBody>
      </p:sp>
      <p:sp>
        <p:nvSpPr>
          <p:cNvPr id="1134616" name="Text Box 24"/>
          <p:cNvSpPr txBox="1">
            <a:spLocks noChangeArrowheads="1"/>
          </p:cNvSpPr>
          <p:nvPr/>
        </p:nvSpPr>
        <p:spPr bwMode="auto">
          <a:xfrm>
            <a:off x="6705600" y="28194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2</a:t>
            </a:r>
          </a:p>
        </p:txBody>
      </p:sp>
      <p:sp>
        <p:nvSpPr>
          <p:cNvPr id="1134617" name="Text Box 25"/>
          <p:cNvSpPr txBox="1">
            <a:spLocks noChangeArrowheads="1"/>
          </p:cNvSpPr>
          <p:nvPr/>
        </p:nvSpPr>
        <p:spPr bwMode="auto">
          <a:xfrm>
            <a:off x="7239000" y="2819400"/>
            <a:ext cx="4572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2</a:t>
            </a:r>
          </a:p>
        </p:txBody>
      </p:sp>
      <p:sp>
        <p:nvSpPr>
          <p:cNvPr id="1134618" name="Text Box 26"/>
          <p:cNvSpPr txBox="1">
            <a:spLocks noChangeArrowheads="1"/>
          </p:cNvSpPr>
          <p:nvPr/>
        </p:nvSpPr>
        <p:spPr bwMode="auto">
          <a:xfrm>
            <a:off x="7772400" y="2819400"/>
            <a:ext cx="914400" cy="36671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b="1"/>
              <a:t>4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8</a:t>
            </a:fld>
            <a:endParaRPr lang="en-US" altLang="en-US"/>
          </a:p>
        </p:txBody>
      </p:sp>
      <p:sp>
        <p:nvSpPr>
          <p:cNvPr id="27" name="Rectangle 13"/>
          <p:cNvSpPr>
            <a:spLocks noChangeArrowheads="1"/>
          </p:cNvSpPr>
          <p:nvPr/>
        </p:nvSpPr>
        <p:spPr bwMode="auto">
          <a:xfrm>
            <a:off x="1828800" y="985339"/>
            <a:ext cx="1371600" cy="381000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accent6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 dirty="0">
                <a:latin typeface="Courier New" panose="02070309020205020404" pitchFamily="49" charset="0"/>
              </a:rPr>
              <a:t>…</a:t>
            </a:r>
          </a:p>
        </p:txBody>
      </p:sp>
      <p:sp>
        <p:nvSpPr>
          <p:cNvPr id="29" name="Rectangle 15"/>
          <p:cNvSpPr>
            <a:spLocks noChangeArrowheads="1"/>
          </p:cNvSpPr>
          <p:nvPr/>
        </p:nvSpPr>
        <p:spPr bwMode="auto">
          <a:xfrm>
            <a:off x="1828800" y="1374775"/>
            <a:ext cx="13716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2400" b="1" dirty="0">
              <a:latin typeface="Courier New" panose="02070309020205020404" pitchFamily="49" charset="0"/>
            </a:endParaRPr>
          </a:p>
        </p:txBody>
      </p:sp>
      <p:sp>
        <p:nvSpPr>
          <p:cNvPr id="31" name="Rectangle 29"/>
          <p:cNvSpPr>
            <a:spLocks noChangeArrowheads="1"/>
          </p:cNvSpPr>
          <p:nvPr/>
        </p:nvSpPr>
        <p:spPr bwMode="auto">
          <a:xfrm>
            <a:off x="1828800" y="1755775"/>
            <a:ext cx="1371600" cy="644525"/>
          </a:xfrm>
          <a:prstGeom prst="rect">
            <a:avLst/>
          </a:prstGeom>
          <a:solidFill>
            <a:schemeClr val="bg2"/>
          </a:solidFill>
          <a:ln w="19050" algn="ctr">
            <a:solidFill>
              <a:schemeClr val="accent6">
                <a:lumMod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…</a:t>
            </a:r>
          </a:p>
          <a:p>
            <a:pPr algn="ctr"/>
            <a:r>
              <a:rPr lang="en-US" altLang="en-US" dirty="0"/>
              <a:t>…</a:t>
            </a:r>
          </a:p>
        </p:txBody>
      </p:sp>
      <p:sp>
        <p:nvSpPr>
          <p:cNvPr id="32" name="Text Box 23"/>
          <p:cNvSpPr txBox="1">
            <a:spLocks noChangeArrowheads="1"/>
          </p:cNvSpPr>
          <p:nvPr/>
        </p:nvSpPr>
        <p:spPr bwMode="auto">
          <a:xfrm>
            <a:off x="340722" y="1223234"/>
            <a:ext cx="1409701" cy="830991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data block</a:t>
            </a:r>
          </a:p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of a directory</a:t>
            </a:r>
          </a:p>
        </p:txBody>
      </p:sp>
      <p:cxnSp>
        <p:nvCxnSpPr>
          <p:cNvPr id="5" name="Elbow Connector 4"/>
          <p:cNvCxnSpPr>
            <a:stCxn id="29" idx="3"/>
            <a:endCxn id="37" idx="1"/>
          </p:cNvCxnSpPr>
          <p:nvPr/>
        </p:nvCxnSpPr>
        <p:spPr>
          <a:xfrm>
            <a:off x="3200400" y="1565275"/>
            <a:ext cx="1435825" cy="1025525"/>
          </a:xfrm>
          <a:prstGeom prst="bentConnector4">
            <a:avLst>
              <a:gd name="adj1" fmla="val 45611"/>
              <a:gd name="adj2" fmla="val 9"/>
            </a:avLst>
          </a:prstGeom>
          <a:ln w="22225">
            <a:solidFill>
              <a:schemeClr val="tx1"/>
            </a:solidFill>
            <a:tailEnd type="arrow" w="lg" len="lg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7" name="AutoShape 16"/>
          <p:cNvSpPr>
            <a:spLocks/>
          </p:cNvSpPr>
          <p:nvPr/>
        </p:nvSpPr>
        <p:spPr bwMode="auto">
          <a:xfrm rot="5400000" flipH="1">
            <a:off x="4510179" y="-1333729"/>
            <a:ext cx="252093" cy="8101151"/>
          </a:xfrm>
          <a:prstGeom prst="rightBrace">
            <a:avLst>
              <a:gd name="adj1" fmla="val 22917"/>
              <a:gd name="adj2" fmla="val 50000"/>
            </a:avLst>
          </a:prstGeom>
          <a:noFill/>
          <a:ln w="1587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40" name="Text Box 23"/>
          <p:cNvSpPr txBox="1">
            <a:spLocks noChangeArrowheads="1"/>
          </p:cNvSpPr>
          <p:nvPr/>
        </p:nvSpPr>
        <p:spPr bwMode="auto">
          <a:xfrm>
            <a:off x="4424499" y="938913"/>
            <a:ext cx="2762250" cy="107721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square" lIns="91434" tIns="45717" rIns="91434" bIns="45717">
            <a:spAutoFit/>
          </a:bodyPr>
          <a:lstStyle/>
          <a:p>
            <a:pPr algn="ctr"/>
            <a:r>
              <a:rPr lang="en-US" altLang="en-US" sz="1600" b="1" dirty="0">
                <a:latin typeface="Courier New" panose="02070309020205020404" pitchFamily="49" charset="0"/>
              </a:rPr>
              <a:t>each file/subdirectory is represented as a directory entry</a:t>
            </a:r>
          </a:p>
        </p:txBody>
      </p:sp>
      <p:sp>
        <p:nvSpPr>
          <p:cNvPr id="34" name="Rounded Rectangle 43"/>
          <p:cNvSpPr/>
          <p:nvPr/>
        </p:nvSpPr>
        <p:spPr>
          <a:xfrm>
            <a:off x="533400" y="3194106"/>
            <a:ext cx="8153400" cy="844494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46692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9" grpId="0" animBg="1"/>
      <p:bldP spid="31" grpId="0" animBg="1"/>
      <p:bldP spid="32" grpId="0"/>
      <p:bldP spid="40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561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Entry Fields</a:t>
            </a:r>
          </a:p>
        </p:txBody>
      </p:sp>
      <p:sp>
        <p:nvSpPr>
          <p:cNvPr id="113561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Name + Extension</a:t>
            </a:r>
          </a:p>
          <a:p>
            <a:pPr lvl="1"/>
            <a:r>
              <a:rPr lang="en-US" altLang="en-US" dirty="0"/>
              <a:t>Limited to 8+3 characters</a:t>
            </a:r>
          </a:p>
          <a:p>
            <a:pPr lvl="1"/>
            <a:r>
              <a:rPr lang="en-US" altLang="en-US" dirty="0"/>
              <a:t>The first byte of file name may have special meaning:</a:t>
            </a:r>
          </a:p>
          <a:p>
            <a:pPr lvl="2"/>
            <a:r>
              <a:rPr lang="en-US" altLang="en-US" dirty="0"/>
              <a:t> Deleted, End of directory entries, Parent directory, etc.</a:t>
            </a:r>
          </a:p>
          <a:p>
            <a:r>
              <a:rPr lang="en-US" altLang="en-US" dirty="0"/>
              <a:t>File Creation Time and Date:</a:t>
            </a:r>
          </a:p>
          <a:p>
            <a:pPr lvl="1"/>
            <a:r>
              <a:rPr lang="en-US" altLang="en-US" dirty="0"/>
              <a:t>Year is limited to 1980 to 2107</a:t>
            </a:r>
          </a:p>
          <a:p>
            <a:pPr lvl="1"/>
            <a:r>
              <a:rPr lang="en-US" altLang="en-US" dirty="0"/>
              <a:t>Accuracy of second is </a:t>
            </a:r>
            <a:r>
              <a:rPr lang="en-US" altLang="en-US" dirty="0">
                <a:cs typeface="Arial" panose="020B0604020202020204" pitchFamily="34" charset="0"/>
              </a:rPr>
              <a:t>±2 seconds</a:t>
            </a:r>
          </a:p>
          <a:p>
            <a:r>
              <a:rPr lang="en-US" altLang="en-US" dirty="0"/>
              <a:t>First Disk Block Index:</a:t>
            </a:r>
          </a:p>
          <a:p>
            <a:pPr lvl="1"/>
            <a:r>
              <a:rPr lang="en-US" altLang="en-US" dirty="0"/>
              <a:t>Different variants uses different number of bits:</a:t>
            </a:r>
          </a:p>
          <a:p>
            <a:pPr lvl="2"/>
            <a:r>
              <a:rPr lang="en-US" altLang="en-US" dirty="0"/>
              <a:t>12, 16 and 32 bits for FAT12, FAT16 and FAT32 respectively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006728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254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FAT FS: Putting the parts together… </a:t>
            </a:r>
          </a:p>
        </p:txBody>
      </p:sp>
      <p:sp>
        <p:nvSpPr>
          <p:cNvPr id="1132548" name="Rectangle 4"/>
          <p:cNvSpPr>
            <a:spLocks noChangeArrowheads="1"/>
          </p:cNvSpPr>
          <p:nvPr/>
        </p:nvSpPr>
        <p:spPr bwMode="auto">
          <a:xfrm>
            <a:off x="4724400" y="1219200"/>
            <a:ext cx="1371600" cy="48006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0" name="Text Box 6"/>
          <p:cNvSpPr txBox="1">
            <a:spLocks noChangeArrowheads="1"/>
          </p:cNvSpPr>
          <p:nvPr/>
        </p:nvSpPr>
        <p:spPr bwMode="auto">
          <a:xfrm>
            <a:off x="4800600" y="6019800"/>
            <a:ext cx="1101725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815" tIns="40407" rIns="80815" bIns="40407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/>
              <a:t>FAT</a:t>
            </a:r>
          </a:p>
          <a:p>
            <a:pPr algn="ctr"/>
            <a:r>
              <a:rPr lang="en-US" altLang="en-US" b="1"/>
              <a:t>(in RAM)</a:t>
            </a:r>
          </a:p>
        </p:txBody>
      </p:sp>
      <p:sp>
        <p:nvSpPr>
          <p:cNvPr id="1132551" name="Rectangle 7"/>
          <p:cNvSpPr>
            <a:spLocks noChangeArrowheads="1"/>
          </p:cNvSpPr>
          <p:nvPr/>
        </p:nvSpPr>
        <p:spPr bwMode="auto">
          <a:xfrm>
            <a:off x="4725988" y="1219200"/>
            <a:ext cx="1373187" cy="381000"/>
          </a:xfrm>
          <a:prstGeom prst="rect">
            <a:avLst/>
          </a:prstGeom>
          <a:solidFill>
            <a:srgbClr val="FFEB97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555" name="Rectangle 11"/>
          <p:cNvSpPr>
            <a:spLocks noChangeArrowheads="1"/>
          </p:cNvSpPr>
          <p:nvPr/>
        </p:nvSpPr>
        <p:spPr bwMode="auto">
          <a:xfrm>
            <a:off x="4724400" y="1600200"/>
            <a:ext cx="1371600" cy="381000"/>
          </a:xfrm>
          <a:prstGeom prst="rect">
            <a:avLst/>
          </a:prstGeom>
          <a:solidFill>
            <a:srgbClr val="C0C0C0">
              <a:alpha val="50000"/>
            </a:srgb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80815" tIns="40407" rIns="80815" bIns="4040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>
                <a:solidFill>
                  <a:srgbClr val="800000"/>
                </a:solidFill>
              </a:rPr>
              <a:t>BAD</a:t>
            </a:r>
          </a:p>
        </p:txBody>
      </p:sp>
      <p:sp>
        <p:nvSpPr>
          <p:cNvPr id="1132556" name="Rectangle 12"/>
          <p:cNvSpPr>
            <a:spLocks noChangeArrowheads="1"/>
          </p:cNvSpPr>
          <p:nvPr/>
        </p:nvSpPr>
        <p:spPr bwMode="auto">
          <a:xfrm>
            <a:off x="4724400" y="1981200"/>
            <a:ext cx="1371600" cy="381000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 b="1">
                <a:solidFill>
                  <a:schemeClr val="tx2"/>
                </a:solidFill>
              </a:rPr>
              <a:t>EOF</a:t>
            </a:r>
          </a:p>
        </p:txBody>
      </p:sp>
      <p:sp>
        <p:nvSpPr>
          <p:cNvPr id="1132557" name="Rectangle 13"/>
          <p:cNvSpPr>
            <a:spLocks noChangeArrowheads="1"/>
          </p:cNvSpPr>
          <p:nvPr/>
        </p:nvSpPr>
        <p:spPr bwMode="auto">
          <a:xfrm>
            <a:off x="4724400" y="2362200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 dirty="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132558" name="Rectangle 14"/>
          <p:cNvSpPr>
            <a:spLocks noChangeArrowheads="1"/>
          </p:cNvSpPr>
          <p:nvPr/>
        </p:nvSpPr>
        <p:spPr bwMode="auto">
          <a:xfrm>
            <a:off x="4724400" y="2743200"/>
            <a:ext cx="1371600" cy="3810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>
                <a:solidFill>
                  <a:srgbClr val="008000"/>
                </a:solidFill>
              </a:rPr>
              <a:t>FREE</a:t>
            </a:r>
          </a:p>
        </p:txBody>
      </p:sp>
      <p:sp>
        <p:nvSpPr>
          <p:cNvPr id="1132559" name="Rectangle 15"/>
          <p:cNvSpPr>
            <a:spLocks noChangeArrowheads="1"/>
          </p:cNvSpPr>
          <p:nvPr/>
        </p:nvSpPr>
        <p:spPr bwMode="auto">
          <a:xfrm>
            <a:off x="4724400" y="3124200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132560" name="Rectangle 16"/>
          <p:cNvSpPr>
            <a:spLocks noChangeArrowheads="1"/>
          </p:cNvSpPr>
          <p:nvPr/>
        </p:nvSpPr>
        <p:spPr bwMode="auto">
          <a:xfrm>
            <a:off x="4724400" y="3505200"/>
            <a:ext cx="13716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rgbClr val="0070C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132561" name="Rectangle 17"/>
          <p:cNvSpPr>
            <a:spLocks noChangeArrowheads="1"/>
          </p:cNvSpPr>
          <p:nvPr/>
        </p:nvSpPr>
        <p:spPr bwMode="auto">
          <a:xfrm>
            <a:off x="4724400" y="3886200"/>
            <a:ext cx="13716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rgbClr val="0070C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solidFill>
                  <a:schemeClr val="tx2"/>
                </a:solidFill>
              </a:rPr>
              <a:t>EOF</a:t>
            </a:r>
          </a:p>
        </p:txBody>
      </p:sp>
      <p:sp>
        <p:nvSpPr>
          <p:cNvPr id="1132562" name="Rectangle 18"/>
          <p:cNvSpPr>
            <a:spLocks noChangeArrowheads="1"/>
          </p:cNvSpPr>
          <p:nvPr/>
        </p:nvSpPr>
        <p:spPr bwMode="auto">
          <a:xfrm>
            <a:off x="4724400" y="4267200"/>
            <a:ext cx="13716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solidFill>
                  <a:schemeClr val="tx2"/>
                </a:solidFill>
              </a:rPr>
              <a:t>EOF</a:t>
            </a:r>
          </a:p>
        </p:txBody>
      </p:sp>
      <p:sp>
        <p:nvSpPr>
          <p:cNvPr id="1132563" name="Text Box 19"/>
          <p:cNvSpPr txBox="1">
            <a:spLocks noChangeArrowheads="1"/>
          </p:cNvSpPr>
          <p:nvPr/>
        </p:nvSpPr>
        <p:spPr bwMode="auto">
          <a:xfrm>
            <a:off x="4404316" y="1219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132564" name="Text Box 20"/>
          <p:cNvSpPr txBox="1">
            <a:spLocks noChangeArrowheads="1"/>
          </p:cNvSpPr>
          <p:nvPr/>
        </p:nvSpPr>
        <p:spPr bwMode="auto">
          <a:xfrm>
            <a:off x="4404316" y="1600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132565" name="Text Box 21"/>
          <p:cNvSpPr txBox="1">
            <a:spLocks noChangeArrowheads="1"/>
          </p:cNvSpPr>
          <p:nvPr/>
        </p:nvSpPr>
        <p:spPr bwMode="auto">
          <a:xfrm>
            <a:off x="4404316" y="1981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132566" name="Text Box 22"/>
          <p:cNvSpPr txBox="1">
            <a:spLocks noChangeArrowheads="1"/>
          </p:cNvSpPr>
          <p:nvPr/>
        </p:nvSpPr>
        <p:spPr bwMode="auto">
          <a:xfrm>
            <a:off x="4404316" y="2362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132567" name="Text Box 23"/>
          <p:cNvSpPr txBox="1">
            <a:spLocks noChangeArrowheads="1"/>
          </p:cNvSpPr>
          <p:nvPr/>
        </p:nvSpPr>
        <p:spPr bwMode="auto">
          <a:xfrm>
            <a:off x="4404316" y="2743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1132568" name="Text Box 24"/>
          <p:cNvSpPr txBox="1">
            <a:spLocks noChangeArrowheads="1"/>
          </p:cNvSpPr>
          <p:nvPr/>
        </p:nvSpPr>
        <p:spPr bwMode="auto">
          <a:xfrm>
            <a:off x="4404316" y="3124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132569" name="Text Box 25"/>
          <p:cNvSpPr txBox="1">
            <a:spLocks noChangeArrowheads="1"/>
          </p:cNvSpPr>
          <p:nvPr/>
        </p:nvSpPr>
        <p:spPr bwMode="auto">
          <a:xfrm>
            <a:off x="4404316" y="3505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132570" name="Text Box 26"/>
          <p:cNvSpPr txBox="1">
            <a:spLocks noChangeArrowheads="1"/>
          </p:cNvSpPr>
          <p:nvPr/>
        </p:nvSpPr>
        <p:spPr bwMode="auto">
          <a:xfrm>
            <a:off x="4404316" y="3886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132571" name="Text Box 27"/>
          <p:cNvSpPr txBox="1">
            <a:spLocks noChangeArrowheads="1"/>
          </p:cNvSpPr>
          <p:nvPr/>
        </p:nvSpPr>
        <p:spPr bwMode="auto">
          <a:xfrm>
            <a:off x="4404316" y="4267200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132572" name="Rectangle 28"/>
          <p:cNvSpPr>
            <a:spLocks noChangeArrowheads="1"/>
          </p:cNvSpPr>
          <p:nvPr/>
        </p:nvSpPr>
        <p:spPr bwMode="auto">
          <a:xfrm>
            <a:off x="4724400" y="4648200"/>
            <a:ext cx="1371600" cy="381000"/>
          </a:xfrm>
          <a:prstGeom prst="rect">
            <a:avLst/>
          </a:prstGeom>
          <a:solidFill>
            <a:srgbClr val="FFFFFF"/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>
                <a:solidFill>
                  <a:srgbClr val="008000"/>
                </a:solidFill>
              </a:rPr>
              <a:t>FREE</a:t>
            </a:r>
          </a:p>
        </p:txBody>
      </p:sp>
      <p:sp>
        <p:nvSpPr>
          <p:cNvPr id="1132573" name="Rectangle 29"/>
          <p:cNvSpPr>
            <a:spLocks noChangeArrowheads="1"/>
          </p:cNvSpPr>
          <p:nvPr/>
        </p:nvSpPr>
        <p:spPr bwMode="auto">
          <a:xfrm>
            <a:off x="4724400" y="5029200"/>
            <a:ext cx="1371600" cy="990600"/>
          </a:xfrm>
          <a:prstGeom prst="rect">
            <a:avLst/>
          </a:prstGeom>
          <a:solidFill>
            <a:srgbClr val="FFEB97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/>
            <a:r>
              <a:rPr lang="en-US" altLang="en-US"/>
              <a:t>…</a:t>
            </a:r>
          </a:p>
          <a:p>
            <a:pPr algn="ctr"/>
            <a:r>
              <a:rPr lang="en-US" altLang="en-US"/>
              <a:t>…</a:t>
            </a:r>
          </a:p>
          <a:p>
            <a:pPr algn="ctr"/>
            <a:r>
              <a:rPr lang="en-US" altLang="en-US"/>
              <a:t>…</a:t>
            </a:r>
          </a:p>
        </p:txBody>
      </p:sp>
      <p:grpSp>
        <p:nvGrpSpPr>
          <p:cNvPr id="1132595" name="Group 51"/>
          <p:cNvGrpSpPr>
            <a:grpSpLocks/>
          </p:cNvGrpSpPr>
          <p:nvPr/>
        </p:nvGrpSpPr>
        <p:grpSpPr bwMode="auto">
          <a:xfrm>
            <a:off x="609600" y="2133600"/>
            <a:ext cx="2741613" cy="455613"/>
            <a:chOff x="528" y="1392"/>
            <a:chExt cx="1727" cy="383"/>
          </a:xfrm>
        </p:grpSpPr>
        <p:sp>
          <p:nvSpPr>
            <p:cNvPr id="1132577" name="Rectangle 33"/>
            <p:cNvSpPr>
              <a:spLocks noChangeArrowheads="1"/>
            </p:cNvSpPr>
            <p:nvPr/>
          </p:nvSpPr>
          <p:spPr bwMode="auto">
            <a:xfrm>
              <a:off x="528" y="1392"/>
              <a:ext cx="1727" cy="38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78" name="Rectangle 34"/>
            <p:cNvSpPr>
              <a:spLocks noChangeArrowheads="1"/>
            </p:cNvSpPr>
            <p:nvPr/>
          </p:nvSpPr>
          <p:spPr bwMode="auto">
            <a:xfrm>
              <a:off x="528" y="1392"/>
              <a:ext cx="816" cy="3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ex1.c</a:t>
              </a:r>
            </a:p>
          </p:txBody>
        </p:sp>
        <p:sp>
          <p:nvSpPr>
            <p:cNvPr id="1132580" name="Rectangle 36"/>
            <p:cNvSpPr>
              <a:spLocks noChangeArrowheads="1"/>
            </p:cNvSpPr>
            <p:nvPr/>
          </p:nvSpPr>
          <p:spPr bwMode="auto">
            <a:xfrm>
              <a:off x="1776" y="1392"/>
              <a:ext cx="240" cy="3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3</a:t>
              </a:r>
            </a:p>
          </p:txBody>
        </p:sp>
      </p:grpSp>
      <p:sp>
        <p:nvSpPr>
          <p:cNvPr id="1132587" name="Text Box 43"/>
          <p:cNvSpPr txBox="1">
            <a:spLocks noChangeArrowheads="1"/>
          </p:cNvSpPr>
          <p:nvPr/>
        </p:nvSpPr>
        <p:spPr bwMode="auto">
          <a:xfrm>
            <a:off x="609600" y="5257800"/>
            <a:ext cx="2895600" cy="11906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pPr algn="ctr"/>
            <a:r>
              <a:rPr lang="en-US" altLang="en-US" b="1" dirty="0"/>
              <a:t>Directory Entries</a:t>
            </a:r>
          </a:p>
          <a:p>
            <a:pPr algn="ctr"/>
            <a:r>
              <a:rPr lang="en-US" altLang="en-US" dirty="0"/>
              <a:t>(in a Disk Data Block)</a:t>
            </a:r>
          </a:p>
          <a:p>
            <a:pPr algn="ctr"/>
            <a:r>
              <a:rPr lang="en-US" altLang="en-US" b="1" dirty="0"/>
              <a:t>Recently accessed directory can be cached</a:t>
            </a:r>
          </a:p>
        </p:txBody>
      </p:sp>
      <p:grpSp>
        <p:nvGrpSpPr>
          <p:cNvPr id="1132600" name="Group 56"/>
          <p:cNvGrpSpPr>
            <a:grpSpLocks/>
          </p:cNvGrpSpPr>
          <p:nvPr/>
        </p:nvGrpSpPr>
        <p:grpSpPr bwMode="auto">
          <a:xfrm>
            <a:off x="609600" y="2589213"/>
            <a:ext cx="2741613" cy="457200"/>
            <a:chOff x="528" y="1776"/>
            <a:chExt cx="1727" cy="383"/>
          </a:xfrm>
        </p:grpSpPr>
        <p:sp>
          <p:nvSpPr>
            <p:cNvPr id="1132589" name="Rectangle 45"/>
            <p:cNvSpPr>
              <a:spLocks noChangeArrowheads="1"/>
            </p:cNvSpPr>
            <p:nvPr/>
          </p:nvSpPr>
          <p:spPr bwMode="auto">
            <a:xfrm>
              <a:off x="528" y="1776"/>
              <a:ext cx="1727" cy="38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90" name="Rectangle 46"/>
            <p:cNvSpPr>
              <a:spLocks noChangeArrowheads="1"/>
            </p:cNvSpPr>
            <p:nvPr/>
          </p:nvSpPr>
          <p:spPr bwMode="auto">
            <a:xfrm>
              <a:off x="528" y="1776"/>
              <a:ext cx="816" cy="3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ex2.c</a:t>
              </a:r>
            </a:p>
          </p:txBody>
        </p:sp>
        <p:sp>
          <p:nvSpPr>
            <p:cNvPr id="1132591" name="Rectangle 47"/>
            <p:cNvSpPr>
              <a:spLocks noChangeArrowheads="1"/>
            </p:cNvSpPr>
            <p:nvPr/>
          </p:nvSpPr>
          <p:spPr bwMode="auto">
            <a:xfrm>
              <a:off x="1776" y="1776"/>
              <a:ext cx="240" cy="3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6</a:t>
              </a:r>
            </a:p>
          </p:txBody>
        </p:sp>
      </p:grpSp>
      <p:grpSp>
        <p:nvGrpSpPr>
          <p:cNvPr id="1132601" name="Group 57"/>
          <p:cNvGrpSpPr>
            <a:grpSpLocks/>
          </p:cNvGrpSpPr>
          <p:nvPr/>
        </p:nvGrpSpPr>
        <p:grpSpPr bwMode="auto">
          <a:xfrm>
            <a:off x="609600" y="3046413"/>
            <a:ext cx="2741613" cy="457200"/>
            <a:chOff x="528" y="2160"/>
            <a:chExt cx="1727" cy="383"/>
          </a:xfrm>
        </p:grpSpPr>
        <p:sp>
          <p:nvSpPr>
            <p:cNvPr id="1132592" name="Rectangle 48"/>
            <p:cNvSpPr>
              <a:spLocks noChangeArrowheads="1"/>
            </p:cNvSpPr>
            <p:nvPr/>
          </p:nvSpPr>
          <p:spPr bwMode="auto">
            <a:xfrm>
              <a:off x="528" y="2160"/>
              <a:ext cx="1727" cy="38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93" name="Rectangle 49"/>
            <p:cNvSpPr>
              <a:spLocks noChangeArrowheads="1"/>
            </p:cNvSpPr>
            <p:nvPr/>
          </p:nvSpPr>
          <p:spPr bwMode="auto">
            <a:xfrm>
              <a:off x="528" y="2160"/>
              <a:ext cx="816" cy="3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test/</a:t>
              </a:r>
            </a:p>
          </p:txBody>
        </p:sp>
        <p:sp>
          <p:nvSpPr>
            <p:cNvPr id="1132594" name="Rectangle 50"/>
            <p:cNvSpPr>
              <a:spLocks noChangeArrowheads="1"/>
            </p:cNvSpPr>
            <p:nvPr/>
          </p:nvSpPr>
          <p:spPr bwMode="auto">
            <a:xfrm>
              <a:off x="1776" y="2160"/>
              <a:ext cx="240" cy="383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2</a:t>
              </a:r>
            </a:p>
          </p:txBody>
        </p:sp>
      </p:grpSp>
      <p:grpSp>
        <p:nvGrpSpPr>
          <p:cNvPr id="1132599" name="Group 55"/>
          <p:cNvGrpSpPr>
            <a:grpSpLocks/>
          </p:cNvGrpSpPr>
          <p:nvPr/>
        </p:nvGrpSpPr>
        <p:grpSpPr bwMode="auto">
          <a:xfrm>
            <a:off x="609600" y="3503613"/>
            <a:ext cx="2741613" cy="1752600"/>
            <a:chOff x="528" y="2544"/>
            <a:chExt cx="1727" cy="383"/>
          </a:xfrm>
        </p:grpSpPr>
        <p:sp>
          <p:nvSpPr>
            <p:cNvPr id="1132596" name="Rectangle 52"/>
            <p:cNvSpPr>
              <a:spLocks noChangeArrowheads="1"/>
            </p:cNvSpPr>
            <p:nvPr/>
          </p:nvSpPr>
          <p:spPr bwMode="auto">
            <a:xfrm>
              <a:off x="528" y="2544"/>
              <a:ext cx="1727" cy="38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32597" name="Rectangle 53"/>
            <p:cNvSpPr>
              <a:spLocks noChangeArrowheads="1"/>
            </p:cNvSpPr>
            <p:nvPr/>
          </p:nvSpPr>
          <p:spPr bwMode="auto">
            <a:xfrm>
              <a:off x="528" y="2544"/>
              <a:ext cx="816" cy="383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>
                  <a:latin typeface="Courier New" panose="02070309020205020404" pitchFamily="49" charset="0"/>
                </a:rPr>
                <a:t>...</a:t>
              </a:r>
            </a:p>
          </p:txBody>
        </p:sp>
        <p:sp>
          <p:nvSpPr>
            <p:cNvPr id="1132598" name="Rectangle 54"/>
            <p:cNvSpPr>
              <a:spLocks noChangeArrowheads="1"/>
            </p:cNvSpPr>
            <p:nvPr/>
          </p:nvSpPr>
          <p:spPr bwMode="auto">
            <a:xfrm>
              <a:off x="1776" y="2544"/>
              <a:ext cx="240" cy="38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</p:grpSp>
      <p:sp>
        <p:nvSpPr>
          <p:cNvPr id="1132602" name="Rectangle 58"/>
          <p:cNvSpPr>
            <a:spLocks noChangeArrowheads="1"/>
          </p:cNvSpPr>
          <p:nvPr/>
        </p:nvSpPr>
        <p:spPr bwMode="auto">
          <a:xfrm>
            <a:off x="7700963" y="1066800"/>
            <a:ext cx="4572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2603" name="Text Box 59"/>
          <p:cNvSpPr txBox="1">
            <a:spLocks noChangeArrowheads="1"/>
          </p:cNvSpPr>
          <p:nvPr/>
        </p:nvSpPr>
        <p:spPr bwMode="auto">
          <a:xfrm>
            <a:off x="7391400" y="1066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132604" name="Rectangle 60"/>
          <p:cNvSpPr>
            <a:spLocks noChangeArrowheads="1"/>
          </p:cNvSpPr>
          <p:nvPr/>
        </p:nvSpPr>
        <p:spPr bwMode="auto">
          <a:xfrm>
            <a:off x="7700963" y="1447800"/>
            <a:ext cx="457200" cy="3810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2605" name="Text Box 61"/>
          <p:cNvSpPr txBox="1">
            <a:spLocks noChangeArrowheads="1"/>
          </p:cNvSpPr>
          <p:nvPr/>
        </p:nvSpPr>
        <p:spPr bwMode="auto">
          <a:xfrm>
            <a:off x="7391400" y="1447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1</a:t>
            </a:r>
          </a:p>
        </p:txBody>
      </p:sp>
      <p:sp>
        <p:nvSpPr>
          <p:cNvPr id="1132606" name="Rectangle 62"/>
          <p:cNvSpPr>
            <a:spLocks noChangeArrowheads="1"/>
          </p:cNvSpPr>
          <p:nvPr/>
        </p:nvSpPr>
        <p:spPr bwMode="auto">
          <a:xfrm>
            <a:off x="7700963" y="1828800"/>
            <a:ext cx="457200" cy="381000"/>
          </a:xfrm>
          <a:prstGeom prst="rect">
            <a:avLst/>
          </a:prstGeom>
          <a:solidFill>
            <a:srgbClr val="FFFF99"/>
          </a:solidFill>
          <a:ln w="19050" algn="ctr">
            <a:solidFill>
              <a:srgbClr val="CC99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607" name="Text Box 63"/>
          <p:cNvSpPr txBox="1">
            <a:spLocks noChangeArrowheads="1"/>
          </p:cNvSpPr>
          <p:nvPr/>
        </p:nvSpPr>
        <p:spPr bwMode="auto">
          <a:xfrm>
            <a:off x="7391400" y="1828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2</a:t>
            </a:r>
          </a:p>
        </p:txBody>
      </p:sp>
      <p:sp>
        <p:nvSpPr>
          <p:cNvPr id="1132608" name="Rectangle 64"/>
          <p:cNvSpPr>
            <a:spLocks noChangeArrowheads="1"/>
          </p:cNvSpPr>
          <p:nvPr/>
        </p:nvSpPr>
        <p:spPr bwMode="auto">
          <a:xfrm>
            <a:off x="7700963" y="2209800"/>
            <a:ext cx="4572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66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609" name="Text Box 65"/>
          <p:cNvSpPr txBox="1">
            <a:spLocks noChangeArrowheads="1"/>
          </p:cNvSpPr>
          <p:nvPr/>
        </p:nvSpPr>
        <p:spPr bwMode="auto">
          <a:xfrm>
            <a:off x="7391400" y="2209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3</a:t>
            </a:r>
          </a:p>
        </p:txBody>
      </p:sp>
      <p:sp>
        <p:nvSpPr>
          <p:cNvPr id="1132610" name="Rectangle 66"/>
          <p:cNvSpPr>
            <a:spLocks noChangeArrowheads="1"/>
          </p:cNvSpPr>
          <p:nvPr/>
        </p:nvSpPr>
        <p:spPr bwMode="auto">
          <a:xfrm>
            <a:off x="7700963" y="2590800"/>
            <a:ext cx="4572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2611" name="Text Box 67"/>
          <p:cNvSpPr txBox="1">
            <a:spLocks noChangeArrowheads="1"/>
          </p:cNvSpPr>
          <p:nvPr/>
        </p:nvSpPr>
        <p:spPr bwMode="auto">
          <a:xfrm>
            <a:off x="7391400" y="2590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4</a:t>
            </a:r>
          </a:p>
        </p:txBody>
      </p:sp>
      <p:sp>
        <p:nvSpPr>
          <p:cNvPr id="1132612" name="Rectangle 68"/>
          <p:cNvSpPr>
            <a:spLocks noChangeArrowheads="1"/>
          </p:cNvSpPr>
          <p:nvPr/>
        </p:nvSpPr>
        <p:spPr bwMode="auto">
          <a:xfrm>
            <a:off x="7700963" y="2971800"/>
            <a:ext cx="4572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66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613" name="Text Box 69"/>
          <p:cNvSpPr txBox="1">
            <a:spLocks noChangeArrowheads="1"/>
          </p:cNvSpPr>
          <p:nvPr/>
        </p:nvSpPr>
        <p:spPr bwMode="auto">
          <a:xfrm>
            <a:off x="7391400" y="2971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5</a:t>
            </a:r>
          </a:p>
        </p:txBody>
      </p:sp>
      <p:sp>
        <p:nvSpPr>
          <p:cNvPr id="1132614" name="Rectangle 70"/>
          <p:cNvSpPr>
            <a:spLocks noChangeArrowheads="1"/>
          </p:cNvSpPr>
          <p:nvPr/>
        </p:nvSpPr>
        <p:spPr bwMode="auto">
          <a:xfrm>
            <a:off x="7700963" y="3352800"/>
            <a:ext cx="4572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615" name="Text Box 71"/>
          <p:cNvSpPr txBox="1">
            <a:spLocks noChangeArrowheads="1"/>
          </p:cNvSpPr>
          <p:nvPr/>
        </p:nvSpPr>
        <p:spPr bwMode="auto">
          <a:xfrm>
            <a:off x="7391400" y="3352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6</a:t>
            </a:r>
          </a:p>
        </p:txBody>
      </p:sp>
      <p:sp>
        <p:nvSpPr>
          <p:cNvPr id="1132616" name="Rectangle 72"/>
          <p:cNvSpPr>
            <a:spLocks noChangeArrowheads="1"/>
          </p:cNvSpPr>
          <p:nvPr/>
        </p:nvSpPr>
        <p:spPr bwMode="auto">
          <a:xfrm>
            <a:off x="7700963" y="3733800"/>
            <a:ext cx="457200" cy="3810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accent3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617" name="Text Box 73"/>
          <p:cNvSpPr txBox="1">
            <a:spLocks noChangeArrowheads="1"/>
          </p:cNvSpPr>
          <p:nvPr/>
        </p:nvSpPr>
        <p:spPr bwMode="auto">
          <a:xfrm>
            <a:off x="7391400" y="3733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7</a:t>
            </a:r>
          </a:p>
        </p:txBody>
      </p:sp>
      <p:sp>
        <p:nvSpPr>
          <p:cNvPr id="1132634" name="Rectangle 90"/>
          <p:cNvSpPr>
            <a:spLocks noChangeArrowheads="1"/>
          </p:cNvSpPr>
          <p:nvPr/>
        </p:nvSpPr>
        <p:spPr bwMode="auto">
          <a:xfrm>
            <a:off x="7700963" y="4114800"/>
            <a:ext cx="457200" cy="381000"/>
          </a:xfrm>
          <a:prstGeom prst="rect">
            <a:avLst/>
          </a:prstGeom>
          <a:solidFill>
            <a:srgbClr val="CCFFCC"/>
          </a:solidFill>
          <a:ln w="19050" algn="ctr">
            <a:solidFill>
              <a:srgbClr val="0066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32635" name="Text Box 91"/>
          <p:cNvSpPr txBox="1">
            <a:spLocks noChangeArrowheads="1"/>
          </p:cNvSpPr>
          <p:nvPr/>
        </p:nvSpPr>
        <p:spPr bwMode="auto">
          <a:xfrm>
            <a:off x="7391400" y="4114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8</a:t>
            </a:r>
          </a:p>
        </p:txBody>
      </p:sp>
      <p:sp>
        <p:nvSpPr>
          <p:cNvPr id="1132636" name="Rectangle 92"/>
          <p:cNvSpPr>
            <a:spLocks noChangeArrowheads="1"/>
          </p:cNvSpPr>
          <p:nvPr/>
        </p:nvSpPr>
        <p:spPr bwMode="auto">
          <a:xfrm>
            <a:off x="7700963" y="4495800"/>
            <a:ext cx="457200" cy="3810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50000"/>
                <a:lumOff val="50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2637" name="Text Box 93"/>
          <p:cNvSpPr txBox="1">
            <a:spLocks noChangeArrowheads="1"/>
          </p:cNvSpPr>
          <p:nvPr/>
        </p:nvSpPr>
        <p:spPr bwMode="auto">
          <a:xfrm>
            <a:off x="7391400" y="4495800"/>
            <a:ext cx="306388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1600"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1132638" name="Rectangle 94"/>
          <p:cNvSpPr>
            <a:spLocks noChangeArrowheads="1"/>
          </p:cNvSpPr>
          <p:nvPr/>
        </p:nvSpPr>
        <p:spPr bwMode="auto">
          <a:xfrm>
            <a:off x="7700963" y="4876800"/>
            <a:ext cx="457200" cy="1066800"/>
          </a:xfrm>
          <a:prstGeom prst="rect">
            <a:avLst/>
          </a:prstGeom>
          <a:solidFill>
            <a:schemeClr val="bg1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32640" name="Text Box 96"/>
          <p:cNvSpPr txBox="1">
            <a:spLocks noChangeArrowheads="1"/>
          </p:cNvSpPr>
          <p:nvPr/>
        </p:nvSpPr>
        <p:spPr bwMode="auto">
          <a:xfrm>
            <a:off x="7162800" y="6019800"/>
            <a:ext cx="1676400" cy="6286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80815" tIns="40407" rIns="80815" bIns="40407">
            <a:spAutoFit/>
          </a:bodyPr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pPr algn="ctr"/>
            <a:r>
              <a:rPr lang="en-US" altLang="en-US" b="1"/>
              <a:t>Data Blocks</a:t>
            </a:r>
          </a:p>
          <a:p>
            <a:pPr algn="ctr"/>
            <a:r>
              <a:rPr lang="en-US" altLang="en-US" b="1"/>
              <a:t>(in Disk)</a:t>
            </a:r>
          </a:p>
        </p:txBody>
      </p:sp>
      <p:sp>
        <p:nvSpPr>
          <p:cNvPr id="1132642" name="Line 98"/>
          <p:cNvSpPr>
            <a:spLocks noChangeShapeType="1"/>
          </p:cNvSpPr>
          <p:nvPr/>
        </p:nvSpPr>
        <p:spPr bwMode="auto">
          <a:xfrm>
            <a:off x="3124200" y="2286000"/>
            <a:ext cx="1295400" cy="228600"/>
          </a:xfrm>
          <a:prstGeom prst="line">
            <a:avLst/>
          </a:prstGeom>
          <a:noFill/>
          <a:ln w="12700">
            <a:solidFill>
              <a:schemeClr val="tx2"/>
            </a:solidFill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10</a:t>
            </a:fld>
            <a:endParaRPr lang="en-US" altLang="en-US"/>
          </a:p>
        </p:txBody>
      </p:sp>
      <p:sp>
        <p:nvSpPr>
          <p:cNvPr id="68" name="Text Box 27"/>
          <p:cNvSpPr txBox="1">
            <a:spLocks noChangeArrowheads="1"/>
          </p:cNvSpPr>
          <p:nvPr/>
        </p:nvSpPr>
        <p:spPr bwMode="auto">
          <a:xfrm>
            <a:off x="4398573" y="4665003"/>
            <a:ext cx="338543" cy="400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>
            <a:spAutoFit/>
          </a:bodyPr>
          <a:lstStyle/>
          <a:p>
            <a:pPr algn="ctr"/>
            <a:r>
              <a:rPr lang="en-US" altLang="en-US" sz="2000" b="1" dirty="0">
                <a:latin typeface="Courier New" panose="02070309020205020404" pitchFamily="49" charset="0"/>
              </a:rPr>
              <a:t>9</a:t>
            </a:r>
          </a:p>
        </p:txBody>
      </p:sp>
      <p:sp>
        <p:nvSpPr>
          <p:cNvPr id="69" name="Rounded Rectangle 43"/>
          <p:cNvSpPr/>
          <p:nvPr/>
        </p:nvSpPr>
        <p:spPr>
          <a:xfrm>
            <a:off x="609600" y="2132013"/>
            <a:ext cx="2727916" cy="437328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0" name="Rounded Rectangle 43"/>
          <p:cNvSpPr/>
          <p:nvPr/>
        </p:nvSpPr>
        <p:spPr>
          <a:xfrm>
            <a:off x="624884" y="2585966"/>
            <a:ext cx="2727916" cy="437328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1" name="Rounded Rectangle 43"/>
          <p:cNvSpPr/>
          <p:nvPr/>
        </p:nvSpPr>
        <p:spPr>
          <a:xfrm>
            <a:off x="617862" y="3038332"/>
            <a:ext cx="2727916" cy="437328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32641" name="Oval 97"/>
          <p:cNvSpPr>
            <a:spLocks noChangeArrowheads="1"/>
          </p:cNvSpPr>
          <p:nvPr/>
        </p:nvSpPr>
        <p:spPr bwMode="auto">
          <a:xfrm>
            <a:off x="2438400" y="1981200"/>
            <a:ext cx="685800" cy="685800"/>
          </a:xfrm>
          <a:prstGeom prst="ellipse">
            <a:avLst/>
          </a:prstGeom>
          <a:noFill/>
          <a:ln w="1270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9171476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8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4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 nodeType="clickPar">
                      <p:stCondLst>
                        <p:cond delay="indefinite"/>
                      </p:stCondLst>
                      <p:childTnLst>
                        <p:par>
                          <p:cTn id="1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 nodeType="clickPar">
                      <p:stCondLst>
                        <p:cond delay="indefinite"/>
                      </p:stCondLst>
                      <p:childTnLst>
                        <p:par>
                          <p:cTn id="4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 nodeType="clickPar">
                      <p:stCondLst>
                        <p:cond delay="indefinite"/>
                      </p:stCondLst>
                      <p:childTnLst>
                        <p:par>
                          <p:cTn id="4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 nodeType="clickPar">
                      <p:stCondLst>
                        <p:cond delay="indefinite"/>
                      </p:stCondLst>
                      <p:childTnLst>
                        <p:par>
                          <p:cTn id="4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 nodeType="clickPar">
                      <p:stCondLst>
                        <p:cond delay="indefinite"/>
                      </p:stCondLst>
                      <p:childTnLst>
                        <p:par>
                          <p:cTn id="5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5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57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26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6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2548" grpId="0" animBg="1"/>
      <p:bldP spid="1132550" grpId="0"/>
      <p:bldP spid="1132551" grpId="0" animBg="1"/>
      <p:bldP spid="1132555" grpId="0" animBg="1"/>
      <p:bldP spid="1132556" grpId="0" animBg="1"/>
      <p:bldP spid="1132557" grpId="0" animBg="1"/>
      <p:bldP spid="1132558" grpId="0" animBg="1"/>
      <p:bldP spid="1132559" grpId="0" animBg="1"/>
      <p:bldP spid="1132560" grpId="0" animBg="1"/>
      <p:bldP spid="1132561" grpId="0" animBg="1"/>
      <p:bldP spid="1132562" grpId="0" animBg="1"/>
      <p:bldP spid="1132563" grpId="0"/>
      <p:bldP spid="1132564" grpId="0"/>
      <p:bldP spid="1132565" grpId="0"/>
      <p:bldP spid="1132566" grpId="0"/>
      <p:bldP spid="1132567" grpId="0"/>
      <p:bldP spid="1132568" grpId="0"/>
      <p:bldP spid="1132569" grpId="0"/>
      <p:bldP spid="1132570" grpId="0"/>
      <p:bldP spid="1132571" grpId="0"/>
      <p:bldP spid="1132572" grpId="0" animBg="1"/>
      <p:bldP spid="1132573" grpId="0" animBg="1"/>
      <p:bldP spid="1132587" grpId="0"/>
      <p:bldP spid="1132640" grpId="0"/>
      <p:bldP spid="68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6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FAT FS: Putting the parts together…</a:t>
            </a:r>
          </a:p>
        </p:txBody>
      </p:sp>
      <p:sp>
        <p:nvSpPr>
          <p:cNvPr id="1136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Use first disk block number stored in directory entry to find the starting point of the linked disk blocks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Use FAT to find out the subsequent disk blocks number</a:t>
            </a:r>
          </a:p>
          <a:p>
            <a:pPr lvl="1"/>
            <a:r>
              <a:rPr lang="en-US" altLang="en-US" dirty="0"/>
              <a:t>Terminated by special value (</a:t>
            </a:r>
            <a:r>
              <a:rPr lang="en-US" altLang="en-US" b="1" dirty="0">
                <a:solidFill>
                  <a:schemeClr val="tx2"/>
                </a:solidFill>
              </a:rPr>
              <a:t>EOF</a:t>
            </a:r>
            <a:r>
              <a:rPr lang="en-US" altLang="en-US" dirty="0"/>
              <a:t>)</a:t>
            </a:r>
          </a:p>
          <a:p>
            <a:pPr marL="514350" indent="-514350">
              <a:buFont typeface="+mj-lt"/>
              <a:buAutoNum type="arabicPeriod"/>
            </a:pPr>
            <a:r>
              <a:rPr lang="en-US" altLang="en-US" dirty="0"/>
              <a:t>Use disk block number to perform actual disk access on the data blocks</a:t>
            </a:r>
          </a:p>
          <a:p>
            <a:r>
              <a:rPr lang="en-US" altLang="en-US" dirty="0"/>
              <a:t>For a directory, the disk blocks contain:</a:t>
            </a:r>
          </a:p>
          <a:p>
            <a:pPr lvl="1"/>
            <a:r>
              <a:rPr lang="en-US" altLang="en-US" dirty="0"/>
              <a:t>Directory entries for the files/subfolders within that directory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0927713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971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Example of Common Tasks</a:t>
            </a:r>
          </a:p>
        </p:txBody>
      </p:sp>
      <p:sp>
        <p:nvSpPr>
          <p:cNvPr id="113971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File Deletion:</a:t>
            </a:r>
          </a:p>
          <a:p>
            <a:pPr lvl="1"/>
            <a:r>
              <a:rPr lang="en-US" altLang="en-US" dirty="0"/>
              <a:t>"Delete" the directory entry:</a:t>
            </a:r>
          </a:p>
          <a:p>
            <a:pPr lvl="2"/>
            <a:r>
              <a:rPr lang="en-US" altLang="en-US" dirty="0"/>
              <a:t>Set first letter in filename to a special value </a:t>
            </a:r>
            <a:r>
              <a:rPr lang="en-US" altLang="en-US" b="1" dirty="0">
                <a:solidFill>
                  <a:srgbClr val="C00000"/>
                </a:solidFill>
              </a:rPr>
              <a:t>0xE5 </a:t>
            </a:r>
            <a:endParaRPr lang="en-US" altLang="en-US" dirty="0"/>
          </a:p>
          <a:p>
            <a:pPr lvl="1"/>
            <a:r>
              <a:rPr lang="en-US" altLang="en-US" dirty="0"/>
              <a:t>Free data blocks: </a:t>
            </a:r>
          </a:p>
          <a:p>
            <a:pPr lvl="2"/>
            <a:r>
              <a:rPr lang="en-US" altLang="en-US" dirty="0"/>
              <a:t>Set FAT entries in link list to FREE </a:t>
            </a:r>
          </a:p>
          <a:p>
            <a:pPr lvl="1"/>
            <a:r>
              <a:rPr lang="en-US" altLang="en-US" dirty="0"/>
              <a:t>Actual data blocks </a:t>
            </a:r>
            <a:r>
              <a:rPr lang="en-US" altLang="en-US" b="1" dirty="0"/>
              <a:t>remain intact</a:t>
            </a:r>
          </a:p>
          <a:p>
            <a:pPr lvl="2"/>
            <a:r>
              <a:rPr lang="en-US" altLang="en-US" dirty="0"/>
              <a:t>Can attempt to </a:t>
            </a:r>
            <a:r>
              <a:rPr lang="en-US" altLang="en-US" b="1" dirty="0">
                <a:solidFill>
                  <a:srgbClr val="FF3300"/>
                </a:solidFill>
              </a:rPr>
              <a:t>undelete</a:t>
            </a:r>
          </a:p>
          <a:p>
            <a:pPr lvl="2"/>
            <a:endParaRPr lang="en-US" altLang="en-US" b="1" dirty="0">
              <a:solidFill>
                <a:srgbClr val="FF3300"/>
              </a:solidFill>
            </a:endParaRPr>
          </a:p>
          <a:p>
            <a:r>
              <a:rPr lang="en-US" altLang="en-US" dirty="0"/>
              <a:t>Free space management:</a:t>
            </a:r>
          </a:p>
          <a:p>
            <a:pPr lvl="1"/>
            <a:r>
              <a:rPr lang="en-US" altLang="en-US" dirty="0"/>
              <a:t>Do not keep track of free space information</a:t>
            </a:r>
          </a:p>
          <a:p>
            <a:pPr lvl="1"/>
            <a:r>
              <a:rPr lang="en-US" altLang="en-US" dirty="0"/>
              <a:t>Must be calculated by going through the FAT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01688262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357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Variants: FAT12, FAT16 and FAT32</a:t>
            </a:r>
          </a:p>
        </p:txBody>
      </p:sp>
      <p:sp>
        <p:nvSpPr>
          <p:cNvPr id="1133571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90600"/>
            <a:ext cx="8153400" cy="54864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Main motivation:</a:t>
            </a:r>
          </a:p>
          <a:p>
            <a:pPr lvl="1"/>
            <a:r>
              <a:rPr lang="en-US" altLang="en-US" dirty="0"/>
              <a:t>Support larger hard disk as a single partition</a:t>
            </a:r>
          </a:p>
          <a:p>
            <a:pPr marL="344487" lvl="1" indent="0">
              <a:buNone/>
            </a:pPr>
            <a:endParaRPr lang="en-US" altLang="en-US" dirty="0"/>
          </a:p>
          <a:p>
            <a:r>
              <a:rPr lang="en-US" altLang="en-US" dirty="0"/>
              <a:t>Two major themes:</a:t>
            </a:r>
          </a:p>
          <a:p>
            <a:pPr lvl="1"/>
            <a:r>
              <a:rPr lang="en-US" altLang="en-US" b="1" dirty="0"/>
              <a:t>Disk Cluster:</a:t>
            </a:r>
          </a:p>
          <a:p>
            <a:pPr lvl="2"/>
            <a:r>
              <a:rPr lang="en-US" altLang="en-US" dirty="0"/>
              <a:t>Instead of using a single disk block as the smallest allocation unit</a:t>
            </a:r>
          </a:p>
          <a:p>
            <a:pPr lvl="2">
              <a:buFont typeface="Wingdings" panose="05000000000000000000" pitchFamily="2" charset="2"/>
              <a:buChar char="è"/>
            </a:pPr>
            <a:r>
              <a:rPr lang="en-US" altLang="en-US" dirty="0"/>
              <a:t>Use a number of contiguous disk blocks</a:t>
            </a:r>
          </a:p>
          <a:p>
            <a:pPr lvl="1"/>
            <a:r>
              <a:rPr lang="en-US" altLang="en-US" b="1" dirty="0"/>
              <a:t>FAT Size:</a:t>
            </a:r>
          </a:p>
          <a:p>
            <a:pPr lvl="2"/>
            <a:r>
              <a:rPr lang="en-US" altLang="en-US" dirty="0"/>
              <a:t>Bigger FAT </a:t>
            </a:r>
            <a:r>
              <a:rPr lang="en-US" altLang="en-US" dirty="0">
                <a:sym typeface="Wingdings" panose="05000000000000000000" pitchFamily="2" charset="2"/>
              </a:rPr>
              <a:t> More disk block/cluster  More bits to represent each disk block/cluster</a:t>
            </a:r>
          </a:p>
          <a:p>
            <a:pPr lvl="2"/>
            <a:r>
              <a:rPr lang="en-US" altLang="en-US" dirty="0">
                <a:sym typeface="Wingdings" panose="05000000000000000000" pitchFamily="2" charset="2"/>
              </a:rPr>
              <a:t>Existing variants:</a:t>
            </a:r>
          </a:p>
          <a:p>
            <a:pPr lvl="3"/>
            <a:r>
              <a:rPr lang="en-US" altLang="en-US" dirty="0"/>
              <a:t>FAT12, FAT16 and FAT32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4384498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76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FAT12, FAT16 and FAT32 (cont)</a:t>
            </a:r>
          </a:p>
        </p:txBody>
      </p:sp>
      <p:sp>
        <p:nvSpPr>
          <p:cNvPr id="11376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altLang="en-US" dirty="0"/>
              <a:t>Generally, cluster size + FAT size determines the largest usable partition</a:t>
            </a:r>
          </a:p>
          <a:p>
            <a:endParaRPr lang="en-US" altLang="en-US" dirty="0"/>
          </a:p>
          <a:p>
            <a:r>
              <a:rPr lang="en-US" altLang="en-US" dirty="0"/>
              <a:t>Example (4KiB Cluster):</a:t>
            </a:r>
          </a:p>
          <a:p>
            <a:endParaRPr lang="en-US" altLang="en-US" dirty="0"/>
          </a:p>
          <a:p>
            <a:pPr lvl="2"/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endParaRPr lang="en-US" altLang="en-US" dirty="0"/>
          </a:p>
          <a:p>
            <a:r>
              <a:rPr lang="en-US" altLang="en-US" dirty="0"/>
              <a:t>Note that the actual size is a little lesser: </a:t>
            </a:r>
          </a:p>
          <a:p>
            <a:pPr lvl="1"/>
            <a:r>
              <a:rPr lang="en-US" altLang="en-US" dirty="0"/>
              <a:t>Special values (</a:t>
            </a:r>
            <a:r>
              <a:rPr lang="en-US" altLang="en-US" b="1" dirty="0">
                <a:solidFill>
                  <a:schemeClr val="tx2"/>
                </a:solidFill>
              </a:rPr>
              <a:t>EOF</a:t>
            </a:r>
            <a:r>
              <a:rPr lang="en-US" altLang="en-US" dirty="0"/>
              <a:t>, </a:t>
            </a:r>
            <a:r>
              <a:rPr lang="en-US" altLang="en-US" b="1" dirty="0">
                <a:solidFill>
                  <a:srgbClr val="008000"/>
                </a:solidFill>
              </a:rPr>
              <a:t>FREE</a:t>
            </a:r>
            <a:r>
              <a:rPr lang="en-US" altLang="en-US" dirty="0"/>
              <a:t>, </a:t>
            </a:r>
            <a:r>
              <a:rPr lang="en-US" altLang="en-US" dirty="0" err="1"/>
              <a:t>etc</a:t>
            </a:r>
            <a:r>
              <a:rPr lang="en-US" altLang="en-US" dirty="0"/>
              <a:t>) reduces total number of valid data block/cluster indices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14</a:t>
            </a:fld>
            <a:endParaRPr lang="en-US" altLang="en-US"/>
          </a:p>
        </p:txBody>
      </p:sp>
      <p:graphicFrame>
        <p:nvGraphicFramePr>
          <p:cNvPr id="4" name="Table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4353807"/>
              </p:ext>
            </p:extLst>
          </p:nvPr>
        </p:nvGraphicFramePr>
        <p:xfrm>
          <a:off x="914400" y="2895600"/>
          <a:ext cx="7467600" cy="1559560"/>
        </p:xfrm>
        <a:graphic>
          <a:graphicData uri="http://schemas.openxmlformats.org/drawingml/2006/table">
            <a:tbl>
              <a:tblPr bandRow="1">
                <a:tableStyleId>{8A107856-5554-42FB-B03E-39F5DBC370BA}</a:tableStyleId>
              </a:tblPr>
              <a:tblGrid>
                <a:gridCol w="2489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489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370840"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FAT12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FAT16</a:t>
                      </a:r>
                      <a:endParaRPr lang="en-SG" b="1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b="1" dirty="0"/>
                        <a:t>FAT32</a:t>
                      </a:r>
                      <a:endParaRPr lang="en-SG" b="1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baseline="30000" dirty="0"/>
                        <a:t>12</a:t>
                      </a:r>
                      <a:r>
                        <a:rPr lang="en-US" dirty="0"/>
                        <a:t> Clusters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Largest </a:t>
                      </a:r>
                      <a:r>
                        <a:rPr lang="en-US" baseline="0" dirty="0"/>
                        <a:t>partition:</a:t>
                      </a:r>
                    </a:p>
                    <a:p>
                      <a:pPr marL="0" marR="0" lvl="2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en-US" dirty="0"/>
                        <a:t>4KiB * 2</a:t>
                      </a:r>
                      <a:r>
                        <a:rPr lang="en-US" altLang="en-US" baseline="30000" dirty="0"/>
                        <a:t>12</a:t>
                      </a:r>
                      <a:r>
                        <a:rPr lang="en-US" altLang="en-US" dirty="0"/>
                        <a:t> = 16MiB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dirty="0"/>
                        <a:t> Clusters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Largest </a:t>
                      </a:r>
                      <a:r>
                        <a:rPr lang="en-US" baseline="0" dirty="0"/>
                        <a:t>partition:</a:t>
                      </a:r>
                    </a:p>
                    <a:p>
                      <a:pPr algn="l"/>
                      <a:r>
                        <a:rPr lang="en-US" baseline="0" dirty="0"/>
                        <a:t>4KiB * 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16</a:t>
                      </a:r>
                      <a:r>
                        <a:rPr lang="en-US" baseline="0" dirty="0"/>
                        <a:t> = 256MiB</a:t>
                      </a:r>
                      <a:endParaRPr lang="en-SG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en-US" dirty="0"/>
                        <a:t> Clusters</a:t>
                      </a:r>
                    </a:p>
                    <a:p>
                      <a:pPr algn="l"/>
                      <a:endParaRPr lang="en-US" dirty="0"/>
                    </a:p>
                    <a:p>
                      <a:pPr algn="l"/>
                      <a:r>
                        <a:rPr lang="en-US" dirty="0"/>
                        <a:t>Largest partition:</a:t>
                      </a:r>
                    </a:p>
                    <a:p>
                      <a:pPr algn="l"/>
                      <a:r>
                        <a:rPr lang="en-US" dirty="0"/>
                        <a:t>4KiB</a:t>
                      </a:r>
                      <a:r>
                        <a:rPr lang="en-US" baseline="0" dirty="0"/>
                        <a:t> * 2</a:t>
                      </a:r>
                      <a:r>
                        <a:rPr lang="en-US" sz="1800" kern="1200" baseline="30000" dirty="0">
                          <a:solidFill>
                            <a:schemeClr val="dk1"/>
                          </a:solidFill>
                          <a:latin typeface="+mn-lt"/>
                          <a:ea typeface="+mn-ea"/>
                          <a:cs typeface="+mn-cs"/>
                        </a:rPr>
                        <a:t>28</a:t>
                      </a:r>
                      <a:r>
                        <a:rPr lang="en-US" baseline="0" dirty="0"/>
                        <a:t> = 1TiB</a:t>
                      </a:r>
                      <a:endParaRPr lang="en-SG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56187157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Cluster Size: </a:t>
            </a:r>
            <a:r>
              <a:rPr lang="en-US" b="1" dirty="0">
                <a:solidFill>
                  <a:srgbClr val="006600"/>
                </a:solidFill>
              </a:rPr>
              <a:t>Pros</a:t>
            </a:r>
            <a:r>
              <a:rPr lang="en-US" dirty="0"/>
              <a:t> and </a:t>
            </a:r>
            <a:r>
              <a:rPr lang="en-US" b="1" dirty="0">
                <a:solidFill>
                  <a:srgbClr val="C00000"/>
                </a:solidFill>
              </a:rPr>
              <a:t>Cons</a:t>
            </a:r>
            <a:endParaRPr lang="en-SG" b="1" dirty="0">
              <a:solidFill>
                <a:srgbClr val="C00000"/>
              </a:solidFill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b="1" dirty="0">
                <a:solidFill>
                  <a:srgbClr val="006600"/>
                </a:solidFill>
              </a:rPr>
              <a:t>Pros</a:t>
            </a:r>
            <a:r>
              <a:rPr lang="en-US" b="1" dirty="0"/>
              <a:t>:</a:t>
            </a:r>
          </a:p>
          <a:p>
            <a:pPr lvl="1"/>
            <a:r>
              <a:rPr lang="en-US" dirty="0"/>
              <a:t>Larger cluster size </a:t>
            </a:r>
            <a:r>
              <a:rPr lang="en-US" dirty="0">
                <a:sym typeface="Wingdings" panose="05000000000000000000" pitchFamily="2" charset="2"/>
              </a:rPr>
              <a:t> Larger usable partition</a:t>
            </a:r>
          </a:p>
          <a:p>
            <a:pPr lvl="1"/>
            <a:endParaRPr lang="en-US" dirty="0">
              <a:sym typeface="Wingdings" panose="05000000000000000000" pitchFamily="2" charset="2"/>
            </a:endParaRPr>
          </a:p>
          <a:p>
            <a:r>
              <a:rPr lang="en-US" b="1" dirty="0">
                <a:solidFill>
                  <a:srgbClr val="C00000"/>
                </a:solidFill>
                <a:sym typeface="Wingdings" panose="05000000000000000000" pitchFamily="2" charset="2"/>
              </a:rPr>
              <a:t>Cons</a:t>
            </a:r>
            <a:r>
              <a:rPr lang="en-US" b="1" dirty="0">
                <a:sym typeface="Wingdings" panose="05000000000000000000" pitchFamily="2" charset="2"/>
              </a:rPr>
              <a:t>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Larger cluster size  Larger internal fragmentation</a:t>
            </a:r>
          </a:p>
          <a:p>
            <a:endParaRPr lang="en-US" dirty="0">
              <a:sym typeface="Wingdings" panose="05000000000000000000" pitchFamily="2" charset="2"/>
            </a:endParaRPr>
          </a:p>
          <a:p>
            <a:r>
              <a:rPr lang="en-US" dirty="0">
                <a:sym typeface="Wingdings" panose="05000000000000000000" pitchFamily="2" charset="2"/>
              </a:rPr>
              <a:t>On FAT32, there are further limitations: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32-bit </a:t>
            </a:r>
            <a:r>
              <a:rPr lang="en-US" b="1" dirty="0">
                <a:sym typeface="Wingdings" panose="05000000000000000000" pitchFamily="2" charset="2"/>
              </a:rPr>
              <a:t>sector count </a:t>
            </a:r>
            <a:r>
              <a:rPr lang="en-US" dirty="0">
                <a:sym typeface="Wingdings" panose="05000000000000000000" pitchFamily="2" charset="2"/>
              </a:rPr>
              <a:t> Limited partition size</a:t>
            </a:r>
          </a:p>
          <a:p>
            <a:pPr lvl="1"/>
            <a:r>
              <a:rPr lang="en-US" dirty="0">
                <a:sym typeface="Wingdings" panose="05000000000000000000" pitchFamily="2" charset="2"/>
              </a:rPr>
              <a:t>Only 28-bit is used in the disk block/cluster index</a:t>
            </a:r>
          </a:p>
          <a:p>
            <a:pPr marL="344487" lvl="1" indent="0">
              <a:buNone/>
            </a:pPr>
            <a:endParaRPr lang="en-US" dirty="0">
              <a:sym typeface="Wingdings" panose="05000000000000000000" pitchFamily="2" charset="2"/>
            </a:endParaRPr>
          </a:p>
          <a:p>
            <a:pPr lvl="1"/>
            <a:endParaRPr lang="en-SG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15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04123898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75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b="1" dirty="0"/>
              <a:t>Long File Name Support</a:t>
            </a:r>
          </a:p>
        </p:txBody>
      </p:sp>
      <p:sp>
        <p:nvSpPr>
          <p:cNvPr id="10475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Virtual FAT (VFAT):</a:t>
            </a:r>
          </a:p>
          <a:p>
            <a:pPr lvl="1"/>
            <a:r>
              <a:rPr lang="en-US" altLang="en-US" dirty="0"/>
              <a:t>Support long filenames up to 255 characters</a:t>
            </a:r>
          </a:p>
          <a:p>
            <a:pPr lvl="1"/>
            <a:r>
              <a:rPr lang="en-US" altLang="en-US" dirty="0"/>
              <a:t>First used in Win 95 (FAT16)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A work around rather than redesign:</a:t>
            </a:r>
          </a:p>
          <a:p>
            <a:pPr lvl="1"/>
            <a:r>
              <a:rPr lang="en-US" altLang="en-US" dirty="0"/>
              <a:t>Use </a:t>
            </a:r>
            <a:r>
              <a:rPr lang="en-US" altLang="en-US" b="1" dirty="0"/>
              <a:t>multiple directory entries </a:t>
            </a:r>
            <a:r>
              <a:rPr lang="en-US" altLang="en-US" dirty="0"/>
              <a:t>for a file with long file name</a:t>
            </a:r>
          </a:p>
          <a:p>
            <a:pPr lvl="2"/>
            <a:r>
              <a:rPr lang="en-US" altLang="en-US" dirty="0"/>
              <a:t>Use a previously invalid </a:t>
            </a:r>
            <a:r>
              <a:rPr lang="en-US" altLang="en-US" b="1" dirty="0"/>
              <a:t>file attribute </a:t>
            </a:r>
            <a:r>
              <a:rPr lang="en-US" altLang="en-US" dirty="0"/>
              <a:t>so non-VFAT applications can ignore these additional entries</a:t>
            </a:r>
          </a:p>
          <a:p>
            <a:pPr lvl="2"/>
            <a:r>
              <a:rPr lang="en-US" altLang="en-US" dirty="0"/>
              <a:t>Use the first byte in the filename to indicate sequence</a:t>
            </a:r>
          </a:p>
          <a:p>
            <a:pPr lvl="1"/>
            <a:r>
              <a:rPr lang="en-US" altLang="en-US" dirty="0"/>
              <a:t>Need to keep the 8+3 short version for backward compatibility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474512760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b="1" dirty="0"/>
              <a:t>VFAT Entries: Illustration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90600"/>
            <a:ext cx="8229600" cy="685800"/>
          </a:xfrm>
        </p:spPr>
        <p:txBody>
          <a:bodyPr/>
          <a:lstStyle/>
          <a:p>
            <a:r>
              <a:rPr lang="en-US" dirty="0"/>
              <a:t>"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A long </a:t>
            </a:r>
            <a:r>
              <a:rPr lang="en-US" b="1" dirty="0" err="1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long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file name.txt</a:t>
            </a:r>
            <a:r>
              <a:rPr lang="en-US" dirty="0"/>
              <a:t>"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17</a:t>
            </a:fld>
            <a:endParaRPr lang="en-US" altLang="en-US"/>
          </a:p>
        </p:txBody>
      </p:sp>
      <p:grpSp>
        <p:nvGrpSpPr>
          <p:cNvPr id="6" name="Group 51"/>
          <p:cNvGrpSpPr>
            <a:grpSpLocks/>
          </p:cNvGrpSpPr>
          <p:nvPr/>
        </p:nvGrpSpPr>
        <p:grpSpPr bwMode="auto">
          <a:xfrm>
            <a:off x="3657600" y="2933859"/>
            <a:ext cx="3938542" cy="455613"/>
            <a:chOff x="-373" y="1392"/>
            <a:chExt cx="2627" cy="383"/>
          </a:xfrm>
        </p:grpSpPr>
        <p:sp>
          <p:nvSpPr>
            <p:cNvPr id="7" name="Rectangle 33"/>
            <p:cNvSpPr>
              <a:spLocks noChangeArrowheads="1"/>
            </p:cNvSpPr>
            <p:nvPr/>
          </p:nvSpPr>
          <p:spPr bwMode="auto">
            <a:xfrm>
              <a:off x="1343" y="1392"/>
              <a:ext cx="911" cy="38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8" name="Rectangle 34"/>
            <p:cNvSpPr>
              <a:spLocks noChangeArrowheads="1"/>
            </p:cNvSpPr>
            <p:nvPr/>
          </p:nvSpPr>
          <p:spPr bwMode="auto">
            <a:xfrm>
              <a:off x="-373" y="1392"/>
              <a:ext cx="1717" cy="383"/>
            </a:xfrm>
            <a:prstGeom prst="rect">
              <a:avLst/>
            </a:prstGeom>
            <a:solidFill>
              <a:srgbClr val="FFCC99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sz="2000" b="1" dirty="0">
                  <a:latin typeface="Courier New" panose="02070309020205020404" pitchFamily="49" charset="0"/>
                </a:rPr>
                <a:t>ALONGL~1.txt</a:t>
              </a:r>
            </a:p>
          </p:txBody>
        </p:sp>
        <p:sp>
          <p:nvSpPr>
            <p:cNvPr id="9" name="Rectangle 36"/>
            <p:cNvSpPr>
              <a:spLocks noChangeArrowheads="1"/>
            </p:cNvSpPr>
            <p:nvPr/>
          </p:nvSpPr>
          <p:spPr bwMode="auto">
            <a:xfrm>
              <a:off x="1776" y="1392"/>
              <a:ext cx="240" cy="38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sp>
        <p:nvSpPr>
          <p:cNvPr id="20" name="AutoShape 18"/>
          <p:cNvSpPr>
            <a:spLocks/>
          </p:cNvSpPr>
          <p:nvPr/>
        </p:nvSpPr>
        <p:spPr bwMode="auto">
          <a:xfrm>
            <a:off x="472440" y="4344036"/>
            <a:ext cx="2212975" cy="304800"/>
          </a:xfrm>
          <a:prstGeom prst="accentCallout2">
            <a:avLst>
              <a:gd name="adj1" fmla="val 31786"/>
              <a:gd name="adj2" fmla="val 106986"/>
              <a:gd name="adj3" fmla="val 37500"/>
              <a:gd name="adj4" fmla="val 109829"/>
              <a:gd name="adj5" fmla="val -359643"/>
              <a:gd name="adj6" fmla="val 14855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 dirty="0"/>
              <a:t>Normal Directory Entry</a:t>
            </a:r>
          </a:p>
        </p:txBody>
      </p:sp>
      <p:sp>
        <p:nvSpPr>
          <p:cNvPr id="21" name="AutoShape 18"/>
          <p:cNvSpPr>
            <a:spLocks/>
          </p:cNvSpPr>
          <p:nvPr/>
        </p:nvSpPr>
        <p:spPr bwMode="auto">
          <a:xfrm>
            <a:off x="0" y="2780666"/>
            <a:ext cx="2212975" cy="304800"/>
          </a:xfrm>
          <a:prstGeom prst="accentCallout2">
            <a:avLst>
              <a:gd name="adj1" fmla="val 31786"/>
              <a:gd name="adj2" fmla="val 106986"/>
              <a:gd name="adj3" fmla="val 31786"/>
              <a:gd name="adj4" fmla="val 110616"/>
              <a:gd name="adj5" fmla="val -79643"/>
              <a:gd name="adj6" fmla="val 14697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b="1" dirty="0"/>
              <a:t>Multiple VFAT entries for long filename support</a:t>
            </a:r>
          </a:p>
        </p:txBody>
      </p:sp>
      <p:sp>
        <p:nvSpPr>
          <p:cNvPr id="22" name="AutoShape 16"/>
          <p:cNvSpPr>
            <a:spLocks/>
          </p:cNvSpPr>
          <p:nvPr/>
        </p:nvSpPr>
        <p:spPr bwMode="auto">
          <a:xfrm rot="10800000">
            <a:off x="3343617" y="2020253"/>
            <a:ext cx="228600" cy="912813"/>
          </a:xfrm>
          <a:prstGeom prst="rightBrace">
            <a:avLst>
              <a:gd name="adj1" fmla="val 22917"/>
              <a:gd name="adj2" fmla="val 50000"/>
            </a:avLst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23" name="TextBox 22"/>
          <p:cNvSpPr txBox="1"/>
          <p:nvPr/>
        </p:nvSpPr>
        <p:spPr>
          <a:xfrm>
            <a:off x="3854926" y="3610729"/>
            <a:ext cx="5060473" cy="31393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"SQ" represent the sequence number used to stitch the multiple VFAT entries together.</a:t>
            </a:r>
          </a:p>
          <a:p>
            <a:endParaRPr lang="en-US" dirty="0"/>
          </a:p>
          <a:p>
            <a:r>
              <a:rPr lang="en-US" dirty="0"/>
              <a:t>"SP" represents the special file attribute for VFAT.</a:t>
            </a:r>
          </a:p>
          <a:p>
            <a:endParaRPr lang="en-US" dirty="0"/>
          </a:p>
          <a:p>
            <a:r>
              <a:rPr lang="en-US" dirty="0"/>
              <a:t>Note: The filename in VFAT entries (13 "Unicode" characters) are actually </a:t>
            </a:r>
            <a:r>
              <a:rPr lang="en-US" dirty="0" err="1"/>
              <a:t>spreaded</a:t>
            </a:r>
            <a:r>
              <a:rPr lang="en-US" dirty="0"/>
              <a:t> across a number of different fields, we show them as continuous for illustration purpose only.</a:t>
            </a:r>
          </a:p>
          <a:p>
            <a:endParaRPr lang="en-US" dirty="0"/>
          </a:p>
        </p:txBody>
      </p:sp>
      <p:grpSp>
        <p:nvGrpSpPr>
          <p:cNvPr id="34" name="Group 33"/>
          <p:cNvGrpSpPr/>
          <p:nvPr/>
        </p:nvGrpSpPr>
        <p:grpSpPr>
          <a:xfrm>
            <a:off x="3657600" y="1981200"/>
            <a:ext cx="3938542" cy="455613"/>
            <a:chOff x="3657600" y="1904206"/>
            <a:chExt cx="3938542" cy="455613"/>
          </a:xfrm>
        </p:grpSpPr>
        <p:sp>
          <p:nvSpPr>
            <p:cNvPr id="25" name="Rectangle 33"/>
            <p:cNvSpPr>
              <a:spLocks noChangeArrowheads="1"/>
            </p:cNvSpPr>
            <p:nvPr/>
          </p:nvSpPr>
          <p:spPr bwMode="auto">
            <a:xfrm>
              <a:off x="6605840" y="1904206"/>
              <a:ext cx="990302" cy="45561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28" name="Rectangle 36"/>
            <p:cNvSpPr>
              <a:spLocks noChangeArrowheads="1"/>
            </p:cNvSpPr>
            <p:nvPr/>
          </p:nvSpPr>
          <p:spPr bwMode="auto">
            <a:xfrm>
              <a:off x="3657600" y="1904206"/>
              <a:ext cx="359821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SQ</a:t>
              </a:r>
            </a:p>
          </p:txBody>
        </p:sp>
        <p:sp>
          <p:nvSpPr>
            <p:cNvPr id="29" name="Rectangle 36"/>
            <p:cNvSpPr>
              <a:spLocks noChangeArrowheads="1"/>
            </p:cNvSpPr>
            <p:nvPr/>
          </p:nvSpPr>
          <p:spPr bwMode="auto">
            <a:xfrm>
              <a:off x="6230321" y="1904206"/>
              <a:ext cx="375519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SP</a:t>
              </a:r>
            </a:p>
          </p:txBody>
        </p:sp>
        <p:sp>
          <p:nvSpPr>
            <p:cNvPr id="32" name="Rectangle 34"/>
            <p:cNvSpPr>
              <a:spLocks noChangeArrowheads="1"/>
            </p:cNvSpPr>
            <p:nvPr/>
          </p:nvSpPr>
          <p:spPr bwMode="auto">
            <a:xfrm>
              <a:off x="4017421" y="1904206"/>
              <a:ext cx="2212900" cy="455613"/>
            </a:xfrm>
            <a:prstGeom prst="rect">
              <a:avLst/>
            </a:prstGeom>
            <a:solidFill>
              <a:srgbClr val="FFCC99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r>
                <a:rPr lang="en-US" altLang="en-US" sz="2000" b="1" dirty="0" err="1">
                  <a:latin typeface="Courier New" panose="02070309020205020404" pitchFamily="49" charset="0"/>
                </a:rPr>
                <a:t>ile</a:t>
              </a:r>
              <a:r>
                <a:rPr lang="en-US" altLang="en-US" sz="2000" b="1" dirty="0">
                  <a:latin typeface="Courier New" panose="02070309020205020404" pitchFamily="49" charset="0"/>
                </a:rPr>
                <a:t> name.txt</a:t>
              </a:r>
            </a:p>
          </p:txBody>
        </p:sp>
        <p:sp>
          <p:nvSpPr>
            <p:cNvPr id="33" name="Rectangle 36"/>
            <p:cNvSpPr>
              <a:spLocks noChangeArrowheads="1"/>
            </p:cNvSpPr>
            <p:nvPr/>
          </p:nvSpPr>
          <p:spPr bwMode="auto">
            <a:xfrm>
              <a:off x="6877999" y="1904206"/>
              <a:ext cx="359821" cy="45561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  <p:grpSp>
        <p:nvGrpSpPr>
          <p:cNvPr id="35" name="Group 34"/>
          <p:cNvGrpSpPr/>
          <p:nvPr/>
        </p:nvGrpSpPr>
        <p:grpSpPr>
          <a:xfrm>
            <a:off x="3657600" y="2436813"/>
            <a:ext cx="3938542" cy="455613"/>
            <a:chOff x="3657600" y="1904206"/>
            <a:chExt cx="3938542" cy="455613"/>
          </a:xfrm>
        </p:grpSpPr>
        <p:sp>
          <p:nvSpPr>
            <p:cNvPr id="36" name="Rectangle 33"/>
            <p:cNvSpPr>
              <a:spLocks noChangeArrowheads="1"/>
            </p:cNvSpPr>
            <p:nvPr/>
          </p:nvSpPr>
          <p:spPr bwMode="auto">
            <a:xfrm>
              <a:off x="6605840" y="1904206"/>
              <a:ext cx="990302" cy="455613"/>
            </a:xfrm>
            <a:prstGeom prst="rect">
              <a:avLst/>
            </a:prstGeom>
            <a:solidFill>
              <a:srgbClr val="FFFFFF"/>
            </a:solidFill>
            <a:ln w="19050" algn="ctr">
              <a:solidFill>
                <a:schemeClr val="tx1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37" name="Rectangle 36"/>
            <p:cNvSpPr>
              <a:spLocks noChangeArrowheads="1"/>
            </p:cNvSpPr>
            <p:nvPr/>
          </p:nvSpPr>
          <p:spPr bwMode="auto">
            <a:xfrm>
              <a:off x="3657600" y="1904206"/>
              <a:ext cx="359821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SQ</a:t>
              </a:r>
            </a:p>
          </p:txBody>
        </p:sp>
        <p:sp>
          <p:nvSpPr>
            <p:cNvPr id="38" name="Rectangle 36"/>
            <p:cNvSpPr>
              <a:spLocks noChangeArrowheads="1"/>
            </p:cNvSpPr>
            <p:nvPr/>
          </p:nvSpPr>
          <p:spPr bwMode="auto">
            <a:xfrm>
              <a:off x="6230321" y="1904206"/>
              <a:ext cx="375519" cy="455613"/>
            </a:xfrm>
            <a:prstGeom prst="rect">
              <a:avLst/>
            </a:prstGeom>
            <a:solidFill>
              <a:schemeClr val="accent2">
                <a:lumMod val="40000"/>
                <a:lumOff val="60000"/>
              </a:schemeClr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</p:spPr>
          <p:txBody>
            <a:bodyPr wrap="none" lIns="91434" tIns="45717" rIns="91434" bIns="45717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SP</a:t>
              </a:r>
            </a:p>
          </p:txBody>
        </p:sp>
        <p:sp>
          <p:nvSpPr>
            <p:cNvPr id="39" name="Rectangle 34"/>
            <p:cNvSpPr>
              <a:spLocks noChangeArrowheads="1"/>
            </p:cNvSpPr>
            <p:nvPr/>
          </p:nvSpPr>
          <p:spPr bwMode="auto">
            <a:xfrm>
              <a:off x="4017421" y="1904206"/>
              <a:ext cx="2212900" cy="455613"/>
            </a:xfrm>
            <a:prstGeom prst="rect">
              <a:avLst/>
            </a:prstGeom>
            <a:solidFill>
              <a:srgbClr val="FFCC99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r>
                <a:rPr lang="en-US" altLang="en-US" sz="2000" b="1" dirty="0">
                  <a:latin typeface="Courier New" panose="02070309020205020404" pitchFamily="49" charset="0"/>
                </a:rPr>
                <a:t>A long </a:t>
              </a:r>
              <a:r>
                <a:rPr lang="en-US" altLang="en-US" sz="2000" b="1" dirty="0" err="1">
                  <a:latin typeface="Courier New" panose="02070309020205020404" pitchFamily="49" charset="0"/>
                </a:rPr>
                <a:t>long</a:t>
              </a:r>
              <a:r>
                <a:rPr lang="en-US" altLang="en-US" sz="2000" b="1" dirty="0">
                  <a:latin typeface="Courier New" panose="02070309020205020404" pitchFamily="49" charset="0"/>
                </a:rPr>
                <a:t> f</a:t>
              </a:r>
            </a:p>
          </p:txBody>
        </p:sp>
        <p:sp>
          <p:nvSpPr>
            <p:cNvPr id="40" name="Rectangle 36"/>
            <p:cNvSpPr>
              <a:spLocks noChangeArrowheads="1"/>
            </p:cNvSpPr>
            <p:nvPr/>
          </p:nvSpPr>
          <p:spPr bwMode="auto">
            <a:xfrm>
              <a:off x="6877999" y="1904206"/>
              <a:ext cx="359821" cy="455613"/>
            </a:xfrm>
            <a:prstGeom prst="rect">
              <a:avLst/>
            </a:prstGeom>
            <a:solidFill>
              <a:srgbClr val="99CCFF"/>
            </a:solidFill>
            <a:ln w="19050" algn="ctr">
              <a:solidFill>
                <a:srgbClr val="336600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 anchor="ctr"/>
            <a:lstStyle/>
            <a:p>
              <a:endParaRPr lang="en-US" altLang="en-US" b="1" dirty="0">
                <a:latin typeface="Courier New" panose="02070309020205020404" pitchFamily="49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3583820531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0740" name="Rectangle 4"/>
          <p:cNvSpPr>
            <a:spLocks noGrp="1" noChangeArrowheads="1"/>
          </p:cNvSpPr>
          <p:nvPr>
            <p:ph type="ctrTitle"/>
          </p:nvPr>
        </p:nvSpPr>
        <p:spPr/>
        <p:txBody>
          <a:bodyPr/>
          <a:lstStyle/>
          <a:p>
            <a:r>
              <a:rPr lang="en-US" altLang="en-US"/>
              <a:t>Extended-2 File System</a:t>
            </a:r>
          </a:p>
        </p:txBody>
      </p:sp>
      <p:sp>
        <p:nvSpPr>
          <p:cNvPr id="1140741" name="Rectangle 5"/>
          <p:cNvSpPr>
            <a:spLocks noGrp="1" noChangeArrowheads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altLang="en-US"/>
              <a:t>Popular Linux File System</a:t>
            </a:r>
          </a:p>
        </p:txBody>
      </p:sp>
    </p:spTree>
    <p:extLst>
      <p:ext uri="{BB962C8B-B14F-4D97-AF65-F5344CB8AC3E}">
        <p14:creationId xmlns:p14="http://schemas.microsoft.com/office/powerpoint/2010/main" val="239025168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278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Extended-2 File System (Ext2)</a:t>
            </a:r>
          </a:p>
        </p:txBody>
      </p:sp>
      <p:sp>
        <p:nvSpPr>
          <p:cNvPr id="114278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One of the most popular file systems used in Linux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A nice case study:</a:t>
            </a:r>
          </a:p>
          <a:p>
            <a:pPr lvl="1"/>
            <a:r>
              <a:rPr lang="en-US" altLang="en-US"/>
              <a:t>Uses many techniques discussed</a:t>
            </a:r>
          </a:p>
          <a:p>
            <a:pPr lvl="1"/>
            <a:r>
              <a:rPr lang="en-US" altLang="en-US"/>
              <a:t>Embedded a few traditional Unix FS ideas</a:t>
            </a:r>
          </a:p>
          <a:p>
            <a:pPr lvl="2"/>
            <a:r>
              <a:rPr lang="en-US" altLang="en-US"/>
              <a:t>Serves as a good starting point to understand other Unix related FS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However, Ext2 is quite intricate:</a:t>
            </a:r>
          </a:p>
          <a:p>
            <a:pPr lvl="1"/>
            <a:r>
              <a:rPr lang="en-US" altLang="en-US"/>
              <a:t>Will concentrate on important/relevant parts only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19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254842962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483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Ext2 FS: Overview</a:t>
            </a:r>
          </a:p>
        </p:txBody>
      </p:sp>
      <p:sp>
        <p:nvSpPr>
          <p:cNvPr id="114483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Disk space is split into </a:t>
            </a:r>
            <a:r>
              <a:rPr lang="en-US" altLang="en-US" b="1" dirty="0"/>
              <a:t>Blocks</a:t>
            </a:r>
            <a:endParaRPr lang="en-US" altLang="en-US" dirty="0"/>
          </a:p>
          <a:p>
            <a:pPr lvl="1"/>
            <a:r>
              <a:rPr lang="en-US" altLang="en-US" dirty="0"/>
              <a:t>Correspond to one or more disk sector</a:t>
            </a:r>
          </a:p>
          <a:p>
            <a:pPr lvl="1"/>
            <a:r>
              <a:rPr lang="en-US" altLang="en-US" dirty="0"/>
              <a:t>i.e. Similar to disk cluster in FAT FS</a:t>
            </a:r>
          </a:p>
          <a:p>
            <a:r>
              <a:rPr lang="en-US" altLang="en-US" dirty="0"/>
              <a:t>Blocks are grouped into </a:t>
            </a:r>
            <a:r>
              <a:rPr lang="en-US" altLang="en-US" b="1" dirty="0"/>
              <a:t>Block Groups</a:t>
            </a:r>
            <a:endParaRPr lang="en-US" altLang="en-US" dirty="0"/>
          </a:p>
          <a:p>
            <a:pPr lvl="1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Each file/directory is described by: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b="1" dirty="0"/>
              <a:t>single</a:t>
            </a:r>
            <a:r>
              <a:rPr lang="en-US" altLang="en-US" dirty="0"/>
              <a:t> special structure known as </a:t>
            </a:r>
            <a:r>
              <a:rPr lang="en-US" altLang="en-US" b="1" dirty="0"/>
              <a:t>I-Node </a:t>
            </a:r>
            <a:r>
              <a:rPr lang="en-US" altLang="en-US" dirty="0"/>
              <a:t>(Index Node)</a:t>
            </a:r>
          </a:p>
          <a:p>
            <a:r>
              <a:rPr lang="en-US" altLang="en-US" dirty="0"/>
              <a:t>I-Node contains:</a:t>
            </a:r>
          </a:p>
          <a:p>
            <a:pPr lvl="1"/>
            <a:r>
              <a:rPr lang="en-US" altLang="en-US" dirty="0"/>
              <a:t>File metadata (access right, creation time </a:t>
            </a:r>
            <a:r>
              <a:rPr lang="en-US" altLang="en-US" dirty="0" err="1"/>
              <a:t>etc</a:t>
            </a:r>
            <a:r>
              <a:rPr lang="en-US" altLang="en-US" dirty="0"/>
              <a:t>)</a:t>
            </a:r>
          </a:p>
          <a:p>
            <a:pPr lvl="1"/>
            <a:r>
              <a:rPr lang="en-US" altLang="en-US" dirty="0"/>
              <a:t>Data block addresses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4578643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381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Ext2 FS: Layout</a:t>
            </a:r>
          </a:p>
        </p:txBody>
      </p:sp>
      <p:sp>
        <p:nvSpPr>
          <p:cNvPr id="1143812" name="Rectangle 4" descr="Sphere"/>
          <p:cNvSpPr>
            <a:spLocks noChangeArrowheads="1"/>
          </p:cNvSpPr>
          <p:nvPr/>
        </p:nvSpPr>
        <p:spPr bwMode="auto">
          <a:xfrm>
            <a:off x="3962400" y="2438400"/>
            <a:ext cx="4572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13" name="Rectangle 5" descr="Sphere"/>
          <p:cNvSpPr>
            <a:spLocks noChangeArrowheads="1"/>
          </p:cNvSpPr>
          <p:nvPr/>
        </p:nvSpPr>
        <p:spPr bwMode="auto">
          <a:xfrm>
            <a:off x="4419600" y="2438400"/>
            <a:ext cx="4572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16" name="Rectangle 8" descr="Sphere"/>
          <p:cNvSpPr>
            <a:spLocks noChangeArrowheads="1"/>
          </p:cNvSpPr>
          <p:nvPr/>
        </p:nvSpPr>
        <p:spPr bwMode="auto">
          <a:xfrm>
            <a:off x="4876800" y="2438400"/>
            <a:ext cx="3810000" cy="838200"/>
          </a:xfrm>
          <a:prstGeom prst="rect">
            <a:avLst/>
          </a:prstGeom>
          <a:pattFill prst="sphere">
            <a:fgClr>
              <a:srgbClr val="E8FFD1"/>
            </a:fgClr>
            <a:bgClr>
              <a:srgbClr val="FFFFFF"/>
            </a:bgClr>
          </a:patt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17" name="Rectangle 9"/>
          <p:cNvSpPr>
            <a:spLocks noChangeArrowheads="1"/>
          </p:cNvSpPr>
          <p:nvPr/>
        </p:nvSpPr>
        <p:spPr bwMode="auto">
          <a:xfrm>
            <a:off x="1600200" y="990600"/>
            <a:ext cx="1600200" cy="8382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28575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1</a:t>
            </a:r>
          </a:p>
        </p:txBody>
      </p:sp>
      <p:sp>
        <p:nvSpPr>
          <p:cNvPr id="1143818" name="Rectangle 10"/>
          <p:cNvSpPr>
            <a:spLocks noChangeArrowheads="1"/>
          </p:cNvSpPr>
          <p:nvPr/>
        </p:nvSpPr>
        <p:spPr bwMode="auto">
          <a:xfrm>
            <a:off x="6400800" y="990600"/>
            <a:ext cx="1600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4</a:t>
            </a:r>
          </a:p>
        </p:txBody>
      </p:sp>
      <p:sp>
        <p:nvSpPr>
          <p:cNvPr id="1143819" name="Rectangle 11"/>
          <p:cNvSpPr>
            <a:spLocks noChangeArrowheads="1"/>
          </p:cNvSpPr>
          <p:nvPr/>
        </p:nvSpPr>
        <p:spPr bwMode="auto">
          <a:xfrm>
            <a:off x="4800600" y="990600"/>
            <a:ext cx="1600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3</a:t>
            </a:r>
          </a:p>
        </p:txBody>
      </p:sp>
      <p:sp>
        <p:nvSpPr>
          <p:cNvPr id="1143820" name="Rectangle 12"/>
          <p:cNvSpPr>
            <a:spLocks noChangeArrowheads="1"/>
          </p:cNvSpPr>
          <p:nvPr/>
        </p:nvSpPr>
        <p:spPr bwMode="auto">
          <a:xfrm>
            <a:off x="3200400" y="990600"/>
            <a:ext cx="1600200" cy="83820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>
                <a:lumMod val="65000"/>
                <a:lumOff val="35000"/>
              </a:schemeClr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partition 2</a:t>
            </a:r>
          </a:p>
        </p:txBody>
      </p:sp>
      <p:sp>
        <p:nvSpPr>
          <p:cNvPr id="1143821" name="Rectangle 13"/>
          <p:cNvSpPr>
            <a:spLocks noChangeArrowheads="1"/>
          </p:cNvSpPr>
          <p:nvPr/>
        </p:nvSpPr>
        <p:spPr bwMode="auto">
          <a:xfrm>
            <a:off x="1066800" y="990600"/>
            <a:ext cx="533400" cy="838200"/>
          </a:xfrm>
          <a:prstGeom prst="rect">
            <a:avLst/>
          </a:prstGeom>
          <a:solidFill>
            <a:schemeClr val="bg1">
              <a:lumMod val="85000"/>
            </a:schemeClr>
          </a:solidFill>
          <a:ln w="19050" algn="ctr">
            <a:solidFill>
              <a:schemeClr val="tx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143822" name="Text Box 14"/>
          <p:cNvSpPr txBox="1">
            <a:spLocks noChangeArrowheads="1"/>
          </p:cNvSpPr>
          <p:nvPr/>
        </p:nvSpPr>
        <p:spPr bwMode="auto">
          <a:xfrm>
            <a:off x="1214438" y="1066800"/>
            <a:ext cx="309562" cy="7302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19050" algn="ctr">
                <a:solidFill>
                  <a:schemeClr val="tx1"/>
                </a:solidFill>
                <a:miter lim="800000"/>
                <a:headEnd/>
                <a:tailEnd type="none" w="lg" len="lg"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lIns="91434" tIns="45717" rIns="91434" bIns="45717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400" b="1">
                <a:latin typeface="Courier New" panose="02070309020205020404" pitchFamily="49" charset="0"/>
              </a:rPr>
              <a:t>M</a:t>
            </a:r>
            <a:br>
              <a:rPr lang="en-US" altLang="en-US" sz="1400" b="1">
                <a:latin typeface="Courier New" panose="02070309020205020404" pitchFamily="49" charset="0"/>
              </a:rPr>
            </a:br>
            <a:r>
              <a:rPr lang="en-US" altLang="en-US" sz="1400" b="1">
                <a:latin typeface="Courier New" panose="02070309020205020404" pitchFamily="49" charset="0"/>
              </a:rPr>
              <a:t>B</a:t>
            </a:r>
            <a:br>
              <a:rPr lang="en-US" altLang="en-US" sz="1400" b="1">
                <a:latin typeface="Courier New" panose="02070309020205020404" pitchFamily="49" charset="0"/>
              </a:rPr>
            </a:br>
            <a:r>
              <a:rPr lang="en-US" altLang="en-US" sz="1400" b="1">
                <a:latin typeface="Courier New" panose="02070309020205020404" pitchFamily="49" charset="0"/>
              </a:rPr>
              <a:t>R</a:t>
            </a:r>
          </a:p>
        </p:txBody>
      </p:sp>
      <p:sp>
        <p:nvSpPr>
          <p:cNvPr id="1143823" name="Rectangle 15"/>
          <p:cNvSpPr>
            <a:spLocks noChangeArrowheads="1"/>
          </p:cNvSpPr>
          <p:nvPr/>
        </p:nvSpPr>
        <p:spPr bwMode="auto">
          <a:xfrm>
            <a:off x="533400" y="2438400"/>
            <a:ext cx="8153400" cy="838200"/>
          </a:xfrm>
          <a:prstGeom prst="rect">
            <a:avLst/>
          </a:prstGeom>
          <a:solidFill>
            <a:srgbClr val="CCFF99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24" name="Line 16"/>
          <p:cNvSpPr>
            <a:spLocks noChangeShapeType="1"/>
          </p:cNvSpPr>
          <p:nvPr/>
        </p:nvSpPr>
        <p:spPr bwMode="auto">
          <a:xfrm flipH="1">
            <a:off x="533400" y="1828800"/>
            <a:ext cx="1066800" cy="609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25" name="Line 17"/>
          <p:cNvSpPr>
            <a:spLocks noChangeShapeType="1"/>
          </p:cNvSpPr>
          <p:nvPr/>
        </p:nvSpPr>
        <p:spPr bwMode="auto">
          <a:xfrm>
            <a:off x="3200400" y="1828800"/>
            <a:ext cx="5486400" cy="609600"/>
          </a:xfrm>
          <a:prstGeom prst="line">
            <a:avLst/>
          </a:prstGeom>
          <a:noFill/>
          <a:ln w="19050">
            <a:solidFill>
              <a:srgbClr val="FF0000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26" name="Rectangle 18" descr="Large checker board"/>
          <p:cNvSpPr>
            <a:spLocks noChangeArrowheads="1"/>
          </p:cNvSpPr>
          <p:nvPr/>
        </p:nvSpPr>
        <p:spPr bwMode="auto">
          <a:xfrm>
            <a:off x="990600" y="2438400"/>
            <a:ext cx="2209800" cy="838200"/>
          </a:xfrm>
          <a:prstGeom prst="rect">
            <a:avLst/>
          </a:prstGeom>
          <a:pattFill prst="lgCheck">
            <a:fgClr>
              <a:schemeClr val="accent2">
                <a:lumMod val="20000"/>
                <a:lumOff val="80000"/>
              </a:schemeClr>
            </a:fgClr>
            <a:bgClr>
              <a:schemeClr val="accent2">
                <a:lumMod val="40000"/>
                <a:lumOff val="6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Block Group 0</a:t>
            </a:r>
          </a:p>
        </p:txBody>
      </p:sp>
      <p:sp>
        <p:nvSpPr>
          <p:cNvPr id="1143829" name="Rectangle 21"/>
          <p:cNvSpPr>
            <a:spLocks noChangeArrowheads="1"/>
          </p:cNvSpPr>
          <p:nvPr/>
        </p:nvSpPr>
        <p:spPr bwMode="auto">
          <a:xfrm>
            <a:off x="533400" y="2438400"/>
            <a:ext cx="457200" cy="838200"/>
          </a:xfrm>
          <a:prstGeom prst="rect">
            <a:avLst/>
          </a:prstGeom>
          <a:solidFill>
            <a:srgbClr val="CCFF99"/>
          </a:solidFill>
          <a:ln w="19050" algn="ctr">
            <a:solidFill>
              <a:srgbClr val="008000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36" name="Rectangle 28" descr="Large checker board"/>
          <p:cNvSpPr>
            <a:spLocks noChangeArrowheads="1"/>
          </p:cNvSpPr>
          <p:nvPr/>
        </p:nvSpPr>
        <p:spPr bwMode="auto">
          <a:xfrm>
            <a:off x="3200400" y="2438400"/>
            <a:ext cx="2209800" cy="8382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Block Group 1</a:t>
            </a:r>
          </a:p>
        </p:txBody>
      </p:sp>
      <p:sp>
        <p:nvSpPr>
          <p:cNvPr id="1143837" name="Rectangle 29" descr="Large checker board"/>
          <p:cNvSpPr>
            <a:spLocks noChangeArrowheads="1"/>
          </p:cNvSpPr>
          <p:nvPr/>
        </p:nvSpPr>
        <p:spPr bwMode="auto">
          <a:xfrm>
            <a:off x="5410200" y="2438400"/>
            <a:ext cx="2209800" cy="838200"/>
          </a:xfrm>
          <a:prstGeom prst="rect">
            <a:avLst/>
          </a:prstGeom>
          <a:pattFill prst="wdUpDiag">
            <a:fgClr>
              <a:schemeClr val="bg1">
                <a:lumMod val="95000"/>
              </a:schemeClr>
            </a:fgClr>
            <a:bgClr>
              <a:schemeClr val="accent2">
                <a:lumMod val="20000"/>
                <a:lumOff val="80000"/>
              </a:schemeClr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Block Group 2</a:t>
            </a:r>
          </a:p>
        </p:txBody>
      </p:sp>
      <p:sp>
        <p:nvSpPr>
          <p:cNvPr id="1143838" name="Rectangle 30" descr="Large checker board"/>
          <p:cNvSpPr>
            <a:spLocks noChangeArrowheads="1"/>
          </p:cNvSpPr>
          <p:nvPr/>
        </p:nvSpPr>
        <p:spPr bwMode="auto">
          <a:xfrm>
            <a:off x="7620000" y="2438400"/>
            <a:ext cx="1066800" cy="838200"/>
          </a:xfrm>
          <a:prstGeom prst="rect">
            <a:avLst/>
          </a:prstGeom>
          <a:pattFill prst="wdUpDiag">
            <a:fgClr>
              <a:schemeClr val="accent2">
                <a:lumMod val="20000"/>
                <a:lumOff val="80000"/>
              </a:schemeClr>
            </a:fgClr>
            <a:bgClr>
              <a:schemeClr val="bg1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1143827" name="Rectangle 19" descr="Outlined diamond"/>
          <p:cNvSpPr>
            <a:spLocks noChangeArrowheads="1"/>
          </p:cNvSpPr>
          <p:nvPr/>
        </p:nvSpPr>
        <p:spPr bwMode="auto">
          <a:xfrm>
            <a:off x="533400" y="2438400"/>
            <a:ext cx="457200" cy="838200"/>
          </a:xfrm>
          <a:prstGeom prst="rect">
            <a:avLst/>
          </a:prstGeom>
          <a:pattFill prst="openDmnd">
            <a:fgClr>
              <a:schemeClr val="accent2">
                <a:lumMod val="20000"/>
                <a:lumOff val="80000"/>
              </a:schemeClr>
            </a:fgClr>
            <a:bgClr>
              <a:srgbClr val="FFFFFF"/>
            </a:bgClr>
          </a:patt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BOOT</a:t>
            </a:r>
            <a:endParaRPr lang="en-US" altLang="en-US" sz="1200" b="1">
              <a:latin typeface="Courier New" panose="02070309020205020404" pitchFamily="49" charset="0"/>
            </a:endParaRPr>
          </a:p>
        </p:txBody>
      </p:sp>
      <p:sp>
        <p:nvSpPr>
          <p:cNvPr id="1143839" name="Rectangle 31"/>
          <p:cNvSpPr>
            <a:spLocks noChangeArrowheads="1"/>
          </p:cNvSpPr>
          <p:nvPr/>
        </p:nvSpPr>
        <p:spPr bwMode="auto">
          <a:xfrm>
            <a:off x="457200" y="4038600"/>
            <a:ext cx="990600" cy="838200"/>
          </a:xfrm>
          <a:prstGeom prst="rect">
            <a:avLst/>
          </a:prstGeom>
          <a:solidFill>
            <a:schemeClr val="accent5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0" name="Rectangle 32"/>
          <p:cNvSpPr>
            <a:spLocks noChangeArrowheads="1"/>
          </p:cNvSpPr>
          <p:nvPr/>
        </p:nvSpPr>
        <p:spPr bwMode="auto">
          <a:xfrm>
            <a:off x="1447800" y="4038600"/>
            <a:ext cx="1676400" cy="838200"/>
          </a:xfrm>
          <a:prstGeom prst="rect">
            <a:avLst/>
          </a:prstGeom>
          <a:solidFill>
            <a:schemeClr val="accent5">
              <a:lumMod val="40000"/>
              <a:lumOff val="6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lIns="91434" tIns="45717" rIns="91434" bIns="45717" anchor="ctr"/>
          <a:lstStyle/>
          <a:p>
            <a:pPr algn="ctr"/>
            <a:r>
              <a:rPr lang="en-US" altLang="en-US" sz="1600" b="1">
                <a:latin typeface="Courier New" panose="02070309020205020404" pitchFamily="49" charset="0"/>
              </a:rPr>
              <a:t>Group Descriptors</a:t>
            </a:r>
          </a:p>
        </p:txBody>
      </p:sp>
      <p:sp>
        <p:nvSpPr>
          <p:cNvPr id="1143841" name="Rectangle 33" descr="Dotted diamond"/>
          <p:cNvSpPr>
            <a:spLocks noChangeArrowheads="1"/>
          </p:cNvSpPr>
          <p:nvPr/>
        </p:nvSpPr>
        <p:spPr bwMode="auto">
          <a:xfrm>
            <a:off x="3124200" y="4038600"/>
            <a:ext cx="838200" cy="838200"/>
          </a:xfrm>
          <a:prstGeom prst="rect">
            <a:avLst/>
          </a:prstGeom>
          <a:pattFill prst="dotDmnd">
            <a:fgClr>
              <a:srgbClr val="000000"/>
            </a:fgClr>
            <a:bgClr>
              <a:schemeClr val="bg1"/>
            </a:bgClr>
          </a:patt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2" name="Rectangle 34" descr="Dotted diamond"/>
          <p:cNvSpPr>
            <a:spLocks noChangeArrowheads="1"/>
          </p:cNvSpPr>
          <p:nvPr/>
        </p:nvSpPr>
        <p:spPr bwMode="auto">
          <a:xfrm>
            <a:off x="3962400" y="4038600"/>
            <a:ext cx="838200" cy="838200"/>
          </a:xfrm>
          <a:prstGeom prst="rect">
            <a:avLst/>
          </a:prstGeom>
          <a:pattFill prst="dotDmnd">
            <a:fgClr>
              <a:srgbClr val="0033CC"/>
            </a:fgClr>
            <a:bgClr>
              <a:schemeClr val="bg1"/>
            </a:bgClr>
          </a:patt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3" name="Rectangle 35" descr="Light vertical"/>
          <p:cNvSpPr>
            <a:spLocks noChangeArrowheads="1"/>
          </p:cNvSpPr>
          <p:nvPr/>
        </p:nvSpPr>
        <p:spPr bwMode="auto">
          <a:xfrm>
            <a:off x="4800600" y="4038600"/>
            <a:ext cx="1219200" cy="838200"/>
          </a:xfrm>
          <a:prstGeom prst="rect">
            <a:avLst/>
          </a:prstGeom>
          <a:pattFill prst="ltVert">
            <a:fgClr>
              <a:srgbClr val="00CCFF"/>
            </a:fgClr>
            <a:bgClr>
              <a:schemeClr val="bg1"/>
            </a:bgClr>
          </a:patt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sz="2000" b="1">
              <a:latin typeface="Courier New" panose="02070309020205020404" pitchFamily="49" charset="0"/>
            </a:endParaRPr>
          </a:p>
        </p:txBody>
      </p:sp>
      <p:sp>
        <p:nvSpPr>
          <p:cNvPr id="1143844" name="Rectangle 36"/>
          <p:cNvSpPr>
            <a:spLocks noChangeArrowheads="1"/>
          </p:cNvSpPr>
          <p:nvPr/>
        </p:nvSpPr>
        <p:spPr bwMode="auto">
          <a:xfrm>
            <a:off x="6019800" y="4038600"/>
            <a:ext cx="2438400" cy="838200"/>
          </a:xfrm>
          <a:prstGeom prst="rect">
            <a:avLst/>
          </a:prstGeom>
          <a:solidFill>
            <a:srgbClr val="CCFFFF"/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sz="2000" b="1">
                <a:latin typeface="Courier New" panose="02070309020205020404" pitchFamily="49" charset="0"/>
              </a:rPr>
              <a:t>Data Blocks</a:t>
            </a:r>
          </a:p>
        </p:txBody>
      </p:sp>
      <p:sp>
        <p:nvSpPr>
          <p:cNvPr id="1143845" name="Line 37"/>
          <p:cNvSpPr>
            <a:spLocks noChangeShapeType="1"/>
          </p:cNvSpPr>
          <p:nvPr/>
        </p:nvSpPr>
        <p:spPr bwMode="auto">
          <a:xfrm flipH="1">
            <a:off x="457200" y="3276600"/>
            <a:ext cx="533400" cy="762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46" name="Line 38"/>
          <p:cNvSpPr>
            <a:spLocks noChangeShapeType="1"/>
          </p:cNvSpPr>
          <p:nvPr/>
        </p:nvSpPr>
        <p:spPr bwMode="auto">
          <a:xfrm>
            <a:off x="3200400" y="3276600"/>
            <a:ext cx="5181600" cy="762000"/>
          </a:xfrm>
          <a:prstGeom prst="line">
            <a:avLst/>
          </a:prstGeom>
          <a:noFill/>
          <a:ln w="19050">
            <a:solidFill>
              <a:schemeClr val="tx2"/>
            </a:solidFill>
            <a:prstDash val="sysDot"/>
            <a:round/>
            <a:headEnd/>
            <a:tailEnd type="none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43847" name="AutoShape 39"/>
          <p:cNvSpPr>
            <a:spLocks/>
          </p:cNvSpPr>
          <p:nvPr/>
        </p:nvSpPr>
        <p:spPr bwMode="auto">
          <a:xfrm>
            <a:off x="228600" y="5334000"/>
            <a:ext cx="914400" cy="609600"/>
          </a:xfrm>
          <a:prstGeom prst="accentCallout2">
            <a:avLst>
              <a:gd name="adj1" fmla="val 18750"/>
              <a:gd name="adj2" fmla="val 108333"/>
              <a:gd name="adj3" fmla="val 18750"/>
              <a:gd name="adj4" fmla="val 112500"/>
              <a:gd name="adj5" fmla="val -93750"/>
              <a:gd name="adj6" fmla="val 116667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/>
              <a:t>Super-Block</a:t>
            </a:r>
          </a:p>
        </p:txBody>
      </p:sp>
      <p:sp>
        <p:nvSpPr>
          <p:cNvPr id="1143848" name="AutoShape 40"/>
          <p:cNvSpPr>
            <a:spLocks/>
          </p:cNvSpPr>
          <p:nvPr/>
        </p:nvSpPr>
        <p:spPr bwMode="auto">
          <a:xfrm>
            <a:off x="2057400" y="5029200"/>
            <a:ext cx="914400" cy="609600"/>
          </a:xfrm>
          <a:prstGeom prst="accentCallout2">
            <a:avLst>
              <a:gd name="adj1" fmla="val 18750"/>
              <a:gd name="adj2" fmla="val 108333"/>
              <a:gd name="adj3" fmla="val 18750"/>
              <a:gd name="adj4" fmla="val 138194"/>
              <a:gd name="adj5" fmla="val -51824"/>
              <a:gd name="adj6" fmla="val 16805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/>
              <a:t>Block Bitmap</a:t>
            </a:r>
          </a:p>
        </p:txBody>
      </p:sp>
      <p:sp>
        <p:nvSpPr>
          <p:cNvPr id="1143849" name="AutoShape 41"/>
          <p:cNvSpPr>
            <a:spLocks/>
          </p:cNvSpPr>
          <p:nvPr/>
        </p:nvSpPr>
        <p:spPr bwMode="auto">
          <a:xfrm>
            <a:off x="3048000" y="5638800"/>
            <a:ext cx="914400" cy="609600"/>
          </a:xfrm>
          <a:prstGeom prst="accentCallout2">
            <a:avLst>
              <a:gd name="adj1" fmla="val 18750"/>
              <a:gd name="adj2" fmla="val 108333"/>
              <a:gd name="adj3" fmla="val 18750"/>
              <a:gd name="adj4" fmla="val 140801"/>
              <a:gd name="adj5" fmla="val -146093"/>
              <a:gd name="adj6" fmla="val 17344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pPr algn="r"/>
            <a:r>
              <a:rPr lang="en-US" altLang="en-US" dirty="0"/>
              <a:t>I-node</a:t>
            </a:r>
          </a:p>
          <a:p>
            <a:pPr algn="r"/>
            <a:r>
              <a:rPr lang="en-US" altLang="en-US" dirty="0"/>
              <a:t>Bitmap</a:t>
            </a:r>
          </a:p>
        </p:txBody>
      </p:sp>
      <p:sp>
        <p:nvSpPr>
          <p:cNvPr id="1143850" name="AutoShape 42"/>
          <p:cNvSpPr>
            <a:spLocks/>
          </p:cNvSpPr>
          <p:nvPr/>
        </p:nvSpPr>
        <p:spPr bwMode="auto">
          <a:xfrm flipH="1">
            <a:off x="5943600" y="5638800"/>
            <a:ext cx="990600" cy="609600"/>
          </a:xfrm>
          <a:prstGeom prst="accentCallout2">
            <a:avLst>
              <a:gd name="adj1" fmla="val 18750"/>
              <a:gd name="adj2" fmla="val 107690"/>
              <a:gd name="adj3" fmla="val 18750"/>
              <a:gd name="adj4" fmla="val 119870"/>
              <a:gd name="adj5" fmla="val -146875"/>
              <a:gd name="adj6" fmla="val 132051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I-node</a:t>
            </a:r>
          </a:p>
          <a:p>
            <a:r>
              <a:rPr lang="en-US" altLang="en-US"/>
              <a:t>Table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6542693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14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6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 nodeType="clickPar">
                      <p:stCondLst>
                        <p:cond delay="indefinite"/>
                      </p:stCondLst>
                      <p:childTnLst>
                        <p:par>
                          <p:cTn id="19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0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2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 nodeType="afterGroup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 nodeType="clickPar">
                      <p:stCondLst>
                        <p:cond delay="indefinite"/>
                      </p:stCondLst>
                      <p:childTnLst>
                        <p:par>
                          <p:cTn id="2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 nodeType="clickPar">
                      <p:stCondLst>
                        <p:cond delay="indefinite"/>
                      </p:stCondLst>
                      <p:childTnLst>
                        <p:par>
                          <p:cTn id="3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 nodeType="clickPar">
                      <p:stCondLst>
                        <p:cond delay="indefinite"/>
                      </p:stCondLst>
                      <p:childTnLst>
                        <p:par>
                          <p:cTn id="3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3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4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 nodeType="clickPar">
                      <p:stCondLst>
                        <p:cond delay="indefinite"/>
                      </p:stCondLst>
                      <p:childTnLst>
                        <p:par>
                          <p:cTn id="4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4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 nodeType="clickPar">
                      <p:stCondLst>
                        <p:cond delay="indefinite"/>
                      </p:stCondLst>
                      <p:childTnLst>
                        <p:par>
                          <p:cTn id="5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 nodeType="clickPar">
                      <p:stCondLst>
                        <p:cond delay="indefinite"/>
                      </p:stCondLst>
                      <p:childTnLst>
                        <p:par>
                          <p:cTn id="5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7" fill="hold" nodeType="clickPar">
                      <p:stCondLst>
                        <p:cond delay="indefinite"/>
                      </p:stCondLst>
                      <p:childTnLst>
                        <p:par>
                          <p:cTn id="5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1" fill="hold" nodeType="clickPar">
                      <p:stCondLst>
                        <p:cond delay="indefinite"/>
                      </p:stCondLst>
                      <p:childTnLst>
                        <p:par>
                          <p:cTn id="6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5" fill="hold" nodeType="clickPar">
                      <p:stCondLst>
                        <p:cond delay="indefinite"/>
                      </p:stCondLst>
                      <p:childTnLst>
                        <p:par>
                          <p:cTn id="66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6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9" fill="hold" nodeType="clickPar">
                      <p:stCondLst>
                        <p:cond delay="indefinite"/>
                      </p:stCondLst>
                      <p:childTnLst>
                        <p:par>
                          <p:cTn id="70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 nodeType="clickPar">
                      <p:stCondLst>
                        <p:cond delay="indefinite"/>
                      </p:stCondLst>
                      <p:childTnLst>
                        <p:par>
                          <p:cTn id="7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7" fill="hold" nodeType="clickPar">
                      <p:stCondLst>
                        <p:cond delay="indefinite"/>
                      </p:stCondLst>
                      <p:childTnLst>
                        <p:par>
                          <p:cTn id="78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7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1" fill="hold" nodeType="clickPar">
                      <p:stCondLst>
                        <p:cond delay="indefinite"/>
                      </p:stCondLst>
                      <p:childTnLst>
                        <p:par>
                          <p:cTn id="82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8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8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38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43812" grpId="0" animBg="1"/>
      <p:bldP spid="1143813" grpId="0" animBg="1"/>
      <p:bldP spid="1143816" grpId="0" animBg="1"/>
      <p:bldP spid="1143817" grpId="0" animBg="1"/>
      <p:bldP spid="1143818" grpId="0" animBg="1"/>
      <p:bldP spid="1143819" grpId="0" animBg="1"/>
      <p:bldP spid="1143820" grpId="0" animBg="1"/>
      <p:bldP spid="1143821" grpId="0" animBg="1"/>
      <p:bldP spid="1143822" grpId="0"/>
      <p:bldP spid="1143823" grpId="0" animBg="1"/>
      <p:bldP spid="1143824" grpId="0" animBg="1"/>
      <p:bldP spid="1143825" grpId="0" animBg="1"/>
      <p:bldP spid="1143826" grpId="0" animBg="1"/>
      <p:bldP spid="1143829" grpId="0" animBg="1"/>
      <p:bldP spid="1143836" grpId="0" animBg="1"/>
      <p:bldP spid="1143837" grpId="0" animBg="1"/>
      <p:bldP spid="1143838" grpId="0" animBg="1"/>
      <p:bldP spid="1143827" grpId="0" animBg="1"/>
      <p:bldP spid="1143839" grpId="0" animBg="1"/>
      <p:bldP spid="1143840" grpId="0" animBg="1"/>
      <p:bldP spid="1143841" grpId="0" animBg="1"/>
      <p:bldP spid="1143842" grpId="0" animBg="1"/>
      <p:bldP spid="1143843" grpId="0" animBg="1"/>
      <p:bldP spid="1143844" grpId="0" animBg="1"/>
      <p:bldP spid="1143845" grpId="0" animBg="1"/>
      <p:bldP spid="1143846" grpId="0" animBg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585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Partition Information</a:t>
            </a:r>
          </a:p>
        </p:txBody>
      </p:sp>
      <p:sp>
        <p:nvSpPr>
          <p:cNvPr id="1145859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b="1" dirty="0"/>
              <a:t>Superblock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Describe the whole file system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Includes: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Total I-Nodes number, I-Nodes per group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Total disk blocks, Disk Blocks per group</a:t>
            </a:r>
          </a:p>
          <a:p>
            <a:pPr lvl="2">
              <a:lnSpc>
                <a:spcPct val="90000"/>
              </a:lnSpc>
            </a:pPr>
            <a:r>
              <a:rPr lang="en-US" altLang="en-US" dirty="0" err="1"/>
              <a:t>etc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Duplicated in each block group for redundancy</a:t>
            </a:r>
          </a:p>
          <a:p>
            <a:pPr>
              <a:lnSpc>
                <a:spcPct val="90000"/>
              </a:lnSpc>
            </a:pPr>
            <a:r>
              <a:rPr lang="en-US" altLang="en-US" b="1" dirty="0"/>
              <a:t>Group Descriptors</a:t>
            </a:r>
            <a:endParaRPr lang="en-US" altLang="en-US" dirty="0"/>
          </a:p>
          <a:p>
            <a:pPr lvl="1">
              <a:lnSpc>
                <a:spcPct val="90000"/>
              </a:lnSpc>
            </a:pPr>
            <a:r>
              <a:rPr lang="en-US" altLang="en-US" dirty="0"/>
              <a:t>Describe each of the block group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Number of free disk blocks, free I-nodes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Location of the bitmaps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Duplicated in each block group as well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82499806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688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Partition Information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4688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b="1" dirty="0"/>
              <a:t>Block Bitmap</a:t>
            </a:r>
          </a:p>
          <a:p>
            <a:pPr lvl="1"/>
            <a:r>
              <a:rPr lang="en-US" altLang="en-US" dirty="0"/>
              <a:t>Keep track of the usage status of blocks of this block group (1 = Occupied, 0 = Free )</a:t>
            </a:r>
          </a:p>
          <a:p>
            <a:endParaRPr lang="en-US" altLang="en-US" b="1" dirty="0"/>
          </a:p>
          <a:p>
            <a:r>
              <a:rPr lang="en-US" altLang="en-US" b="1" dirty="0"/>
              <a:t>I-Node Bitmap</a:t>
            </a:r>
            <a:r>
              <a:rPr lang="en-US" altLang="en-US" dirty="0"/>
              <a:t> </a:t>
            </a:r>
          </a:p>
          <a:p>
            <a:pPr lvl="1"/>
            <a:r>
              <a:rPr lang="en-US" altLang="en-US" dirty="0"/>
              <a:t>Keep track of the usage status of I-Nodes of this block group (1 = Occupied, 0 = Free )</a:t>
            </a:r>
          </a:p>
          <a:p>
            <a:endParaRPr lang="en-US" altLang="en-US" b="1" dirty="0"/>
          </a:p>
          <a:p>
            <a:r>
              <a:rPr lang="en-US" altLang="en-US" b="1" dirty="0"/>
              <a:t>I-Node table</a:t>
            </a:r>
          </a:p>
          <a:p>
            <a:pPr lvl="1"/>
            <a:r>
              <a:rPr lang="en-US" altLang="en-US" dirty="0"/>
              <a:t>An array of I-Nodes</a:t>
            </a:r>
          </a:p>
          <a:p>
            <a:pPr lvl="2"/>
            <a:r>
              <a:rPr lang="en-US" altLang="en-US" dirty="0"/>
              <a:t>Each I-Node can be access by an unique index</a:t>
            </a:r>
          </a:p>
          <a:p>
            <a:pPr lvl="1"/>
            <a:r>
              <a:rPr lang="en-US" altLang="en-US" dirty="0"/>
              <a:t>Contains only I-Nodes of this block group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56971629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790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Ext2: I-Node Structure (128 Bytes) 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24</a:t>
            </a:fld>
            <a:endParaRPr lang="en-US" altLang="en-US"/>
          </a:p>
        </p:txBody>
      </p:sp>
      <p:sp>
        <p:nvSpPr>
          <p:cNvPr id="8" name="Rectangle 4"/>
          <p:cNvSpPr>
            <a:spLocks noChangeArrowheads="1"/>
          </p:cNvSpPr>
          <p:nvPr/>
        </p:nvSpPr>
        <p:spPr bwMode="auto">
          <a:xfrm>
            <a:off x="838200" y="1378810"/>
            <a:ext cx="1961016" cy="4945790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9" name="Rectangle 7"/>
          <p:cNvSpPr>
            <a:spLocks noChangeArrowheads="1"/>
          </p:cNvSpPr>
          <p:nvPr/>
        </p:nvSpPr>
        <p:spPr bwMode="auto">
          <a:xfrm>
            <a:off x="839901" y="1378810"/>
            <a:ext cx="1959315" cy="7008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b="1" dirty="0">
                <a:latin typeface="+mn-lt"/>
              </a:rPr>
              <a:t>Mode (2)</a:t>
            </a:r>
          </a:p>
        </p:txBody>
      </p:sp>
      <p:sp>
        <p:nvSpPr>
          <p:cNvPr id="10" name="Rectangle 11"/>
          <p:cNvSpPr>
            <a:spLocks noChangeArrowheads="1"/>
          </p:cNvSpPr>
          <p:nvPr/>
        </p:nvSpPr>
        <p:spPr bwMode="auto">
          <a:xfrm>
            <a:off x="838200" y="2050192"/>
            <a:ext cx="1961016" cy="685914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lIns="80815" tIns="40407" rIns="80815" bIns="40407" anchor="ctr"/>
          <a:lstStyle>
            <a:lvl1pPr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1pPr>
            <a:lvl2pPr marL="404813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2pPr>
            <a:lvl3pPr marL="808038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3pPr>
            <a:lvl4pPr marL="1212850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4pPr>
            <a:lvl5pPr marL="1616075"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5pPr>
            <a:lvl6pPr marL="20732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6pPr>
            <a:lvl7pPr marL="25304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7pPr>
            <a:lvl8pPr marL="29876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8pPr>
            <a:lvl9pPr marL="3444875" fontAlgn="base">
              <a:spcBef>
                <a:spcPct val="0"/>
              </a:spcBef>
              <a:spcAft>
                <a:spcPct val="0"/>
              </a:spcAft>
              <a:defRPr>
                <a:solidFill>
                  <a:schemeClr val="tx1"/>
                </a:solidFill>
                <a:latin typeface="Arial" panose="020B0604020202020204" pitchFamily="34" charset="0"/>
                <a:cs typeface="Arial" panose="020B0604020202020204" pitchFamily="34" charset="0"/>
              </a:defRPr>
            </a:lvl9pPr>
          </a:lstStyle>
          <a:p>
            <a:r>
              <a:rPr lang="en-US" altLang="en-US" b="1" dirty="0">
                <a:latin typeface="+mn-lt"/>
              </a:rPr>
              <a:t>Owner Info (4)</a:t>
            </a:r>
          </a:p>
        </p:txBody>
      </p:sp>
      <p:sp>
        <p:nvSpPr>
          <p:cNvPr id="11" name="Rectangle 12"/>
          <p:cNvSpPr>
            <a:spLocks noChangeArrowheads="1"/>
          </p:cNvSpPr>
          <p:nvPr/>
        </p:nvSpPr>
        <p:spPr bwMode="auto">
          <a:xfrm>
            <a:off x="839788" y="2705960"/>
            <a:ext cx="1961016" cy="7008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r>
              <a:rPr lang="en-US" altLang="en-US" b="1" dirty="0">
                <a:latin typeface="+mn-lt"/>
              </a:rPr>
              <a:t>File Size (4/8)</a:t>
            </a:r>
          </a:p>
        </p:txBody>
      </p:sp>
      <p:sp>
        <p:nvSpPr>
          <p:cNvPr id="12" name="Rectangle 13"/>
          <p:cNvSpPr>
            <a:spLocks noChangeArrowheads="1"/>
          </p:cNvSpPr>
          <p:nvPr/>
        </p:nvSpPr>
        <p:spPr bwMode="auto">
          <a:xfrm>
            <a:off x="838200" y="3412036"/>
            <a:ext cx="1961016" cy="7008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square" lIns="91434" tIns="45717" rIns="91434" bIns="45717" anchor="ctr"/>
          <a:lstStyle/>
          <a:p>
            <a:r>
              <a:rPr lang="en-US" altLang="en-US" b="1" dirty="0">
                <a:latin typeface="+mn-lt"/>
              </a:rPr>
              <a:t>Timestamps </a:t>
            </a:r>
            <a:br>
              <a:rPr lang="en-US" altLang="en-US" b="1" dirty="0">
                <a:latin typeface="+mn-lt"/>
              </a:rPr>
            </a:br>
            <a:r>
              <a:rPr lang="en-US" altLang="en-US" b="1" dirty="0">
                <a:latin typeface="+mn-lt"/>
              </a:rPr>
              <a:t>(3 x 4)</a:t>
            </a:r>
          </a:p>
        </p:txBody>
      </p:sp>
      <p:sp>
        <p:nvSpPr>
          <p:cNvPr id="13" name="Rectangle 14"/>
          <p:cNvSpPr>
            <a:spLocks noChangeArrowheads="1"/>
          </p:cNvSpPr>
          <p:nvPr/>
        </p:nvSpPr>
        <p:spPr bwMode="auto">
          <a:xfrm>
            <a:off x="838200" y="4795723"/>
            <a:ext cx="1961016" cy="700816"/>
          </a:xfrm>
          <a:prstGeom prst="rect">
            <a:avLst/>
          </a:prstGeom>
          <a:solidFill>
            <a:schemeClr val="accent2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square" lIns="91434" tIns="45717" rIns="91434" bIns="45717" anchor="ctr"/>
          <a:lstStyle/>
          <a:p>
            <a:r>
              <a:rPr lang="en-US" altLang="en-US" b="1" dirty="0">
                <a:latin typeface="+mn-lt"/>
              </a:rPr>
              <a:t>Reference Count (2)</a:t>
            </a:r>
          </a:p>
        </p:txBody>
      </p:sp>
      <p:sp>
        <p:nvSpPr>
          <p:cNvPr id="15" name="Rectangle 16"/>
          <p:cNvSpPr>
            <a:spLocks noChangeArrowheads="1"/>
          </p:cNvSpPr>
          <p:nvPr/>
        </p:nvSpPr>
        <p:spPr bwMode="auto">
          <a:xfrm>
            <a:off x="838200" y="4109730"/>
            <a:ext cx="1961016" cy="700816"/>
          </a:xfrm>
          <a:prstGeom prst="rect">
            <a:avLst/>
          </a:prstGeom>
          <a:solidFill>
            <a:schemeClr val="accent4">
              <a:lumMod val="20000"/>
              <a:lumOff val="80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square" lIns="91434" tIns="45717" rIns="91434" bIns="45717" anchor="ctr"/>
          <a:lstStyle/>
          <a:p>
            <a:r>
              <a:rPr lang="en-US" altLang="en-US" b="1" dirty="0">
                <a:latin typeface="+mn-lt"/>
              </a:rPr>
              <a:t>Data Block Pointers (15 x 4)</a:t>
            </a:r>
          </a:p>
        </p:txBody>
      </p:sp>
      <p:sp>
        <p:nvSpPr>
          <p:cNvPr id="28" name="Rectangle 29"/>
          <p:cNvSpPr>
            <a:spLocks noChangeArrowheads="1"/>
          </p:cNvSpPr>
          <p:nvPr/>
        </p:nvSpPr>
        <p:spPr bwMode="auto">
          <a:xfrm>
            <a:off x="838200" y="5493416"/>
            <a:ext cx="1961016" cy="831183"/>
          </a:xfrm>
          <a:prstGeom prst="rect">
            <a:avLst/>
          </a:prstGeom>
          <a:solidFill>
            <a:schemeClr val="bg1">
              <a:lumMod val="95000"/>
            </a:schemeClr>
          </a:solidFill>
          <a:ln w="19050" algn="ctr">
            <a:solidFill>
              <a:schemeClr val="tx1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… </a:t>
            </a:r>
            <a:r>
              <a:rPr lang="en-US" altLang="en-US" i="1" dirty="0"/>
              <a:t>Other …</a:t>
            </a:r>
            <a:endParaRPr lang="en-US" altLang="en-US" dirty="0"/>
          </a:p>
          <a:p>
            <a:pPr algn="ctr"/>
            <a:r>
              <a:rPr lang="en-US" altLang="en-US" dirty="0"/>
              <a:t>… </a:t>
            </a:r>
            <a:r>
              <a:rPr lang="en-US" altLang="en-US" i="1" dirty="0"/>
              <a:t>Fields …</a:t>
            </a:r>
            <a:endParaRPr lang="en-US" altLang="en-US" dirty="0"/>
          </a:p>
        </p:txBody>
      </p:sp>
      <p:sp>
        <p:nvSpPr>
          <p:cNvPr id="5" name="Line Callout 2 (Accent Bar) 4"/>
          <p:cNvSpPr/>
          <p:nvPr/>
        </p:nvSpPr>
        <p:spPr>
          <a:xfrm>
            <a:off x="3600994" y="1117421"/>
            <a:ext cx="3200400" cy="542109"/>
          </a:xfrm>
          <a:prstGeom prst="accentCallout2">
            <a:avLst>
              <a:gd name="adj1" fmla="val 18750"/>
              <a:gd name="adj2" fmla="val -8333"/>
              <a:gd name="adj3" fmla="val 55698"/>
              <a:gd name="adj4" fmla="val -16395"/>
              <a:gd name="adj5" fmla="val 88533"/>
              <a:gd name="adj6" fmla="val -30504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File type (regular, directory, special, </a:t>
            </a:r>
            <a:r>
              <a:rPr lang="en-US" dirty="0" err="1">
                <a:solidFill>
                  <a:schemeClr val="tx1"/>
                </a:solidFill>
              </a:rPr>
              <a:t>etc</a:t>
            </a:r>
            <a:r>
              <a:rPr lang="en-US" dirty="0">
                <a:solidFill>
                  <a:schemeClr val="tx1"/>
                </a:solidFill>
              </a:rPr>
              <a:t>) + File permission </a:t>
            </a:r>
          </a:p>
        </p:txBody>
      </p:sp>
      <p:sp>
        <p:nvSpPr>
          <p:cNvPr id="30" name="Line Callout 2 (Accent Bar) 29"/>
          <p:cNvSpPr/>
          <p:nvPr/>
        </p:nvSpPr>
        <p:spPr>
          <a:xfrm>
            <a:off x="4149634" y="1994958"/>
            <a:ext cx="3200400" cy="542109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38733"/>
              <a:gd name="adj6" fmla="val -48191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User Id (2 bytes) </a:t>
            </a:r>
          </a:p>
          <a:p>
            <a:r>
              <a:rPr lang="en-US" dirty="0">
                <a:solidFill>
                  <a:schemeClr val="tx1"/>
                </a:solidFill>
              </a:rPr>
              <a:t>+ Group Id (2 bytes)</a:t>
            </a:r>
          </a:p>
        </p:txBody>
      </p:sp>
      <p:sp>
        <p:nvSpPr>
          <p:cNvPr id="31" name="Line Callout 2 (Accent Bar) 30"/>
          <p:cNvSpPr/>
          <p:nvPr/>
        </p:nvSpPr>
        <p:spPr>
          <a:xfrm>
            <a:off x="3407228" y="2802114"/>
            <a:ext cx="3200400" cy="542109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17850"/>
              <a:gd name="adj6" fmla="val -24245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File Size in bytes. Larger for regular file ( 8 bytes )</a:t>
            </a:r>
          </a:p>
        </p:txBody>
      </p:sp>
      <p:sp>
        <p:nvSpPr>
          <p:cNvPr id="32" name="Line Callout 2 (Accent Bar) 31"/>
          <p:cNvSpPr/>
          <p:nvPr/>
        </p:nvSpPr>
        <p:spPr>
          <a:xfrm>
            <a:off x="4169228" y="3679651"/>
            <a:ext cx="3200400" cy="542109"/>
          </a:xfrm>
          <a:prstGeom prst="accentCallout2">
            <a:avLst>
              <a:gd name="adj1" fmla="val 18750"/>
              <a:gd name="adj2" fmla="val -8333"/>
              <a:gd name="adj3" fmla="val -13379"/>
              <a:gd name="adj4" fmla="val -18572"/>
              <a:gd name="adj5" fmla="val -15886"/>
              <a:gd name="adj6" fmla="val -46287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Creation, Modification &amp; Deletion timestamps</a:t>
            </a:r>
          </a:p>
        </p:txBody>
      </p:sp>
      <p:sp>
        <p:nvSpPr>
          <p:cNvPr id="34" name="Line Callout 2 (Accent Bar) 33"/>
          <p:cNvSpPr/>
          <p:nvPr/>
        </p:nvSpPr>
        <p:spPr>
          <a:xfrm>
            <a:off x="3581400" y="4524668"/>
            <a:ext cx="4724400" cy="542109"/>
          </a:xfrm>
          <a:prstGeom prst="accentCallout2">
            <a:avLst>
              <a:gd name="adj1" fmla="val 18750"/>
              <a:gd name="adj2" fmla="val -8333"/>
              <a:gd name="adj3" fmla="val -47114"/>
              <a:gd name="adj4" fmla="val -13349"/>
              <a:gd name="adj5" fmla="val -48013"/>
              <a:gd name="adj6" fmla="val -19243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Indices of data blocks. 12 x direct, 1 x indirect, 1 x double indirect, 1 x triple indirect</a:t>
            </a:r>
          </a:p>
        </p:txBody>
      </p:sp>
      <p:sp>
        <p:nvSpPr>
          <p:cNvPr id="35" name="Line Callout 2 (Accent Bar) 34"/>
          <p:cNvSpPr/>
          <p:nvPr/>
        </p:nvSpPr>
        <p:spPr>
          <a:xfrm>
            <a:off x="4258491" y="5499917"/>
            <a:ext cx="3200400" cy="542109"/>
          </a:xfrm>
          <a:prstGeom prst="accentCallout2">
            <a:avLst>
              <a:gd name="adj1" fmla="val 18750"/>
              <a:gd name="adj2" fmla="val -8333"/>
              <a:gd name="adj3" fmla="val 18750"/>
              <a:gd name="adj4" fmla="val -16667"/>
              <a:gd name="adj5" fmla="val -84962"/>
              <a:gd name="adj6" fmla="val -48735"/>
            </a:avLst>
          </a:prstGeom>
          <a:noFill/>
          <a:ln w="19050">
            <a:solidFill>
              <a:schemeClr val="tx2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en-US" dirty="0">
                <a:solidFill>
                  <a:schemeClr val="tx1"/>
                </a:solidFill>
              </a:rPr>
              <a:t>Number of time this I-Node is referenced by directory entry</a:t>
            </a:r>
          </a:p>
        </p:txBody>
      </p:sp>
    </p:spTree>
    <p:extLst>
      <p:ext uri="{BB962C8B-B14F-4D97-AF65-F5344CB8AC3E}">
        <p14:creationId xmlns:p14="http://schemas.microsoft.com/office/powerpoint/2010/main" val="358088264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8" grpId="0" animBg="1"/>
      <p:bldP spid="9" grpId="0" animBg="1"/>
      <p:bldP spid="10" grpId="0" animBg="1"/>
      <p:bldP spid="11" grpId="0" animBg="1"/>
      <p:bldP spid="12" grpId="0" animBg="1"/>
      <p:bldP spid="13" grpId="0" animBg="1"/>
      <p:bldP spid="15" grpId="0" animBg="1"/>
      <p:bldP spid="28" grpId="0" animBg="1"/>
    </p:bld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I-Node Structure: Data Blocks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25</a:t>
            </a:fld>
            <a:endParaRPr lang="en-US" altLang="en-US"/>
          </a:p>
        </p:txBody>
      </p:sp>
      <p:pic>
        <p:nvPicPr>
          <p:cNvPr id="6" name="Picture 5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5400" y="1340931"/>
            <a:ext cx="7010400" cy="480841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60108141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893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I-Node Data Blocks</a:t>
            </a:r>
          </a:p>
        </p:txBody>
      </p:sp>
      <p:sp>
        <p:nvSpPr>
          <p:cNvPr id="114893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Other than file metadata, I-Node contains</a:t>
            </a:r>
          </a:p>
          <a:p>
            <a:pPr lvl="1"/>
            <a:r>
              <a:rPr lang="en-US" altLang="en-US"/>
              <a:t>15 disk block pointers (disk block number)</a:t>
            </a:r>
          </a:p>
          <a:p>
            <a:pPr lvl="1"/>
            <a:endParaRPr lang="en-US" altLang="en-US"/>
          </a:p>
          <a:p>
            <a:r>
              <a:rPr lang="en-US" altLang="en-US"/>
              <a:t>First 12 pointers:</a:t>
            </a:r>
          </a:p>
          <a:p>
            <a:pPr lvl="1"/>
            <a:r>
              <a:rPr lang="en-US" altLang="en-US"/>
              <a:t>Points to disk blocks that stores actual data</a:t>
            </a:r>
          </a:p>
          <a:p>
            <a:pPr lvl="1"/>
            <a:r>
              <a:rPr lang="en-US" altLang="en-US"/>
              <a:t>Known as the </a:t>
            </a:r>
            <a:r>
              <a:rPr lang="en-US" altLang="en-US" b="1"/>
              <a:t>Direct Blocks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 b="1"/>
          </a:p>
          <a:p>
            <a:r>
              <a:rPr lang="en-US" altLang="en-US"/>
              <a:t>13</a:t>
            </a:r>
            <a:r>
              <a:rPr lang="en-US" altLang="en-US" baseline="30000"/>
              <a:t>th</a:t>
            </a:r>
            <a:r>
              <a:rPr lang="en-US" altLang="en-US"/>
              <a:t> Pointer:</a:t>
            </a:r>
          </a:p>
          <a:p>
            <a:pPr lvl="1"/>
            <a:r>
              <a:rPr lang="en-US" altLang="en-US"/>
              <a:t>Points to a disk block that stores direct pointers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Single Indirect Block</a:t>
            </a: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763427578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4995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I-Node: Data Blocks (</a:t>
            </a:r>
            <a:r>
              <a:rPr lang="en-US" altLang="en-US" sz="3800" dirty="0" err="1"/>
              <a:t>Cont</a:t>
            </a:r>
            <a:r>
              <a:rPr lang="en-US" altLang="en-US" sz="3800" dirty="0"/>
              <a:t>)</a:t>
            </a:r>
          </a:p>
        </p:txBody>
      </p:sp>
      <p:sp>
        <p:nvSpPr>
          <p:cNvPr id="114995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/>
              <a:t>14</a:t>
            </a:r>
            <a:r>
              <a:rPr lang="en-US" altLang="en-US" baseline="30000"/>
              <a:t>th</a:t>
            </a:r>
            <a:r>
              <a:rPr lang="en-US" altLang="en-US"/>
              <a:t> Pointer:</a:t>
            </a:r>
          </a:p>
          <a:p>
            <a:pPr lvl="1"/>
            <a:r>
              <a:rPr lang="en-US" altLang="en-US"/>
              <a:t>Points to a disk block that contains a number of single indirect block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Double Indirect Block</a:t>
            </a:r>
          </a:p>
          <a:p>
            <a:pPr lvl="1">
              <a:buFont typeface="Wingdings" panose="05000000000000000000" pitchFamily="2" charset="2"/>
              <a:buNone/>
            </a:pPr>
            <a:endParaRPr lang="en-US" altLang="en-US"/>
          </a:p>
          <a:p>
            <a:r>
              <a:rPr lang="en-US" altLang="en-US"/>
              <a:t>15</a:t>
            </a:r>
            <a:r>
              <a:rPr lang="en-US" altLang="en-US" baseline="30000"/>
              <a:t>th</a:t>
            </a:r>
            <a:r>
              <a:rPr lang="en-US" altLang="en-US"/>
              <a:t> Pointer:</a:t>
            </a:r>
          </a:p>
          <a:p>
            <a:pPr lvl="1"/>
            <a:r>
              <a:rPr lang="en-US" altLang="en-US"/>
              <a:t>Points to a disk block that contains a number of double indirect block</a:t>
            </a:r>
          </a:p>
          <a:p>
            <a:pPr lvl="1"/>
            <a:r>
              <a:rPr lang="en-US" altLang="en-US"/>
              <a:t>Known as </a:t>
            </a:r>
            <a:r>
              <a:rPr lang="en-US" altLang="en-US" b="1"/>
              <a:t>Triple Indirect Block</a:t>
            </a:r>
          </a:p>
          <a:p>
            <a:pPr>
              <a:buFont typeface="Wingdings" panose="05000000000000000000" pitchFamily="2" charset="2"/>
              <a:buNone/>
            </a:pPr>
            <a:endParaRPr lang="en-US" altLang="en-US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667022440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405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I-Node </a:t>
            </a:r>
            <a:r>
              <a:rPr lang="en-US" altLang="en-US" sz="3800" dirty="0">
                <a:sym typeface="Wingdings" panose="05000000000000000000" pitchFamily="2" charset="2"/>
              </a:rPr>
              <a:t>Data Block Example</a:t>
            </a:r>
            <a:endParaRPr lang="en-US" altLang="en-US" sz="3800" dirty="0"/>
          </a:p>
        </p:txBody>
      </p:sp>
      <p:sp>
        <p:nvSpPr>
          <p:cNvPr id="115405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>
              <a:lnSpc>
                <a:spcPct val="90000"/>
              </a:lnSpc>
            </a:pPr>
            <a:r>
              <a:rPr lang="en-US" altLang="en-US" dirty="0"/>
              <a:t>The design of I-Node allows: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Fast access to small file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The first 12 disk blocks is directly accessible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Flexibility in handling huge file</a:t>
            </a:r>
          </a:p>
          <a:p>
            <a:pPr>
              <a:lnSpc>
                <a:spcPct val="90000"/>
              </a:lnSpc>
            </a:pPr>
            <a:r>
              <a:rPr lang="en-US" altLang="en-US" dirty="0"/>
              <a:t>Example: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disk block address is 4 bytes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Each disk block is 1KiB</a:t>
            </a:r>
          </a:p>
          <a:p>
            <a:pPr lvl="2">
              <a:lnSpc>
                <a:spcPct val="90000"/>
              </a:lnSpc>
            </a:pPr>
            <a:r>
              <a:rPr lang="en-US" altLang="en-US" dirty="0"/>
              <a:t>So, indirect block can store 1KiB/4 = 256 addresses</a:t>
            </a:r>
          </a:p>
          <a:p>
            <a:pPr lvl="1">
              <a:lnSpc>
                <a:spcPct val="90000"/>
              </a:lnSpc>
            </a:pPr>
            <a:r>
              <a:rPr lang="en-US" altLang="en-US" dirty="0"/>
              <a:t>Maximum File Size: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= Direct blocks + single indirect + double indirect + triple indirect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= 12 x 1 KiB + 256 x 1KiB + 256</a:t>
            </a:r>
            <a:r>
              <a:rPr lang="en-US" altLang="en-US" baseline="30000" dirty="0"/>
              <a:t>2</a:t>
            </a:r>
            <a:r>
              <a:rPr lang="en-US" altLang="en-US" dirty="0"/>
              <a:t> x 1KiB + 256</a:t>
            </a:r>
            <a:r>
              <a:rPr lang="en-US" altLang="en-US" baseline="30000" dirty="0"/>
              <a:t>3</a:t>
            </a:r>
            <a:r>
              <a:rPr lang="en-US" altLang="en-US" dirty="0"/>
              <a:t> x 1KiB</a:t>
            </a:r>
          </a:p>
          <a:p>
            <a:pPr lvl="2">
              <a:lnSpc>
                <a:spcPct val="90000"/>
              </a:lnSpc>
              <a:buFont typeface="Wingdings" panose="05000000000000000000" pitchFamily="2" charset="2"/>
              <a:buNone/>
            </a:pPr>
            <a:r>
              <a:rPr lang="en-US" altLang="en-US" dirty="0"/>
              <a:t>= </a:t>
            </a:r>
            <a:r>
              <a:rPr lang="en-US" altLang="en-US"/>
              <a:t>16843020 KiB  </a:t>
            </a:r>
            <a:r>
              <a:rPr lang="en-US" altLang="en-US" dirty="0"/>
              <a:t>(16 </a:t>
            </a:r>
            <a:r>
              <a:rPr lang="en-US" altLang="en-US" dirty="0" err="1"/>
              <a:t>GiB</a:t>
            </a:r>
            <a:r>
              <a:rPr lang="en-US" altLang="en-US" dirty="0"/>
              <a:t>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996860101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097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Structure</a:t>
            </a:r>
          </a:p>
        </p:txBody>
      </p:sp>
      <p:sp>
        <p:nvSpPr>
          <p:cNvPr id="1150979" name="Rectangle 3"/>
          <p:cNvSpPr>
            <a:spLocks noGrp="1" noChangeArrowheads="1"/>
          </p:cNvSpPr>
          <p:nvPr>
            <p:ph type="body" idx="1"/>
          </p:nvPr>
        </p:nvSpPr>
        <p:spPr>
          <a:xfrm>
            <a:off x="457200" y="914400"/>
            <a:ext cx="8229600" cy="5486400"/>
          </a:xfrm>
        </p:spPr>
        <p:txBody>
          <a:bodyPr>
            <a:normAutofit lnSpcReduction="10000"/>
          </a:bodyPr>
          <a:lstStyle/>
          <a:p>
            <a:r>
              <a:rPr lang="en-US" altLang="en-US" dirty="0"/>
              <a:t>Data blocks of a directory stores:</a:t>
            </a:r>
          </a:p>
          <a:p>
            <a:pPr lvl="1"/>
            <a:r>
              <a:rPr lang="en-US" altLang="en-US" dirty="0"/>
              <a:t>A </a:t>
            </a:r>
            <a:r>
              <a:rPr lang="en-US" altLang="en-US" b="1" dirty="0"/>
              <a:t>linked list of directory entries </a:t>
            </a:r>
            <a:r>
              <a:rPr lang="en-US" altLang="en-US" dirty="0"/>
              <a:t>for file/subdirectories information within this directory</a:t>
            </a:r>
          </a:p>
          <a:p>
            <a:endParaRPr lang="en-US" altLang="en-US" dirty="0"/>
          </a:p>
          <a:p>
            <a:r>
              <a:rPr lang="en-US" altLang="en-US" dirty="0"/>
              <a:t>Each directory entry contains:</a:t>
            </a:r>
          </a:p>
          <a:p>
            <a:pPr lvl="1"/>
            <a:r>
              <a:rPr lang="en-US" altLang="en-US" dirty="0"/>
              <a:t>I-Node number for that file/subdirectory</a:t>
            </a:r>
          </a:p>
          <a:p>
            <a:pPr lvl="1"/>
            <a:r>
              <a:rPr lang="en-US" altLang="en-US" dirty="0"/>
              <a:t>Size of this directory entry</a:t>
            </a:r>
          </a:p>
          <a:p>
            <a:pPr lvl="2"/>
            <a:r>
              <a:rPr lang="en-US" altLang="en-US" dirty="0"/>
              <a:t>For locating the next directory entry </a:t>
            </a:r>
          </a:p>
          <a:p>
            <a:pPr lvl="1"/>
            <a:r>
              <a:rPr lang="en-US" altLang="en-US" dirty="0"/>
              <a:t>Length of the file/subdirectory name</a:t>
            </a:r>
          </a:p>
          <a:p>
            <a:pPr lvl="1"/>
            <a:r>
              <a:rPr lang="en-US" altLang="en-US" dirty="0"/>
              <a:t>Type: File or Subdirectory</a:t>
            </a:r>
          </a:p>
          <a:p>
            <a:pPr lvl="2"/>
            <a:r>
              <a:rPr lang="en-US" altLang="en-US" dirty="0"/>
              <a:t>Other special file type is also possible</a:t>
            </a:r>
          </a:p>
          <a:p>
            <a:pPr lvl="1"/>
            <a:r>
              <a:rPr lang="en-US" altLang="en-US" dirty="0"/>
              <a:t>File/Subdirectory name (up to 255 characters)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29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835163287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200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Directory Entry (Illustration)</a:t>
            </a:r>
          </a:p>
        </p:txBody>
      </p:sp>
      <p:grpSp>
        <p:nvGrpSpPr>
          <p:cNvPr id="1152036" name="Group 36"/>
          <p:cNvGrpSpPr>
            <a:grpSpLocks/>
          </p:cNvGrpSpPr>
          <p:nvPr/>
        </p:nvGrpSpPr>
        <p:grpSpPr bwMode="auto">
          <a:xfrm>
            <a:off x="381000" y="1676400"/>
            <a:ext cx="3352800" cy="609600"/>
            <a:chOff x="240" y="1200"/>
            <a:chExt cx="2112" cy="384"/>
          </a:xfrm>
        </p:grpSpPr>
        <p:sp>
          <p:nvSpPr>
            <p:cNvPr id="1152004" name="Rectangle 4"/>
            <p:cNvSpPr>
              <a:spLocks noChangeArrowheads="1"/>
            </p:cNvSpPr>
            <p:nvPr/>
          </p:nvSpPr>
          <p:spPr bwMode="auto">
            <a:xfrm>
              <a:off x="240" y="1200"/>
              <a:ext cx="2112" cy="384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2005" name="Rectangle 5"/>
            <p:cNvSpPr>
              <a:spLocks noChangeArrowheads="1"/>
            </p:cNvSpPr>
            <p:nvPr/>
          </p:nvSpPr>
          <p:spPr bwMode="auto">
            <a:xfrm>
              <a:off x="240" y="1200"/>
              <a:ext cx="384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91</a:t>
              </a:r>
            </a:p>
          </p:txBody>
        </p:sp>
        <p:sp>
          <p:nvSpPr>
            <p:cNvPr id="1152006" name="Rectangle 6"/>
            <p:cNvSpPr>
              <a:spLocks noChangeArrowheads="1"/>
            </p:cNvSpPr>
            <p:nvPr/>
          </p:nvSpPr>
          <p:spPr bwMode="auto">
            <a:xfrm>
              <a:off x="624" y="1200"/>
              <a:ext cx="192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152008" name="Rectangle 8"/>
            <p:cNvSpPr>
              <a:spLocks noChangeArrowheads="1"/>
            </p:cNvSpPr>
            <p:nvPr/>
          </p:nvSpPr>
          <p:spPr bwMode="auto">
            <a:xfrm>
              <a:off x="816" y="1200"/>
              <a:ext cx="384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2009" name="Rectangle 9"/>
            <p:cNvSpPr>
              <a:spLocks noChangeArrowheads="1"/>
            </p:cNvSpPr>
            <p:nvPr/>
          </p:nvSpPr>
          <p:spPr bwMode="auto">
            <a:xfrm>
              <a:off x="1200" y="1200"/>
              <a:ext cx="384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52010" name="Rectangle 10"/>
            <p:cNvSpPr>
              <a:spLocks noChangeArrowheads="1"/>
            </p:cNvSpPr>
            <p:nvPr/>
          </p:nvSpPr>
          <p:spPr bwMode="auto">
            <a:xfrm>
              <a:off x="1584" y="1200"/>
              <a:ext cx="768" cy="384"/>
            </a:xfrm>
            <a:prstGeom prst="rect">
              <a:avLst/>
            </a:prstGeom>
            <a:solidFill>
              <a:schemeClr val="accent1">
                <a:lumMod val="20000"/>
                <a:lumOff val="80000"/>
              </a:schemeClr>
            </a:solidFill>
            <a:ln w="15875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Hi.c</a:t>
              </a:r>
            </a:p>
          </p:txBody>
        </p:sp>
      </p:grpSp>
      <p:grpSp>
        <p:nvGrpSpPr>
          <p:cNvPr id="1152037" name="Group 37"/>
          <p:cNvGrpSpPr>
            <a:grpSpLocks/>
          </p:cNvGrpSpPr>
          <p:nvPr/>
        </p:nvGrpSpPr>
        <p:grpSpPr bwMode="auto">
          <a:xfrm>
            <a:off x="3733800" y="1676400"/>
            <a:ext cx="4191000" cy="609600"/>
            <a:chOff x="2352" y="1200"/>
            <a:chExt cx="2640" cy="384"/>
          </a:xfrm>
        </p:grpSpPr>
        <p:sp>
          <p:nvSpPr>
            <p:cNvPr id="1152011" name="Rectangle 11"/>
            <p:cNvSpPr>
              <a:spLocks noChangeArrowheads="1"/>
            </p:cNvSpPr>
            <p:nvPr/>
          </p:nvSpPr>
          <p:spPr bwMode="auto">
            <a:xfrm>
              <a:off x="2352" y="1200"/>
              <a:ext cx="2640" cy="384"/>
            </a:xfrm>
            <a:prstGeom prst="rect">
              <a:avLst/>
            </a:prstGeom>
            <a:solidFill>
              <a:srgbClr val="CCFFCC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2012" name="Rectangle 12"/>
            <p:cNvSpPr>
              <a:spLocks noChangeArrowheads="1"/>
            </p:cNvSpPr>
            <p:nvPr/>
          </p:nvSpPr>
          <p:spPr bwMode="auto">
            <a:xfrm>
              <a:off x="2352" y="1200"/>
              <a:ext cx="384" cy="3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39</a:t>
              </a:r>
            </a:p>
          </p:txBody>
        </p:sp>
        <p:sp>
          <p:nvSpPr>
            <p:cNvPr id="1152013" name="Rectangle 13"/>
            <p:cNvSpPr>
              <a:spLocks noChangeArrowheads="1"/>
            </p:cNvSpPr>
            <p:nvPr/>
          </p:nvSpPr>
          <p:spPr bwMode="auto">
            <a:xfrm>
              <a:off x="2736" y="1200"/>
              <a:ext cx="192" cy="3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152014" name="Rectangle 14"/>
            <p:cNvSpPr>
              <a:spLocks noChangeArrowheads="1"/>
            </p:cNvSpPr>
            <p:nvPr/>
          </p:nvSpPr>
          <p:spPr bwMode="auto">
            <a:xfrm>
              <a:off x="2928" y="1200"/>
              <a:ext cx="384" cy="3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2015" name="Rectangle 15"/>
            <p:cNvSpPr>
              <a:spLocks noChangeArrowheads="1"/>
            </p:cNvSpPr>
            <p:nvPr/>
          </p:nvSpPr>
          <p:spPr bwMode="auto">
            <a:xfrm>
              <a:off x="3312" y="1200"/>
              <a:ext cx="384" cy="3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52016" name="Rectangle 16"/>
            <p:cNvSpPr>
              <a:spLocks noChangeArrowheads="1"/>
            </p:cNvSpPr>
            <p:nvPr/>
          </p:nvSpPr>
          <p:spPr bwMode="auto">
            <a:xfrm>
              <a:off x="3696" y="1200"/>
              <a:ext cx="1296" cy="384"/>
            </a:xfrm>
            <a:prstGeom prst="rect">
              <a:avLst/>
            </a:prstGeom>
            <a:solidFill>
              <a:schemeClr val="accent4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lab5.pdf</a:t>
              </a:r>
            </a:p>
          </p:txBody>
        </p:sp>
      </p:grpSp>
      <p:sp>
        <p:nvSpPr>
          <p:cNvPr id="1152018" name="Line 18"/>
          <p:cNvSpPr>
            <a:spLocks noChangeShapeType="1"/>
          </p:cNvSpPr>
          <p:nvPr/>
        </p:nvSpPr>
        <p:spPr bwMode="auto">
          <a:xfrm>
            <a:off x="7086600" y="16764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2019" name="Line 19"/>
          <p:cNvSpPr>
            <a:spLocks noChangeShapeType="1"/>
          </p:cNvSpPr>
          <p:nvPr/>
        </p:nvSpPr>
        <p:spPr bwMode="auto">
          <a:xfrm>
            <a:off x="7086600" y="2286000"/>
            <a:ext cx="1219200" cy="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grpSp>
        <p:nvGrpSpPr>
          <p:cNvPr id="1152040" name="Group 40"/>
          <p:cNvGrpSpPr>
            <a:grpSpLocks/>
          </p:cNvGrpSpPr>
          <p:nvPr/>
        </p:nvGrpSpPr>
        <p:grpSpPr bwMode="auto">
          <a:xfrm>
            <a:off x="457200" y="3048000"/>
            <a:ext cx="533400" cy="609600"/>
            <a:chOff x="288" y="2064"/>
            <a:chExt cx="768" cy="384"/>
          </a:xfrm>
        </p:grpSpPr>
        <p:sp>
          <p:nvSpPr>
            <p:cNvPr id="1152020" name="Line 20"/>
            <p:cNvSpPr>
              <a:spLocks noChangeShapeType="1"/>
            </p:cNvSpPr>
            <p:nvPr/>
          </p:nvSpPr>
          <p:spPr bwMode="auto">
            <a:xfrm>
              <a:off x="288" y="2064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  <p:sp>
          <p:nvSpPr>
            <p:cNvPr id="1152021" name="Line 21"/>
            <p:cNvSpPr>
              <a:spLocks noChangeShapeType="1"/>
            </p:cNvSpPr>
            <p:nvPr/>
          </p:nvSpPr>
          <p:spPr bwMode="auto">
            <a:xfrm>
              <a:off x="288" y="2448"/>
              <a:ext cx="768" cy="0"/>
            </a:xfrm>
            <a:prstGeom prst="line">
              <a:avLst/>
            </a:prstGeom>
            <a:noFill/>
            <a:ln w="9525">
              <a:solidFill>
                <a:schemeClr val="tx1"/>
              </a:solidFill>
              <a:prstDash val="lgDash"/>
              <a:round/>
              <a:headEnd/>
              <a:tailEnd/>
            </a:ln>
            <a:effectLst/>
            <a:extLst>
              <a:ext uri="{909E8E84-426E-40DD-AFC4-6F175D3DCCD1}">
                <a14:hiddenFill xmlns:a14="http://schemas.microsoft.com/office/drawing/2010/main">
                  <a:noFill/>
                </a14:hiddenFill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/>
            <a:lstStyle/>
            <a:p>
              <a:endParaRPr lang="en-US"/>
            </a:p>
          </p:txBody>
        </p:sp>
      </p:grpSp>
      <p:grpSp>
        <p:nvGrpSpPr>
          <p:cNvPr id="1152022" name="Group 22"/>
          <p:cNvGrpSpPr>
            <a:grpSpLocks/>
          </p:cNvGrpSpPr>
          <p:nvPr/>
        </p:nvGrpSpPr>
        <p:grpSpPr bwMode="auto">
          <a:xfrm>
            <a:off x="838200" y="3048000"/>
            <a:ext cx="3200400" cy="609600"/>
            <a:chOff x="2688" y="1680"/>
            <a:chExt cx="2112" cy="384"/>
          </a:xfrm>
        </p:grpSpPr>
        <p:sp>
          <p:nvSpPr>
            <p:cNvPr id="1152023" name="Rectangle 23"/>
            <p:cNvSpPr>
              <a:spLocks noChangeArrowheads="1"/>
            </p:cNvSpPr>
            <p:nvPr/>
          </p:nvSpPr>
          <p:spPr bwMode="auto">
            <a:xfrm>
              <a:off x="2688" y="1680"/>
              <a:ext cx="2112" cy="384"/>
            </a:xfrm>
            <a:prstGeom prst="rect">
              <a:avLst/>
            </a:prstGeom>
            <a:solidFill>
              <a:srgbClr val="CCFFFF"/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2024" name="Rectangle 24"/>
            <p:cNvSpPr>
              <a:spLocks noChangeArrowheads="1"/>
            </p:cNvSpPr>
            <p:nvPr/>
          </p:nvSpPr>
          <p:spPr bwMode="auto">
            <a:xfrm>
              <a:off x="2688" y="1680"/>
              <a:ext cx="384" cy="3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 dirty="0">
                  <a:latin typeface="Courier New" panose="02070309020205020404" pitchFamily="49" charset="0"/>
                </a:rPr>
                <a:t>74</a:t>
              </a:r>
            </a:p>
          </p:txBody>
        </p:sp>
        <p:sp>
          <p:nvSpPr>
            <p:cNvPr id="1152025" name="Rectangle 25"/>
            <p:cNvSpPr>
              <a:spLocks noChangeArrowheads="1"/>
            </p:cNvSpPr>
            <p:nvPr/>
          </p:nvSpPr>
          <p:spPr bwMode="auto">
            <a:xfrm>
              <a:off x="3072" y="1680"/>
              <a:ext cx="192" cy="3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sz="2400" b="1">
                <a:latin typeface="Courier New" panose="02070309020205020404" pitchFamily="49" charset="0"/>
              </a:endParaRPr>
            </a:p>
          </p:txBody>
        </p:sp>
        <p:sp>
          <p:nvSpPr>
            <p:cNvPr id="1152026" name="Rectangle 26"/>
            <p:cNvSpPr>
              <a:spLocks noChangeArrowheads="1"/>
            </p:cNvSpPr>
            <p:nvPr/>
          </p:nvSpPr>
          <p:spPr bwMode="auto">
            <a:xfrm>
              <a:off x="3264" y="1680"/>
              <a:ext cx="384" cy="3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52027" name="Rectangle 27"/>
            <p:cNvSpPr>
              <a:spLocks noChangeArrowheads="1"/>
            </p:cNvSpPr>
            <p:nvPr/>
          </p:nvSpPr>
          <p:spPr bwMode="auto">
            <a:xfrm>
              <a:off x="3648" y="1680"/>
              <a:ext cx="384" cy="3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152028" name="Rectangle 28"/>
            <p:cNvSpPr>
              <a:spLocks noChangeArrowheads="1"/>
            </p:cNvSpPr>
            <p:nvPr/>
          </p:nvSpPr>
          <p:spPr bwMode="auto">
            <a:xfrm>
              <a:off x="4032" y="1680"/>
              <a:ext cx="768" cy="384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>
              <a:solidFill>
                <a:schemeClr val="tx1"/>
              </a:solidFill>
              <a:prstDash val="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sz="2400" b="1">
                  <a:latin typeface="Courier New" panose="02070309020205020404" pitchFamily="49" charset="0"/>
                </a:rPr>
                <a:t>sub</a:t>
              </a:r>
            </a:p>
          </p:txBody>
        </p:sp>
      </p:grpSp>
      <p:sp>
        <p:nvSpPr>
          <p:cNvPr id="1152030" name="Rectangle 30"/>
          <p:cNvSpPr>
            <a:spLocks noChangeArrowheads="1"/>
          </p:cNvSpPr>
          <p:nvPr/>
        </p:nvSpPr>
        <p:spPr bwMode="auto">
          <a:xfrm>
            <a:off x="4038600" y="3048000"/>
            <a:ext cx="3352800" cy="609600"/>
          </a:xfrm>
          <a:prstGeom prst="rect">
            <a:avLst/>
          </a:prstGeom>
          <a:noFill/>
          <a:ln w="9525">
            <a:solidFill>
              <a:schemeClr val="tx1"/>
            </a:solidFill>
            <a:prstDash val="dashDot"/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2031" name="Rectangle 31"/>
          <p:cNvSpPr>
            <a:spLocks noChangeArrowheads="1"/>
          </p:cNvSpPr>
          <p:nvPr/>
        </p:nvSpPr>
        <p:spPr bwMode="auto">
          <a:xfrm>
            <a:off x="4038600" y="3048000"/>
            <a:ext cx="609600" cy="609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prstDash val="lgDash"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sz="2400" b="1">
                <a:latin typeface="Courier New" panose="02070309020205020404" pitchFamily="49" charset="0"/>
              </a:rPr>
              <a:t>0</a:t>
            </a:r>
          </a:p>
        </p:txBody>
      </p:sp>
      <p:sp>
        <p:nvSpPr>
          <p:cNvPr id="1152038" name="Freeform 38"/>
          <p:cNvSpPr>
            <a:spLocks/>
          </p:cNvSpPr>
          <p:nvPr/>
        </p:nvSpPr>
        <p:spPr bwMode="auto">
          <a:xfrm>
            <a:off x="1143000" y="1390650"/>
            <a:ext cx="2590800" cy="590550"/>
          </a:xfrm>
          <a:custGeom>
            <a:avLst/>
            <a:gdLst>
              <a:gd name="T0" fmla="*/ 0 w 1632"/>
              <a:gd name="T1" fmla="*/ 372 h 372"/>
              <a:gd name="T2" fmla="*/ 45 w 1632"/>
              <a:gd name="T3" fmla="*/ 0 h 372"/>
              <a:gd name="T4" fmla="*/ 1490 w 1632"/>
              <a:gd name="T5" fmla="*/ 0 h 372"/>
              <a:gd name="T6" fmla="*/ 1632 w 1632"/>
              <a:gd name="T7" fmla="*/ 18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372">
                <a:moveTo>
                  <a:pt x="0" y="372"/>
                </a:moveTo>
                <a:lnTo>
                  <a:pt x="45" y="0"/>
                </a:lnTo>
                <a:lnTo>
                  <a:pt x="1490" y="0"/>
                </a:lnTo>
                <a:lnTo>
                  <a:pt x="1632" y="18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2039" name="Freeform 39"/>
          <p:cNvSpPr>
            <a:spLocks/>
          </p:cNvSpPr>
          <p:nvPr/>
        </p:nvSpPr>
        <p:spPr bwMode="auto">
          <a:xfrm>
            <a:off x="4495800" y="1371600"/>
            <a:ext cx="3429000" cy="590550"/>
          </a:xfrm>
          <a:custGeom>
            <a:avLst/>
            <a:gdLst>
              <a:gd name="T0" fmla="*/ 0 w 1632"/>
              <a:gd name="T1" fmla="*/ 372 h 372"/>
              <a:gd name="T2" fmla="*/ 45 w 1632"/>
              <a:gd name="T3" fmla="*/ 0 h 372"/>
              <a:gd name="T4" fmla="*/ 1490 w 1632"/>
              <a:gd name="T5" fmla="*/ 0 h 372"/>
              <a:gd name="T6" fmla="*/ 1632 w 1632"/>
              <a:gd name="T7" fmla="*/ 18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372">
                <a:moveTo>
                  <a:pt x="0" y="372"/>
                </a:moveTo>
                <a:lnTo>
                  <a:pt x="45" y="0"/>
                </a:lnTo>
                <a:lnTo>
                  <a:pt x="1490" y="0"/>
                </a:lnTo>
                <a:lnTo>
                  <a:pt x="1632" y="18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2041" name="Freeform 41"/>
          <p:cNvSpPr>
            <a:spLocks/>
          </p:cNvSpPr>
          <p:nvPr/>
        </p:nvSpPr>
        <p:spPr bwMode="auto">
          <a:xfrm>
            <a:off x="1600200" y="2743200"/>
            <a:ext cx="2438400" cy="590550"/>
          </a:xfrm>
          <a:custGeom>
            <a:avLst/>
            <a:gdLst>
              <a:gd name="T0" fmla="*/ 0 w 1632"/>
              <a:gd name="T1" fmla="*/ 372 h 372"/>
              <a:gd name="T2" fmla="*/ 45 w 1632"/>
              <a:gd name="T3" fmla="*/ 0 h 372"/>
              <a:gd name="T4" fmla="*/ 1490 w 1632"/>
              <a:gd name="T5" fmla="*/ 0 h 372"/>
              <a:gd name="T6" fmla="*/ 1632 w 1632"/>
              <a:gd name="T7" fmla="*/ 180 h 372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</a:cxnLst>
            <a:rect l="0" t="0" r="r" b="b"/>
            <a:pathLst>
              <a:path w="1632" h="372">
                <a:moveTo>
                  <a:pt x="0" y="372"/>
                </a:moveTo>
                <a:lnTo>
                  <a:pt x="45" y="0"/>
                </a:lnTo>
                <a:lnTo>
                  <a:pt x="1490" y="0"/>
                </a:lnTo>
                <a:lnTo>
                  <a:pt x="1632" y="180"/>
                </a:lnTo>
              </a:path>
            </a:pathLst>
          </a:custGeom>
          <a:noFill/>
          <a:ln w="12700" cap="flat" cmpd="sng">
            <a:solidFill>
              <a:schemeClr val="tx1"/>
            </a:solidFill>
            <a:prstDash val="solid"/>
            <a:round/>
            <a:headEnd type="none" w="med" len="med"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2043" name="AutoShape 43"/>
          <p:cNvSpPr>
            <a:spLocks/>
          </p:cNvSpPr>
          <p:nvPr/>
        </p:nvSpPr>
        <p:spPr bwMode="auto">
          <a:xfrm>
            <a:off x="1676400" y="5943600"/>
            <a:ext cx="1828800" cy="304800"/>
          </a:xfrm>
          <a:prstGeom prst="accentCallout2">
            <a:avLst>
              <a:gd name="adj1" fmla="val 37500"/>
              <a:gd name="adj2" fmla="val -4167"/>
              <a:gd name="adj3" fmla="val 37500"/>
              <a:gd name="adj4" fmla="val -14412"/>
              <a:gd name="adj5" fmla="val -775000"/>
              <a:gd name="adj6" fmla="val -25000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I-Node Number </a:t>
            </a:r>
          </a:p>
        </p:txBody>
      </p:sp>
      <p:sp>
        <p:nvSpPr>
          <p:cNvPr id="1152044" name="AutoShape 44"/>
          <p:cNvSpPr>
            <a:spLocks/>
          </p:cNvSpPr>
          <p:nvPr/>
        </p:nvSpPr>
        <p:spPr bwMode="auto">
          <a:xfrm>
            <a:off x="2133600" y="5486400"/>
            <a:ext cx="1447800" cy="381000"/>
          </a:xfrm>
          <a:prstGeom prst="accentCallout2">
            <a:avLst>
              <a:gd name="adj1" fmla="val 30000"/>
              <a:gd name="adj2" fmla="val -5264"/>
              <a:gd name="adj3" fmla="val 30000"/>
              <a:gd name="adj4" fmla="val -20944"/>
              <a:gd name="adj5" fmla="val -507083"/>
              <a:gd name="adj6" fmla="val -37282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Entry Size</a:t>
            </a:r>
          </a:p>
        </p:txBody>
      </p:sp>
      <p:sp>
        <p:nvSpPr>
          <p:cNvPr id="1152045" name="AutoShape 45"/>
          <p:cNvSpPr>
            <a:spLocks/>
          </p:cNvSpPr>
          <p:nvPr/>
        </p:nvSpPr>
        <p:spPr bwMode="auto">
          <a:xfrm>
            <a:off x="2590800" y="5029200"/>
            <a:ext cx="1447800" cy="381000"/>
          </a:xfrm>
          <a:prstGeom prst="accentCallout2">
            <a:avLst>
              <a:gd name="adj1" fmla="val 30000"/>
              <a:gd name="adj2" fmla="val -5264"/>
              <a:gd name="adj3" fmla="val 30000"/>
              <a:gd name="adj4" fmla="val -19847"/>
              <a:gd name="adj5" fmla="val -391250"/>
              <a:gd name="adj6" fmla="val -35088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Entry Type</a:t>
            </a:r>
          </a:p>
        </p:txBody>
      </p:sp>
      <p:sp>
        <p:nvSpPr>
          <p:cNvPr id="1152046" name="AutoShape 46"/>
          <p:cNvSpPr>
            <a:spLocks/>
          </p:cNvSpPr>
          <p:nvPr/>
        </p:nvSpPr>
        <p:spPr bwMode="auto">
          <a:xfrm>
            <a:off x="3276600" y="4572000"/>
            <a:ext cx="1676400" cy="381000"/>
          </a:xfrm>
          <a:prstGeom prst="accentCallout2">
            <a:avLst>
              <a:gd name="adj1" fmla="val 30000"/>
              <a:gd name="adj2" fmla="val -4546"/>
              <a:gd name="adj3" fmla="val 30000"/>
              <a:gd name="adj4" fmla="val -18843"/>
              <a:gd name="adj5" fmla="val -263750"/>
              <a:gd name="adj6" fmla="val -33806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Name Length</a:t>
            </a:r>
          </a:p>
        </p:txBody>
      </p:sp>
      <p:sp>
        <p:nvSpPr>
          <p:cNvPr id="1152047" name="AutoShape 47"/>
          <p:cNvSpPr>
            <a:spLocks/>
          </p:cNvSpPr>
          <p:nvPr/>
        </p:nvSpPr>
        <p:spPr bwMode="auto">
          <a:xfrm>
            <a:off x="3886200" y="4114800"/>
            <a:ext cx="914400" cy="381000"/>
          </a:xfrm>
          <a:prstGeom prst="accentCallout2">
            <a:avLst>
              <a:gd name="adj1" fmla="val 30000"/>
              <a:gd name="adj2" fmla="val -8333"/>
              <a:gd name="adj3" fmla="val 30000"/>
              <a:gd name="adj4" fmla="val -37676"/>
              <a:gd name="adj5" fmla="val -131250"/>
              <a:gd name="adj6" fmla="val -68403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/>
              <a:t>Name</a:t>
            </a:r>
          </a:p>
        </p:txBody>
      </p:sp>
      <p:sp>
        <p:nvSpPr>
          <p:cNvPr id="1152048" name="AutoShape 48"/>
          <p:cNvSpPr>
            <a:spLocks/>
          </p:cNvSpPr>
          <p:nvPr/>
        </p:nvSpPr>
        <p:spPr bwMode="auto">
          <a:xfrm>
            <a:off x="6400800" y="4267200"/>
            <a:ext cx="2133600" cy="952500"/>
          </a:xfrm>
          <a:prstGeom prst="accentCallout2">
            <a:avLst>
              <a:gd name="adj1" fmla="val 16667"/>
              <a:gd name="adj2" fmla="val -3569"/>
              <a:gd name="adj3" fmla="val 16667"/>
              <a:gd name="adj4" fmla="val -42782"/>
              <a:gd name="adj5" fmla="val -90102"/>
              <a:gd name="adj6" fmla="val -88584"/>
            </a:avLst>
          </a:prstGeom>
          <a:noFill/>
          <a:ln w="9525">
            <a:solidFill>
              <a:schemeClr val="tx1"/>
            </a:solidFill>
            <a:miter lim="800000"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r>
              <a:rPr lang="en-US" altLang="en-US" dirty="0"/>
              <a:t>Use a 0 I-Node number to indicate unused entry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30</a:t>
            </a:fld>
            <a:endParaRPr lang="en-US" altLang="en-US"/>
          </a:p>
        </p:txBody>
      </p:sp>
      <p:sp>
        <p:nvSpPr>
          <p:cNvPr id="4" name="Rounded Rectangle 3"/>
          <p:cNvSpPr/>
          <p:nvPr/>
        </p:nvSpPr>
        <p:spPr>
          <a:xfrm>
            <a:off x="381000" y="1676400"/>
            <a:ext cx="3352800" cy="609600"/>
          </a:xfrm>
          <a:prstGeom prst="roundRect">
            <a:avLst/>
          </a:prstGeom>
          <a:noFill/>
          <a:ln w="28575">
            <a:solidFill>
              <a:schemeClr val="accent6">
                <a:lumMod val="50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3" name="Rounded Rectangle 42"/>
          <p:cNvSpPr/>
          <p:nvPr/>
        </p:nvSpPr>
        <p:spPr>
          <a:xfrm>
            <a:off x="3733800" y="1676400"/>
            <a:ext cx="4191000" cy="609600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4" name="Rounded Rectangle 43"/>
          <p:cNvSpPr/>
          <p:nvPr/>
        </p:nvSpPr>
        <p:spPr>
          <a:xfrm>
            <a:off x="838200" y="3038475"/>
            <a:ext cx="3200400" cy="609600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28196649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302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Ext2: Putting The Parts Together</a:t>
            </a:r>
          </a:p>
        </p:txBody>
      </p:sp>
      <p:sp>
        <p:nvSpPr>
          <p:cNvPr id="1153046" name="Rectangle 22"/>
          <p:cNvSpPr>
            <a:spLocks noChangeArrowheads="1"/>
          </p:cNvSpPr>
          <p:nvPr/>
        </p:nvSpPr>
        <p:spPr bwMode="auto">
          <a:xfrm>
            <a:off x="6477000" y="1371600"/>
            <a:ext cx="2362200" cy="1219200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660066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b="1">
              <a:solidFill>
                <a:srgbClr val="008000"/>
              </a:solidFill>
            </a:endParaRPr>
          </a:p>
        </p:txBody>
      </p:sp>
      <p:grpSp>
        <p:nvGrpSpPr>
          <p:cNvPr id="1153079" name="Group 55"/>
          <p:cNvGrpSpPr>
            <a:grpSpLocks/>
          </p:cNvGrpSpPr>
          <p:nvPr/>
        </p:nvGrpSpPr>
        <p:grpSpPr bwMode="auto">
          <a:xfrm>
            <a:off x="6458552" y="1371600"/>
            <a:ext cx="2228248" cy="304800"/>
            <a:chOff x="2688" y="3264"/>
            <a:chExt cx="1392" cy="240"/>
          </a:xfrm>
        </p:grpSpPr>
        <p:sp>
          <p:nvSpPr>
            <p:cNvPr id="1153073" name="Rectangle 49"/>
            <p:cNvSpPr>
              <a:spLocks noChangeArrowheads="1"/>
            </p:cNvSpPr>
            <p:nvPr/>
          </p:nvSpPr>
          <p:spPr bwMode="auto">
            <a:xfrm>
              <a:off x="2688" y="3264"/>
              <a:ext cx="1392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74" name="Rectangle 50"/>
            <p:cNvSpPr>
              <a:spLocks noChangeArrowheads="1"/>
            </p:cNvSpPr>
            <p:nvPr/>
          </p:nvSpPr>
          <p:spPr bwMode="auto">
            <a:xfrm>
              <a:off x="2688" y="3264"/>
              <a:ext cx="279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53075" name="Rectangle 51"/>
            <p:cNvSpPr>
              <a:spLocks noChangeArrowheads="1"/>
            </p:cNvSpPr>
            <p:nvPr/>
          </p:nvSpPr>
          <p:spPr bwMode="auto">
            <a:xfrm>
              <a:off x="2967" y="3264"/>
              <a:ext cx="140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53076" name="Rectangle 52"/>
            <p:cNvSpPr>
              <a:spLocks noChangeArrowheads="1"/>
            </p:cNvSpPr>
            <p:nvPr/>
          </p:nvSpPr>
          <p:spPr bwMode="auto">
            <a:xfrm>
              <a:off x="3107" y="3264"/>
              <a:ext cx="279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D</a:t>
              </a:r>
            </a:p>
          </p:txBody>
        </p:sp>
        <p:sp>
          <p:nvSpPr>
            <p:cNvPr id="1153077" name="Rectangle 53"/>
            <p:cNvSpPr>
              <a:spLocks noChangeArrowheads="1"/>
            </p:cNvSpPr>
            <p:nvPr/>
          </p:nvSpPr>
          <p:spPr bwMode="auto">
            <a:xfrm>
              <a:off x="3386" y="3264"/>
              <a:ext cx="279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153078" name="Rectangle 54"/>
            <p:cNvSpPr>
              <a:spLocks noChangeArrowheads="1"/>
            </p:cNvSpPr>
            <p:nvPr/>
          </p:nvSpPr>
          <p:spPr bwMode="auto">
            <a:xfrm>
              <a:off x="3665" y="3264"/>
              <a:ext cx="415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sub</a:t>
              </a:r>
            </a:p>
          </p:txBody>
        </p:sp>
      </p:grpSp>
      <p:sp>
        <p:nvSpPr>
          <p:cNvPr id="1153080" name="Line 56"/>
          <p:cNvSpPr>
            <a:spLocks noChangeShapeType="1"/>
          </p:cNvSpPr>
          <p:nvPr/>
        </p:nvSpPr>
        <p:spPr bwMode="auto">
          <a:xfrm>
            <a:off x="8686800" y="1676400"/>
            <a:ext cx="15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3081" name="Line 57"/>
          <p:cNvSpPr>
            <a:spLocks noChangeShapeType="1"/>
          </p:cNvSpPr>
          <p:nvPr/>
        </p:nvSpPr>
        <p:spPr bwMode="auto">
          <a:xfrm>
            <a:off x="6477000" y="1981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3082" name="Line 58"/>
          <p:cNvSpPr>
            <a:spLocks noChangeShapeType="1"/>
          </p:cNvSpPr>
          <p:nvPr/>
        </p:nvSpPr>
        <p:spPr bwMode="auto">
          <a:xfrm>
            <a:off x="6477000" y="2286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3084" name="Text Box 60"/>
          <p:cNvSpPr txBox="1">
            <a:spLocks noChangeArrowheads="1"/>
          </p:cNvSpPr>
          <p:nvPr/>
        </p:nvSpPr>
        <p:spPr bwMode="auto">
          <a:xfrm>
            <a:off x="6781800" y="2590800"/>
            <a:ext cx="1828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Disk Block 15</a:t>
            </a:r>
          </a:p>
        </p:txBody>
      </p:sp>
      <p:sp>
        <p:nvSpPr>
          <p:cNvPr id="1153094" name="Rectangle 70"/>
          <p:cNvSpPr>
            <a:spLocks noChangeArrowheads="1"/>
          </p:cNvSpPr>
          <p:nvPr/>
        </p:nvSpPr>
        <p:spPr bwMode="auto">
          <a:xfrm>
            <a:off x="6400800" y="3200400"/>
            <a:ext cx="2362200" cy="1219200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660066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endParaRPr lang="en-US" altLang="en-US" b="1">
              <a:solidFill>
                <a:srgbClr val="008000"/>
              </a:solidFill>
            </a:endParaRPr>
          </a:p>
        </p:txBody>
      </p:sp>
      <p:grpSp>
        <p:nvGrpSpPr>
          <p:cNvPr id="1153095" name="Group 71"/>
          <p:cNvGrpSpPr>
            <a:grpSpLocks/>
          </p:cNvGrpSpPr>
          <p:nvPr/>
        </p:nvGrpSpPr>
        <p:grpSpPr bwMode="auto">
          <a:xfrm>
            <a:off x="6400800" y="3810000"/>
            <a:ext cx="2362200" cy="304800"/>
            <a:chOff x="2688" y="3264"/>
            <a:chExt cx="1392" cy="240"/>
          </a:xfrm>
          <a:solidFill>
            <a:schemeClr val="accent2">
              <a:lumMod val="20000"/>
              <a:lumOff val="80000"/>
            </a:schemeClr>
          </a:solidFill>
        </p:grpSpPr>
        <p:sp>
          <p:nvSpPr>
            <p:cNvPr id="1153096" name="Rectangle 72"/>
            <p:cNvSpPr>
              <a:spLocks noChangeArrowheads="1"/>
            </p:cNvSpPr>
            <p:nvPr/>
          </p:nvSpPr>
          <p:spPr bwMode="auto">
            <a:xfrm>
              <a:off x="2688" y="3264"/>
              <a:ext cx="1392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3097" name="Rectangle 73"/>
            <p:cNvSpPr>
              <a:spLocks noChangeArrowheads="1"/>
            </p:cNvSpPr>
            <p:nvPr/>
          </p:nvSpPr>
          <p:spPr bwMode="auto">
            <a:xfrm>
              <a:off x="2688" y="3264"/>
              <a:ext cx="279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153098" name="Rectangle 74"/>
            <p:cNvSpPr>
              <a:spLocks noChangeArrowheads="1"/>
            </p:cNvSpPr>
            <p:nvPr/>
          </p:nvSpPr>
          <p:spPr bwMode="auto">
            <a:xfrm>
              <a:off x="2967" y="3264"/>
              <a:ext cx="140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53099" name="Rectangle 75"/>
            <p:cNvSpPr>
              <a:spLocks noChangeArrowheads="1"/>
            </p:cNvSpPr>
            <p:nvPr/>
          </p:nvSpPr>
          <p:spPr bwMode="auto">
            <a:xfrm>
              <a:off x="3107" y="3264"/>
              <a:ext cx="279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3100" name="Rectangle 76"/>
            <p:cNvSpPr>
              <a:spLocks noChangeArrowheads="1"/>
            </p:cNvSpPr>
            <p:nvPr/>
          </p:nvSpPr>
          <p:spPr bwMode="auto">
            <a:xfrm>
              <a:off x="3386" y="3264"/>
              <a:ext cx="279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153101" name="Rectangle 77"/>
            <p:cNvSpPr>
              <a:spLocks noChangeArrowheads="1"/>
            </p:cNvSpPr>
            <p:nvPr/>
          </p:nvSpPr>
          <p:spPr bwMode="auto">
            <a:xfrm>
              <a:off x="3665" y="3264"/>
              <a:ext cx="415" cy="240"/>
            </a:xfrm>
            <a:prstGeom prst="rect">
              <a:avLst/>
            </a:prstGeom>
            <a:grpFill/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file</a:t>
              </a:r>
            </a:p>
          </p:txBody>
        </p:sp>
      </p:grpSp>
      <p:sp>
        <p:nvSpPr>
          <p:cNvPr id="1153102" name="Line 78"/>
          <p:cNvSpPr>
            <a:spLocks noChangeShapeType="1"/>
          </p:cNvSpPr>
          <p:nvPr/>
        </p:nvSpPr>
        <p:spPr bwMode="auto">
          <a:xfrm>
            <a:off x="6400800" y="35052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3103" name="Line 79"/>
          <p:cNvSpPr>
            <a:spLocks noChangeShapeType="1"/>
          </p:cNvSpPr>
          <p:nvPr/>
        </p:nvSpPr>
        <p:spPr bwMode="auto">
          <a:xfrm>
            <a:off x="6400800" y="3810000"/>
            <a:ext cx="23622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3116" name="Rectangle 92"/>
          <p:cNvSpPr>
            <a:spLocks noChangeArrowheads="1"/>
          </p:cNvSpPr>
          <p:nvPr/>
        </p:nvSpPr>
        <p:spPr bwMode="auto">
          <a:xfrm>
            <a:off x="6400800" y="4876800"/>
            <a:ext cx="2362200" cy="1219200"/>
          </a:xfrm>
          <a:prstGeom prst="rect">
            <a:avLst/>
          </a:prstGeom>
          <a:solidFill>
            <a:srgbClr val="FFFFFF"/>
          </a:solidFill>
          <a:ln w="19050" algn="ctr">
            <a:solidFill>
              <a:srgbClr val="660066"/>
            </a:solidFill>
            <a:miter lim="800000"/>
            <a:headEnd/>
            <a:tailEnd type="none" w="lg" len="lg"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107763" dir="2700000" algn="ctr" rotWithShape="0">
                    <a:srgbClr val="808080"/>
                  </a:outerShdw>
                </a:effectLst>
              </a14:hiddenEffects>
            </a:ext>
          </a:extLst>
        </p:spPr>
        <p:txBody>
          <a:bodyPr wrap="none" lIns="91434" tIns="45717" rIns="91434" bIns="45717" anchor="ctr"/>
          <a:lstStyle/>
          <a:p>
            <a:pPr algn="ctr"/>
            <a:r>
              <a:rPr lang="en-US" altLang="en-US" b="1" dirty="0">
                <a:solidFill>
                  <a:schemeClr val="tx2"/>
                </a:solidFill>
              </a:rPr>
              <a:t>Actual Data</a:t>
            </a:r>
          </a:p>
          <a:p>
            <a:pPr algn="ctr"/>
            <a:r>
              <a:rPr lang="en-US" altLang="en-US" sz="1600" dirty="0">
                <a:solidFill>
                  <a:schemeClr val="tx2"/>
                </a:solidFill>
              </a:rPr>
              <a:t>(i.e. file content)</a:t>
            </a:r>
          </a:p>
        </p:txBody>
      </p:sp>
      <p:sp>
        <p:nvSpPr>
          <p:cNvPr id="1153131" name="Text Box 107"/>
          <p:cNvSpPr txBox="1">
            <a:spLocks noChangeArrowheads="1"/>
          </p:cNvSpPr>
          <p:nvPr/>
        </p:nvSpPr>
        <p:spPr bwMode="auto">
          <a:xfrm>
            <a:off x="6781800" y="4419600"/>
            <a:ext cx="1828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Disk Block 20</a:t>
            </a:r>
          </a:p>
        </p:txBody>
      </p:sp>
      <p:sp>
        <p:nvSpPr>
          <p:cNvPr id="1153132" name="Text Box 108"/>
          <p:cNvSpPr txBox="1">
            <a:spLocks noChangeArrowheads="1"/>
          </p:cNvSpPr>
          <p:nvPr/>
        </p:nvSpPr>
        <p:spPr bwMode="auto">
          <a:xfrm>
            <a:off x="6705600" y="6096000"/>
            <a:ext cx="18288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Disk Block 23</a:t>
            </a:r>
          </a:p>
        </p:txBody>
      </p:sp>
      <p:sp>
        <p:nvSpPr>
          <p:cNvPr id="1153133" name="Text Box 109"/>
          <p:cNvSpPr txBox="1">
            <a:spLocks noChangeArrowheads="1"/>
          </p:cNvSpPr>
          <p:nvPr/>
        </p:nvSpPr>
        <p:spPr bwMode="auto">
          <a:xfrm>
            <a:off x="381000" y="5486400"/>
            <a:ext cx="2590800" cy="915988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>
              <a:spcBef>
                <a:spcPct val="50000"/>
              </a:spcBef>
              <a:buFont typeface="Wingdings" panose="05000000000000000000" pitchFamily="2" charset="2"/>
              <a:buChar char="v"/>
            </a:pPr>
            <a:r>
              <a:rPr lang="en-US" altLang="en-US" b="1"/>
              <a:t>Try it out:</a:t>
            </a:r>
            <a:br>
              <a:rPr lang="en-US" altLang="en-US"/>
            </a:br>
            <a:r>
              <a:rPr lang="en-US" altLang="en-US"/>
              <a:t>   Access </a:t>
            </a:r>
            <a:r>
              <a:rPr lang="en-US" altLang="en-US" b="1">
                <a:solidFill>
                  <a:schemeClr val="tx2"/>
                </a:solidFill>
                <a:latin typeface="Courier New" panose="02070309020205020404" pitchFamily="49" charset="0"/>
              </a:rPr>
              <a:t>/sub/file</a:t>
            </a:r>
            <a:br>
              <a:rPr lang="en-US" altLang="en-US"/>
            </a:br>
            <a:r>
              <a:rPr lang="en-US" altLang="en-US"/>
              <a:t>   I-Node for "</a:t>
            </a:r>
            <a:r>
              <a:rPr lang="en-US" altLang="en-US" b="1">
                <a:solidFill>
                  <a:schemeClr val="tx2"/>
                </a:solidFill>
                <a:latin typeface="Courier New" panose="02070309020205020404" pitchFamily="49" charset="0"/>
              </a:rPr>
              <a:t>/</a:t>
            </a:r>
            <a:r>
              <a:rPr lang="en-US" altLang="en-US"/>
              <a:t>" = 2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31</a:t>
            </a:fld>
            <a:endParaRPr lang="en-US" altLang="en-US"/>
          </a:p>
        </p:txBody>
      </p:sp>
      <p:sp>
        <p:nvSpPr>
          <p:cNvPr id="73" name="Rounded Rectangle 43"/>
          <p:cNvSpPr/>
          <p:nvPr/>
        </p:nvSpPr>
        <p:spPr>
          <a:xfrm>
            <a:off x="6477000" y="1379912"/>
            <a:ext cx="2209799" cy="2964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2" name="Rounded Rectangle 43"/>
          <p:cNvSpPr/>
          <p:nvPr/>
        </p:nvSpPr>
        <p:spPr>
          <a:xfrm>
            <a:off x="6400801" y="3196244"/>
            <a:ext cx="1142999" cy="296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4" name="Rounded Rectangle 43"/>
          <p:cNvSpPr/>
          <p:nvPr/>
        </p:nvSpPr>
        <p:spPr>
          <a:xfrm>
            <a:off x="7543801" y="3200398"/>
            <a:ext cx="533400" cy="296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5" name="Rounded Rectangle 43"/>
          <p:cNvSpPr/>
          <p:nvPr/>
        </p:nvSpPr>
        <p:spPr>
          <a:xfrm>
            <a:off x="8088283" y="3200398"/>
            <a:ext cx="674717" cy="296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6" name="Rounded Rectangle 43"/>
          <p:cNvSpPr/>
          <p:nvPr/>
        </p:nvSpPr>
        <p:spPr>
          <a:xfrm>
            <a:off x="6404321" y="3505198"/>
            <a:ext cx="1436717" cy="296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8" name="Rounded Rectangle 43"/>
          <p:cNvSpPr/>
          <p:nvPr/>
        </p:nvSpPr>
        <p:spPr>
          <a:xfrm>
            <a:off x="7857493" y="3505199"/>
            <a:ext cx="905507" cy="296488"/>
          </a:xfrm>
          <a:prstGeom prst="roundRect">
            <a:avLst/>
          </a:prstGeom>
          <a:solidFill>
            <a:schemeClr val="bg1">
              <a:lumMod val="95000"/>
            </a:schemeClr>
          </a:solidFill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4" name="Rounded Rectangle 43"/>
          <p:cNvSpPr/>
          <p:nvPr/>
        </p:nvSpPr>
        <p:spPr>
          <a:xfrm>
            <a:off x="6400801" y="3801687"/>
            <a:ext cx="2362199" cy="296488"/>
          </a:xfrm>
          <a:prstGeom prst="roundRect">
            <a:avLst/>
          </a:prstGeom>
          <a:noFill/>
          <a:ln w="28575">
            <a:solidFill>
              <a:srgbClr val="C0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pSp>
        <p:nvGrpSpPr>
          <p:cNvPr id="89" name="Group 88"/>
          <p:cNvGrpSpPr/>
          <p:nvPr/>
        </p:nvGrpSpPr>
        <p:grpSpPr>
          <a:xfrm>
            <a:off x="3505200" y="1066800"/>
            <a:ext cx="1295400" cy="1784350"/>
            <a:chOff x="3505200" y="1066800"/>
            <a:chExt cx="1295400" cy="1784350"/>
          </a:xfrm>
        </p:grpSpPr>
        <p:sp>
          <p:nvSpPr>
            <p:cNvPr id="90" name="Rectangle 4"/>
            <p:cNvSpPr>
              <a:spLocks noChangeArrowheads="1"/>
            </p:cNvSpPr>
            <p:nvPr/>
          </p:nvSpPr>
          <p:spPr bwMode="auto">
            <a:xfrm>
              <a:off x="3505200" y="1066800"/>
              <a:ext cx="1295400" cy="147955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19050" algn="ctr">
              <a:solidFill>
                <a:schemeClr val="accent2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File Metadata</a:t>
              </a: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  <a:p>
              <a:pPr algn="ctr"/>
              <a:endParaRPr lang="en-US" altLang="en-US" b="1" dirty="0">
                <a:latin typeface="Courier New" panose="02070309020205020404" pitchFamily="49" charset="0"/>
              </a:endParaRPr>
            </a:p>
          </p:txBody>
        </p:sp>
        <p:sp>
          <p:nvSpPr>
            <p:cNvPr id="91" name="Text Box 47"/>
            <p:cNvSpPr txBox="1">
              <a:spLocks noChangeArrowheads="1"/>
            </p:cNvSpPr>
            <p:nvPr/>
          </p:nvSpPr>
          <p:spPr bwMode="auto">
            <a:xfrm>
              <a:off x="3657600" y="251460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I-Node</a:t>
              </a:r>
            </a:p>
          </p:txBody>
        </p:sp>
      </p:grpSp>
      <p:sp>
        <p:nvSpPr>
          <p:cNvPr id="92" name="AutoShape 110"/>
          <p:cNvSpPr>
            <a:spLocks noChangeArrowheads="1"/>
          </p:cNvSpPr>
          <p:nvPr/>
        </p:nvSpPr>
        <p:spPr bwMode="auto">
          <a:xfrm>
            <a:off x="1737405" y="1690251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solidFill>
            <a:schemeClr val="accent2">
              <a:lumMod val="20000"/>
              <a:lumOff val="80000"/>
            </a:schemeClr>
          </a:solidFill>
          <a:ln>
            <a:solidFill>
              <a:schemeClr val="accent2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3" name="AutoShape 111"/>
          <p:cNvSpPr>
            <a:spLocks noChangeArrowheads="1"/>
          </p:cNvSpPr>
          <p:nvPr/>
        </p:nvSpPr>
        <p:spPr bwMode="auto">
          <a:xfrm rot="567240">
            <a:off x="1820375" y="3354915"/>
            <a:ext cx="1524000" cy="228600"/>
          </a:xfrm>
          <a:prstGeom prst="rightArrow">
            <a:avLst>
              <a:gd name="adj1" fmla="val 50000"/>
              <a:gd name="adj2" fmla="val 166667"/>
            </a:avLst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sp>
        <p:nvSpPr>
          <p:cNvPr id="94" name="AutoShape 112"/>
          <p:cNvSpPr>
            <a:spLocks noChangeArrowheads="1"/>
          </p:cNvSpPr>
          <p:nvPr/>
        </p:nvSpPr>
        <p:spPr bwMode="auto">
          <a:xfrm rot="2377985">
            <a:off x="1609622" y="4652689"/>
            <a:ext cx="1947863" cy="257175"/>
          </a:xfrm>
          <a:prstGeom prst="rightArrow">
            <a:avLst>
              <a:gd name="adj1" fmla="val 50000"/>
              <a:gd name="adj2" fmla="val 189352"/>
            </a:avLst>
          </a:prstGeom>
          <a:solidFill>
            <a:schemeClr val="accent4">
              <a:lumMod val="20000"/>
              <a:lumOff val="80000"/>
            </a:schemeClr>
          </a:solidFill>
          <a:ln>
            <a:solidFill>
              <a:schemeClr val="accent4"/>
            </a:solidFill>
            <a:headEnd/>
            <a:tailEnd/>
          </a:ln>
        </p:spPr>
        <p:style>
          <a:lnRef idx="1">
            <a:schemeClr val="accent4"/>
          </a:lnRef>
          <a:fillRef idx="2">
            <a:schemeClr val="accent4"/>
          </a:fillRef>
          <a:effectRef idx="1">
            <a:schemeClr val="accent4"/>
          </a:effectRef>
          <a:fontRef idx="minor">
            <a:schemeClr val="dk1"/>
          </a:fontRef>
        </p:style>
        <p:txBody>
          <a:bodyPr wrap="none" anchor="ctr"/>
          <a:lstStyle/>
          <a:p>
            <a:endParaRPr lang="en-US"/>
          </a:p>
        </p:txBody>
      </p:sp>
      <p:grpSp>
        <p:nvGrpSpPr>
          <p:cNvPr id="95" name="Group 94"/>
          <p:cNvGrpSpPr/>
          <p:nvPr/>
        </p:nvGrpSpPr>
        <p:grpSpPr>
          <a:xfrm>
            <a:off x="609600" y="1219200"/>
            <a:ext cx="1447800" cy="3994150"/>
            <a:chOff x="457200" y="1066800"/>
            <a:chExt cx="1447800" cy="3994150"/>
          </a:xfrm>
        </p:grpSpPr>
        <p:sp>
          <p:nvSpPr>
            <p:cNvPr id="96" name="Rectangle 25"/>
            <p:cNvSpPr>
              <a:spLocks noChangeArrowheads="1"/>
            </p:cNvSpPr>
            <p:nvPr/>
          </p:nvSpPr>
          <p:spPr bwMode="auto">
            <a:xfrm>
              <a:off x="990600" y="1066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7" name="Text Box 26"/>
            <p:cNvSpPr txBox="1">
              <a:spLocks noChangeArrowheads="1"/>
            </p:cNvSpPr>
            <p:nvPr/>
          </p:nvSpPr>
          <p:spPr bwMode="auto">
            <a:xfrm>
              <a:off x="681038" y="1066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98" name="Rectangle 27"/>
            <p:cNvSpPr>
              <a:spLocks noChangeArrowheads="1"/>
            </p:cNvSpPr>
            <p:nvPr/>
          </p:nvSpPr>
          <p:spPr bwMode="auto">
            <a:xfrm>
              <a:off x="990600" y="1447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99" name="Text Box 28"/>
            <p:cNvSpPr txBox="1">
              <a:spLocks noChangeArrowheads="1"/>
            </p:cNvSpPr>
            <p:nvPr/>
          </p:nvSpPr>
          <p:spPr bwMode="auto">
            <a:xfrm>
              <a:off x="681038" y="1447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2</a:t>
              </a:r>
            </a:p>
          </p:txBody>
        </p:sp>
        <p:sp>
          <p:nvSpPr>
            <p:cNvPr id="100" name="Rectangle 29"/>
            <p:cNvSpPr>
              <a:spLocks noChangeArrowheads="1"/>
            </p:cNvSpPr>
            <p:nvPr/>
          </p:nvSpPr>
          <p:spPr bwMode="auto">
            <a:xfrm>
              <a:off x="990600" y="1828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1" name="Text Box 30"/>
            <p:cNvSpPr txBox="1">
              <a:spLocks noChangeArrowheads="1"/>
            </p:cNvSpPr>
            <p:nvPr/>
          </p:nvSpPr>
          <p:spPr bwMode="auto">
            <a:xfrm>
              <a:off x="681038" y="1828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3</a:t>
              </a:r>
            </a:p>
          </p:txBody>
        </p:sp>
        <p:sp>
          <p:nvSpPr>
            <p:cNvPr id="102" name="Rectangle 31"/>
            <p:cNvSpPr>
              <a:spLocks noChangeArrowheads="1"/>
            </p:cNvSpPr>
            <p:nvPr/>
          </p:nvSpPr>
          <p:spPr bwMode="auto">
            <a:xfrm>
              <a:off x="990600" y="2209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3" name="Text Box 32"/>
            <p:cNvSpPr txBox="1">
              <a:spLocks noChangeArrowheads="1"/>
            </p:cNvSpPr>
            <p:nvPr/>
          </p:nvSpPr>
          <p:spPr bwMode="auto">
            <a:xfrm>
              <a:off x="681038" y="2209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4</a:t>
              </a:r>
            </a:p>
          </p:txBody>
        </p:sp>
        <p:sp>
          <p:nvSpPr>
            <p:cNvPr id="104" name="Rectangle 33"/>
            <p:cNvSpPr>
              <a:spLocks noChangeArrowheads="1"/>
            </p:cNvSpPr>
            <p:nvPr/>
          </p:nvSpPr>
          <p:spPr bwMode="auto">
            <a:xfrm>
              <a:off x="990600" y="2590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5" name="Text Box 34"/>
            <p:cNvSpPr txBox="1">
              <a:spLocks noChangeArrowheads="1"/>
            </p:cNvSpPr>
            <p:nvPr/>
          </p:nvSpPr>
          <p:spPr bwMode="auto">
            <a:xfrm>
              <a:off x="681038" y="2590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5</a:t>
              </a:r>
            </a:p>
          </p:txBody>
        </p:sp>
        <p:sp>
          <p:nvSpPr>
            <p:cNvPr id="106" name="Rectangle 35"/>
            <p:cNvSpPr>
              <a:spLocks noChangeArrowheads="1"/>
            </p:cNvSpPr>
            <p:nvPr/>
          </p:nvSpPr>
          <p:spPr bwMode="auto">
            <a:xfrm>
              <a:off x="990600" y="2971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7" name="Text Box 36"/>
            <p:cNvSpPr txBox="1">
              <a:spLocks noChangeArrowheads="1"/>
            </p:cNvSpPr>
            <p:nvPr/>
          </p:nvSpPr>
          <p:spPr bwMode="auto">
            <a:xfrm>
              <a:off x="681038" y="2971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6</a:t>
              </a:r>
            </a:p>
          </p:txBody>
        </p:sp>
        <p:sp>
          <p:nvSpPr>
            <p:cNvPr id="108" name="Rectangle 37"/>
            <p:cNvSpPr>
              <a:spLocks noChangeArrowheads="1"/>
            </p:cNvSpPr>
            <p:nvPr/>
          </p:nvSpPr>
          <p:spPr bwMode="auto">
            <a:xfrm>
              <a:off x="990600" y="3352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09" name="Text Box 38"/>
            <p:cNvSpPr txBox="1">
              <a:spLocks noChangeArrowheads="1"/>
            </p:cNvSpPr>
            <p:nvPr/>
          </p:nvSpPr>
          <p:spPr bwMode="auto">
            <a:xfrm>
              <a:off x="681038" y="3352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7</a:t>
              </a:r>
            </a:p>
          </p:txBody>
        </p:sp>
        <p:sp>
          <p:nvSpPr>
            <p:cNvPr id="110" name="Rectangle 39"/>
            <p:cNvSpPr>
              <a:spLocks noChangeArrowheads="1"/>
            </p:cNvSpPr>
            <p:nvPr/>
          </p:nvSpPr>
          <p:spPr bwMode="auto">
            <a:xfrm>
              <a:off x="990600" y="3733800"/>
              <a:ext cx="457200" cy="3810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1" name="Text Box 40"/>
            <p:cNvSpPr txBox="1">
              <a:spLocks noChangeArrowheads="1"/>
            </p:cNvSpPr>
            <p:nvPr/>
          </p:nvSpPr>
          <p:spPr bwMode="auto">
            <a:xfrm>
              <a:off x="681038" y="3733800"/>
              <a:ext cx="306387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19050" algn="ctr">
                  <a:solidFill>
                    <a:schemeClr val="tx1"/>
                  </a:solidFill>
                  <a:miter lim="800000"/>
                  <a:headEnd/>
                  <a:tailEnd type="none" w="lg" len="lg"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lIns="91434" tIns="45717" rIns="91434" bIns="45717">
              <a:spAutoFit/>
            </a:bodyPr>
            <a:lstStyle/>
            <a:p>
              <a:pPr algn="ctr"/>
              <a:r>
                <a:rPr lang="en-US" altLang="en-US" sz="1600" b="1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2" name="Rectangle 41"/>
            <p:cNvSpPr>
              <a:spLocks noChangeArrowheads="1"/>
            </p:cNvSpPr>
            <p:nvPr/>
          </p:nvSpPr>
          <p:spPr bwMode="auto">
            <a:xfrm>
              <a:off x="990600" y="4114800"/>
              <a:ext cx="457200" cy="609600"/>
            </a:xfrm>
            <a:prstGeom prst="rect">
              <a:avLst/>
            </a:prstGeom>
            <a:solidFill>
              <a:srgbClr val="CCFFFF"/>
            </a:solidFill>
            <a:ln w="19050" algn="ctr">
              <a:solidFill>
                <a:schemeClr val="accent3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/>
                <a:t>…</a:t>
              </a:r>
            </a:p>
            <a:p>
              <a:pPr algn="ctr"/>
              <a:r>
                <a:rPr lang="en-US" altLang="en-US"/>
                <a:t>…</a:t>
              </a:r>
            </a:p>
            <a:p>
              <a:pPr algn="ctr"/>
              <a:endParaRPr lang="en-US" altLang="en-US"/>
            </a:p>
          </p:txBody>
        </p:sp>
        <p:sp>
          <p:nvSpPr>
            <p:cNvPr id="113" name="Text Box 114"/>
            <p:cNvSpPr txBox="1">
              <a:spLocks noChangeArrowheads="1"/>
            </p:cNvSpPr>
            <p:nvPr/>
          </p:nvSpPr>
          <p:spPr bwMode="auto">
            <a:xfrm>
              <a:off x="457200" y="4724400"/>
              <a:ext cx="14478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/>
                <a:t>I-Node Table</a:t>
              </a:r>
            </a:p>
          </p:txBody>
        </p:sp>
      </p:grpSp>
      <p:grpSp>
        <p:nvGrpSpPr>
          <p:cNvPr id="114" name="Group 113"/>
          <p:cNvGrpSpPr/>
          <p:nvPr/>
        </p:nvGrpSpPr>
        <p:grpSpPr>
          <a:xfrm>
            <a:off x="3505200" y="2971800"/>
            <a:ext cx="1295400" cy="1769110"/>
            <a:chOff x="3505200" y="2971800"/>
            <a:chExt cx="1295400" cy="1769110"/>
          </a:xfrm>
        </p:grpSpPr>
        <p:grpSp>
          <p:nvGrpSpPr>
            <p:cNvPr id="115" name="Group 62"/>
            <p:cNvGrpSpPr>
              <a:grpSpLocks/>
            </p:cNvGrpSpPr>
            <p:nvPr/>
          </p:nvGrpSpPr>
          <p:grpSpPr bwMode="auto">
            <a:xfrm>
              <a:off x="3505200" y="2971800"/>
              <a:ext cx="1295400" cy="1447800"/>
              <a:chOff x="1728" y="672"/>
              <a:chExt cx="816" cy="912"/>
            </a:xfrm>
          </p:grpSpPr>
          <p:sp>
            <p:nvSpPr>
              <p:cNvPr id="117" name="Rectangle 63"/>
              <p:cNvSpPr>
                <a:spLocks noChangeArrowheads="1"/>
              </p:cNvSpPr>
              <p:nvPr/>
            </p:nvSpPr>
            <p:spPr bwMode="auto">
              <a:xfrm>
                <a:off x="1728" y="672"/>
                <a:ext cx="816" cy="432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chemeClr val="accent5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File Metadata</a:t>
                </a:r>
              </a:p>
            </p:txBody>
          </p:sp>
          <p:sp>
            <p:nvSpPr>
              <p:cNvPr id="118" name="Rectangle 64"/>
              <p:cNvSpPr>
                <a:spLocks noChangeArrowheads="1"/>
              </p:cNvSpPr>
              <p:nvPr/>
            </p:nvSpPr>
            <p:spPr bwMode="auto">
              <a:xfrm>
                <a:off x="1728" y="1104"/>
                <a:ext cx="816" cy="192"/>
              </a:xfrm>
              <a:prstGeom prst="rect">
                <a:avLst/>
              </a:prstGeom>
              <a:solidFill>
                <a:schemeClr val="accent5">
                  <a:lumMod val="40000"/>
                  <a:lumOff val="60000"/>
                </a:schemeClr>
              </a:solidFill>
              <a:ln w="19050" algn="ctr">
                <a:solidFill>
                  <a:schemeClr val="accent5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23</a:t>
                </a:r>
              </a:p>
            </p:txBody>
          </p:sp>
          <p:sp>
            <p:nvSpPr>
              <p:cNvPr id="119" name="Rectangle 65"/>
              <p:cNvSpPr>
                <a:spLocks noChangeArrowheads="1"/>
              </p:cNvSpPr>
              <p:nvPr/>
            </p:nvSpPr>
            <p:spPr bwMode="auto">
              <a:xfrm>
                <a:off x="1728" y="1296"/>
                <a:ext cx="816" cy="288"/>
              </a:xfrm>
              <a:prstGeom prst="rect">
                <a:avLst/>
              </a:prstGeom>
              <a:solidFill>
                <a:schemeClr val="accent5">
                  <a:lumMod val="20000"/>
                  <a:lumOff val="80000"/>
                </a:schemeClr>
              </a:solidFill>
              <a:ln w="19050" algn="ctr">
                <a:solidFill>
                  <a:schemeClr val="accent5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116" name="Text Box 47"/>
            <p:cNvSpPr txBox="1">
              <a:spLocks noChangeArrowheads="1"/>
            </p:cNvSpPr>
            <p:nvPr/>
          </p:nvSpPr>
          <p:spPr bwMode="auto">
            <a:xfrm>
              <a:off x="3684311" y="440436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I-Node</a:t>
              </a:r>
            </a:p>
          </p:txBody>
        </p:sp>
      </p:grpSp>
      <p:grpSp>
        <p:nvGrpSpPr>
          <p:cNvPr id="120" name="Group 119"/>
          <p:cNvGrpSpPr/>
          <p:nvPr/>
        </p:nvGrpSpPr>
        <p:grpSpPr>
          <a:xfrm>
            <a:off x="3505200" y="4800600"/>
            <a:ext cx="1295400" cy="1752600"/>
            <a:chOff x="3505200" y="4800600"/>
            <a:chExt cx="1295400" cy="1752600"/>
          </a:xfrm>
        </p:grpSpPr>
        <p:grpSp>
          <p:nvGrpSpPr>
            <p:cNvPr id="121" name="Group 66"/>
            <p:cNvGrpSpPr>
              <a:grpSpLocks/>
            </p:cNvGrpSpPr>
            <p:nvPr/>
          </p:nvGrpSpPr>
          <p:grpSpPr bwMode="auto">
            <a:xfrm>
              <a:off x="3505200" y="4800600"/>
              <a:ext cx="1295400" cy="1447800"/>
              <a:chOff x="1728" y="672"/>
              <a:chExt cx="816" cy="912"/>
            </a:xfrm>
          </p:grpSpPr>
          <p:sp>
            <p:nvSpPr>
              <p:cNvPr id="123" name="Rectangle 67"/>
              <p:cNvSpPr>
                <a:spLocks noChangeArrowheads="1"/>
              </p:cNvSpPr>
              <p:nvPr/>
            </p:nvSpPr>
            <p:spPr bwMode="auto">
              <a:xfrm>
                <a:off x="1728" y="672"/>
                <a:ext cx="816" cy="432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 dirty="0">
                    <a:latin typeface="Courier New" panose="02070309020205020404" pitchFamily="49" charset="0"/>
                  </a:rPr>
                  <a:t>File Metadata</a:t>
                </a:r>
              </a:p>
            </p:txBody>
          </p:sp>
          <p:sp>
            <p:nvSpPr>
              <p:cNvPr id="124" name="Rectangle 68"/>
              <p:cNvSpPr>
                <a:spLocks noChangeArrowheads="1"/>
              </p:cNvSpPr>
              <p:nvPr/>
            </p:nvSpPr>
            <p:spPr bwMode="auto">
              <a:xfrm>
                <a:off x="1728" y="1104"/>
                <a:ext cx="816" cy="192"/>
              </a:xfrm>
              <a:prstGeom prst="rect">
                <a:avLst/>
              </a:prstGeom>
              <a:solidFill>
                <a:schemeClr val="accent4">
                  <a:lumMod val="60000"/>
                  <a:lumOff val="40000"/>
                </a:schemeClr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r>
                  <a:rPr lang="en-US" altLang="en-US" b="1">
                    <a:latin typeface="Courier New" panose="02070309020205020404" pitchFamily="49" charset="0"/>
                  </a:rPr>
                  <a:t>20</a:t>
                </a:r>
              </a:p>
            </p:txBody>
          </p:sp>
          <p:sp>
            <p:nvSpPr>
              <p:cNvPr id="125" name="Rectangle 69"/>
              <p:cNvSpPr>
                <a:spLocks noChangeArrowheads="1"/>
              </p:cNvSpPr>
              <p:nvPr/>
            </p:nvSpPr>
            <p:spPr bwMode="auto">
              <a:xfrm>
                <a:off x="1728" y="1296"/>
                <a:ext cx="816" cy="288"/>
              </a:xfrm>
              <a:prstGeom prst="rect">
                <a:avLst/>
              </a:prstGeom>
              <a:solidFill>
                <a:schemeClr val="accent4">
                  <a:lumMod val="20000"/>
                  <a:lumOff val="80000"/>
                </a:schemeClr>
              </a:solidFill>
              <a:ln w="19050" algn="ctr">
                <a:solidFill>
                  <a:schemeClr val="accent4"/>
                </a:solidFill>
                <a:miter lim="800000"/>
                <a:headEnd/>
                <a:tailEnd type="none" w="lg" len="lg"/>
              </a:ln>
              <a:effectLst/>
              <a:extLst>
                <a:ext uri="{AF507438-7753-43E0-B8FC-AC1667EBCBE1}">
                  <a14:hiddenEffects xmlns:a14="http://schemas.microsoft.com/office/drawing/2010/main">
                    <a:effectLst>
                      <a:outerShdw dist="107763" dir="2700000" algn="ctr" rotWithShape="0">
                        <a:srgbClr val="808080"/>
                      </a:outerShdw>
                    </a:effectLst>
                  </a14:hiddenEffects>
                </a:ext>
              </a:extLst>
            </p:spPr>
            <p:txBody>
              <a:bodyPr anchor="ctr"/>
              <a:lstStyle/>
              <a:p>
                <a:pPr algn="ctr"/>
                <a:endParaRPr lang="en-US" altLang="en-US" b="1">
                  <a:latin typeface="Courier New" panose="02070309020205020404" pitchFamily="49" charset="0"/>
                </a:endParaRPr>
              </a:p>
            </p:txBody>
          </p:sp>
        </p:grpSp>
        <p:sp>
          <p:nvSpPr>
            <p:cNvPr id="122" name="Text Box 47"/>
            <p:cNvSpPr txBox="1">
              <a:spLocks noChangeArrowheads="1"/>
            </p:cNvSpPr>
            <p:nvPr/>
          </p:nvSpPr>
          <p:spPr bwMode="auto">
            <a:xfrm>
              <a:off x="3700640" y="6216650"/>
              <a:ext cx="914400" cy="336550"/>
            </a:xfrm>
            <a:prstGeom prst="rect">
              <a:avLst/>
            </a:prstGeom>
            <a:noFill/>
            <a:ln>
              <a:noFill/>
            </a:ln>
            <a:effectLst/>
            <a:extLst>
              <a:ext uri="{909E8E84-426E-40DD-AFC4-6F175D3DCCD1}">
                <a14:hiddenFill xmlns:a14="http://schemas.microsoft.com/office/drawing/2010/main">
                  <a:solidFill>
                    <a:schemeClr val="accent1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chemeClr val="tx1"/>
                  </a:solidFill>
                  <a:miter lim="800000"/>
                  <a:headEnd/>
                  <a:tailEnd/>
                </a14:hiddenLine>
              </a:ex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>
              <a:spAutoFit/>
            </a:bodyPr>
            <a:lstStyle/>
            <a:p>
              <a:pPr algn="ctr">
                <a:spcBef>
                  <a:spcPct val="50000"/>
                </a:spcBef>
              </a:pPr>
              <a:r>
                <a:rPr lang="en-US" altLang="en-US" sz="1600" dirty="0"/>
                <a:t>I-Node</a:t>
              </a:r>
            </a:p>
          </p:txBody>
        </p:sp>
      </p:grpSp>
      <p:sp>
        <p:nvSpPr>
          <p:cNvPr id="126" name="Rectangle 39"/>
          <p:cNvSpPr>
            <a:spLocks noChangeArrowheads="1"/>
          </p:cNvSpPr>
          <p:nvPr/>
        </p:nvSpPr>
        <p:spPr bwMode="auto">
          <a:xfrm>
            <a:off x="1143000" y="3886200"/>
            <a:ext cx="457200" cy="381000"/>
          </a:xfrm>
          <a:prstGeom prst="rect">
            <a:avLst/>
          </a:prstGeom>
          <a:solidFill>
            <a:schemeClr val="accent4">
              <a:lumMod val="75000"/>
            </a:schemeClr>
          </a:solidFill>
          <a:ln w="19050" algn="ctr">
            <a:solidFill>
              <a:schemeClr val="accent4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7" name="Rectangle 35"/>
          <p:cNvSpPr>
            <a:spLocks noChangeArrowheads="1"/>
          </p:cNvSpPr>
          <p:nvPr/>
        </p:nvSpPr>
        <p:spPr bwMode="auto">
          <a:xfrm>
            <a:off x="1143000" y="3124200"/>
            <a:ext cx="457200" cy="381000"/>
          </a:xfrm>
          <a:prstGeom prst="rect">
            <a:avLst/>
          </a:prstGeom>
          <a:solidFill>
            <a:schemeClr val="accent5">
              <a:lumMod val="75000"/>
            </a:schemeClr>
          </a:solidFill>
          <a:ln w="19050" algn="ctr">
            <a:solidFill>
              <a:srgbClr val="660066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8" name="Rectangle 27"/>
          <p:cNvSpPr>
            <a:spLocks noChangeArrowheads="1"/>
          </p:cNvSpPr>
          <p:nvPr/>
        </p:nvSpPr>
        <p:spPr bwMode="auto">
          <a:xfrm>
            <a:off x="1143000" y="1600200"/>
            <a:ext cx="457200" cy="38100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wrap="none" anchor="ctr"/>
          <a:lstStyle/>
          <a:p>
            <a:endParaRPr lang="en-US"/>
          </a:p>
        </p:txBody>
      </p:sp>
      <p:sp>
        <p:nvSpPr>
          <p:cNvPr id="129" name="Rectangle 43"/>
          <p:cNvSpPr>
            <a:spLocks noChangeArrowheads="1"/>
          </p:cNvSpPr>
          <p:nvPr/>
        </p:nvSpPr>
        <p:spPr bwMode="auto">
          <a:xfrm>
            <a:off x="3498669" y="1784350"/>
            <a:ext cx="1295400" cy="304800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19050" algn="ctr">
            <a:solidFill>
              <a:schemeClr val="accent2"/>
            </a:solidFill>
            <a:miter lim="800000"/>
            <a:headEnd/>
            <a:tailEnd type="none" w="lg" len="lg"/>
          </a:ln>
          <a:effectLst/>
        </p:spPr>
        <p:txBody>
          <a:bodyPr anchor="ctr"/>
          <a:lstStyle/>
          <a:p>
            <a:pPr algn="ctr"/>
            <a:r>
              <a:rPr lang="en-US" altLang="en-US" b="1">
                <a:latin typeface="Courier New" panose="02070309020205020404" pitchFamily="49" charset="0"/>
              </a:rPr>
              <a:t>15</a:t>
            </a:r>
          </a:p>
        </p:txBody>
      </p:sp>
      <p:sp>
        <p:nvSpPr>
          <p:cNvPr id="4" name="Right Brace 3"/>
          <p:cNvSpPr/>
          <p:nvPr/>
        </p:nvSpPr>
        <p:spPr>
          <a:xfrm>
            <a:off x="5029200" y="1784350"/>
            <a:ext cx="228600" cy="730250"/>
          </a:xfrm>
          <a:prstGeom prst="rightBrace">
            <a:avLst/>
          </a:prstGeom>
          <a:ln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/>
          <p:cNvSpPr/>
          <p:nvPr/>
        </p:nvSpPr>
        <p:spPr>
          <a:xfrm>
            <a:off x="5173239" y="1784350"/>
            <a:ext cx="1048352" cy="762000"/>
          </a:xfrm>
          <a:prstGeom prst="rect">
            <a:avLst/>
          </a:prstGeom>
          <a:noFill/>
          <a:ln>
            <a:solidFill>
              <a:schemeClr val="bg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Data Block Pointers</a:t>
            </a:r>
          </a:p>
        </p:txBody>
      </p:sp>
    </p:spTree>
    <p:extLst>
      <p:ext uri="{BB962C8B-B14F-4D97-AF65-F5344CB8AC3E}">
        <p14:creationId xmlns:p14="http://schemas.microsoft.com/office/powerpoint/2010/main" val="264106805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 nodeType="clickPar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 nodeType="withGroup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4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0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531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22" presetClass="entr" presetSubtype="8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23" dur="500"/>
                                        <p:tgtEl>
                                          <p:spTgt spid="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500"/>
                            </p:stCondLst>
                            <p:childTnLst>
                              <p:par>
                                <p:cTn id="25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38" dur="500"/>
                                        <p:tgtEl>
                                          <p:spTgt spid="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9" fill="hold">
                            <p:stCondLst>
                              <p:cond delay="500"/>
                            </p:stCondLst>
                            <p:childTnLst>
                              <p:par>
                                <p:cTn id="40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2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left)">
                                      <p:cBhvr>
                                        <p:cTn id="49" dur="500"/>
                                        <p:tgtEl>
                                          <p:spTgt spid="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50" fill="hold">
                            <p:stCondLst>
                              <p:cond delay="500"/>
                            </p:stCondLst>
                            <p:childTnLst>
                              <p:par>
                                <p:cTn id="51" presetID="1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53046" grpId="0" animBg="1"/>
      <p:bldP spid="1153094" grpId="0" animBg="1"/>
      <p:bldP spid="1153116" grpId="0" animBg="1"/>
      <p:bldP spid="92" grpId="0" animBg="1"/>
      <p:bldP spid="93" grpId="0" animBg="1"/>
      <p:bldP spid="94" grpId="0" animBg="1"/>
      <p:bldP spid="126" grpId="0" animBg="1"/>
      <p:bldP spid="127" grpId="0" animBg="1"/>
      <p:bldP spid="128" grpId="0" animBg="1"/>
      <p:bldP spid="129" grpId="0" animBg="1"/>
    </p:bldLst>
  </p:timing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0194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Ext2 FS: Putting the parts together…..</a:t>
            </a:r>
          </a:p>
        </p:txBody>
      </p:sp>
      <p:sp>
        <p:nvSpPr>
          <p:cNvPr id="116019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pPr marL="571500" indent="-571500"/>
            <a:r>
              <a:rPr lang="en-US" altLang="en-US" sz="2600" dirty="0"/>
              <a:t>Give a pathname, e.g. "</a:t>
            </a:r>
            <a:r>
              <a:rPr lang="en-US" altLang="en-US" sz="2600" b="1" dirty="0">
                <a:latin typeface="Consolas" panose="020B0609020204030204" pitchFamily="49" charset="0"/>
              </a:rPr>
              <a:t>/sub/file</a:t>
            </a:r>
            <a:r>
              <a:rPr lang="en-US" altLang="en-US" sz="2600" dirty="0"/>
              <a:t>"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Let </a:t>
            </a:r>
            <a:r>
              <a:rPr lang="en-US" altLang="en-US" sz="2600" b="1" dirty="0" err="1">
                <a:solidFill>
                  <a:srgbClr val="000000"/>
                </a:solidFill>
              </a:rPr>
              <a:t>CurDir</a:t>
            </a:r>
            <a:r>
              <a:rPr lang="en-US" altLang="en-US" sz="2600" dirty="0"/>
              <a:t> = "</a:t>
            </a:r>
            <a:r>
              <a:rPr lang="en-US" altLang="en-US" sz="2600" b="1" dirty="0">
                <a:latin typeface="Consolas" panose="020B0609020204030204" pitchFamily="49" charset="0"/>
              </a:rPr>
              <a:t>/</a:t>
            </a:r>
            <a:r>
              <a:rPr lang="en-US" altLang="en-US" sz="2600" dirty="0"/>
              <a:t>"</a:t>
            </a:r>
          </a:p>
          <a:p>
            <a:pPr marL="898525" lvl="1" indent="-571500"/>
            <a:r>
              <a:rPr lang="en-US" altLang="en-US" sz="2200" dirty="0"/>
              <a:t>Root directory usually has a fixed I-Node number (e.g. 2)</a:t>
            </a:r>
          </a:p>
          <a:p>
            <a:pPr marL="898525" lvl="1" indent="-571500"/>
            <a:r>
              <a:rPr lang="en-US" altLang="en-US" sz="2200" dirty="0"/>
              <a:t>Read the actual I-Node</a:t>
            </a:r>
          </a:p>
          <a:p>
            <a:pPr marL="571500" indent="-571500">
              <a:buFont typeface="Wingdings" panose="05000000000000000000" pitchFamily="2" charset="2"/>
              <a:buAutoNum type="arabicPeriod"/>
            </a:pPr>
            <a:r>
              <a:rPr lang="en-US" altLang="en-US" sz="2600" dirty="0"/>
              <a:t>Look at the next part in pathname:</a:t>
            </a:r>
          </a:p>
          <a:p>
            <a:pPr marL="839788" lvl="1" indent="-495300"/>
            <a:r>
              <a:rPr lang="en-US" altLang="en-US" sz="2200" dirty="0"/>
              <a:t>If it is a directory, e.g. "</a:t>
            </a:r>
            <a:r>
              <a:rPr lang="en-US" altLang="en-US" sz="2200" b="1" dirty="0">
                <a:latin typeface="Consolas" panose="020B0609020204030204" pitchFamily="49" charset="0"/>
              </a:rPr>
              <a:t>sub/"</a:t>
            </a:r>
          </a:p>
          <a:p>
            <a:pPr marL="1090613" lvl="2" indent="-419100"/>
            <a:r>
              <a:rPr lang="en-US" altLang="en-US" sz="2000" dirty="0"/>
              <a:t>Locate the directory entry in </a:t>
            </a:r>
            <a:r>
              <a:rPr lang="en-US" altLang="en-US" sz="2000" b="1" dirty="0" err="1">
                <a:solidFill>
                  <a:srgbClr val="000000"/>
                </a:solidFill>
              </a:rPr>
              <a:t>CurDir</a:t>
            </a:r>
            <a:endParaRPr lang="en-US" altLang="en-US" sz="2000" b="1" dirty="0">
              <a:solidFill>
                <a:srgbClr val="000000"/>
              </a:solidFill>
            </a:endParaRPr>
          </a:p>
          <a:p>
            <a:pPr marL="1090613" lvl="2" indent="-419100"/>
            <a:r>
              <a:rPr lang="en-US" altLang="en-US" sz="2000" dirty="0"/>
              <a:t>Retrieve I-Node number, then read the actual I-Node</a:t>
            </a:r>
          </a:p>
          <a:p>
            <a:pPr marL="1090613" lvl="2" indent="-419100"/>
            <a:r>
              <a:rPr lang="en-US" altLang="en-US" sz="2000" b="1" dirty="0" err="1">
                <a:solidFill>
                  <a:srgbClr val="000000"/>
                </a:solidFill>
              </a:rPr>
              <a:t>CurDir</a:t>
            </a:r>
            <a:r>
              <a:rPr lang="en-US" altLang="en-US" sz="2000" dirty="0"/>
              <a:t> = next part in pathname</a:t>
            </a:r>
          </a:p>
          <a:p>
            <a:pPr marL="1090613" lvl="2" indent="-419100"/>
            <a:r>
              <a:rPr lang="en-US" altLang="en-US" sz="2000" dirty="0" err="1"/>
              <a:t>Goto</a:t>
            </a:r>
            <a:r>
              <a:rPr lang="en-US" altLang="en-US" sz="2000" dirty="0"/>
              <a:t> Step 2.</a:t>
            </a:r>
          </a:p>
          <a:p>
            <a:pPr marL="839788" lvl="1" indent="-495300"/>
            <a:r>
              <a:rPr lang="en-US" altLang="en-US" sz="2200" dirty="0"/>
              <a:t>Else  //it is a file</a:t>
            </a:r>
          </a:p>
          <a:p>
            <a:pPr marL="1090613" lvl="2" indent="-419100"/>
            <a:r>
              <a:rPr lang="en-US" altLang="en-US" sz="2000" dirty="0"/>
              <a:t>Locate the directory entry in </a:t>
            </a:r>
            <a:r>
              <a:rPr lang="en-US" altLang="en-US" sz="2000" dirty="0" err="1"/>
              <a:t>CurDir</a:t>
            </a:r>
            <a:endParaRPr lang="en-US" altLang="en-US" sz="2000" dirty="0"/>
          </a:p>
          <a:p>
            <a:pPr marL="1090613" lvl="2" indent="-419100"/>
            <a:r>
              <a:rPr lang="en-US" altLang="en-US" sz="2000" dirty="0"/>
              <a:t>Retrieve I-Node number, then read the actual I-Node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451716215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Ext2: </a:t>
            </a:r>
            <a:r>
              <a:rPr lang="en-US" b="1" dirty="0"/>
              <a:t>Common Tasks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en-US" dirty="0"/>
              <a:t>Deleting a file:</a:t>
            </a:r>
          </a:p>
          <a:p>
            <a:pPr lvl="1"/>
            <a:r>
              <a:rPr lang="en-US" dirty="0"/>
              <a:t>Remove its directory entry from the parent directory:</a:t>
            </a:r>
          </a:p>
          <a:p>
            <a:pPr lvl="2"/>
            <a:r>
              <a:rPr lang="en-US" dirty="0"/>
              <a:t>Point the previous entry to the next entry / end</a:t>
            </a:r>
          </a:p>
          <a:p>
            <a:pPr lvl="2"/>
            <a:r>
              <a:rPr lang="en-US" dirty="0"/>
              <a:t>To remove first entry: Blank record is needed</a:t>
            </a:r>
          </a:p>
          <a:p>
            <a:pPr lvl="1"/>
            <a:r>
              <a:rPr lang="en-US" dirty="0"/>
              <a:t>Update I-node bitmap:</a:t>
            </a:r>
          </a:p>
          <a:p>
            <a:pPr lvl="2"/>
            <a:r>
              <a:rPr lang="en-US" dirty="0"/>
              <a:t>Mark the corresponding I-node as free</a:t>
            </a:r>
          </a:p>
          <a:p>
            <a:pPr lvl="1"/>
            <a:r>
              <a:rPr lang="en-US" dirty="0"/>
              <a:t>Update Block bitmap:</a:t>
            </a:r>
          </a:p>
          <a:p>
            <a:pPr lvl="2"/>
            <a:r>
              <a:rPr lang="en-US" dirty="0"/>
              <a:t>Mark the corresponding block(s) as free</a:t>
            </a:r>
          </a:p>
          <a:p>
            <a:r>
              <a:rPr lang="en-US" dirty="0"/>
              <a:t>Question:</a:t>
            </a:r>
          </a:p>
          <a:p>
            <a:pPr lvl="1"/>
            <a:r>
              <a:rPr lang="en-US" dirty="0"/>
              <a:t>Is it possible to "undelete" a file under ext2?</a:t>
            </a:r>
          </a:p>
          <a:p>
            <a:pPr lvl="1"/>
            <a:r>
              <a:rPr lang="en-US" dirty="0"/>
              <a:t>What if the system crashes between the steps?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222137654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5074" name="Rectangle 2"/>
          <p:cNvSpPr>
            <a:spLocks noGrp="1" noChangeArrowheads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altLang="en-US" sz="3800" dirty="0"/>
              <a:t>Hard / Symbolic Link with I-Node</a:t>
            </a:r>
          </a:p>
        </p:txBody>
      </p:sp>
      <p:sp>
        <p:nvSpPr>
          <p:cNvPr id="1155075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r>
              <a:rPr lang="en-US" altLang="en-US" dirty="0"/>
              <a:t>Scenario:</a:t>
            </a:r>
          </a:p>
          <a:p>
            <a:pPr lvl="1"/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A</a:t>
            </a:r>
            <a:r>
              <a:rPr lang="en-US" altLang="en-US" dirty="0"/>
              <a:t> contains file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</a:t>
            </a:r>
            <a:r>
              <a:rPr lang="en-US" altLang="en-US" dirty="0"/>
              <a:t>, with I-Node#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XN</a:t>
            </a:r>
          </a:p>
          <a:p>
            <a:pPr lvl="1"/>
            <a:r>
              <a:rPr lang="en-US" altLang="en-US" dirty="0"/>
              <a:t>Directory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dirty="0"/>
              <a:t> wants to share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</a:t>
            </a:r>
          </a:p>
          <a:p>
            <a:pPr marL="344487" lvl="1" indent="0">
              <a:buNone/>
            </a:pPr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  <a:p>
            <a:r>
              <a:rPr lang="en-US" altLang="en-US" b="1" dirty="0"/>
              <a:t>Hard link:</a:t>
            </a:r>
          </a:p>
          <a:p>
            <a:pPr lvl="1"/>
            <a:r>
              <a:rPr lang="en-US" altLang="en-US" dirty="0"/>
              <a:t>Creates a directory entry in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B</a:t>
            </a:r>
            <a:r>
              <a:rPr lang="en-US" altLang="en-US" dirty="0"/>
              <a:t> which use the </a:t>
            </a:r>
            <a:r>
              <a:rPr lang="en-US" altLang="en-US" b="1" dirty="0"/>
              <a:t>same I-Node number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XN</a:t>
            </a:r>
          </a:p>
          <a:p>
            <a:pPr lvl="1"/>
            <a:r>
              <a:rPr lang="en-US" altLang="en-US" dirty="0"/>
              <a:t>Can have different filename</a:t>
            </a:r>
          </a:p>
          <a:p>
            <a:pPr lvl="1"/>
            <a:endParaRPr lang="en-US" altLang="en-US" b="1" dirty="0">
              <a:solidFill>
                <a:srgbClr val="0033CC"/>
              </a:solidFill>
              <a:latin typeface="Courier New" panose="02070309020205020404" pitchFamily="49" charset="0"/>
            </a:endParaRPr>
          </a:p>
          <a:p>
            <a:r>
              <a:rPr lang="en-US" altLang="en-US" b="1" dirty="0"/>
              <a:t>Symbolic Link:</a:t>
            </a:r>
          </a:p>
          <a:p>
            <a:pPr lvl="1"/>
            <a:r>
              <a:rPr lang="en-US" altLang="en-US" dirty="0"/>
              <a:t>Creates a </a:t>
            </a:r>
            <a:r>
              <a:rPr lang="en-US" altLang="en-US" b="1" dirty="0"/>
              <a:t>new file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Y</a:t>
            </a:r>
            <a:r>
              <a:rPr lang="en-US" altLang="en-US" dirty="0"/>
              <a:t> in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B</a:t>
            </a:r>
          </a:p>
          <a:p>
            <a:pPr lvl="1"/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Y</a:t>
            </a:r>
            <a:r>
              <a:rPr lang="en-US" altLang="en-US" dirty="0"/>
              <a:t> contains the pathname of </a:t>
            </a:r>
            <a:r>
              <a:rPr lang="en-US" altLang="en-US" b="1" dirty="0">
                <a:solidFill>
                  <a:srgbClr val="0033CC"/>
                </a:solidFill>
                <a:latin typeface="Courier New" panose="02070309020205020404" pitchFamily="49" charset="0"/>
              </a:rPr>
              <a:t>X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62075848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6098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Hard/Symbolic Link Illustration</a:t>
            </a:r>
          </a:p>
        </p:txBody>
      </p:sp>
      <p:grpSp>
        <p:nvGrpSpPr>
          <p:cNvPr id="1156100" name="Group 4"/>
          <p:cNvGrpSpPr>
            <a:grpSpLocks/>
          </p:cNvGrpSpPr>
          <p:nvPr/>
        </p:nvGrpSpPr>
        <p:grpSpPr bwMode="auto">
          <a:xfrm>
            <a:off x="685800" y="1143000"/>
            <a:ext cx="2209800" cy="304800"/>
            <a:chOff x="2688" y="3264"/>
            <a:chExt cx="1392" cy="240"/>
          </a:xfrm>
        </p:grpSpPr>
        <p:sp>
          <p:nvSpPr>
            <p:cNvPr id="1156101" name="Rectangle 5"/>
            <p:cNvSpPr>
              <a:spLocks noChangeArrowheads="1"/>
            </p:cNvSpPr>
            <p:nvPr/>
          </p:nvSpPr>
          <p:spPr bwMode="auto">
            <a:xfrm>
              <a:off x="2688" y="3264"/>
              <a:ext cx="1392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6102" name="Rectangle 6"/>
            <p:cNvSpPr>
              <a:spLocks noChangeArrowheads="1"/>
            </p:cNvSpPr>
            <p:nvPr/>
          </p:nvSpPr>
          <p:spPr bwMode="auto">
            <a:xfrm>
              <a:off x="2688" y="3264"/>
              <a:ext cx="279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56103" name="Rectangle 7"/>
            <p:cNvSpPr>
              <a:spLocks noChangeArrowheads="1"/>
            </p:cNvSpPr>
            <p:nvPr/>
          </p:nvSpPr>
          <p:spPr bwMode="auto">
            <a:xfrm>
              <a:off x="2967" y="3264"/>
              <a:ext cx="14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56104" name="Rectangle 8"/>
            <p:cNvSpPr>
              <a:spLocks noChangeArrowheads="1"/>
            </p:cNvSpPr>
            <p:nvPr/>
          </p:nvSpPr>
          <p:spPr bwMode="auto">
            <a:xfrm>
              <a:off x="3107" y="3264"/>
              <a:ext cx="279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6105" name="Rectangle 9"/>
            <p:cNvSpPr>
              <a:spLocks noChangeArrowheads="1"/>
            </p:cNvSpPr>
            <p:nvPr/>
          </p:nvSpPr>
          <p:spPr bwMode="auto">
            <a:xfrm>
              <a:off x="3386" y="3264"/>
              <a:ext cx="279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56106" name="Rectangle 10"/>
            <p:cNvSpPr>
              <a:spLocks noChangeArrowheads="1"/>
            </p:cNvSpPr>
            <p:nvPr/>
          </p:nvSpPr>
          <p:spPr bwMode="auto">
            <a:xfrm>
              <a:off x="3665" y="3264"/>
              <a:ext cx="415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X</a:t>
              </a:r>
            </a:p>
          </p:txBody>
        </p:sp>
      </p:grpSp>
      <p:sp>
        <p:nvSpPr>
          <p:cNvPr id="1156107" name="Text Box 11"/>
          <p:cNvSpPr txBox="1">
            <a:spLocks noChangeArrowheads="1"/>
          </p:cNvSpPr>
          <p:nvPr/>
        </p:nvSpPr>
        <p:spPr bwMode="auto">
          <a:xfrm>
            <a:off x="838200" y="1447800"/>
            <a:ext cx="1828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Directory Entries for directory </a:t>
            </a:r>
            <a:r>
              <a:rPr lang="en-US" altLang="en-US" sz="1600" b="1"/>
              <a:t>A/</a:t>
            </a:r>
          </a:p>
        </p:txBody>
      </p:sp>
      <p:grpSp>
        <p:nvGrpSpPr>
          <p:cNvPr id="1156108" name="Group 12"/>
          <p:cNvGrpSpPr>
            <a:grpSpLocks/>
          </p:cNvGrpSpPr>
          <p:nvPr/>
        </p:nvGrpSpPr>
        <p:grpSpPr bwMode="auto">
          <a:xfrm>
            <a:off x="685800" y="2743200"/>
            <a:ext cx="2209800" cy="304800"/>
            <a:chOff x="2688" y="3264"/>
            <a:chExt cx="1392" cy="240"/>
          </a:xfrm>
        </p:grpSpPr>
        <p:sp>
          <p:nvSpPr>
            <p:cNvPr id="1156109" name="Rectangle 13"/>
            <p:cNvSpPr>
              <a:spLocks noChangeArrowheads="1"/>
            </p:cNvSpPr>
            <p:nvPr/>
          </p:nvSpPr>
          <p:spPr bwMode="auto">
            <a:xfrm>
              <a:off x="2688" y="3264"/>
              <a:ext cx="1392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6110" name="Rectangle 14"/>
            <p:cNvSpPr>
              <a:spLocks noChangeArrowheads="1"/>
            </p:cNvSpPr>
            <p:nvPr/>
          </p:nvSpPr>
          <p:spPr bwMode="auto">
            <a:xfrm>
              <a:off x="2688" y="3264"/>
              <a:ext cx="279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8</a:t>
              </a:r>
            </a:p>
          </p:txBody>
        </p:sp>
        <p:sp>
          <p:nvSpPr>
            <p:cNvPr id="1156111" name="Rectangle 15"/>
            <p:cNvSpPr>
              <a:spLocks noChangeArrowheads="1"/>
            </p:cNvSpPr>
            <p:nvPr/>
          </p:nvSpPr>
          <p:spPr bwMode="auto">
            <a:xfrm>
              <a:off x="2967" y="3264"/>
              <a:ext cx="14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56112" name="Rectangle 16"/>
            <p:cNvSpPr>
              <a:spLocks noChangeArrowheads="1"/>
            </p:cNvSpPr>
            <p:nvPr/>
          </p:nvSpPr>
          <p:spPr bwMode="auto">
            <a:xfrm>
              <a:off x="3107" y="3264"/>
              <a:ext cx="279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6113" name="Rectangle 17"/>
            <p:cNvSpPr>
              <a:spLocks noChangeArrowheads="1"/>
            </p:cNvSpPr>
            <p:nvPr/>
          </p:nvSpPr>
          <p:spPr bwMode="auto">
            <a:xfrm>
              <a:off x="3386" y="3264"/>
              <a:ext cx="279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56114" name="Rectangle 18"/>
            <p:cNvSpPr>
              <a:spLocks noChangeArrowheads="1"/>
            </p:cNvSpPr>
            <p:nvPr/>
          </p:nvSpPr>
          <p:spPr bwMode="auto">
            <a:xfrm>
              <a:off x="3665" y="3264"/>
              <a:ext cx="415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Z</a:t>
              </a:r>
            </a:p>
          </p:txBody>
        </p:sp>
      </p:grpSp>
      <p:sp>
        <p:nvSpPr>
          <p:cNvPr id="1156115" name="Text Box 19"/>
          <p:cNvSpPr txBox="1">
            <a:spLocks noChangeArrowheads="1"/>
          </p:cNvSpPr>
          <p:nvPr/>
        </p:nvSpPr>
        <p:spPr bwMode="auto">
          <a:xfrm>
            <a:off x="838200" y="3048000"/>
            <a:ext cx="1828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Directory Entries for directory </a:t>
            </a:r>
            <a:r>
              <a:rPr lang="en-US" altLang="en-US" sz="1600" b="1"/>
              <a:t>B/</a:t>
            </a:r>
          </a:p>
        </p:txBody>
      </p:sp>
      <p:sp>
        <p:nvSpPr>
          <p:cNvPr id="1156117" name="Rectangle 21"/>
          <p:cNvSpPr>
            <a:spLocks noChangeArrowheads="1"/>
          </p:cNvSpPr>
          <p:nvPr/>
        </p:nvSpPr>
        <p:spPr bwMode="auto">
          <a:xfrm>
            <a:off x="4343400" y="1066800"/>
            <a:ext cx="1295400" cy="137160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 w="19050" algn="ctr">
            <a:solidFill>
              <a:srgbClr val="0033CC"/>
            </a:solidFill>
            <a:miter lim="800000"/>
            <a:headEnd/>
            <a:tailEnd type="none" w="lg" len="lg"/>
          </a:ln>
          <a:effectLst/>
        </p:spPr>
        <p:txBody>
          <a:bodyPr anchor="ctr"/>
          <a:lstStyle/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  <a:p>
            <a:pPr algn="ctr"/>
            <a:r>
              <a:rPr lang="en-US" altLang="en-US" b="1" dirty="0">
                <a:latin typeface="Courier New" panose="02070309020205020404" pitchFamily="49" charset="0"/>
              </a:rPr>
              <a:t>...</a:t>
            </a:r>
          </a:p>
        </p:txBody>
      </p:sp>
      <p:sp>
        <p:nvSpPr>
          <p:cNvPr id="1156120" name="Text Box 24"/>
          <p:cNvSpPr txBox="1">
            <a:spLocks noChangeArrowheads="1"/>
          </p:cNvSpPr>
          <p:nvPr/>
        </p:nvSpPr>
        <p:spPr bwMode="auto">
          <a:xfrm>
            <a:off x="4191000" y="2442399"/>
            <a:ext cx="16002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dirty="0"/>
              <a:t>I-Node No. </a:t>
            </a:r>
            <a:r>
              <a:rPr lang="en-US" altLang="en-US" b="1" dirty="0">
                <a:solidFill>
                  <a:srgbClr val="C00000"/>
                </a:solidFill>
              </a:rPr>
              <a:t>8</a:t>
            </a:r>
          </a:p>
        </p:txBody>
      </p:sp>
      <p:sp>
        <p:nvSpPr>
          <p:cNvPr id="1156121" name="Oval 25"/>
          <p:cNvSpPr>
            <a:spLocks noChangeArrowheads="1"/>
          </p:cNvSpPr>
          <p:nvPr/>
        </p:nvSpPr>
        <p:spPr bwMode="auto">
          <a:xfrm>
            <a:off x="609600" y="990600"/>
            <a:ext cx="609600" cy="6096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22" name="Oval 26"/>
          <p:cNvSpPr>
            <a:spLocks noChangeArrowheads="1"/>
          </p:cNvSpPr>
          <p:nvPr/>
        </p:nvSpPr>
        <p:spPr bwMode="auto">
          <a:xfrm>
            <a:off x="609600" y="2590800"/>
            <a:ext cx="609600" cy="609600"/>
          </a:xfrm>
          <a:prstGeom prst="ellipse">
            <a:avLst/>
          </a:prstGeom>
          <a:noFill/>
          <a:ln w="19050">
            <a:solidFill>
              <a:srgbClr val="FF0000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endParaRPr lang="en-US"/>
          </a:p>
        </p:txBody>
      </p:sp>
      <p:sp>
        <p:nvSpPr>
          <p:cNvPr id="1156124" name="Line 28"/>
          <p:cNvSpPr>
            <a:spLocks noChangeShapeType="1"/>
          </p:cNvSpPr>
          <p:nvPr/>
        </p:nvSpPr>
        <p:spPr bwMode="auto">
          <a:xfrm>
            <a:off x="2895600" y="1219200"/>
            <a:ext cx="14478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25" name="Line 29"/>
          <p:cNvSpPr>
            <a:spLocks noChangeShapeType="1"/>
          </p:cNvSpPr>
          <p:nvPr/>
        </p:nvSpPr>
        <p:spPr bwMode="auto">
          <a:xfrm flipV="1">
            <a:off x="2895600" y="1905000"/>
            <a:ext cx="1447800" cy="9906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26" name="Line 30"/>
          <p:cNvSpPr>
            <a:spLocks noChangeShapeType="1"/>
          </p:cNvSpPr>
          <p:nvPr/>
        </p:nvSpPr>
        <p:spPr bwMode="auto">
          <a:xfrm>
            <a:off x="533400" y="3810000"/>
            <a:ext cx="7772400" cy="0"/>
          </a:xfrm>
          <a:prstGeom prst="line">
            <a:avLst/>
          </a:prstGeom>
          <a:noFill/>
          <a:ln w="9525">
            <a:solidFill>
              <a:schemeClr val="tx1"/>
            </a:solidFill>
            <a:round/>
            <a:headEnd/>
            <a:tailEnd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27" name="Text Box 31"/>
          <p:cNvSpPr txBox="1">
            <a:spLocks noChangeArrowheads="1"/>
          </p:cNvSpPr>
          <p:nvPr/>
        </p:nvSpPr>
        <p:spPr bwMode="auto">
          <a:xfrm>
            <a:off x="5791200" y="3429000"/>
            <a:ext cx="28194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Hard Link </a:t>
            </a:r>
            <a:r>
              <a:rPr lang="en-US" altLang="en-US" dirty="0"/>
              <a:t>created for </a:t>
            </a:r>
            <a:r>
              <a:rPr lang="en-US" altLang="en-US" b="1" dirty="0"/>
              <a:t>B/</a:t>
            </a:r>
          </a:p>
        </p:txBody>
      </p:sp>
      <p:sp>
        <p:nvSpPr>
          <p:cNvPr id="1156128" name="Text Box 32"/>
          <p:cNvSpPr txBox="1">
            <a:spLocks noChangeArrowheads="1"/>
          </p:cNvSpPr>
          <p:nvPr/>
        </p:nvSpPr>
        <p:spPr bwMode="auto">
          <a:xfrm>
            <a:off x="5562600" y="6219825"/>
            <a:ext cx="3276600" cy="369332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square">
            <a:spAutoFit/>
          </a:bodyPr>
          <a:lstStyle/>
          <a:p>
            <a:pPr>
              <a:spcBef>
                <a:spcPct val="50000"/>
              </a:spcBef>
            </a:pPr>
            <a:r>
              <a:rPr lang="en-US" altLang="en-US" b="1" dirty="0"/>
              <a:t>Symbolic Link </a:t>
            </a:r>
            <a:r>
              <a:rPr lang="en-US" altLang="en-US" dirty="0"/>
              <a:t>created for </a:t>
            </a:r>
            <a:r>
              <a:rPr lang="en-US" altLang="en-US" b="1" dirty="0"/>
              <a:t>B/</a:t>
            </a:r>
          </a:p>
        </p:txBody>
      </p:sp>
      <p:grpSp>
        <p:nvGrpSpPr>
          <p:cNvPr id="1156129" name="Group 33"/>
          <p:cNvGrpSpPr>
            <a:grpSpLocks/>
          </p:cNvGrpSpPr>
          <p:nvPr/>
        </p:nvGrpSpPr>
        <p:grpSpPr bwMode="auto">
          <a:xfrm>
            <a:off x="990600" y="5257800"/>
            <a:ext cx="2209800" cy="304800"/>
            <a:chOff x="2688" y="3264"/>
            <a:chExt cx="1392" cy="240"/>
          </a:xfrm>
        </p:grpSpPr>
        <p:sp>
          <p:nvSpPr>
            <p:cNvPr id="1156130" name="Rectangle 34"/>
            <p:cNvSpPr>
              <a:spLocks noChangeArrowheads="1"/>
            </p:cNvSpPr>
            <p:nvPr/>
          </p:nvSpPr>
          <p:spPr bwMode="auto">
            <a:xfrm>
              <a:off x="2688" y="3264"/>
              <a:ext cx="1392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endParaRPr lang="en-US"/>
            </a:p>
          </p:txBody>
        </p:sp>
        <p:sp>
          <p:nvSpPr>
            <p:cNvPr id="1156131" name="Rectangle 35"/>
            <p:cNvSpPr>
              <a:spLocks noChangeArrowheads="1"/>
            </p:cNvSpPr>
            <p:nvPr/>
          </p:nvSpPr>
          <p:spPr bwMode="auto">
            <a:xfrm>
              <a:off x="2688" y="3264"/>
              <a:ext cx="279" cy="240"/>
            </a:xfrm>
            <a:prstGeom prst="rect">
              <a:avLst/>
            </a:prstGeom>
            <a:solidFill>
              <a:schemeClr val="accent2">
                <a:lumMod val="20000"/>
                <a:lumOff val="80000"/>
              </a:schemeClr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 dirty="0">
                  <a:latin typeface="Courier New" panose="02070309020205020404" pitchFamily="49" charset="0"/>
                </a:rPr>
                <a:t>13</a:t>
              </a:r>
            </a:p>
          </p:txBody>
        </p:sp>
        <p:sp>
          <p:nvSpPr>
            <p:cNvPr id="1156132" name="Rectangle 36"/>
            <p:cNvSpPr>
              <a:spLocks noChangeArrowheads="1"/>
            </p:cNvSpPr>
            <p:nvPr/>
          </p:nvSpPr>
          <p:spPr bwMode="auto">
            <a:xfrm>
              <a:off x="2967" y="3264"/>
              <a:ext cx="140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  <p:sp>
          <p:nvSpPr>
            <p:cNvPr id="1156133" name="Rectangle 37"/>
            <p:cNvSpPr>
              <a:spLocks noChangeArrowheads="1"/>
            </p:cNvSpPr>
            <p:nvPr/>
          </p:nvSpPr>
          <p:spPr bwMode="auto">
            <a:xfrm>
              <a:off x="3107" y="3264"/>
              <a:ext cx="279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F</a:t>
              </a:r>
            </a:p>
          </p:txBody>
        </p:sp>
        <p:sp>
          <p:nvSpPr>
            <p:cNvPr id="1156134" name="Rectangle 38"/>
            <p:cNvSpPr>
              <a:spLocks noChangeArrowheads="1"/>
            </p:cNvSpPr>
            <p:nvPr/>
          </p:nvSpPr>
          <p:spPr bwMode="auto">
            <a:xfrm>
              <a:off x="3386" y="3264"/>
              <a:ext cx="279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1</a:t>
              </a:r>
            </a:p>
          </p:txBody>
        </p:sp>
        <p:sp>
          <p:nvSpPr>
            <p:cNvPr id="1156135" name="Rectangle 39"/>
            <p:cNvSpPr>
              <a:spLocks noChangeArrowheads="1"/>
            </p:cNvSpPr>
            <p:nvPr/>
          </p:nvSpPr>
          <p:spPr bwMode="auto">
            <a:xfrm>
              <a:off x="3665" y="3264"/>
              <a:ext cx="415" cy="240"/>
            </a:xfrm>
            <a:prstGeom prst="rect">
              <a:avLst/>
            </a:prstGeom>
            <a:solidFill>
              <a:srgbClr val="FFFF99"/>
            </a:solidFill>
            <a:ln w="9525">
              <a:solidFill>
                <a:schemeClr val="tx1"/>
              </a:solidFill>
              <a:prstDash val="lgDash"/>
              <a:miter lim="800000"/>
              <a:headEnd/>
              <a:tailEnd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35921" dir="2700000" algn="ctr" rotWithShape="0">
                      <a:schemeClr val="bg2"/>
                    </a:outerShdw>
                  </a:effectLst>
                </a14:hiddenEffects>
              </a:ext>
            </a:extLst>
          </p:spPr>
          <p:txBody>
            <a:bodyPr wrap="none"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Y</a:t>
              </a:r>
            </a:p>
          </p:txBody>
        </p:sp>
      </p:grpSp>
      <p:sp>
        <p:nvSpPr>
          <p:cNvPr id="1156136" name="Text Box 40"/>
          <p:cNvSpPr txBox="1">
            <a:spLocks noChangeArrowheads="1"/>
          </p:cNvSpPr>
          <p:nvPr/>
        </p:nvSpPr>
        <p:spPr bwMode="auto">
          <a:xfrm>
            <a:off x="1219200" y="5638800"/>
            <a:ext cx="1828800" cy="5810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Directory Entries for directory </a:t>
            </a:r>
            <a:r>
              <a:rPr lang="en-US" altLang="en-US" sz="1600" b="1"/>
              <a:t>B/</a:t>
            </a:r>
          </a:p>
        </p:txBody>
      </p:sp>
      <p:sp>
        <p:nvSpPr>
          <p:cNvPr id="1156138" name="Text Box 42"/>
          <p:cNvSpPr txBox="1">
            <a:spLocks noChangeArrowheads="1"/>
          </p:cNvSpPr>
          <p:nvPr/>
        </p:nvSpPr>
        <p:spPr bwMode="auto">
          <a:xfrm>
            <a:off x="3886200" y="5715000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I-Node No. 13</a:t>
            </a:r>
          </a:p>
        </p:txBody>
      </p:sp>
      <p:grpSp>
        <p:nvGrpSpPr>
          <p:cNvPr id="1156139" name="Group 43"/>
          <p:cNvGrpSpPr>
            <a:grpSpLocks/>
          </p:cNvGrpSpPr>
          <p:nvPr/>
        </p:nvGrpSpPr>
        <p:grpSpPr bwMode="auto">
          <a:xfrm>
            <a:off x="4114800" y="4191000"/>
            <a:ext cx="1295400" cy="1447800"/>
            <a:chOff x="1728" y="672"/>
            <a:chExt cx="816" cy="912"/>
          </a:xfrm>
        </p:grpSpPr>
        <p:sp>
          <p:nvSpPr>
            <p:cNvPr id="1156140" name="Rectangle 44"/>
            <p:cNvSpPr>
              <a:spLocks noChangeArrowheads="1"/>
            </p:cNvSpPr>
            <p:nvPr/>
          </p:nvSpPr>
          <p:spPr bwMode="auto">
            <a:xfrm>
              <a:off x="1728" y="672"/>
              <a:ext cx="816" cy="432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File Metadata</a:t>
              </a:r>
            </a:p>
          </p:txBody>
        </p:sp>
        <p:sp>
          <p:nvSpPr>
            <p:cNvPr id="1156141" name="Rectangle 45"/>
            <p:cNvSpPr>
              <a:spLocks noChangeArrowheads="1"/>
            </p:cNvSpPr>
            <p:nvPr/>
          </p:nvSpPr>
          <p:spPr bwMode="auto">
            <a:xfrm>
              <a:off x="1728" y="1104"/>
              <a:ext cx="816" cy="192"/>
            </a:xfrm>
            <a:prstGeom prst="rect">
              <a:avLst/>
            </a:prstGeom>
            <a:solidFill>
              <a:schemeClr val="accent3">
                <a:lumMod val="40000"/>
                <a:lumOff val="6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r>
                <a:rPr lang="en-US" altLang="en-US" b="1">
                  <a:latin typeface="Courier New" panose="02070309020205020404" pitchFamily="49" charset="0"/>
                </a:rPr>
                <a:t>123</a:t>
              </a:r>
            </a:p>
          </p:txBody>
        </p:sp>
        <p:sp>
          <p:nvSpPr>
            <p:cNvPr id="1156142" name="Rectangle 46"/>
            <p:cNvSpPr>
              <a:spLocks noChangeArrowheads="1"/>
            </p:cNvSpPr>
            <p:nvPr/>
          </p:nvSpPr>
          <p:spPr bwMode="auto">
            <a:xfrm>
              <a:off x="1728" y="1296"/>
              <a:ext cx="816" cy="288"/>
            </a:xfrm>
            <a:prstGeom prst="rect">
              <a:avLst/>
            </a:prstGeom>
            <a:solidFill>
              <a:schemeClr val="accent3">
                <a:lumMod val="20000"/>
                <a:lumOff val="80000"/>
              </a:schemeClr>
            </a:solidFill>
            <a:ln w="19050" algn="ctr">
              <a:solidFill>
                <a:srgbClr val="0033CC"/>
              </a:solidFill>
              <a:miter lim="800000"/>
              <a:headEnd/>
              <a:tailEnd type="none" w="lg" len="lg"/>
            </a:ln>
            <a:effectLst/>
            <a:extLst>
              <a:ext uri="{AF507438-7753-43E0-B8FC-AC1667EBCBE1}">
                <a14:hiddenEffects xmlns:a14="http://schemas.microsoft.com/office/drawing/2010/main">
                  <a:effectLst>
                    <a:outerShdw dist="107763" dir="2700000" algn="ctr" rotWithShape="0">
                      <a:srgbClr val="808080"/>
                    </a:outerShdw>
                  </a:effectLst>
                </a14:hiddenEffects>
              </a:ext>
            </a:extLst>
          </p:spPr>
          <p:txBody>
            <a:bodyPr anchor="ctr"/>
            <a:lstStyle/>
            <a:p>
              <a:pPr algn="ctr"/>
              <a:endParaRPr lang="en-US" altLang="en-US" b="1">
                <a:latin typeface="Courier New" panose="02070309020205020404" pitchFamily="49" charset="0"/>
              </a:endParaRPr>
            </a:p>
          </p:txBody>
        </p:sp>
      </p:grpSp>
      <p:sp>
        <p:nvSpPr>
          <p:cNvPr id="1156143" name="Rectangle 47"/>
          <p:cNvSpPr>
            <a:spLocks noChangeArrowheads="1"/>
          </p:cNvSpPr>
          <p:nvPr/>
        </p:nvSpPr>
        <p:spPr bwMode="auto">
          <a:xfrm>
            <a:off x="6553200" y="4267200"/>
            <a:ext cx="1828800" cy="990600"/>
          </a:xfrm>
          <a:prstGeom prst="rect">
            <a:avLst/>
          </a:prstGeom>
          <a:solidFill>
            <a:schemeClr val="bg1">
              <a:lumMod val="95000"/>
            </a:schemeClr>
          </a:solidFill>
          <a:ln w="9525">
            <a:solidFill>
              <a:schemeClr val="tx1"/>
            </a:solidFill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/>
            <a:r>
              <a:rPr lang="en-US" altLang="en-US" dirty="0"/>
              <a:t>Go to </a:t>
            </a:r>
            <a:r>
              <a:rPr lang="en-US" altLang="en-US" b="1" dirty="0">
                <a:solidFill>
                  <a:schemeClr val="tx2"/>
                </a:solidFill>
                <a:latin typeface="Courier New" panose="02070309020205020404" pitchFamily="49" charset="0"/>
              </a:rPr>
              <a:t>/A/X</a:t>
            </a:r>
          </a:p>
        </p:txBody>
      </p:sp>
      <p:sp>
        <p:nvSpPr>
          <p:cNvPr id="1156144" name="Line 48"/>
          <p:cNvSpPr>
            <a:spLocks noChangeShapeType="1"/>
          </p:cNvSpPr>
          <p:nvPr/>
        </p:nvSpPr>
        <p:spPr bwMode="auto">
          <a:xfrm flipV="1">
            <a:off x="3200400" y="4953000"/>
            <a:ext cx="838200" cy="3810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45" name="Line 49"/>
          <p:cNvSpPr>
            <a:spLocks noChangeShapeType="1"/>
          </p:cNvSpPr>
          <p:nvPr/>
        </p:nvSpPr>
        <p:spPr bwMode="auto">
          <a:xfrm flipV="1">
            <a:off x="5410200" y="4343400"/>
            <a:ext cx="1143000" cy="685800"/>
          </a:xfrm>
          <a:prstGeom prst="line">
            <a:avLst/>
          </a:prstGeom>
          <a:noFill/>
          <a:ln w="9525">
            <a:solidFill>
              <a:schemeClr val="tx1"/>
            </a:solidFill>
            <a:prstDash val="lgDash"/>
            <a:round/>
            <a:headEnd/>
            <a:tailEnd type="stealth" w="lg" len="lg"/>
          </a:ln>
          <a:effectLst/>
          <a:extLst>
            <a:ext uri="{909E8E84-426E-40DD-AFC4-6F175D3DCCD1}">
              <a14:hiddenFill xmlns:a14="http://schemas.microsoft.com/office/drawing/2010/main">
                <a:noFill/>
              </a14:hiddenFill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/>
          <a:lstStyle/>
          <a:p>
            <a:endParaRPr lang="en-US"/>
          </a:p>
        </p:txBody>
      </p:sp>
      <p:sp>
        <p:nvSpPr>
          <p:cNvPr id="1156146" name="Text Box 50"/>
          <p:cNvSpPr txBox="1">
            <a:spLocks noChangeArrowheads="1"/>
          </p:cNvSpPr>
          <p:nvPr/>
        </p:nvSpPr>
        <p:spPr bwMode="auto">
          <a:xfrm>
            <a:off x="6629400" y="5334000"/>
            <a:ext cx="1752600" cy="33655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>
            <a:spAutoFit/>
          </a:bodyPr>
          <a:lstStyle/>
          <a:p>
            <a:pPr algn="ctr">
              <a:spcBef>
                <a:spcPct val="50000"/>
              </a:spcBef>
            </a:pPr>
            <a:r>
              <a:rPr lang="en-US" altLang="en-US" sz="1600"/>
              <a:t>Content of file </a:t>
            </a:r>
            <a:r>
              <a:rPr lang="en-US" altLang="en-US" sz="1600" b="1"/>
              <a:t>Y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35</a:t>
            </a:fld>
            <a:endParaRPr lang="en-US" altLang="en-US"/>
          </a:p>
        </p:txBody>
      </p:sp>
      <p:sp>
        <p:nvSpPr>
          <p:cNvPr id="47" name="Rounded Rectangle 43"/>
          <p:cNvSpPr/>
          <p:nvPr/>
        </p:nvSpPr>
        <p:spPr>
          <a:xfrm>
            <a:off x="702425" y="1143981"/>
            <a:ext cx="2193174" cy="296488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9" name="Rounded Rectangle 43"/>
          <p:cNvSpPr/>
          <p:nvPr/>
        </p:nvSpPr>
        <p:spPr>
          <a:xfrm>
            <a:off x="690938" y="2743200"/>
            <a:ext cx="2193174" cy="296488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0" name="Rounded Rectangle 43"/>
          <p:cNvSpPr/>
          <p:nvPr/>
        </p:nvSpPr>
        <p:spPr>
          <a:xfrm>
            <a:off x="995738" y="5261956"/>
            <a:ext cx="2193174" cy="296488"/>
          </a:xfrm>
          <a:prstGeom prst="roundRect">
            <a:avLst/>
          </a:prstGeom>
          <a:noFill/>
          <a:ln w="28575">
            <a:solidFill>
              <a:srgbClr val="0066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500667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712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Ext2 FS: Hard Link and Symbolic Link</a:t>
            </a:r>
          </a:p>
        </p:txBody>
      </p:sp>
      <p:sp>
        <p:nvSpPr>
          <p:cNvPr id="115712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Hard Link problems:</a:t>
            </a:r>
          </a:p>
          <a:p>
            <a:pPr lvl="1"/>
            <a:r>
              <a:rPr lang="en-US" altLang="en-US" dirty="0"/>
              <a:t>With multiple references of a I-Node, it is hard to determine when to delete an I-Node</a:t>
            </a:r>
          </a:p>
          <a:p>
            <a:pPr lvl="2"/>
            <a:r>
              <a:rPr lang="en-US" altLang="en-US" dirty="0"/>
              <a:t>Maintain a I-Node reference count</a:t>
            </a:r>
          </a:p>
          <a:p>
            <a:pPr lvl="2"/>
            <a:r>
              <a:rPr lang="en-US" altLang="en-US" dirty="0"/>
              <a:t>Decremented for every deletion</a:t>
            </a:r>
          </a:p>
          <a:p>
            <a:r>
              <a:rPr lang="en-US" altLang="en-US" dirty="0"/>
              <a:t>Symbolic Link problems:</a:t>
            </a:r>
          </a:p>
          <a:p>
            <a:pPr lvl="1"/>
            <a:r>
              <a:rPr lang="en-US" altLang="en-US" dirty="0"/>
              <a:t>As </a:t>
            </a:r>
            <a:r>
              <a:rPr lang="en-US" altLang="en-US" b="1" dirty="0"/>
              <a:t>only the pathname is stored</a:t>
            </a:r>
            <a:r>
              <a:rPr lang="en-US" altLang="en-US" dirty="0"/>
              <a:t>, the link can be easily invalidated:</a:t>
            </a:r>
          </a:p>
          <a:p>
            <a:pPr lvl="2"/>
            <a:r>
              <a:rPr lang="en-US" altLang="en-US" dirty="0"/>
              <a:t>File name changes, file deletion </a:t>
            </a:r>
            <a:r>
              <a:rPr lang="en-US" altLang="en-US" dirty="0" err="1"/>
              <a:t>etc</a:t>
            </a:r>
            <a:endParaRPr lang="en-US" altLang="en-US" dirty="0"/>
          </a:p>
          <a:p>
            <a:pPr lvl="1"/>
            <a:r>
              <a:rPr lang="en-US" altLang="en-US" dirty="0"/>
              <a:t>Involve a search to locate actual I-Node number of target file</a:t>
            </a:r>
          </a:p>
          <a:p>
            <a:pPr lvl="2"/>
            <a:r>
              <a:rPr lang="en-US" altLang="en-US" dirty="0"/>
              <a:t>Just like a normal file opening operation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36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123778790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 err="1"/>
              <a:t>EXTRa</a:t>
            </a:r>
            <a:r>
              <a:rPr lang="en-US" dirty="0"/>
              <a:t> TOPICS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37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058352098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File System Consistency Check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Power loss / system crash can render the file system in an inconsistent state</a:t>
            </a:r>
          </a:p>
          <a:p>
            <a:endParaRPr lang="en-US" dirty="0"/>
          </a:p>
          <a:p>
            <a:r>
              <a:rPr lang="en-US" dirty="0"/>
              <a:t>Tools for checking consistency:</a:t>
            </a:r>
          </a:p>
          <a:p>
            <a:pPr lvl="1"/>
            <a:r>
              <a:rPr lang="en-US" dirty="0"/>
              <a:t>Windows: </a:t>
            </a:r>
            <a:r>
              <a:rPr lang="en-US" b="1" dirty="0">
                <a:latin typeface="Courier New" panose="02070309020205020404" pitchFamily="49" charset="0"/>
                <a:cs typeface="Courier New" panose="02070309020205020404" pitchFamily="49" charset="0"/>
              </a:rPr>
              <a:t>CHKDSK</a:t>
            </a:r>
            <a:r>
              <a:rPr lang="en-US" dirty="0"/>
              <a:t>  (check disk)</a:t>
            </a:r>
          </a:p>
          <a:p>
            <a:pPr lvl="1"/>
            <a:r>
              <a:rPr lang="en-US" dirty="0"/>
              <a:t>Linux: </a:t>
            </a:r>
            <a:r>
              <a:rPr lang="en-US" b="1" dirty="0" err="1">
                <a:latin typeface="Courier New" panose="02070309020205020404" pitchFamily="49" charset="0"/>
                <a:cs typeface="Courier New" panose="02070309020205020404" pitchFamily="49" charset="0"/>
              </a:rPr>
              <a:t>fsck</a:t>
            </a:r>
            <a:r>
              <a:rPr lang="en-US" dirty="0"/>
              <a:t> (file system check)</a:t>
            </a:r>
          </a:p>
          <a:p>
            <a:pPr lvl="1"/>
            <a:endParaRPr lang="en-US" dirty="0"/>
          </a:p>
          <a:p>
            <a:r>
              <a:rPr lang="en-US" dirty="0"/>
              <a:t>Using your understanding of the file systems covered, can you deduce what are the issues can be found / fixed by such tools?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38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94864595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Defragmentation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lang="en-US" dirty="0"/>
              <a:t>Fragmentation: File data can be scattered across many disjoint blocks on storage media</a:t>
            </a:r>
          </a:p>
          <a:p>
            <a:pPr lvl="1"/>
            <a:r>
              <a:rPr lang="en-US" dirty="0"/>
              <a:t>Seriously impact I/O performance</a:t>
            </a:r>
          </a:p>
          <a:p>
            <a:pPr lvl="1"/>
            <a:endParaRPr lang="en-US" dirty="0"/>
          </a:p>
          <a:p>
            <a:r>
              <a:rPr lang="en-US" dirty="0"/>
              <a:t>In Windows:</a:t>
            </a:r>
          </a:p>
          <a:p>
            <a:pPr lvl="1"/>
            <a:r>
              <a:rPr lang="en-US" dirty="0"/>
              <a:t>Official and 3</a:t>
            </a:r>
            <a:r>
              <a:rPr lang="en-US" baseline="30000" dirty="0"/>
              <a:t>rd</a:t>
            </a:r>
            <a:r>
              <a:rPr lang="en-US" dirty="0"/>
              <a:t> party software to alleviate the problem</a:t>
            </a: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In Linux:</a:t>
            </a:r>
          </a:p>
          <a:p>
            <a:pPr lvl="1"/>
            <a:r>
              <a:rPr lang="en-US" dirty="0"/>
              <a:t>File allocation algorithm is more intelligent:</a:t>
            </a:r>
          </a:p>
          <a:p>
            <a:pPr lvl="2"/>
            <a:r>
              <a:rPr lang="en-US" dirty="0"/>
              <a:t>Files are allocated further apart</a:t>
            </a:r>
          </a:p>
          <a:p>
            <a:pPr lvl="2"/>
            <a:r>
              <a:rPr lang="en-US" dirty="0"/>
              <a:t>Free blocks near to existing data block are use if possible</a:t>
            </a:r>
          </a:p>
          <a:p>
            <a:pPr lvl="1"/>
            <a:r>
              <a:rPr lang="en-US" dirty="0"/>
              <a:t>Fragmentation is very low when the drive occupancy is &lt; ~90%</a:t>
            </a:r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pPr lvl="1"/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39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32031261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Journaling</a:t>
            </a:r>
          </a:p>
        </p:txBody>
      </p:sp>
      <p:sp>
        <p:nvSpPr>
          <p:cNvPr id="7" name="Content Placeholder 6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Keep additional information to recover from system crash</a:t>
            </a:r>
          </a:p>
          <a:p>
            <a:endParaRPr lang="en-US" dirty="0"/>
          </a:p>
          <a:p>
            <a:r>
              <a:rPr lang="en-US" dirty="0"/>
              <a:t>Basic Idea: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Write the information and / or the actual data into a separate log file</a:t>
            </a:r>
          </a:p>
          <a:p>
            <a:pPr marL="858837" lvl="1" indent="-514350">
              <a:buFont typeface="+mj-lt"/>
              <a:buAutoNum type="arabicPeriod"/>
            </a:pPr>
            <a:r>
              <a:rPr lang="en-US" dirty="0"/>
              <a:t>Perform the actual file operation</a:t>
            </a:r>
          </a:p>
          <a:p>
            <a:endParaRPr lang="en-US" dirty="0"/>
          </a:p>
          <a:p>
            <a:r>
              <a:rPr lang="en-US" dirty="0"/>
              <a:t>Depending on the information logged:</a:t>
            </a:r>
          </a:p>
          <a:p>
            <a:pPr lvl="1"/>
            <a:r>
              <a:rPr lang="en-US" dirty="0"/>
              <a:t>Can recover to an earlier stable state or re-perform the interrupted file operation</a:t>
            </a:r>
          </a:p>
          <a:p>
            <a:pPr marL="344487" lvl="1" indent="0">
              <a:buNone/>
            </a:pPr>
            <a:endParaRPr lang="en-US" dirty="0"/>
          </a:p>
          <a:p>
            <a:r>
              <a:rPr lang="en-US" dirty="0"/>
              <a:t>Most current file systems support journaling in some fashion</a:t>
            </a:r>
          </a:p>
          <a:p>
            <a:pPr marL="344487" lvl="1" indent="0">
              <a:buNone/>
            </a:pP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79B78E5-7CBB-416F-85A9-6A6E33CFDEFA}" type="slidenum">
              <a:rPr lang="en-US" altLang="en-US" smtClean="0"/>
              <a:pPr/>
              <a:t>40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9190052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3266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Interesting/Important File Systems (1/3) </a:t>
            </a:r>
          </a:p>
        </p:txBody>
      </p:sp>
      <p:sp>
        <p:nvSpPr>
          <p:cNvPr id="1163267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Virtual File System (VFS)</a:t>
            </a:r>
          </a:p>
          <a:p>
            <a:pPr lvl="1"/>
            <a:r>
              <a:rPr lang="en-US" altLang="en-US" dirty="0"/>
              <a:t>Provides another layer of abstraction on top of existing file systems</a:t>
            </a:r>
          </a:p>
          <a:p>
            <a:pPr lvl="2"/>
            <a:r>
              <a:rPr lang="en-US" altLang="en-US" dirty="0"/>
              <a:t>Allow application to access file on </a:t>
            </a:r>
            <a:r>
              <a:rPr lang="en-US" altLang="en-US" b="1" dirty="0"/>
              <a:t>different file systems</a:t>
            </a:r>
          </a:p>
          <a:p>
            <a:pPr lvl="2"/>
            <a:r>
              <a:rPr lang="en-US" altLang="en-US" dirty="0"/>
              <a:t>File operations are translated by VFS automatically to the corresponding native file system</a:t>
            </a:r>
          </a:p>
          <a:p>
            <a:pPr lvl="2">
              <a:buFont typeface="Wingdings" panose="05000000000000000000" pitchFamily="2" charset="2"/>
              <a:buNone/>
            </a:pPr>
            <a:endParaRPr lang="en-US" altLang="en-US" dirty="0"/>
          </a:p>
          <a:p>
            <a:r>
              <a:rPr lang="en-US" altLang="en-US" dirty="0"/>
              <a:t>Network File System (NFS)</a:t>
            </a:r>
          </a:p>
          <a:p>
            <a:pPr lvl="1"/>
            <a:r>
              <a:rPr lang="en-US" altLang="en-US" dirty="0"/>
              <a:t>Allows files to reside on different physical machine</a:t>
            </a:r>
          </a:p>
          <a:p>
            <a:pPr lvl="1"/>
            <a:r>
              <a:rPr lang="en-US" altLang="en-US" dirty="0"/>
              <a:t>File operations are translated into network operations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41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4319930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64290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 dirty="0"/>
              <a:t>Interesting/Important File Systems (2/3)</a:t>
            </a:r>
          </a:p>
        </p:txBody>
      </p:sp>
      <p:sp>
        <p:nvSpPr>
          <p:cNvPr id="1164291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New Technology File System (NTFS)</a:t>
            </a:r>
          </a:p>
          <a:p>
            <a:pPr lvl="1"/>
            <a:r>
              <a:rPr lang="en-US" altLang="en-US" dirty="0"/>
              <a:t>Used in </a:t>
            </a:r>
            <a:r>
              <a:rPr lang="en-US" altLang="en-US" dirty="0" err="1"/>
              <a:t>WinXP</a:t>
            </a:r>
            <a:r>
              <a:rPr lang="en-US" altLang="en-US" dirty="0"/>
              <a:t> onwards</a:t>
            </a:r>
          </a:p>
          <a:p>
            <a:pPr lvl="1"/>
            <a:r>
              <a:rPr lang="en-US" altLang="en-US" dirty="0"/>
              <a:t>Some features:</a:t>
            </a:r>
          </a:p>
          <a:p>
            <a:pPr lvl="2"/>
            <a:r>
              <a:rPr lang="en-US" altLang="en-US" dirty="0"/>
              <a:t>File Encryption, File Compression</a:t>
            </a:r>
          </a:p>
          <a:p>
            <a:pPr lvl="2"/>
            <a:r>
              <a:rPr lang="en-US" altLang="en-US" dirty="0"/>
              <a:t>Versioning (different versions of a file is kept)</a:t>
            </a:r>
          </a:p>
          <a:p>
            <a:pPr lvl="2"/>
            <a:r>
              <a:rPr lang="en-US" altLang="en-US" dirty="0"/>
              <a:t>Hard/Symbolic Link </a:t>
            </a:r>
          </a:p>
          <a:p>
            <a:r>
              <a:rPr lang="en-US" altLang="en-US" dirty="0"/>
              <a:t>Extended-3 / 4 File System (Ext3 / Ext4)</a:t>
            </a:r>
          </a:p>
          <a:p>
            <a:pPr lvl="1"/>
            <a:r>
              <a:rPr lang="en-US" altLang="en-US" dirty="0"/>
              <a:t>Variant on the Ext2 FS</a:t>
            </a:r>
          </a:p>
          <a:p>
            <a:pPr lvl="1"/>
            <a:r>
              <a:rPr lang="en-US" altLang="en-US" dirty="0"/>
              <a:t>Support:</a:t>
            </a:r>
          </a:p>
          <a:p>
            <a:pPr lvl="2"/>
            <a:r>
              <a:rPr lang="en-US" altLang="en-US" dirty="0"/>
              <a:t>Journaling (Keep track of changes to file)</a:t>
            </a:r>
          </a:p>
          <a:p>
            <a:pPr lvl="2"/>
            <a:r>
              <a:rPr lang="en-US" altLang="en-US" dirty="0"/>
              <a:t>In-place upgrade from Ext2</a:t>
            </a:r>
          </a:p>
          <a:p>
            <a:pPr lvl="2"/>
            <a:r>
              <a:rPr lang="en-US" altLang="en-US" dirty="0"/>
              <a:t>Expanded maximum file and file system size</a:t>
            </a:r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42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796018098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7813"/>
            <a:ext cx="8382000" cy="712787"/>
          </a:xfrm>
        </p:spPr>
        <p:txBody>
          <a:bodyPr>
            <a:normAutofit fontScale="90000"/>
          </a:bodyPr>
          <a:lstStyle/>
          <a:p>
            <a:r>
              <a:rPr lang="en-US" altLang="en-US" sz="4400" dirty="0"/>
              <a:t>Interesting/Important File Systems (3/3) 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524000"/>
            <a:ext cx="8229600" cy="4953000"/>
          </a:xfrm>
        </p:spPr>
        <p:txBody>
          <a:bodyPr/>
          <a:lstStyle/>
          <a:p>
            <a:r>
              <a:rPr lang="en-US" dirty="0"/>
              <a:t>Hierarchical File System Plus (HFS+)</a:t>
            </a:r>
          </a:p>
          <a:p>
            <a:pPr lvl="1"/>
            <a:r>
              <a:rPr lang="en-US" dirty="0"/>
              <a:t>Used in Mac OS X</a:t>
            </a:r>
          </a:p>
          <a:p>
            <a:pPr lvl="1"/>
            <a:r>
              <a:rPr lang="en-US" dirty="0"/>
              <a:t>Some features:</a:t>
            </a:r>
          </a:p>
          <a:p>
            <a:pPr lvl="2"/>
            <a:r>
              <a:rPr lang="en-US" dirty="0"/>
              <a:t>Compression, encryption support</a:t>
            </a:r>
          </a:p>
          <a:p>
            <a:pPr lvl="2"/>
            <a:r>
              <a:rPr lang="en-US" dirty="0"/>
              <a:t>Large file system, file and number of file/folder support</a:t>
            </a:r>
          </a:p>
          <a:p>
            <a:pPr lvl="2"/>
            <a:r>
              <a:rPr lang="en-US" dirty="0"/>
              <a:t>Metadata journaling </a:t>
            </a:r>
          </a:p>
          <a:p>
            <a:pPr lvl="2"/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43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750574615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42" name="Rectangle 2"/>
          <p:cNvSpPr>
            <a:spLocks noGrp="1" noChangeArrowheads="1"/>
          </p:cNvSpPr>
          <p:nvPr>
            <p:ph type="title"/>
          </p:nvPr>
        </p:nvSpPr>
        <p:spPr/>
        <p:txBody>
          <a:bodyPr/>
          <a:lstStyle/>
          <a:p>
            <a:r>
              <a:rPr lang="en-US" altLang="en-US" sz="3800"/>
              <a:t>Summary</a:t>
            </a:r>
          </a:p>
        </p:txBody>
      </p:sp>
      <p:sp>
        <p:nvSpPr>
          <p:cNvPr id="112643" name="Rectangle 3"/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altLang="en-US" dirty="0"/>
              <a:t>Covered the FAT file system</a:t>
            </a:r>
          </a:p>
          <a:p>
            <a:pPr lvl="1"/>
            <a:r>
              <a:rPr lang="en-US" altLang="en-US" dirty="0"/>
              <a:t>Implementation and Limitation</a:t>
            </a:r>
          </a:p>
          <a:p>
            <a:pPr lvl="1"/>
            <a:r>
              <a:rPr lang="en-US" altLang="en-US" dirty="0"/>
              <a:t>Variants FAT12, FAT16 and FAT32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Covered the Ext2 file system</a:t>
            </a:r>
          </a:p>
          <a:p>
            <a:pPr lvl="1"/>
            <a:r>
              <a:rPr lang="en-US" altLang="en-US" dirty="0"/>
              <a:t>Design and Limitation</a:t>
            </a:r>
          </a:p>
          <a:p>
            <a:pPr lvl="1"/>
            <a:r>
              <a:rPr lang="en-US" altLang="en-US" dirty="0"/>
              <a:t>I-Node structure</a:t>
            </a:r>
          </a:p>
          <a:p>
            <a:pPr lvl="1"/>
            <a:endParaRPr lang="en-US" altLang="en-US" dirty="0"/>
          </a:p>
          <a:p>
            <a:r>
              <a:rPr lang="en-US" altLang="en-US" dirty="0"/>
              <a:t>Discussed a number of related topics / ideas</a:t>
            </a:r>
          </a:p>
          <a:p>
            <a:pPr lvl="1"/>
            <a:r>
              <a:rPr lang="en-US" altLang="en-US" dirty="0"/>
              <a:t>More current file systems</a:t>
            </a:r>
          </a:p>
          <a:p>
            <a:pPr lvl="1"/>
            <a:endParaRPr lang="en-US" altLang="en-US" dirty="0"/>
          </a:p>
          <a:p>
            <a:pPr>
              <a:buFont typeface="Wingdings" panose="05000000000000000000" pitchFamily="2" charset="2"/>
              <a:buNone/>
            </a:pPr>
            <a:endParaRPr lang="en-US" altLang="en-US" dirty="0"/>
          </a:p>
        </p:txBody>
      </p:sp>
      <p:sp>
        <p:nvSpPr>
          <p:cNvPr id="3" name="Slide Number Placeholder 2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6B177D97-4823-4F7B-8850-314FB921F45D}" type="slidenum">
              <a:rPr lang="en-US" altLang="en-US" smtClean="0"/>
              <a:pPr/>
              <a:t>44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302873525"/>
      </p:ext>
    </p:extLst>
  </p:cSld>
  <p:clrMapOvr>
    <a:masterClrMapping/>
  </p:clrMapOvr>
</p:sld>
</file>

<file path=ppt/theme/theme1.xml><?xml version="1.0" encoding="utf-8"?>
<a:theme xmlns:a="http://schemas.openxmlformats.org/drawingml/2006/main" name="Edge">
  <a:themeElements>
    <a:clrScheme name="Aspect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F07F09"/>
      </a:accent1>
      <a:accent2>
        <a:srgbClr val="9F2936"/>
      </a:accent2>
      <a:accent3>
        <a:srgbClr val="1B587C"/>
      </a:accent3>
      <a:accent4>
        <a:srgbClr val="4E8542"/>
      </a:accent4>
      <a:accent5>
        <a:srgbClr val="604878"/>
      </a:accent5>
      <a:accent6>
        <a:srgbClr val="C19859"/>
      </a:accent6>
      <a:hlink>
        <a:srgbClr val="6B9F25"/>
      </a:hlink>
      <a:folHlink>
        <a:srgbClr val="B26B02"/>
      </a:folHlink>
    </a:clrScheme>
    <a:fontScheme name="Edge">
      <a:majorFont>
        <a:latin typeface="Garamond"/>
        <a:ea typeface=""/>
        <a:cs typeface=""/>
      </a:majorFont>
      <a:minorFont>
        <a:latin typeface="Arial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Edge 1">
        <a:dk1>
          <a:srgbClr val="333333"/>
        </a:dk1>
        <a:lt1>
          <a:srgbClr val="FFFFFF"/>
        </a:lt1>
        <a:dk2>
          <a:srgbClr val="820000"/>
        </a:dk2>
        <a:lt2>
          <a:srgbClr val="FFFFFF"/>
        </a:lt2>
        <a:accent1>
          <a:srgbClr val="FF9900"/>
        </a:accent1>
        <a:accent2>
          <a:srgbClr val="CC3300"/>
        </a:accent2>
        <a:accent3>
          <a:srgbClr val="C1AAAA"/>
        </a:accent3>
        <a:accent4>
          <a:srgbClr val="DADADA"/>
        </a:accent4>
        <a:accent5>
          <a:srgbClr val="FFCAAA"/>
        </a:accent5>
        <a:accent6>
          <a:srgbClr val="B92D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2">
        <a:dk1>
          <a:srgbClr val="333333"/>
        </a:dk1>
        <a:lt1>
          <a:srgbClr val="CCCCFF"/>
        </a:lt1>
        <a:dk2>
          <a:srgbClr val="0B0506"/>
        </a:dk2>
        <a:lt2>
          <a:srgbClr val="FFFFFF"/>
        </a:lt2>
        <a:accent1>
          <a:srgbClr val="3366CC"/>
        </a:accent1>
        <a:accent2>
          <a:srgbClr val="3333CC"/>
        </a:accent2>
        <a:accent3>
          <a:srgbClr val="AAAAAA"/>
        </a:accent3>
        <a:accent4>
          <a:srgbClr val="AEAEDA"/>
        </a:accent4>
        <a:accent5>
          <a:srgbClr val="ADB8E2"/>
        </a:accent5>
        <a:accent6>
          <a:srgbClr val="2D2DB9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3">
        <a:dk1>
          <a:srgbClr val="333333"/>
        </a:dk1>
        <a:lt1>
          <a:srgbClr val="FFFFFF"/>
        </a:lt1>
        <a:dk2>
          <a:srgbClr val="221013"/>
        </a:dk2>
        <a:lt2>
          <a:srgbClr val="FFFFFF"/>
        </a:lt2>
        <a:accent1>
          <a:srgbClr val="CC3300"/>
        </a:accent1>
        <a:accent2>
          <a:srgbClr val="CC9900"/>
        </a:accent2>
        <a:accent3>
          <a:srgbClr val="ABAAAA"/>
        </a:accent3>
        <a:accent4>
          <a:srgbClr val="DADADA"/>
        </a:accent4>
        <a:accent5>
          <a:srgbClr val="E2ADAA"/>
        </a:accent5>
        <a:accent6>
          <a:srgbClr val="B98A00"/>
        </a:accent6>
        <a:hlink>
          <a:srgbClr val="808080"/>
        </a:hlink>
        <a:folHlink>
          <a:srgbClr val="666633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4">
        <a:dk1>
          <a:srgbClr val="11054B"/>
        </a:dk1>
        <a:lt1>
          <a:srgbClr val="FFFFFF"/>
        </a:lt1>
        <a:dk2>
          <a:srgbClr val="0000CC"/>
        </a:dk2>
        <a:lt2>
          <a:srgbClr val="FFFFFF"/>
        </a:lt2>
        <a:accent1>
          <a:srgbClr val="FF6600"/>
        </a:accent1>
        <a:accent2>
          <a:srgbClr val="FF3300"/>
        </a:accent2>
        <a:accent3>
          <a:srgbClr val="AAAAE2"/>
        </a:accent3>
        <a:accent4>
          <a:srgbClr val="DADADA"/>
        </a:accent4>
        <a:accent5>
          <a:srgbClr val="FFB8AA"/>
        </a:accent5>
        <a:accent6>
          <a:srgbClr val="E72D00"/>
        </a:accent6>
        <a:hlink>
          <a:srgbClr val="CC9900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5">
        <a:dk1>
          <a:srgbClr val="9B8D65"/>
        </a:dk1>
        <a:lt1>
          <a:srgbClr val="F8F8F8"/>
        </a:lt1>
        <a:dk2>
          <a:srgbClr val="002600"/>
        </a:dk2>
        <a:lt2>
          <a:srgbClr val="FAFACC"/>
        </a:lt2>
        <a:accent1>
          <a:srgbClr val="CC9933"/>
        </a:accent1>
        <a:accent2>
          <a:srgbClr val="8F9967"/>
        </a:accent2>
        <a:accent3>
          <a:srgbClr val="AAACAA"/>
        </a:accent3>
        <a:accent4>
          <a:srgbClr val="D4D4D4"/>
        </a:accent4>
        <a:accent5>
          <a:srgbClr val="E2CAAD"/>
        </a:accent5>
        <a:accent6>
          <a:srgbClr val="818A5D"/>
        </a:accent6>
        <a:hlink>
          <a:srgbClr val="336600"/>
        </a:hlink>
        <a:folHlink>
          <a:srgbClr val="808000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6">
        <a:dk1>
          <a:srgbClr val="333333"/>
        </a:dk1>
        <a:lt1>
          <a:srgbClr val="FFFFFF"/>
        </a:lt1>
        <a:dk2>
          <a:srgbClr val="006699"/>
        </a:dk2>
        <a:lt2>
          <a:srgbClr val="FFFFFF"/>
        </a:lt2>
        <a:accent1>
          <a:srgbClr val="CC9900"/>
        </a:accent1>
        <a:accent2>
          <a:srgbClr val="FF9900"/>
        </a:accent2>
        <a:accent3>
          <a:srgbClr val="AAB8CA"/>
        </a:accent3>
        <a:accent4>
          <a:srgbClr val="DADADA"/>
        </a:accent4>
        <a:accent5>
          <a:srgbClr val="E2CAAA"/>
        </a:accent5>
        <a:accent6>
          <a:srgbClr val="E78A00"/>
        </a:accent6>
        <a:hlink>
          <a:srgbClr val="FFCC00"/>
        </a:hlink>
        <a:folHlink>
          <a:srgbClr val="706F37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Edge 7">
        <a:dk1>
          <a:srgbClr val="000000"/>
        </a:dk1>
        <a:lt1>
          <a:srgbClr val="FFFFFF"/>
        </a:lt1>
        <a:dk2>
          <a:srgbClr val="006633"/>
        </a:dk2>
        <a:lt2>
          <a:srgbClr val="5F5F5F"/>
        </a:lt2>
        <a:accent1>
          <a:srgbClr val="CC9900"/>
        </a:accent1>
        <a:accent2>
          <a:srgbClr val="3B812F"/>
        </a:accent2>
        <a:accent3>
          <a:srgbClr val="FFFFFF"/>
        </a:accent3>
        <a:accent4>
          <a:srgbClr val="000000"/>
        </a:accent4>
        <a:accent5>
          <a:srgbClr val="E2CAAA"/>
        </a:accent5>
        <a:accent6>
          <a:srgbClr val="35742A"/>
        </a:accent6>
        <a:hlink>
          <a:srgbClr val="996600"/>
        </a:hlink>
        <a:folHlink>
          <a:srgbClr val="AFBF3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8">
        <a:dk1>
          <a:srgbClr val="000000"/>
        </a:dk1>
        <a:lt1>
          <a:srgbClr val="FFFFFF"/>
        </a:lt1>
        <a:dk2>
          <a:srgbClr val="CC0000"/>
        </a:dk2>
        <a:lt2>
          <a:srgbClr val="666699"/>
        </a:lt2>
        <a:accent1>
          <a:srgbClr val="808080"/>
        </a:accent1>
        <a:accent2>
          <a:srgbClr val="999933"/>
        </a:accent2>
        <a:accent3>
          <a:srgbClr val="FFFFFF"/>
        </a:accent3>
        <a:accent4>
          <a:srgbClr val="000000"/>
        </a:accent4>
        <a:accent5>
          <a:srgbClr val="C0C0C0"/>
        </a:accent5>
        <a:accent6>
          <a:srgbClr val="8A8A2D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Edge 9">
        <a:dk1>
          <a:srgbClr val="000000"/>
        </a:dk1>
        <a:lt1>
          <a:srgbClr val="FFFFFF"/>
        </a:lt1>
        <a:dk2>
          <a:srgbClr val="003399"/>
        </a:dk2>
        <a:lt2>
          <a:srgbClr val="666699"/>
        </a:lt2>
        <a:accent1>
          <a:srgbClr val="009999"/>
        </a:accent1>
        <a:accent2>
          <a:srgbClr val="4C6D4E"/>
        </a:accent2>
        <a:accent3>
          <a:srgbClr val="FFFFFF"/>
        </a:accent3>
        <a:accent4>
          <a:srgbClr val="000000"/>
        </a:accent4>
        <a:accent5>
          <a:srgbClr val="AACACA"/>
        </a:accent5>
        <a:accent6>
          <a:srgbClr val="446246"/>
        </a:accent6>
        <a:hlink>
          <a:srgbClr val="4C6D80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AEDEF"/>
      </a:accent5>
      <a:accent6>
        <a:srgbClr val="2D2D8A"/>
      </a:accent6>
      <a:hlink>
        <a:srgbClr val="009999"/>
      </a:hlink>
      <a:folHlink>
        <a:srgbClr val="99CC0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CS2106 0809S2</Template>
  <TotalTime>9874</TotalTime>
  <Words>2801</Words>
  <Application>Microsoft Office PowerPoint</Application>
  <PresentationFormat>On-screen Show (4:3)</PresentationFormat>
  <Paragraphs>648</Paragraphs>
  <Slides>44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0" baseType="lpstr">
      <vt:lpstr>Arial</vt:lpstr>
      <vt:lpstr>Consolas</vt:lpstr>
      <vt:lpstr>Courier New</vt:lpstr>
      <vt:lpstr>Garamond</vt:lpstr>
      <vt:lpstr>Wingdings</vt:lpstr>
      <vt:lpstr>Edge</vt:lpstr>
      <vt:lpstr>File System Management File System Case Studies (NOT EXAMINABLE)</vt:lpstr>
      <vt:lpstr>Overview</vt:lpstr>
      <vt:lpstr>Microsoft FAT File System</vt:lpstr>
      <vt:lpstr>Microsoft FAT File System Layout</vt:lpstr>
      <vt:lpstr>File Data and File Allocation Table</vt:lpstr>
      <vt:lpstr>File Allocation Table: Illustration</vt:lpstr>
      <vt:lpstr>Directory Structure and File Information</vt:lpstr>
      <vt:lpstr>Directory Entry Illustration</vt:lpstr>
      <vt:lpstr>Directory Entry Fields</vt:lpstr>
      <vt:lpstr>FAT FS: Putting the parts together… </vt:lpstr>
      <vt:lpstr>FAT FS: Putting the parts together…</vt:lpstr>
      <vt:lpstr>Example of Common Tasks</vt:lpstr>
      <vt:lpstr>Variants: FAT12, FAT16 and FAT32</vt:lpstr>
      <vt:lpstr>FAT12, FAT16 and FAT32 (cont)</vt:lpstr>
      <vt:lpstr>Cluster Size: Pros and Cons</vt:lpstr>
      <vt:lpstr>Long File Name Support</vt:lpstr>
      <vt:lpstr>VFAT Entries: Illustration</vt:lpstr>
      <vt:lpstr>Extended-2 File System</vt:lpstr>
      <vt:lpstr>Extended-2 File System (Ext2)</vt:lpstr>
      <vt:lpstr>Ext2 FS: Overview</vt:lpstr>
      <vt:lpstr>Ext2 FS: Layout</vt:lpstr>
      <vt:lpstr>Partition Information</vt:lpstr>
      <vt:lpstr>Partition Information (cont)</vt:lpstr>
      <vt:lpstr>Ext2: I-Node Structure (128 Bytes) </vt:lpstr>
      <vt:lpstr>I-Node Structure: Data Blocks</vt:lpstr>
      <vt:lpstr>I-Node Data Blocks</vt:lpstr>
      <vt:lpstr>I-Node: Data Blocks (Cont)</vt:lpstr>
      <vt:lpstr>I-Node Data Block Example</vt:lpstr>
      <vt:lpstr>Directory Structure</vt:lpstr>
      <vt:lpstr>Directory Entry (Illustration)</vt:lpstr>
      <vt:lpstr>Ext2: Putting The Parts Together</vt:lpstr>
      <vt:lpstr>Ext2 FS: Putting the parts together…..</vt:lpstr>
      <vt:lpstr>Ext2: Common Tasks</vt:lpstr>
      <vt:lpstr>Hard / Symbolic Link with I-Node</vt:lpstr>
      <vt:lpstr>Hard/Symbolic Link Illustration</vt:lpstr>
      <vt:lpstr>Ext2 FS: Hard Link and Symbolic Link</vt:lpstr>
      <vt:lpstr>EXTRa TOPICS</vt:lpstr>
      <vt:lpstr>File System Consistency Check</vt:lpstr>
      <vt:lpstr>Defragmentation</vt:lpstr>
      <vt:lpstr>Journaling</vt:lpstr>
      <vt:lpstr>Interesting/Important File Systems (1/3) </vt:lpstr>
      <vt:lpstr>Interesting/Important File Systems (2/3)</vt:lpstr>
      <vt:lpstr>Interesting/Important File Systems (3/3) 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Soo Yuen Jien</dc:creator>
  <cp:lastModifiedBy>Tan Keng Yan, Colin</cp:lastModifiedBy>
  <cp:revision>784</cp:revision>
  <cp:lastPrinted>2017-11-04T08:37:00Z</cp:lastPrinted>
  <dcterms:created xsi:type="dcterms:W3CDTF">1601-01-01T00:00:00Z</dcterms:created>
  <dcterms:modified xsi:type="dcterms:W3CDTF">2025-11-12T00:41:23Z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Version">
    <vt:i4>1</vt:i4>
  </property>
</Properties>
</file>