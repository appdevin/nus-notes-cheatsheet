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1"/>
  </p:notesMasterIdLst>
  <p:sldIdLst>
    <p:sldId id="256" r:id="rId2"/>
    <p:sldId id="382" r:id="rId3"/>
    <p:sldId id="383" r:id="rId4"/>
    <p:sldId id="38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445" r:id="rId15"/>
    <p:sldId id="395" r:id="rId16"/>
    <p:sldId id="396" r:id="rId17"/>
    <p:sldId id="397" r:id="rId18"/>
    <p:sldId id="398" r:id="rId19"/>
    <p:sldId id="438" r:id="rId20"/>
    <p:sldId id="439" r:id="rId21"/>
    <p:sldId id="402" r:id="rId22"/>
    <p:sldId id="403" r:id="rId23"/>
    <p:sldId id="444" r:id="rId24"/>
    <p:sldId id="405" r:id="rId25"/>
    <p:sldId id="406" r:id="rId26"/>
    <p:sldId id="407" r:id="rId27"/>
    <p:sldId id="409" r:id="rId28"/>
    <p:sldId id="436" r:id="rId29"/>
    <p:sldId id="448" r:id="rId30"/>
    <p:sldId id="410" r:id="rId31"/>
    <p:sldId id="449" r:id="rId32"/>
    <p:sldId id="442" r:id="rId33"/>
    <p:sldId id="416" r:id="rId34"/>
    <p:sldId id="450" r:id="rId35"/>
    <p:sldId id="418" r:id="rId36"/>
    <p:sldId id="419" r:id="rId37"/>
    <p:sldId id="420" r:id="rId38"/>
    <p:sldId id="423" r:id="rId39"/>
    <p:sldId id="451" r:id="rId40"/>
    <p:sldId id="426" r:id="rId41"/>
    <p:sldId id="427" r:id="rId42"/>
    <p:sldId id="428" r:id="rId43"/>
    <p:sldId id="429" r:id="rId44"/>
    <p:sldId id="430" r:id="rId45"/>
    <p:sldId id="431" r:id="rId46"/>
    <p:sldId id="432" r:id="rId47"/>
    <p:sldId id="434" r:id="rId48"/>
    <p:sldId id="433" r:id="rId49"/>
    <p:sldId id="435" r:id="rId50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FFCC"/>
    <a:srgbClr val="660066"/>
    <a:srgbClr val="003300"/>
    <a:srgbClr val="000000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5" autoAdjust="0"/>
    <p:restoredTop sz="94660"/>
  </p:normalViewPr>
  <p:slideViewPr>
    <p:cSldViewPr>
      <p:cViewPr varScale="1">
        <p:scale>
          <a:sx n="65" d="100"/>
          <a:sy n="65" d="100"/>
        </p:scale>
        <p:origin x="957" y="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916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8EF3BC-863E-4953-B91C-F25195574818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82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9688" cy="3838575"/>
          </a:xfrm>
          <a:ln/>
        </p:spPr>
      </p:sp>
      <p:sp>
        <p:nvSpPr>
          <p:cNvPr id="82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122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change</a:t>
            </a:r>
            <a:r>
              <a:rPr lang="en-US" baseline="0" dirty="0"/>
              <a:t> to </a:t>
            </a:r>
            <a:r>
              <a:rPr lang="en-US" baseline="0" dirty="0" err="1"/>
              <a:t>Pg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591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9DDEE3-5768-4C03-ADEB-8FC1E8F0D66B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85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5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541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8BC143-00E6-492B-96C3-621B7EDEA8D3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84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4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883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F5BAFF-FFD6-45ED-B425-E161C47B8027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85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5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482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8ABD46-7FD8-44AB-864C-FAFDB457E275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89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9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737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DADD8-4CB3-4EAF-A687-B5604217B8BA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86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86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520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L9 -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L9 -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Memory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sz="4600" b="1" dirty="0">
                <a:solidFill>
                  <a:srgbClr val="C00000"/>
                </a:solidFill>
              </a:rPr>
              <a:t>Virtual Memory Management</a:t>
            </a:r>
            <a:endParaRPr lang="en-US" altLang="en-US" sz="46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Virtual Memory: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Basic Idea</a:t>
            </a:r>
          </a:p>
          <a:p>
            <a:pPr lvl="1"/>
            <a:r>
              <a:rPr lang="en-US" altLang="en-US" dirty="0"/>
              <a:t>Page Fault</a:t>
            </a:r>
          </a:p>
          <a:p>
            <a:pPr lvl="1"/>
            <a:endParaRPr lang="en-US" altLang="en-US" sz="800" dirty="0"/>
          </a:p>
          <a:p>
            <a:r>
              <a:rPr lang="en-US" altLang="en-US" b="1" dirty="0"/>
              <a:t>Common application of Virtual Memory:</a:t>
            </a:r>
          </a:p>
          <a:p>
            <a:pPr lvl="1"/>
            <a:r>
              <a:rPr lang="en-US" altLang="en-US" dirty="0"/>
              <a:t>Demand Paging</a:t>
            </a:r>
          </a:p>
          <a:p>
            <a:pPr lvl="1"/>
            <a:endParaRPr lang="en-US" altLang="en-US" sz="800" dirty="0"/>
          </a:p>
          <a:p>
            <a:r>
              <a:rPr lang="en-US" altLang="en-US" b="1" dirty="0"/>
              <a:t>Aspects of virtual memory management:</a:t>
            </a:r>
          </a:p>
          <a:p>
            <a:pPr lvl="1"/>
            <a:r>
              <a:rPr lang="en-US" altLang="en-US" dirty="0"/>
              <a:t>Page Table Structure</a:t>
            </a:r>
          </a:p>
          <a:p>
            <a:pPr lvl="1"/>
            <a:r>
              <a:rPr lang="en-US" altLang="en-US" dirty="0"/>
              <a:t>Page Replacement Algorithms</a:t>
            </a:r>
          </a:p>
          <a:p>
            <a:pPr lvl="1"/>
            <a:r>
              <a:rPr lang="en-US" altLang="en-US" dirty="0"/>
              <a:t>Frame Allocation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28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Memory: Motivation</a:t>
            </a:r>
          </a:p>
        </p:txBody>
      </p:sp>
      <p:sp>
        <p:nvSpPr>
          <p:cNvPr id="80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Our last assumption of memory usage:</a:t>
            </a:r>
          </a:p>
          <a:p>
            <a:pPr lvl="1"/>
            <a:r>
              <a:rPr lang="en-US" altLang="en-US" dirty="0"/>
              <a:t>Physical memory is large enough to hold one or more process logical memory space completely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This assumption is too restrictive:</a:t>
            </a:r>
          </a:p>
          <a:p>
            <a:pPr lvl="1"/>
            <a:r>
              <a:rPr lang="en-US" altLang="en-US" dirty="0"/>
              <a:t>What if the logical memory space of process is &gt;&gt; then physical memory?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What if the same program is executed on a computer with lesser physical memory?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66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Memory: Basic Idea</a:t>
            </a:r>
          </a:p>
        </p:txBody>
      </p:sp>
      <p:sp>
        <p:nvSpPr>
          <p:cNvPr id="80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dirty="0"/>
              <a:t>Observation:</a:t>
            </a:r>
          </a:p>
          <a:p>
            <a:pPr lvl="1"/>
            <a:r>
              <a:rPr lang="en-US" altLang="en-US" dirty="0"/>
              <a:t>Secondary storage has much larger capacity compared to physical memory</a:t>
            </a:r>
          </a:p>
          <a:p>
            <a:r>
              <a:rPr lang="en-US" altLang="en-US" dirty="0"/>
              <a:t>Basic Idea:</a:t>
            </a:r>
          </a:p>
          <a:p>
            <a:pPr lvl="1"/>
            <a:r>
              <a:rPr lang="en-US" altLang="en-US" dirty="0"/>
              <a:t>Split the logical address space into small chunks:</a:t>
            </a:r>
          </a:p>
          <a:p>
            <a:pPr lvl="2"/>
            <a:r>
              <a:rPr lang="en-US" altLang="en-US" dirty="0"/>
              <a:t>Some chunks reside in physical memory</a:t>
            </a:r>
          </a:p>
          <a:p>
            <a:pPr lvl="2"/>
            <a:r>
              <a:rPr lang="en-US" altLang="en-US" b="1" dirty="0">
                <a:solidFill>
                  <a:srgbClr val="C00000"/>
                </a:solidFill>
              </a:rPr>
              <a:t>Other are stored on secondary storage</a:t>
            </a:r>
          </a:p>
          <a:p>
            <a:r>
              <a:rPr lang="en-US" altLang="en-US" dirty="0"/>
              <a:t>The most popular approach:</a:t>
            </a:r>
          </a:p>
          <a:p>
            <a:pPr lvl="1"/>
            <a:r>
              <a:rPr lang="en-US" altLang="en-US" dirty="0"/>
              <a:t>Extension of the paging scheme in last lecture:</a:t>
            </a:r>
          </a:p>
          <a:p>
            <a:pPr lvl="2"/>
            <a:r>
              <a:rPr lang="en-US" altLang="en-US" dirty="0"/>
              <a:t>Logical memory space split into fixed size page</a:t>
            </a:r>
          </a:p>
          <a:p>
            <a:pPr lvl="2"/>
            <a:r>
              <a:rPr lang="en-US" altLang="en-US" dirty="0"/>
              <a:t>Some pages may be in physical memory</a:t>
            </a:r>
          </a:p>
          <a:p>
            <a:pPr lvl="2"/>
            <a:r>
              <a:rPr lang="en-US" altLang="en-US" dirty="0"/>
              <a:t>Other in secondary storage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4140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Memory: Paging Illustration</a:t>
            </a:r>
          </a:p>
        </p:txBody>
      </p:sp>
      <p:sp>
        <p:nvSpPr>
          <p:cNvPr id="804872" name="Rectangle 8"/>
          <p:cNvSpPr>
            <a:spLocks noChangeArrowheads="1"/>
          </p:cNvSpPr>
          <p:nvPr/>
        </p:nvSpPr>
        <p:spPr bwMode="auto">
          <a:xfrm>
            <a:off x="304800" y="5334000"/>
            <a:ext cx="2743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Logical Memory Space</a:t>
            </a:r>
          </a:p>
          <a:p>
            <a:pPr algn="ctr"/>
            <a:r>
              <a:rPr lang="en-US" altLang="en-US" sz="1600" b="1" dirty="0"/>
              <a:t>(</a:t>
            </a:r>
            <a:r>
              <a:rPr lang="en-US" altLang="en-US" sz="1600" b="1" dirty="0">
                <a:solidFill>
                  <a:srgbClr val="C00000"/>
                </a:solidFill>
              </a:rPr>
              <a:t>Virtual Memory Space</a:t>
            </a:r>
            <a:r>
              <a:rPr lang="en-US" altLang="en-US" sz="1600" b="1" dirty="0"/>
              <a:t>)</a:t>
            </a:r>
          </a:p>
        </p:txBody>
      </p:sp>
      <p:sp>
        <p:nvSpPr>
          <p:cNvPr id="804874" name="Rectangle 10"/>
          <p:cNvSpPr>
            <a:spLocks noChangeArrowheads="1"/>
          </p:cNvSpPr>
          <p:nvPr/>
        </p:nvSpPr>
        <p:spPr bwMode="auto">
          <a:xfrm>
            <a:off x="3810000" y="35052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0</a:t>
            </a:r>
          </a:p>
        </p:txBody>
      </p:sp>
      <p:sp>
        <p:nvSpPr>
          <p:cNvPr id="804876" name="Rectangle 12"/>
          <p:cNvSpPr>
            <a:spLocks noChangeArrowheads="1"/>
          </p:cNvSpPr>
          <p:nvPr/>
        </p:nvSpPr>
        <p:spPr bwMode="auto">
          <a:xfrm>
            <a:off x="3810000" y="41148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2</a:t>
            </a:r>
          </a:p>
        </p:txBody>
      </p:sp>
      <p:sp>
        <p:nvSpPr>
          <p:cNvPr id="804877" name="Rectangle 13"/>
          <p:cNvSpPr>
            <a:spLocks noChangeArrowheads="1"/>
          </p:cNvSpPr>
          <p:nvPr/>
        </p:nvSpPr>
        <p:spPr bwMode="auto">
          <a:xfrm>
            <a:off x="3810000" y="16764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5</a:t>
            </a:r>
          </a:p>
        </p:txBody>
      </p:sp>
      <p:sp>
        <p:nvSpPr>
          <p:cNvPr id="804878" name="Rectangle 14"/>
          <p:cNvSpPr>
            <a:spLocks noChangeArrowheads="1"/>
          </p:cNvSpPr>
          <p:nvPr/>
        </p:nvSpPr>
        <p:spPr bwMode="auto">
          <a:xfrm>
            <a:off x="3810000" y="2286000"/>
            <a:ext cx="1143000" cy="609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itchFamily="49" charset="0"/>
            </a:endParaRPr>
          </a:p>
        </p:txBody>
      </p:sp>
      <p:sp>
        <p:nvSpPr>
          <p:cNvPr id="804879" name="Rectangle 15"/>
          <p:cNvSpPr>
            <a:spLocks noChangeArrowheads="1"/>
          </p:cNvSpPr>
          <p:nvPr/>
        </p:nvSpPr>
        <p:spPr bwMode="auto">
          <a:xfrm>
            <a:off x="3810000" y="2895600"/>
            <a:ext cx="1143000" cy="609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itchFamily="49" charset="0"/>
            </a:endParaRPr>
          </a:p>
        </p:txBody>
      </p:sp>
      <p:sp>
        <p:nvSpPr>
          <p:cNvPr id="804880" name="Rectangle 16"/>
          <p:cNvSpPr>
            <a:spLocks noChangeArrowheads="1"/>
          </p:cNvSpPr>
          <p:nvPr/>
        </p:nvSpPr>
        <p:spPr bwMode="auto">
          <a:xfrm>
            <a:off x="3810000" y="1066800"/>
            <a:ext cx="1143000" cy="609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itchFamily="49" charset="0"/>
            </a:endParaRPr>
          </a:p>
        </p:txBody>
      </p:sp>
      <p:sp>
        <p:nvSpPr>
          <p:cNvPr id="804881" name="Rectangle 17"/>
          <p:cNvSpPr>
            <a:spLocks noChangeArrowheads="1"/>
          </p:cNvSpPr>
          <p:nvPr/>
        </p:nvSpPr>
        <p:spPr bwMode="auto">
          <a:xfrm>
            <a:off x="3810000" y="4724400"/>
            <a:ext cx="1143000" cy="609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itchFamily="49" charset="0"/>
            </a:endParaRPr>
          </a:p>
        </p:txBody>
      </p:sp>
      <p:sp>
        <p:nvSpPr>
          <p:cNvPr id="804882" name="Rectangle 18"/>
          <p:cNvSpPr>
            <a:spLocks noChangeArrowheads="1"/>
          </p:cNvSpPr>
          <p:nvPr/>
        </p:nvSpPr>
        <p:spPr bwMode="auto">
          <a:xfrm>
            <a:off x="3352800" y="5334000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804920" name="Group 56"/>
          <p:cNvGrpSpPr>
            <a:grpSpLocks/>
          </p:cNvGrpSpPr>
          <p:nvPr/>
        </p:nvGrpSpPr>
        <p:grpSpPr bwMode="auto">
          <a:xfrm>
            <a:off x="990600" y="1524000"/>
            <a:ext cx="1143000" cy="3657600"/>
            <a:chOff x="624" y="1248"/>
            <a:chExt cx="720" cy="2304"/>
          </a:xfrm>
        </p:grpSpPr>
        <p:sp>
          <p:nvSpPr>
            <p:cNvPr id="804868" name="Rectangle 4"/>
            <p:cNvSpPr>
              <a:spLocks noChangeArrowheads="1"/>
            </p:cNvSpPr>
            <p:nvPr/>
          </p:nvSpPr>
          <p:spPr bwMode="auto">
            <a:xfrm>
              <a:off x="624" y="3168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5</a:t>
              </a:r>
            </a:p>
          </p:txBody>
        </p:sp>
        <p:sp>
          <p:nvSpPr>
            <p:cNvPr id="804869" name="Rectangle 5"/>
            <p:cNvSpPr>
              <a:spLocks noChangeArrowheads="1"/>
            </p:cNvSpPr>
            <p:nvPr/>
          </p:nvSpPr>
          <p:spPr bwMode="auto">
            <a:xfrm>
              <a:off x="624" y="2784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4</a:t>
              </a:r>
            </a:p>
          </p:txBody>
        </p:sp>
        <p:sp>
          <p:nvSpPr>
            <p:cNvPr id="804870" name="Rectangle 6"/>
            <p:cNvSpPr>
              <a:spLocks noChangeArrowheads="1"/>
            </p:cNvSpPr>
            <p:nvPr/>
          </p:nvSpPr>
          <p:spPr bwMode="auto">
            <a:xfrm>
              <a:off x="624" y="2400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3</a:t>
              </a:r>
            </a:p>
          </p:txBody>
        </p:sp>
        <p:sp>
          <p:nvSpPr>
            <p:cNvPr id="804871" name="Rectangle 7"/>
            <p:cNvSpPr>
              <a:spLocks noChangeArrowheads="1"/>
            </p:cNvSpPr>
            <p:nvPr/>
          </p:nvSpPr>
          <p:spPr bwMode="auto">
            <a:xfrm>
              <a:off x="624" y="2016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2</a:t>
              </a:r>
            </a:p>
          </p:txBody>
        </p:sp>
        <p:sp>
          <p:nvSpPr>
            <p:cNvPr id="804915" name="Rectangle 51"/>
            <p:cNvSpPr>
              <a:spLocks noChangeArrowheads="1"/>
            </p:cNvSpPr>
            <p:nvPr/>
          </p:nvSpPr>
          <p:spPr bwMode="auto">
            <a:xfrm>
              <a:off x="624" y="1632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1</a:t>
              </a:r>
            </a:p>
          </p:txBody>
        </p:sp>
        <p:sp>
          <p:nvSpPr>
            <p:cNvPr id="804916" name="Rectangle 52"/>
            <p:cNvSpPr>
              <a:spLocks noChangeArrowheads="1"/>
            </p:cNvSpPr>
            <p:nvPr/>
          </p:nvSpPr>
          <p:spPr bwMode="auto">
            <a:xfrm>
              <a:off x="624" y="1248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itchFamily="49" charset="0"/>
                </a:rPr>
                <a:t>Page 0</a:t>
              </a:r>
            </a:p>
          </p:txBody>
        </p:sp>
      </p:grpSp>
      <p:sp>
        <p:nvSpPr>
          <p:cNvPr id="804921" name="Rectangle 57"/>
          <p:cNvSpPr>
            <a:spLocks noChangeArrowheads="1"/>
          </p:cNvSpPr>
          <p:nvPr/>
        </p:nvSpPr>
        <p:spPr bwMode="auto">
          <a:xfrm>
            <a:off x="6477000" y="3505200"/>
            <a:ext cx="1143000" cy="6096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1</a:t>
            </a:r>
          </a:p>
        </p:txBody>
      </p:sp>
      <p:sp>
        <p:nvSpPr>
          <p:cNvPr id="804923" name="Rectangle 59"/>
          <p:cNvSpPr>
            <a:spLocks noChangeArrowheads="1"/>
          </p:cNvSpPr>
          <p:nvPr/>
        </p:nvSpPr>
        <p:spPr bwMode="auto">
          <a:xfrm>
            <a:off x="6477000" y="1066800"/>
            <a:ext cx="1143000" cy="6096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4</a:t>
            </a:r>
          </a:p>
        </p:txBody>
      </p:sp>
      <p:sp>
        <p:nvSpPr>
          <p:cNvPr id="804924" name="Rectangle 60"/>
          <p:cNvSpPr>
            <a:spLocks noChangeArrowheads="1"/>
          </p:cNvSpPr>
          <p:nvPr/>
        </p:nvSpPr>
        <p:spPr bwMode="auto">
          <a:xfrm>
            <a:off x="6477000" y="2895600"/>
            <a:ext cx="1143000" cy="6096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>
                <a:latin typeface="Courier New" pitchFamily="49" charset="0"/>
              </a:rPr>
              <a:t>Page 3</a:t>
            </a:r>
          </a:p>
        </p:txBody>
      </p:sp>
      <p:sp>
        <p:nvSpPr>
          <p:cNvPr id="804925" name="Rectangle 61"/>
          <p:cNvSpPr>
            <a:spLocks noChangeArrowheads="1"/>
          </p:cNvSpPr>
          <p:nvPr/>
        </p:nvSpPr>
        <p:spPr bwMode="auto">
          <a:xfrm>
            <a:off x="6477000" y="2286000"/>
            <a:ext cx="1143000" cy="609600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itchFamily="49" charset="0"/>
            </a:endParaRPr>
          </a:p>
        </p:txBody>
      </p:sp>
      <p:sp>
        <p:nvSpPr>
          <p:cNvPr id="804926" name="Rectangle 62"/>
          <p:cNvSpPr>
            <a:spLocks noChangeArrowheads="1"/>
          </p:cNvSpPr>
          <p:nvPr/>
        </p:nvSpPr>
        <p:spPr bwMode="auto">
          <a:xfrm>
            <a:off x="6477000" y="4114800"/>
            <a:ext cx="1143000" cy="609600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itchFamily="49" charset="0"/>
            </a:endParaRPr>
          </a:p>
        </p:txBody>
      </p:sp>
      <p:sp>
        <p:nvSpPr>
          <p:cNvPr id="804927" name="Rectangle 63"/>
          <p:cNvSpPr>
            <a:spLocks noChangeArrowheads="1"/>
          </p:cNvSpPr>
          <p:nvPr/>
        </p:nvSpPr>
        <p:spPr bwMode="auto">
          <a:xfrm>
            <a:off x="6477000" y="1676400"/>
            <a:ext cx="1143000" cy="609600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itchFamily="49" charset="0"/>
            </a:endParaRPr>
          </a:p>
        </p:txBody>
      </p:sp>
      <p:sp>
        <p:nvSpPr>
          <p:cNvPr id="804928" name="Rectangle 64"/>
          <p:cNvSpPr>
            <a:spLocks noChangeArrowheads="1"/>
          </p:cNvSpPr>
          <p:nvPr/>
        </p:nvSpPr>
        <p:spPr bwMode="auto">
          <a:xfrm>
            <a:off x="6477000" y="4724400"/>
            <a:ext cx="1143000" cy="609600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itchFamily="49" charset="0"/>
            </a:endParaRPr>
          </a:p>
        </p:txBody>
      </p:sp>
      <p:sp>
        <p:nvSpPr>
          <p:cNvPr id="804929" name="Rectangle 65"/>
          <p:cNvSpPr>
            <a:spLocks noChangeArrowheads="1"/>
          </p:cNvSpPr>
          <p:nvPr/>
        </p:nvSpPr>
        <p:spPr bwMode="auto">
          <a:xfrm>
            <a:off x="6019800" y="5334000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Secondary Storage </a:t>
            </a:r>
          </a:p>
        </p:txBody>
      </p:sp>
      <p:sp>
        <p:nvSpPr>
          <p:cNvPr id="804932" name="AutoShape 68"/>
          <p:cNvSpPr>
            <a:spLocks noChangeArrowheads="1"/>
          </p:cNvSpPr>
          <p:nvPr/>
        </p:nvSpPr>
        <p:spPr bwMode="auto">
          <a:xfrm>
            <a:off x="5334000" y="2667000"/>
            <a:ext cx="838200" cy="838200"/>
          </a:xfrm>
          <a:prstGeom prst="plus">
            <a:avLst>
              <a:gd name="adj" fmla="val 3588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grpSp>
        <p:nvGrpSpPr>
          <p:cNvPr id="804935" name="Group 71"/>
          <p:cNvGrpSpPr>
            <a:grpSpLocks/>
          </p:cNvGrpSpPr>
          <p:nvPr/>
        </p:nvGrpSpPr>
        <p:grpSpPr bwMode="auto">
          <a:xfrm>
            <a:off x="2590800" y="2743200"/>
            <a:ext cx="762000" cy="609600"/>
            <a:chOff x="1632" y="1728"/>
            <a:chExt cx="480" cy="384"/>
          </a:xfrm>
        </p:grpSpPr>
        <p:sp>
          <p:nvSpPr>
            <p:cNvPr id="804933" name="Rectangle 69"/>
            <p:cNvSpPr>
              <a:spLocks noChangeArrowheads="1"/>
            </p:cNvSpPr>
            <p:nvPr/>
          </p:nvSpPr>
          <p:spPr bwMode="auto">
            <a:xfrm>
              <a:off x="1632" y="1728"/>
              <a:ext cx="480" cy="14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04934" name="Rectangle 70"/>
            <p:cNvSpPr>
              <a:spLocks noChangeArrowheads="1"/>
            </p:cNvSpPr>
            <p:nvPr/>
          </p:nvSpPr>
          <p:spPr bwMode="auto">
            <a:xfrm>
              <a:off x="1632" y="1968"/>
              <a:ext cx="480" cy="144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804936" name="AutoShape 72"/>
          <p:cNvSpPr>
            <a:spLocks/>
          </p:cNvSpPr>
          <p:nvPr/>
        </p:nvSpPr>
        <p:spPr bwMode="auto">
          <a:xfrm rot="5400000">
            <a:off x="6896100" y="4457700"/>
            <a:ext cx="228600" cy="3048000"/>
          </a:xfrm>
          <a:prstGeom prst="rightBrace">
            <a:avLst>
              <a:gd name="adj1" fmla="val 111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04937" name="Text Box 73"/>
          <p:cNvSpPr txBox="1">
            <a:spLocks noChangeArrowheads="1"/>
          </p:cNvSpPr>
          <p:nvPr/>
        </p:nvSpPr>
        <p:spPr bwMode="auto">
          <a:xfrm>
            <a:off x="5334000" y="6019800"/>
            <a:ext cx="3352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Extension of basic paging scheme, i.e. the "virtual" part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85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Extended Paging Scheme</a:t>
            </a:r>
          </a:p>
        </p:txBody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Basic idea remains unchanged: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page table to translate </a:t>
            </a:r>
            <a:r>
              <a:rPr lang="en-US" altLang="en-US" b="1" dirty="0"/>
              <a:t>virtual </a:t>
            </a:r>
            <a:r>
              <a:rPr lang="en-US" altLang="en-US" dirty="0"/>
              <a:t>address to physical address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New addition: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 distinguish between two page types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memory resident </a:t>
            </a:r>
            <a:r>
              <a:rPr lang="en-US" altLang="en-US" dirty="0"/>
              <a:t>(pages in physical memory)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non-memory resident (pages in secondary storage)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Use a (</a:t>
            </a:r>
            <a:r>
              <a:rPr lang="en-US" altLang="en-US" b="1" i="1" dirty="0">
                <a:sym typeface="Wingdings" pitchFamily="2" charset="2"/>
              </a:rPr>
              <a:t>is memory resident?</a:t>
            </a:r>
            <a:r>
              <a:rPr lang="en-US" altLang="en-US" dirty="0">
                <a:sym typeface="Wingdings" pitchFamily="2" charset="2"/>
              </a:rPr>
              <a:t>) bit in page table entry</a:t>
            </a:r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en-US" altLang="en-US" dirty="0">
              <a:sym typeface="Wingdings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CPU can only access memory resident pages: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Page Fault</a:t>
            </a:r>
            <a:r>
              <a:rPr lang="en-US" altLang="en-US" dirty="0"/>
              <a:t>: When CPU tries to access non-memory resident page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OS need to bring a non-memory resident page into physical memory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9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Accessing Page X: General Steps</a:t>
            </a:r>
          </a:p>
        </p:txBody>
      </p:sp>
      <p:sp>
        <p:nvSpPr>
          <p:cNvPr id="80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8001000" cy="4800600"/>
          </a:xfrm>
        </p:spPr>
        <p:txBody>
          <a:bodyPr/>
          <a:lstStyle/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>
                <a:solidFill>
                  <a:srgbClr val="003300"/>
                </a:solidFill>
              </a:rPr>
              <a:t>Check </a:t>
            </a:r>
            <a:r>
              <a:rPr lang="en-US" altLang="en-US" b="1" dirty="0">
                <a:solidFill>
                  <a:srgbClr val="003300"/>
                </a:solidFill>
              </a:rPr>
              <a:t>page table</a:t>
            </a:r>
            <a:r>
              <a:rPr lang="en-US" altLang="en-US" dirty="0">
                <a:solidFill>
                  <a:srgbClr val="003300"/>
                </a:solidFill>
              </a:rPr>
              <a:t>: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 dirty="0">
                <a:solidFill>
                  <a:srgbClr val="003300"/>
                </a:solidFill>
              </a:rPr>
              <a:t>Is page </a:t>
            </a:r>
            <a:r>
              <a:rPr lang="en-US" altLang="en-US" b="1" dirty="0">
                <a:solidFill>
                  <a:srgbClr val="003300"/>
                </a:solidFill>
              </a:rPr>
              <a:t>X </a:t>
            </a:r>
            <a:r>
              <a:rPr lang="en-US" altLang="en-US" b="1" i="1" dirty="0">
                <a:solidFill>
                  <a:srgbClr val="003300"/>
                </a:solidFill>
              </a:rPr>
              <a:t>memory resident</a:t>
            </a:r>
            <a:r>
              <a:rPr lang="en-US" altLang="en-US" dirty="0">
                <a:solidFill>
                  <a:srgbClr val="003300"/>
                </a:solidFill>
              </a:rPr>
              <a:t>?</a:t>
            </a:r>
          </a:p>
          <a:p>
            <a:pPr marL="1090613" lvl="2" indent="-419100"/>
            <a:r>
              <a:rPr lang="en-US" altLang="en-US" dirty="0">
                <a:solidFill>
                  <a:srgbClr val="003300"/>
                </a:solidFill>
              </a:rPr>
              <a:t>Yes: Access physical memory location. Done.</a:t>
            </a:r>
          </a:p>
          <a:p>
            <a:pPr marL="1090613" lvl="2" indent="-419100"/>
            <a:r>
              <a:rPr lang="en-US" altLang="en-US" dirty="0">
                <a:solidFill>
                  <a:srgbClr val="003300"/>
                </a:solidFill>
              </a:rPr>
              <a:t>No: Continue to the next step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Page Fault: </a:t>
            </a:r>
            <a:r>
              <a:rPr lang="en-US" altLang="en-US" b="1" dirty="0">
                <a:solidFill>
                  <a:schemeClr val="tx2"/>
                </a:solidFill>
              </a:rPr>
              <a:t>Trap </a:t>
            </a:r>
            <a:r>
              <a:rPr lang="en-US" altLang="en-US" dirty="0">
                <a:solidFill>
                  <a:schemeClr val="tx2"/>
                </a:solidFill>
              </a:rPr>
              <a:t>to OS (OS is informed)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>
                <a:solidFill>
                  <a:schemeClr val="tx2"/>
                </a:solidFill>
              </a:rPr>
              <a:t>Locate page X in secondary storage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>
                <a:solidFill>
                  <a:schemeClr val="tx2"/>
                </a:solidFill>
              </a:rPr>
              <a:t>Load page X into a physical memory frame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>
                <a:solidFill>
                  <a:schemeClr val="tx2"/>
                </a:solidFill>
              </a:rPr>
              <a:t>Update page table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Go to step 1 to retry</a:t>
            </a:r>
          </a:p>
        </p:txBody>
      </p:sp>
      <p:sp>
        <p:nvSpPr>
          <p:cNvPr id="806917" name="Text Box 5"/>
          <p:cNvSpPr txBox="1">
            <a:spLocks noChangeArrowheads="1"/>
          </p:cNvSpPr>
          <p:nvPr/>
        </p:nvSpPr>
        <p:spPr bwMode="auto">
          <a:xfrm>
            <a:off x="224135" y="3289300"/>
            <a:ext cx="461665" cy="2438400"/>
          </a:xfrm>
          <a:prstGeom prst="rect">
            <a:avLst/>
          </a:prstGeom>
          <a:solidFill>
            <a:srgbClr val="FF99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By </a:t>
            </a:r>
            <a:r>
              <a:rPr lang="en-US" altLang="en-US" b="1"/>
              <a:t>OS</a:t>
            </a:r>
          </a:p>
        </p:txBody>
      </p:sp>
      <p:sp>
        <p:nvSpPr>
          <p:cNvPr id="806918" name="Text Box 6"/>
          <p:cNvSpPr txBox="1">
            <a:spLocks noChangeArrowheads="1"/>
          </p:cNvSpPr>
          <p:nvPr/>
        </p:nvSpPr>
        <p:spPr bwMode="auto">
          <a:xfrm>
            <a:off x="224135" y="1384300"/>
            <a:ext cx="461665" cy="1905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By </a:t>
            </a:r>
            <a:r>
              <a:rPr lang="en-US" altLang="en-US" b="1"/>
              <a:t>Hardware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  <p:cxnSp>
        <p:nvCxnSpPr>
          <p:cNvPr id="5" name="Straight Connector 4"/>
          <p:cNvCxnSpPr>
            <a:stCxn id="806918" idx="2"/>
          </p:cNvCxnSpPr>
          <p:nvPr/>
        </p:nvCxnSpPr>
        <p:spPr>
          <a:xfrm flipV="1">
            <a:off x="454968" y="3251200"/>
            <a:ext cx="8231832" cy="381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62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 Accessing: Illustration</a:t>
            </a:r>
          </a:p>
        </p:txBody>
      </p:sp>
      <p:pic>
        <p:nvPicPr>
          <p:cNvPr id="807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6" t="598" r="6114" b="912"/>
          <a:stretch>
            <a:fillRect/>
          </a:stretch>
        </p:blipFill>
        <p:spPr bwMode="auto">
          <a:xfrm>
            <a:off x="685800" y="990600"/>
            <a:ext cx="7772400" cy="52800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535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Memory: Justification</a:t>
            </a:r>
          </a:p>
        </p:txBody>
      </p:sp>
      <p:sp>
        <p:nvSpPr>
          <p:cNvPr id="80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Observation:</a:t>
            </a:r>
          </a:p>
          <a:p>
            <a:pPr lvl="1"/>
            <a:r>
              <a:rPr lang="en-US" altLang="en-US"/>
              <a:t>Secondary Storage access time &gt;&gt; Physical memory access time</a:t>
            </a:r>
          </a:p>
          <a:p>
            <a:r>
              <a:rPr lang="en-US" altLang="en-US"/>
              <a:t>If memory access results in page fault most of the time:</a:t>
            </a:r>
          </a:p>
          <a:p>
            <a:pPr lvl="1"/>
            <a:r>
              <a:rPr lang="en-US" altLang="en-US"/>
              <a:t>Non-memory resident pages need to be loaded</a:t>
            </a:r>
          </a:p>
          <a:p>
            <a:pPr lvl="1"/>
            <a:r>
              <a:rPr lang="en-US" altLang="en-US"/>
              <a:t>Known as </a:t>
            </a:r>
            <a:r>
              <a:rPr lang="en-US" altLang="en-US" b="1"/>
              <a:t>thrashing</a:t>
            </a:r>
          </a:p>
          <a:p>
            <a:r>
              <a:rPr lang="en-US" altLang="en-US"/>
              <a:t>How do we know that </a:t>
            </a:r>
            <a:r>
              <a:rPr lang="en-US" altLang="en-US" b="1"/>
              <a:t>thrashing </a:t>
            </a:r>
            <a:r>
              <a:rPr lang="en-US" altLang="en-US"/>
              <a:t>is </a:t>
            </a:r>
            <a:r>
              <a:rPr lang="en-US" altLang="en-US" b="1"/>
              <a:t>unlikely </a:t>
            </a:r>
            <a:r>
              <a:rPr lang="en-US" altLang="en-US"/>
              <a:t>to happen?</a:t>
            </a:r>
          </a:p>
          <a:p>
            <a:pPr lvl="1"/>
            <a:r>
              <a:rPr lang="en-US" altLang="en-US"/>
              <a:t>Related: How do we know that after a page is loaded, it is likely to be useful for future accesses?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99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Recap: </a:t>
            </a:r>
            <a:r>
              <a:rPr lang="en-US" altLang="en-US" sz="3800" b="1" dirty="0"/>
              <a:t>Locality Principles</a:t>
            </a:r>
          </a:p>
        </p:txBody>
      </p:sp>
      <p:sp>
        <p:nvSpPr>
          <p:cNvPr id="81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i="1" dirty="0"/>
              <a:t>Most programs </a:t>
            </a:r>
            <a:r>
              <a:rPr lang="en-US" altLang="en-US" dirty="0"/>
              <a:t>exhibit these behaviors:</a:t>
            </a:r>
          </a:p>
          <a:p>
            <a:pPr lvl="1"/>
            <a:r>
              <a:rPr lang="en-US" altLang="en-US" dirty="0"/>
              <a:t>Most time are spent on a relatively small part of code only</a:t>
            </a:r>
          </a:p>
          <a:p>
            <a:pPr lvl="1"/>
            <a:r>
              <a:rPr lang="en-US" altLang="en-US" dirty="0"/>
              <a:t>In a period of time, accesses are made to a relatively small part of data only</a:t>
            </a:r>
          </a:p>
          <a:p>
            <a:r>
              <a:rPr lang="en-US" altLang="en-US" dirty="0"/>
              <a:t>Formalized as </a:t>
            </a:r>
            <a:r>
              <a:rPr lang="en-US" altLang="en-US" b="1" dirty="0"/>
              <a:t>locality principles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Temporal Locality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Memory address which is used </a:t>
            </a:r>
            <a:r>
              <a:rPr lang="en-US" altLang="en-US" b="1" i="1" dirty="0"/>
              <a:t>is likely to be used again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Spatial Locality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Memory addresses close to a used address is likely to be used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352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 and Locality Principle</a:t>
            </a:r>
          </a:p>
        </p:txBody>
      </p:sp>
      <p:sp>
        <p:nvSpPr>
          <p:cNvPr id="81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Exploiting </a:t>
            </a:r>
            <a:r>
              <a:rPr lang="en-US" altLang="en-US" b="1" dirty="0"/>
              <a:t>Temporal Locality:</a:t>
            </a:r>
          </a:p>
          <a:p>
            <a:pPr lvl="1"/>
            <a:r>
              <a:rPr lang="en-US" altLang="en-US" dirty="0"/>
              <a:t>After a page is loaded to physical memory, it is likely to be accessed in near future</a:t>
            </a:r>
          </a:p>
          <a:p>
            <a:pPr lvl="2"/>
            <a:r>
              <a:rPr lang="en-US" altLang="en-US" dirty="0"/>
              <a:t>Cost of loading page is </a:t>
            </a:r>
            <a:r>
              <a:rPr lang="en-US" altLang="en-US" b="1" dirty="0"/>
              <a:t>amortized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Exploiting </a:t>
            </a:r>
            <a:r>
              <a:rPr lang="en-US" altLang="en-US" b="1" dirty="0"/>
              <a:t>Spatial Locality:</a:t>
            </a:r>
          </a:p>
          <a:p>
            <a:pPr lvl="1"/>
            <a:r>
              <a:rPr lang="en-US" altLang="en-US" dirty="0"/>
              <a:t>A page contains contiguous locations that is likely to be accessed in near future</a:t>
            </a:r>
          </a:p>
          <a:p>
            <a:pPr lvl="2"/>
            <a:r>
              <a:rPr lang="en-US" altLang="en-US" dirty="0"/>
              <a:t>Later access to nearby locations will not cause page fault</a:t>
            </a:r>
          </a:p>
          <a:p>
            <a:r>
              <a:rPr lang="en-US" altLang="en-US" dirty="0"/>
              <a:t>However, there are always exceptions </a:t>
            </a:r>
            <a:r>
              <a:rPr lang="en-US" altLang="en-US" dirty="0">
                <a:sym typeface="Wingdings" pitchFamily="2" charset="2"/>
              </a:rPr>
              <a:t></a:t>
            </a:r>
          </a:p>
          <a:p>
            <a:pPr lvl="1"/>
            <a:r>
              <a:rPr lang="en-US" altLang="en-US" dirty="0"/>
              <a:t>Programs that behave badly due to poor design or with malicious intention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221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Virtual Memory: Summary</a:t>
            </a:r>
          </a:p>
        </p:txBody>
      </p:sp>
      <p:sp>
        <p:nvSpPr>
          <p:cNvPr id="81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Completely separate logical memory address from physical memory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Amount of physical memory no longer restrict the size of logical memory address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More efficient use of physical memory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Page currently not needed can be on secondary storage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Allow more processes to reside in memory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Improve CPU utilization as there are more processes to choose to run</a:t>
            </a:r>
          </a:p>
          <a:p>
            <a:pPr lvl="1">
              <a:lnSpc>
                <a:spcPct val="90000"/>
              </a:lnSpc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736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More on Virtual Memory Management</a:t>
            </a:r>
          </a:p>
        </p:txBody>
      </p:sp>
      <p:sp>
        <p:nvSpPr>
          <p:cNvPr id="81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More in-depth looks on several aspects:</a:t>
            </a:r>
          </a:p>
          <a:p>
            <a:pPr lvl="1"/>
            <a:r>
              <a:rPr lang="en-US" altLang="en-US" dirty="0"/>
              <a:t>Huge page table with large logical memory space </a:t>
            </a:r>
            <a:r>
              <a:rPr lang="en-US" altLang="en-US" dirty="0">
                <a:sym typeface="Wingdings" pitchFamily="2" charset="2"/>
              </a:rPr>
              <a:t> How to structure the page table for efficiency?</a:t>
            </a:r>
          </a:p>
          <a:p>
            <a:pPr lvl="2"/>
            <a:r>
              <a:rPr lang="en-US" altLang="en-US" b="1" dirty="0"/>
              <a:t>Page Table Structures</a:t>
            </a:r>
          </a:p>
          <a:p>
            <a:pPr marL="671512" lvl="2" indent="0">
              <a:buNone/>
            </a:pPr>
            <a:endParaRPr lang="en-US" altLang="en-US" b="1" dirty="0"/>
          </a:p>
          <a:p>
            <a:pPr lvl="1"/>
            <a:r>
              <a:rPr lang="en-US" altLang="en-US" dirty="0"/>
              <a:t>Each process has limited number of resident memory pages </a:t>
            </a:r>
            <a:br>
              <a:rPr lang="en-US" altLang="en-US" dirty="0"/>
            </a:br>
            <a:r>
              <a:rPr lang="en-US" altLang="en-US" dirty="0">
                <a:sym typeface="Wingdings" pitchFamily="2" charset="2"/>
              </a:rPr>
              <a:t> Which page should be replaced when needed?</a:t>
            </a:r>
          </a:p>
          <a:p>
            <a:pPr lvl="2"/>
            <a:r>
              <a:rPr lang="en-US" altLang="en-US" b="1" dirty="0"/>
              <a:t>Page Replacement Algorithms</a:t>
            </a:r>
          </a:p>
          <a:p>
            <a:pPr lvl="2"/>
            <a:endParaRPr lang="en-US" altLang="en-US" b="1" dirty="0"/>
          </a:p>
          <a:p>
            <a:pPr lvl="1"/>
            <a:r>
              <a:rPr lang="en-US" altLang="en-US" dirty="0"/>
              <a:t>Limited physical memory frames </a:t>
            </a:r>
            <a:br>
              <a:rPr lang="en-US" altLang="en-US" dirty="0"/>
            </a:br>
            <a:r>
              <a:rPr lang="en-US" altLang="en-US" dirty="0">
                <a:sym typeface="Wingdings" pitchFamily="2" charset="2"/>
              </a:rPr>
              <a:t> How to distribute among the processes?</a:t>
            </a:r>
          </a:p>
          <a:p>
            <a:pPr lvl="2"/>
            <a:r>
              <a:rPr lang="en-US" altLang="en-US" b="1" dirty="0"/>
              <a:t>Frame Allocation Policies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87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Page Table Structure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Waste not, want not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4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Page Table Structure</a:t>
            </a:r>
          </a:p>
        </p:txBody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Page table information is kept with the process information and takes up physical memory space</a:t>
            </a:r>
          </a:p>
          <a:p>
            <a:endParaRPr lang="en-US" altLang="en-US" sz="2200" dirty="0"/>
          </a:p>
          <a:p>
            <a:r>
              <a:rPr lang="en-US" altLang="en-US" sz="2600" dirty="0"/>
              <a:t>Modern computer systems provide huge logical memory space</a:t>
            </a:r>
          </a:p>
          <a:p>
            <a:pPr lvl="1"/>
            <a:r>
              <a:rPr lang="en-US" altLang="en-US" sz="2200" dirty="0"/>
              <a:t>4GiB(32bit) is the norm, 8TiB or more is possible now</a:t>
            </a:r>
          </a:p>
          <a:p>
            <a:pPr lvl="1"/>
            <a:r>
              <a:rPr lang="en-US" altLang="en-US" sz="2200" dirty="0"/>
              <a:t>Huge logical memory space </a:t>
            </a:r>
            <a:r>
              <a:rPr lang="en-US" altLang="en-US" sz="2200" dirty="0">
                <a:sym typeface="Wingdings" pitchFamily="2" charset="2"/>
              </a:rPr>
              <a:t> Huge number of pages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dirty="0"/>
              <a:t>Each page has a page table entry </a:t>
            </a:r>
            <a:r>
              <a:rPr lang="en-US" altLang="en-US" sz="2200" dirty="0">
                <a:sym typeface="Wingdings" pitchFamily="2" charset="2"/>
              </a:rPr>
              <a:t> Huge page table</a:t>
            </a:r>
          </a:p>
          <a:p>
            <a:pPr marL="344487" lvl="1" indent="0">
              <a:buNone/>
            </a:pPr>
            <a:endParaRPr lang="en-US" altLang="en-US" sz="2200" dirty="0">
              <a:sym typeface="Wingdings" pitchFamily="2" charset="2"/>
            </a:endParaRPr>
          </a:p>
          <a:p>
            <a:r>
              <a:rPr lang="en-US" altLang="en-US" sz="2600" dirty="0">
                <a:sym typeface="Wingdings" pitchFamily="2" charset="2"/>
              </a:rPr>
              <a:t>Problems with huge page table</a:t>
            </a:r>
          </a:p>
          <a:p>
            <a:pPr lvl="1"/>
            <a:r>
              <a:rPr lang="en-US" altLang="en-US" sz="2200" dirty="0">
                <a:sym typeface="Wingdings" pitchFamily="2" charset="2"/>
              </a:rPr>
              <a:t>High overhead</a:t>
            </a:r>
          </a:p>
          <a:p>
            <a:pPr lvl="1"/>
            <a:r>
              <a:rPr lang="en-US" altLang="en-US" sz="2200" dirty="0"/>
              <a:t>Fragmented page table:</a:t>
            </a:r>
          </a:p>
          <a:p>
            <a:pPr lvl="2"/>
            <a:r>
              <a:rPr lang="en-US" altLang="en-US" sz="2000" dirty="0"/>
              <a:t>Page table occupies several memory pages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281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Page Table Structure: </a:t>
            </a:r>
            <a:r>
              <a:rPr lang="en-US" altLang="en-US" sz="3800" b="1" dirty="0"/>
              <a:t>Direct Paging</a:t>
            </a:r>
            <a:endParaRPr lang="en-US" altLang="en-US" sz="3800" dirty="0"/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2600" dirty="0"/>
              <a:t>Direct Paging: keep all entries in a single table</a:t>
            </a:r>
            <a:endParaRPr lang="en-US" altLang="en-US" sz="2200" b="1" dirty="0"/>
          </a:p>
          <a:p>
            <a:pPr marL="344487" lvl="1" indent="0">
              <a:buNone/>
            </a:pPr>
            <a:endParaRPr lang="en-US" altLang="en-US" sz="2200" b="1" dirty="0"/>
          </a:p>
          <a:p>
            <a:r>
              <a:rPr lang="en-US" altLang="en-US" sz="2600" dirty="0"/>
              <a:t>With 2</a:t>
            </a:r>
            <a:r>
              <a:rPr lang="en-US" altLang="en-US" sz="2600" b="1" baseline="30000" dirty="0">
                <a:solidFill>
                  <a:srgbClr val="C00000"/>
                </a:solidFill>
              </a:rPr>
              <a:t>p</a:t>
            </a:r>
            <a:r>
              <a:rPr lang="en-US" altLang="en-US" sz="2600" dirty="0"/>
              <a:t> pages in logical memory space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p</a:t>
            </a:r>
            <a:r>
              <a:rPr lang="en-US" altLang="en-US" sz="2200" dirty="0"/>
              <a:t> bits to specify one unique page</a:t>
            </a:r>
          </a:p>
          <a:p>
            <a:pPr lvl="1"/>
            <a:r>
              <a:rPr lang="en-US" altLang="en-US" sz="2200" dirty="0"/>
              <a:t>2</a:t>
            </a:r>
            <a:r>
              <a:rPr lang="en-US" altLang="en-US" baseline="30000" dirty="0"/>
              <a:t>p</a:t>
            </a:r>
            <a:r>
              <a:rPr lang="en-US" altLang="en-US" sz="2200" dirty="0"/>
              <a:t> page table entries (PTE), each contains:</a:t>
            </a:r>
          </a:p>
          <a:p>
            <a:pPr lvl="2"/>
            <a:r>
              <a:rPr lang="en-US" altLang="en-US" dirty="0"/>
              <a:t>physical frame number</a:t>
            </a:r>
          </a:p>
          <a:p>
            <a:pPr lvl="2"/>
            <a:r>
              <a:rPr lang="en-US" altLang="en-US" dirty="0"/>
              <a:t>additional information bits (valid/invalid, access right </a:t>
            </a:r>
            <a:r>
              <a:rPr lang="en-US" altLang="en-US" dirty="0" err="1"/>
              <a:t>etc</a:t>
            </a:r>
            <a:r>
              <a:rPr lang="en-US" altLang="en-US" dirty="0"/>
              <a:t>)</a:t>
            </a:r>
          </a:p>
          <a:p>
            <a:pPr marL="671512" lvl="2" indent="0">
              <a:buNone/>
            </a:pPr>
            <a:endParaRPr lang="en-US" altLang="en-US" dirty="0"/>
          </a:p>
          <a:p>
            <a:r>
              <a:rPr lang="en-US" altLang="en-US" sz="2600" dirty="0"/>
              <a:t> Example:</a:t>
            </a:r>
          </a:p>
          <a:p>
            <a:pPr lvl="1"/>
            <a:r>
              <a:rPr lang="en-US" altLang="en-US" sz="2200" dirty="0"/>
              <a:t>Virtual Address: 32 bits, Page Size = 4KiB</a:t>
            </a:r>
          </a:p>
          <a:p>
            <a:pPr lvl="1"/>
            <a:r>
              <a:rPr lang="en-US" altLang="en-US" sz="2200" dirty="0"/>
              <a:t>P = 32 – 12 = 20</a:t>
            </a:r>
          </a:p>
          <a:p>
            <a:pPr lvl="1"/>
            <a:r>
              <a:rPr lang="en-US" altLang="en-US" sz="2200" dirty="0"/>
              <a:t>Size of PTE = 2 bytes</a:t>
            </a:r>
          </a:p>
          <a:p>
            <a:pPr lvl="1"/>
            <a:r>
              <a:rPr lang="en-US" altLang="en-US" sz="2200" dirty="0"/>
              <a:t>Page Table Size = 2</a:t>
            </a:r>
            <a:r>
              <a:rPr lang="en-US" altLang="en-US" sz="2200" baseline="30000" dirty="0"/>
              <a:t>20 </a:t>
            </a:r>
            <a:r>
              <a:rPr lang="en-US" altLang="en-US" sz="2200" dirty="0"/>
              <a:t>* 2 bytes = 2MiB (!)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429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2-Level Paging</a:t>
            </a:r>
            <a:r>
              <a:rPr lang="en-US" altLang="en-US" sz="3800" dirty="0"/>
              <a:t>: Basic Idea</a:t>
            </a:r>
          </a:p>
        </p:txBody>
      </p:sp>
      <p:sp>
        <p:nvSpPr>
          <p:cNvPr id="87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Observation:</a:t>
            </a:r>
          </a:p>
          <a:p>
            <a:pPr lvl="1"/>
            <a:r>
              <a:rPr lang="en-US" altLang="en-US" dirty="0"/>
              <a:t>Not all process uses the full range of virtual memory space </a:t>
            </a: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Full page table is a waste!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Basic Idea:</a:t>
            </a:r>
          </a:p>
          <a:p>
            <a:pPr lvl="1"/>
            <a:r>
              <a:rPr lang="en-US" altLang="en-US" dirty="0"/>
              <a:t>Split the full page table into regions</a:t>
            </a:r>
          </a:p>
          <a:p>
            <a:pPr lvl="1"/>
            <a:r>
              <a:rPr lang="en-US" altLang="en-US" dirty="0"/>
              <a:t>Only a few regions are used</a:t>
            </a:r>
          </a:p>
          <a:p>
            <a:pPr lvl="2"/>
            <a:r>
              <a:rPr lang="en-US" altLang="en-US" dirty="0"/>
              <a:t>As memory usage grows, new region can be allocated</a:t>
            </a:r>
          </a:p>
          <a:p>
            <a:pPr lvl="1"/>
            <a:r>
              <a:rPr lang="en-US" altLang="en-US" dirty="0"/>
              <a:t>This idea is similar to split logical memory space into pages </a:t>
            </a:r>
            <a:r>
              <a:rPr lang="en-US" altLang="en-US" dirty="0">
                <a:sym typeface="Wingdings" pitchFamily="2" charset="2"/>
              </a:rPr>
              <a:t></a:t>
            </a:r>
          </a:p>
          <a:p>
            <a:pPr lvl="1"/>
            <a:r>
              <a:rPr lang="en-US" altLang="en-US" dirty="0"/>
              <a:t>Need a directory to keep track of the regions</a:t>
            </a:r>
          </a:p>
          <a:p>
            <a:pPr lvl="2"/>
            <a:r>
              <a:rPr lang="en-US" altLang="en-US" dirty="0"/>
              <a:t>Analogues of page table </a:t>
            </a:r>
            <a:r>
              <a:rPr lang="en-US" altLang="en-US" dirty="0">
                <a:sym typeface="Wingdings" pitchFamily="2" charset="2"/>
              </a:rPr>
              <a:t> pages</a:t>
            </a: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5466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2-Level Paging: Description</a:t>
            </a:r>
          </a:p>
        </p:txBody>
      </p:sp>
      <p:sp>
        <p:nvSpPr>
          <p:cNvPr id="87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Split page table into </a:t>
            </a:r>
            <a:r>
              <a:rPr lang="en-US" altLang="en-US" i="1" dirty="0"/>
              <a:t>smaller page tables</a:t>
            </a:r>
          </a:p>
          <a:p>
            <a:pPr lvl="1"/>
            <a:r>
              <a:rPr lang="en-US" altLang="en-US" dirty="0"/>
              <a:t>Each with a </a:t>
            </a:r>
            <a:r>
              <a:rPr lang="en-US" altLang="en-US" b="1" dirty="0"/>
              <a:t>page table number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If the original page table has 2</a:t>
            </a:r>
            <a:r>
              <a:rPr lang="en-US" altLang="en-US" baseline="30000" dirty="0"/>
              <a:t>P</a:t>
            </a:r>
            <a:r>
              <a:rPr lang="en-US" altLang="en-US" dirty="0"/>
              <a:t> entries:</a:t>
            </a:r>
          </a:p>
          <a:p>
            <a:pPr lvl="1"/>
            <a:r>
              <a:rPr lang="en-US" altLang="en-US" dirty="0"/>
              <a:t>With 2</a:t>
            </a:r>
            <a:r>
              <a:rPr lang="en-US" altLang="en-US" baseline="30000" dirty="0"/>
              <a:t>M</a:t>
            </a:r>
            <a:r>
              <a:rPr lang="en-US" altLang="en-US" dirty="0"/>
              <a:t> smaller page tables, M bits is needed to uniquely identify one page table</a:t>
            </a:r>
          </a:p>
          <a:p>
            <a:pPr lvl="1"/>
            <a:r>
              <a:rPr lang="en-US" altLang="en-US" dirty="0"/>
              <a:t>Each smaller page table contains 2</a:t>
            </a:r>
            <a:r>
              <a:rPr lang="en-US" altLang="en-US" baseline="30000" dirty="0"/>
              <a:t>(P-M)</a:t>
            </a:r>
            <a:r>
              <a:rPr lang="en-US" altLang="en-US" dirty="0"/>
              <a:t>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To keep track of the smaller page tables</a:t>
            </a:r>
          </a:p>
          <a:p>
            <a:pPr lvl="1"/>
            <a:r>
              <a:rPr lang="en-US" altLang="en-US" dirty="0"/>
              <a:t>A single </a:t>
            </a:r>
            <a:r>
              <a:rPr lang="en-US" altLang="en-US" b="1" dirty="0"/>
              <a:t>page directory</a:t>
            </a:r>
            <a:r>
              <a:rPr lang="en-US" altLang="en-US" dirty="0"/>
              <a:t> is needed</a:t>
            </a:r>
          </a:p>
          <a:p>
            <a:pPr lvl="1"/>
            <a:r>
              <a:rPr lang="en-US" altLang="en-US" dirty="0"/>
              <a:t>Page directory contains 2</a:t>
            </a:r>
            <a:r>
              <a:rPr lang="en-US" altLang="en-US" baseline="30000" dirty="0"/>
              <a:t>M</a:t>
            </a:r>
            <a:r>
              <a:rPr lang="en-US" altLang="en-US" dirty="0"/>
              <a:t> indices to locate each of the smaller page table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6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2-level Paging: Illustration</a:t>
            </a:r>
          </a:p>
        </p:txBody>
      </p:sp>
      <p:sp>
        <p:nvSpPr>
          <p:cNvPr id="825347" name="Rectangle 3"/>
          <p:cNvSpPr>
            <a:spLocks noChangeArrowheads="1"/>
          </p:cNvSpPr>
          <p:nvPr/>
        </p:nvSpPr>
        <p:spPr bwMode="auto">
          <a:xfrm>
            <a:off x="2895600" y="1524000"/>
            <a:ext cx="1676400" cy="381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page </a:t>
            </a:r>
            <a:r>
              <a:rPr lang="en-US" altLang="en-US" sz="1600" b="1" dirty="0" err="1">
                <a:latin typeface="Courier New" pitchFamily="49" charset="0"/>
              </a:rPr>
              <a:t>dir</a:t>
            </a:r>
            <a:r>
              <a:rPr lang="en-US" altLang="en-US" sz="1600" b="1" dirty="0">
                <a:latin typeface="Courier New" pitchFamily="49" charset="0"/>
              </a:rPr>
              <a:t> #</a:t>
            </a:r>
          </a:p>
        </p:txBody>
      </p:sp>
      <p:sp>
        <p:nvSpPr>
          <p:cNvPr id="825348" name="Rectangle 4"/>
          <p:cNvSpPr>
            <a:spLocks noChangeArrowheads="1"/>
          </p:cNvSpPr>
          <p:nvPr/>
        </p:nvSpPr>
        <p:spPr bwMode="auto">
          <a:xfrm>
            <a:off x="6477000" y="1524000"/>
            <a:ext cx="114300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>
              <a:latin typeface="Courier New" pitchFamily="49" charset="0"/>
            </a:endParaRPr>
          </a:p>
        </p:txBody>
      </p:sp>
      <p:sp>
        <p:nvSpPr>
          <p:cNvPr id="825349" name="Rectangle 5"/>
          <p:cNvSpPr>
            <a:spLocks noChangeArrowheads="1"/>
          </p:cNvSpPr>
          <p:nvPr/>
        </p:nvSpPr>
        <p:spPr bwMode="auto">
          <a:xfrm>
            <a:off x="4572000" y="1524000"/>
            <a:ext cx="1905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page #</a:t>
            </a:r>
          </a:p>
        </p:txBody>
      </p:sp>
      <p:sp>
        <p:nvSpPr>
          <p:cNvPr id="825350" name="Text Box 6"/>
          <p:cNvSpPr txBox="1">
            <a:spLocks noChangeArrowheads="1"/>
          </p:cNvSpPr>
          <p:nvPr/>
        </p:nvSpPr>
        <p:spPr bwMode="auto">
          <a:xfrm>
            <a:off x="4183834" y="1127668"/>
            <a:ext cx="2252528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b="1" dirty="0">
                <a:latin typeface="Courier New" pitchFamily="49" charset="0"/>
              </a:rPr>
              <a:t>virtual address</a:t>
            </a:r>
          </a:p>
        </p:txBody>
      </p:sp>
      <p:sp>
        <p:nvSpPr>
          <p:cNvPr id="825353" name="Text Box 9"/>
          <p:cNvSpPr txBox="1">
            <a:spLocks noChangeArrowheads="1"/>
          </p:cNvSpPr>
          <p:nvPr/>
        </p:nvSpPr>
        <p:spPr bwMode="auto">
          <a:xfrm>
            <a:off x="6629400" y="1524000"/>
            <a:ext cx="88265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>
                <a:latin typeface="Courier New" pitchFamily="49" charset="0"/>
              </a:rPr>
              <a:t>offset</a:t>
            </a:r>
          </a:p>
        </p:txBody>
      </p:sp>
      <p:sp>
        <p:nvSpPr>
          <p:cNvPr id="825354" name="Rectangle 10"/>
          <p:cNvSpPr>
            <a:spLocks noChangeArrowheads="1"/>
          </p:cNvSpPr>
          <p:nvPr/>
        </p:nvSpPr>
        <p:spPr bwMode="auto">
          <a:xfrm>
            <a:off x="7391400" y="3505200"/>
            <a:ext cx="1143000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>
              <a:latin typeface="Courier New" pitchFamily="49" charset="0"/>
            </a:endParaRPr>
          </a:p>
        </p:txBody>
      </p:sp>
      <p:sp>
        <p:nvSpPr>
          <p:cNvPr id="825355" name="Rectangle 11"/>
          <p:cNvSpPr>
            <a:spLocks noChangeArrowheads="1"/>
          </p:cNvSpPr>
          <p:nvPr/>
        </p:nvSpPr>
        <p:spPr bwMode="auto">
          <a:xfrm>
            <a:off x="6248400" y="3505200"/>
            <a:ext cx="1143000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1600">
              <a:latin typeface="Courier New" pitchFamily="49" charset="0"/>
            </a:endParaRPr>
          </a:p>
        </p:txBody>
      </p:sp>
      <p:sp>
        <p:nvSpPr>
          <p:cNvPr id="825356" name="Text Box 12"/>
          <p:cNvSpPr txBox="1">
            <a:spLocks noChangeArrowheads="1"/>
          </p:cNvSpPr>
          <p:nvPr/>
        </p:nvSpPr>
        <p:spPr bwMode="auto">
          <a:xfrm>
            <a:off x="6324600" y="3581400"/>
            <a:ext cx="1066800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6FDB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/>
          <a:p>
            <a:r>
              <a:rPr lang="en-US" altLang="en-US" sz="1600" b="1">
                <a:latin typeface="Courier New" pitchFamily="49" charset="0"/>
              </a:rPr>
              <a:t>frame #</a:t>
            </a:r>
          </a:p>
        </p:txBody>
      </p:sp>
      <p:sp>
        <p:nvSpPr>
          <p:cNvPr id="825357" name="Text Box 13"/>
          <p:cNvSpPr txBox="1">
            <a:spLocks noChangeArrowheads="1"/>
          </p:cNvSpPr>
          <p:nvPr/>
        </p:nvSpPr>
        <p:spPr bwMode="auto">
          <a:xfrm>
            <a:off x="7467600" y="3581400"/>
            <a:ext cx="91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/>
          <a:p>
            <a:r>
              <a:rPr lang="en-US" altLang="en-US" sz="1600" b="1">
                <a:latin typeface="Courier New" pitchFamily="49" charset="0"/>
              </a:rPr>
              <a:t>offset</a:t>
            </a:r>
          </a:p>
        </p:txBody>
      </p:sp>
      <p:sp>
        <p:nvSpPr>
          <p:cNvPr id="825358" name="Text Box 14"/>
          <p:cNvSpPr txBox="1">
            <a:spLocks noChangeArrowheads="1"/>
          </p:cNvSpPr>
          <p:nvPr/>
        </p:nvSpPr>
        <p:spPr bwMode="auto">
          <a:xfrm>
            <a:off x="6324600" y="3962400"/>
            <a:ext cx="2159553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 dirty="0">
                <a:latin typeface="Courier New" pitchFamily="49" charset="0"/>
              </a:rPr>
              <a:t>physical address</a:t>
            </a:r>
          </a:p>
        </p:txBody>
      </p:sp>
      <p:sp>
        <p:nvSpPr>
          <p:cNvPr id="825359" name="Rectangle 15"/>
          <p:cNvSpPr>
            <a:spLocks noChangeArrowheads="1"/>
          </p:cNvSpPr>
          <p:nvPr/>
        </p:nvSpPr>
        <p:spPr bwMode="auto">
          <a:xfrm>
            <a:off x="5105400" y="2286000"/>
            <a:ext cx="990600" cy="1066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0" name="Rectangle 16"/>
          <p:cNvSpPr>
            <a:spLocks noChangeArrowheads="1"/>
          </p:cNvSpPr>
          <p:nvPr/>
        </p:nvSpPr>
        <p:spPr bwMode="auto">
          <a:xfrm>
            <a:off x="5105400" y="5105400"/>
            <a:ext cx="990600" cy="1066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1" name="Rectangle 17"/>
          <p:cNvSpPr>
            <a:spLocks noChangeArrowheads="1"/>
          </p:cNvSpPr>
          <p:nvPr/>
        </p:nvSpPr>
        <p:spPr bwMode="auto">
          <a:xfrm>
            <a:off x="5105400" y="3657600"/>
            <a:ext cx="990600" cy="1066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2" name="Text Box 18"/>
          <p:cNvSpPr txBox="1">
            <a:spLocks noChangeArrowheads="1"/>
          </p:cNvSpPr>
          <p:nvPr/>
        </p:nvSpPr>
        <p:spPr bwMode="auto">
          <a:xfrm>
            <a:off x="4953000" y="1981200"/>
            <a:ext cx="1354138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>
                <a:latin typeface="Courier New" pitchFamily="49" charset="0"/>
              </a:rPr>
              <a:t>page table</a:t>
            </a:r>
          </a:p>
        </p:txBody>
      </p:sp>
      <p:sp>
        <p:nvSpPr>
          <p:cNvPr id="825363" name="Rectangle 19"/>
          <p:cNvSpPr>
            <a:spLocks noChangeArrowheads="1"/>
          </p:cNvSpPr>
          <p:nvPr/>
        </p:nvSpPr>
        <p:spPr bwMode="auto">
          <a:xfrm>
            <a:off x="5105400" y="2667000"/>
            <a:ext cx="9906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4" name="Rectangle 20"/>
          <p:cNvSpPr>
            <a:spLocks noChangeArrowheads="1"/>
          </p:cNvSpPr>
          <p:nvPr/>
        </p:nvSpPr>
        <p:spPr bwMode="auto">
          <a:xfrm>
            <a:off x="198438" y="2997926"/>
            <a:ext cx="1828800" cy="533400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itchFamily="49" charset="0"/>
              </a:rPr>
              <a:t>page directory</a:t>
            </a:r>
          </a:p>
          <a:p>
            <a:pPr algn="ctr"/>
            <a:r>
              <a:rPr lang="en-US" altLang="en-US" sz="1600" b="1" dirty="0">
                <a:latin typeface="Courier New" pitchFamily="49" charset="0"/>
              </a:rPr>
              <a:t>base register</a:t>
            </a:r>
          </a:p>
        </p:txBody>
      </p:sp>
      <p:sp>
        <p:nvSpPr>
          <p:cNvPr id="825366" name="Rectangle 22"/>
          <p:cNvSpPr>
            <a:spLocks noChangeArrowheads="1"/>
          </p:cNvSpPr>
          <p:nvPr/>
        </p:nvSpPr>
        <p:spPr bwMode="auto">
          <a:xfrm>
            <a:off x="2514600" y="3276600"/>
            <a:ext cx="1295399" cy="2590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7" name="Rectangle 23"/>
          <p:cNvSpPr>
            <a:spLocks noChangeArrowheads="1"/>
          </p:cNvSpPr>
          <p:nvPr/>
        </p:nvSpPr>
        <p:spPr bwMode="auto">
          <a:xfrm>
            <a:off x="2514600" y="3276599"/>
            <a:ext cx="12954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8" name="Rectangle 24"/>
          <p:cNvSpPr>
            <a:spLocks noChangeArrowheads="1"/>
          </p:cNvSpPr>
          <p:nvPr/>
        </p:nvSpPr>
        <p:spPr bwMode="auto">
          <a:xfrm>
            <a:off x="2514600" y="4572000"/>
            <a:ext cx="12954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69" name="Rectangle 25"/>
          <p:cNvSpPr>
            <a:spLocks noChangeArrowheads="1"/>
          </p:cNvSpPr>
          <p:nvPr/>
        </p:nvSpPr>
        <p:spPr bwMode="auto">
          <a:xfrm>
            <a:off x="2514600" y="5562600"/>
            <a:ext cx="1295400" cy="304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25370" name="Line 26"/>
          <p:cNvSpPr>
            <a:spLocks noChangeShapeType="1"/>
          </p:cNvSpPr>
          <p:nvPr/>
        </p:nvSpPr>
        <p:spPr bwMode="auto">
          <a:xfrm>
            <a:off x="2027238" y="3276599"/>
            <a:ext cx="487362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1" name="Line 27"/>
          <p:cNvSpPr>
            <a:spLocks noChangeShapeType="1"/>
          </p:cNvSpPr>
          <p:nvPr/>
        </p:nvSpPr>
        <p:spPr bwMode="auto">
          <a:xfrm flipH="1">
            <a:off x="2286000" y="16764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2" name="Line 28"/>
          <p:cNvSpPr>
            <a:spLocks noChangeShapeType="1"/>
          </p:cNvSpPr>
          <p:nvPr/>
        </p:nvSpPr>
        <p:spPr bwMode="auto">
          <a:xfrm>
            <a:off x="2286000" y="1676400"/>
            <a:ext cx="0" cy="266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3" name="Line 29"/>
          <p:cNvSpPr>
            <a:spLocks noChangeShapeType="1"/>
          </p:cNvSpPr>
          <p:nvPr/>
        </p:nvSpPr>
        <p:spPr bwMode="auto">
          <a:xfrm>
            <a:off x="2286000" y="43434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4" name="Line 30"/>
          <p:cNvSpPr>
            <a:spLocks noChangeShapeType="1"/>
          </p:cNvSpPr>
          <p:nvPr/>
        </p:nvSpPr>
        <p:spPr bwMode="auto">
          <a:xfrm>
            <a:off x="4876800" y="19050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5" name="Line 31"/>
          <p:cNvSpPr>
            <a:spLocks noChangeShapeType="1"/>
          </p:cNvSpPr>
          <p:nvPr/>
        </p:nvSpPr>
        <p:spPr bwMode="auto">
          <a:xfrm>
            <a:off x="4876800" y="2743200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7" name="Line 33"/>
          <p:cNvSpPr>
            <a:spLocks noChangeShapeType="1"/>
          </p:cNvSpPr>
          <p:nvPr/>
        </p:nvSpPr>
        <p:spPr bwMode="auto">
          <a:xfrm>
            <a:off x="6096000" y="2743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8" name="Line 34"/>
          <p:cNvSpPr>
            <a:spLocks noChangeShapeType="1"/>
          </p:cNvSpPr>
          <p:nvPr/>
        </p:nvSpPr>
        <p:spPr bwMode="auto">
          <a:xfrm>
            <a:off x="6629400" y="27432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79" name="Line 35"/>
          <p:cNvSpPr>
            <a:spLocks noChangeShapeType="1"/>
          </p:cNvSpPr>
          <p:nvPr/>
        </p:nvSpPr>
        <p:spPr bwMode="auto">
          <a:xfrm>
            <a:off x="7620000" y="16764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80" name="Line 36"/>
          <p:cNvSpPr>
            <a:spLocks noChangeShapeType="1"/>
          </p:cNvSpPr>
          <p:nvPr/>
        </p:nvSpPr>
        <p:spPr bwMode="auto">
          <a:xfrm>
            <a:off x="8001000" y="1676400"/>
            <a:ext cx="0" cy="1828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81" name="Text Box 37"/>
          <p:cNvSpPr txBox="1">
            <a:spLocks noChangeArrowheads="1"/>
          </p:cNvSpPr>
          <p:nvPr/>
        </p:nvSpPr>
        <p:spPr bwMode="auto">
          <a:xfrm>
            <a:off x="2971800" y="3505200"/>
            <a:ext cx="228600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/>
          <a:p>
            <a:r>
              <a:rPr lang="en-US" altLang="en-US" sz="1600" b="1" dirty="0">
                <a:latin typeface="Courier New" pitchFamily="49" charset="0"/>
              </a:rPr>
              <a:t>.</a:t>
            </a:r>
          </a:p>
          <a:p>
            <a:r>
              <a:rPr lang="en-US" altLang="en-US" sz="1600" b="1" dirty="0">
                <a:latin typeface="Courier New" pitchFamily="49" charset="0"/>
              </a:rPr>
              <a:t>.</a:t>
            </a:r>
          </a:p>
          <a:p>
            <a:r>
              <a:rPr lang="en-US" altLang="en-US" sz="1600" b="1" dirty="0">
                <a:latin typeface="Courier New" pitchFamily="49" charset="0"/>
              </a:rPr>
              <a:t>.</a:t>
            </a:r>
          </a:p>
        </p:txBody>
      </p:sp>
      <p:sp>
        <p:nvSpPr>
          <p:cNvPr id="825382" name="Text Box 38"/>
          <p:cNvSpPr txBox="1">
            <a:spLocks noChangeArrowheads="1"/>
          </p:cNvSpPr>
          <p:nvPr/>
        </p:nvSpPr>
        <p:spPr bwMode="auto">
          <a:xfrm>
            <a:off x="2971800" y="4800600"/>
            <a:ext cx="228600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/>
          <a:p>
            <a:r>
              <a:rPr lang="en-US" altLang="en-US" sz="1600" b="1">
                <a:latin typeface="Courier New" pitchFamily="49" charset="0"/>
              </a:rPr>
              <a:t>.</a:t>
            </a:r>
          </a:p>
          <a:p>
            <a:r>
              <a:rPr lang="en-US" altLang="en-US" sz="1600" b="1">
                <a:latin typeface="Courier New" pitchFamily="49" charset="0"/>
              </a:rPr>
              <a:t>.</a:t>
            </a:r>
          </a:p>
          <a:p>
            <a:r>
              <a:rPr lang="en-US" altLang="en-US" sz="1600" b="1">
                <a:latin typeface="Courier New" pitchFamily="49" charset="0"/>
              </a:rPr>
              <a:t>.</a:t>
            </a:r>
          </a:p>
        </p:txBody>
      </p:sp>
      <p:sp>
        <p:nvSpPr>
          <p:cNvPr id="825383" name="Line 39"/>
          <p:cNvSpPr>
            <a:spLocks noChangeShapeType="1"/>
          </p:cNvSpPr>
          <p:nvPr/>
        </p:nvSpPr>
        <p:spPr bwMode="auto">
          <a:xfrm flipV="1">
            <a:off x="3809999" y="2286000"/>
            <a:ext cx="1295401" cy="11429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84" name="Line 40"/>
          <p:cNvSpPr>
            <a:spLocks noChangeShapeType="1"/>
          </p:cNvSpPr>
          <p:nvPr/>
        </p:nvSpPr>
        <p:spPr bwMode="auto">
          <a:xfrm flipV="1">
            <a:off x="3810000" y="4114800"/>
            <a:ext cx="12954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85" name="Line 41"/>
          <p:cNvSpPr>
            <a:spLocks noChangeShapeType="1"/>
          </p:cNvSpPr>
          <p:nvPr/>
        </p:nvSpPr>
        <p:spPr bwMode="auto">
          <a:xfrm flipV="1">
            <a:off x="3810000" y="5562600"/>
            <a:ext cx="12954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5386" name="Text Box 42"/>
          <p:cNvSpPr txBox="1">
            <a:spLocks noChangeArrowheads="1"/>
          </p:cNvSpPr>
          <p:nvPr/>
        </p:nvSpPr>
        <p:spPr bwMode="auto">
          <a:xfrm>
            <a:off x="2514600" y="2819400"/>
            <a:ext cx="1825625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r>
              <a:rPr lang="en-US" altLang="en-US" sz="1600" b="1">
                <a:latin typeface="Courier New" pitchFamily="49" charset="0"/>
              </a:rPr>
              <a:t>page directory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569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354" grpId="0" animBg="1"/>
      <p:bldP spid="825355" grpId="0" animBg="1"/>
      <p:bldP spid="825356" grpId="0"/>
      <p:bldP spid="825357" grpId="0"/>
      <p:bldP spid="825358" grpId="0"/>
      <p:bldP spid="825359" grpId="0" animBg="1"/>
      <p:bldP spid="825360" grpId="0" animBg="1"/>
      <p:bldP spid="825361" grpId="0" animBg="1"/>
      <p:bldP spid="825362" grpId="0"/>
      <p:bldP spid="825363" grpId="0" animBg="1"/>
      <p:bldP spid="825364" grpId="0" animBg="1"/>
      <p:bldP spid="825366" grpId="0" animBg="1"/>
      <p:bldP spid="825367" grpId="0" animBg="1"/>
      <p:bldP spid="825368" grpId="0" animBg="1"/>
      <p:bldP spid="825369" grpId="0" animBg="1"/>
      <p:bldP spid="825370" grpId="0" animBg="1"/>
      <p:bldP spid="825371" grpId="0" animBg="1"/>
      <p:bldP spid="825372" grpId="0" animBg="1"/>
      <p:bldP spid="825373" grpId="0" animBg="1"/>
      <p:bldP spid="825374" grpId="0" animBg="1"/>
      <p:bldP spid="825375" grpId="0" animBg="1"/>
      <p:bldP spid="825377" grpId="0" animBg="1"/>
      <p:bldP spid="825378" grpId="0" animBg="1"/>
      <p:bldP spid="825379" grpId="0" animBg="1"/>
      <p:bldP spid="825380" grpId="0" animBg="1"/>
      <p:bldP spid="825381" grpId="0"/>
      <p:bldP spid="825382" grpId="0"/>
      <p:bldP spid="825383" grpId="0" animBg="1"/>
      <p:bldP spid="825384" grpId="0" animBg="1"/>
      <p:bldP spid="825385" grpId="0" animBg="1"/>
      <p:bldP spid="82538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2-Level Paging: </a:t>
            </a:r>
            <a:r>
              <a:rPr lang="en-US" altLang="en-US" sz="3800" b="1" dirty="0"/>
              <a:t>Advantages</a:t>
            </a:r>
          </a:p>
        </p:txBody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621303"/>
          </a:xfrm>
        </p:spPr>
        <p:txBody>
          <a:bodyPr/>
          <a:lstStyle/>
          <a:p>
            <a:r>
              <a:rPr lang="en-US" altLang="en-US" sz="2600" dirty="0"/>
              <a:t>We can have empty entries in the page directory 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sz="2200" dirty="0"/>
              <a:t>The corresponding page tables need not be allocated!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dirty="0"/>
              <a:t>Using the same setting as the previous example:</a:t>
            </a:r>
          </a:p>
          <a:p>
            <a:pPr lvl="1"/>
            <a:r>
              <a:rPr lang="en-US" altLang="en-US" sz="2200" dirty="0"/>
              <a:t>Assume only </a:t>
            </a:r>
            <a:r>
              <a:rPr lang="en-US" altLang="en-US" sz="2200" b="1" dirty="0">
                <a:latin typeface="Courier New" pitchFamily="49" charset="0"/>
              </a:rPr>
              <a:t>3</a:t>
            </a:r>
            <a:r>
              <a:rPr lang="en-US" altLang="en-US" sz="2200" dirty="0"/>
              <a:t> page tables is in used</a:t>
            </a:r>
          </a:p>
          <a:p>
            <a:pPr lvl="1"/>
            <a:r>
              <a:rPr lang="en-US" altLang="en-US" sz="2200" dirty="0"/>
              <a:t>Overhead = 1 page directory + 3 smaller page tables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2188028" y="4567418"/>
            <a:ext cx="1295400" cy="17571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2188028" y="4567418"/>
            <a:ext cx="12954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auto">
          <a:xfrm>
            <a:off x="2188028" y="4872218"/>
            <a:ext cx="12954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2188028" y="5186385"/>
            <a:ext cx="1295400" cy="304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4114800" y="3713344"/>
            <a:ext cx="1143000" cy="1066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SG" sz="1600" b="1" dirty="0"/>
              <a:t>2</a:t>
            </a:r>
            <a:r>
              <a:rPr lang="en-SG" sz="1600" b="1" baseline="30000" dirty="0"/>
              <a:t>11 </a:t>
            </a:r>
            <a:r>
              <a:rPr lang="en-SG" sz="1600" b="1" dirty="0"/>
              <a:t>entries</a:t>
            </a: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6629400" y="5105400"/>
            <a:ext cx="1066800" cy="10668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/>
            <a:r>
              <a:rPr lang="en-SG" sz="1600" b="1" dirty="0">
                <a:solidFill>
                  <a:schemeClr val="bg1"/>
                </a:solidFill>
              </a:rPr>
              <a:t>2</a:t>
            </a:r>
            <a:r>
              <a:rPr lang="en-SG" sz="1600" b="1" baseline="30000" dirty="0">
                <a:solidFill>
                  <a:schemeClr val="bg1"/>
                </a:solidFill>
              </a:rPr>
              <a:t>11 </a:t>
            </a:r>
            <a:r>
              <a:rPr lang="en-SG" sz="1600" b="1" dirty="0">
                <a:solidFill>
                  <a:schemeClr val="bg1"/>
                </a:solidFill>
              </a:rPr>
              <a:t>entries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5388428" y="4317501"/>
            <a:ext cx="1088572" cy="1066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/>
            <a:r>
              <a:rPr lang="en-SG" sz="1600" b="1" dirty="0">
                <a:solidFill>
                  <a:prstClr val="black"/>
                </a:solidFill>
              </a:rPr>
              <a:t>2</a:t>
            </a:r>
            <a:r>
              <a:rPr lang="en-SG" sz="1600" b="1" baseline="30000" dirty="0">
                <a:solidFill>
                  <a:prstClr val="black"/>
                </a:solidFill>
              </a:rPr>
              <a:t>11 </a:t>
            </a:r>
            <a:r>
              <a:rPr lang="en-SG" sz="1600" b="1" dirty="0">
                <a:solidFill>
                  <a:prstClr val="black"/>
                </a:solidFill>
              </a:rPr>
              <a:t>entries</a:t>
            </a:r>
          </a:p>
        </p:txBody>
      </p:sp>
      <p:sp>
        <p:nvSpPr>
          <p:cNvPr id="13" name="Line 39"/>
          <p:cNvSpPr>
            <a:spLocks noChangeShapeType="1"/>
          </p:cNvSpPr>
          <p:nvPr/>
        </p:nvSpPr>
        <p:spPr bwMode="auto">
          <a:xfrm flipV="1">
            <a:off x="3483428" y="4262618"/>
            <a:ext cx="609600" cy="51752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4" name="Line 40"/>
          <p:cNvSpPr>
            <a:spLocks noChangeShapeType="1"/>
          </p:cNvSpPr>
          <p:nvPr/>
        </p:nvSpPr>
        <p:spPr bwMode="auto">
          <a:xfrm flipV="1">
            <a:off x="3483427" y="4856444"/>
            <a:ext cx="1905001" cy="2284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5" name="Line 41"/>
          <p:cNvSpPr>
            <a:spLocks noChangeShapeType="1"/>
          </p:cNvSpPr>
          <p:nvPr/>
        </p:nvSpPr>
        <p:spPr bwMode="auto">
          <a:xfrm>
            <a:off x="3483428" y="5313544"/>
            <a:ext cx="3145972" cy="35978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" name="Rectangle 25"/>
          <p:cNvSpPr>
            <a:spLocks noChangeArrowheads="1"/>
          </p:cNvSpPr>
          <p:nvPr/>
        </p:nvSpPr>
        <p:spPr bwMode="auto">
          <a:xfrm>
            <a:off x="2188028" y="5486400"/>
            <a:ext cx="12954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dirty="0"/>
              <a:t> Empty</a:t>
            </a:r>
          </a:p>
        </p:txBody>
      </p:sp>
      <p:sp>
        <p:nvSpPr>
          <p:cNvPr id="18" name="Rectangle 25"/>
          <p:cNvSpPr>
            <a:spLocks noChangeArrowheads="1"/>
          </p:cNvSpPr>
          <p:nvPr/>
        </p:nvSpPr>
        <p:spPr bwMode="auto">
          <a:xfrm>
            <a:off x="2188028" y="6024484"/>
            <a:ext cx="12954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dirty="0"/>
              <a:t> Empty</a:t>
            </a:r>
          </a:p>
        </p:txBody>
      </p: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128449" y="5186386"/>
            <a:ext cx="1859282" cy="11354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sz="1600" dirty="0"/>
              <a:t> </a:t>
            </a:r>
            <a:r>
              <a:rPr lang="en-SG" sz="1600" b="1" dirty="0"/>
              <a:t>Page Directory</a:t>
            </a:r>
            <a:br>
              <a:rPr lang="en-SG" sz="1600" b="1" dirty="0"/>
            </a:br>
            <a:r>
              <a:rPr lang="en-SG" sz="1600" b="1" dirty="0"/>
              <a:t> </a:t>
            </a:r>
            <a:r>
              <a:rPr lang="en-SG" sz="1600" dirty="0"/>
              <a:t>2</a:t>
            </a:r>
            <a:r>
              <a:rPr lang="en-SG" sz="1600" baseline="30000" dirty="0"/>
              <a:t>20</a:t>
            </a:r>
            <a:r>
              <a:rPr lang="en-SG" sz="1600" dirty="0"/>
              <a:t> / 2</a:t>
            </a:r>
            <a:r>
              <a:rPr lang="en-SG" sz="1600" baseline="30000" dirty="0"/>
              <a:t>11</a:t>
            </a:r>
            <a:r>
              <a:rPr lang="en-SG" sz="1600" dirty="0"/>
              <a:t> = 2</a:t>
            </a:r>
            <a:r>
              <a:rPr lang="en-SG" sz="1600" baseline="30000" dirty="0"/>
              <a:t>9 </a:t>
            </a:r>
            <a:r>
              <a:rPr lang="en-SG" sz="1600" dirty="0"/>
              <a:t>entries</a:t>
            </a:r>
          </a:p>
          <a:p>
            <a:r>
              <a:rPr lang="en-SG" sz="1600" dirty="0"/>
              <a:t>Overhead </a:t>
            </a:r>
          </a:p>
          <a:p>
            <a:r>
              <a:rPr lang="en-SG" sz="1600" dirty="0"/>
              <a:t> = 2</a:t>
            </a:r>
            <a:r>
              <a:rPr lang="en-SG" sz="1600" baseline="30000" dirty="0"/>
              <a:t>9</a:t>
            </a:r>
            <a:r>
              <a:rPr lang="en-SG" sz="1600" dirty="0"/>
              <a:t> x 2  = 1KiB</a:t>
            </a: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6760026" y="3831397"/>
            <a:ext cx="2155374" cy="113549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sz="1600" dirty="0"/>
              <a:t> </a:t>
            </a:r>
            <a:r>
              <a:rPr lang="en-SG" sz="1600" b="1" dirty="0"/>
              <a:t>Page Tables</a:t>
            </a:r>
          </a:p>
          <a:p>
            <a:pPr algn="ctr"/>
            <a:endParaRPr lang="en-SG" sz="1600" dirty="0"/>
          </a:p>
          <a:p>
            <a:r>
              <a:rPr lang="en-SG" sz="1600" dirty="0"/>
              <a:t>Overhead </a:t>
            </a:r>
          </a:p>
          <a:p>
            <a:r>
              <a:rPr lang="en-SG" sz="1600" dirty="0"/>
              <a:t> = 3 x (2</a:t>
            </a:r>
            <a:r>
              <a:rPr lang="en-SG" sz="1600" baseline="30000" dirty="0"/>
              <a:t>11</a:t>
            </a:r>
            <a:r>
              <a:rPr lang="en-SG" sz="1600" dirty="0"/>
              <a:t> x 2) = 12KiB</a:t>
            </a: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3697580" y="5923244"/>
            <a:ext cx="2779420" cy="6201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SG" dirty="0"/>
              <a:t> </a:t>
            </a:r>
            <a:r>
              <a:rPr lang="en-SG" b="1" dirty="0"/>
              <a:t>Total Overhead </a:t>
            </a:r>
          </a:p>
          <a:p>
            <a:r>
              <a:rPr lang="en-SG" dirty="0"/>
              <a:t> = 1KiB + 12KiB =</a:t>
            </a:r>
            <a:r>
              <a:rPr lang="en-SG" b="1" dirty="0"/>
              <a:t>13KiB</a:t>
            </a:r>
          </a:p>
        </p:txBody>
      </p:sp>
    </p:spTree>
    <p:extLst>
      <p:ext uri="{BB962C8B-B14F-4D97-AF65-F5344CB8AC3E}">
        <p14:creationId xmlns:p14="http://schemas.microsoft.com/office/powerpoint/2010/main" val="73930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Inverted Page Table</a:t>
            </a:r>
            <a:r>
              <a:rPr lang="en-US" altLang="en-US" sz="3800" dirty="0"/>
              <a:t>: Basic Idea</a:t>
            </a:r>
          </a:p>
        </p:txBody>
      </p:sp>
      <p:sp>
        <p:nvSpPr>
          <p:cNvPr id="87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Page table is a per-process information</a:t>
            </a:r>
          </a:p>
          <a:p>
            <a:pPr lvl="1"/>
            <a:r>
              <a:rPr lang="en-US" altLang="en-US" sz="2200" dirty="0"/>
              <a:t>With M processes in memory, there are M independent page tables</a:t>
            </a:r>
          </a:p>
          <a:p>
            <a:r>
              <a:rPr lang="en-US" altLang="en-US" sz="2600" dirty="0"/>
              <a:t>Observation:</a:t>
            </a:r>
          </a:p>
          <a:p>
            <a:pPr lvl="1"/>
            <a:r>
              <a:rPr lang="en-US" altLang="en-US" sz="2200" dirty="0"/>
              <a:t>Only N physical memory frames can be occupied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dirty="0">
                <a:sym typeface="Wingdings" pitchFamily="2" charset="2"/>
              </a:rPr>
              <a:t>Out of the M page tables, only N entries is valid 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sz="2200" dirty="0"/>
              <a:t>Huge waste: N &lt;&lt; Overhead of M page tables</a:t>
            </a:r>
          </a:p>
          <a:p>
            <a:pPr marL="344487" lvl="1" indent="0">
              <a:buNone/>
            </a:pPr>
            <a:endParaRPr lang="en-US" altLang="en-US" sz="2200" dirty="0"/>
          </a:p>
          <a:p>
            <a:r>
              <a:rPr lang="en-US" altLang="en-US" sz="2600" dirty="0"/>
              <a:t>Idea:</a:t>
            </a:r>
          </a:p>
          <a:p>
            <a:pPr lvl="1"/>
            <a:r>
              <a:rPr lang="en-US" altLang="en-US" sz="2200" dirty="0">
                <a:sym typeface="Wingdings" pitchFamily="2" charset="2"/>
              </a:rPr>
              <a:t>Keep a </a:t>
            </a:r>
            <a:r>
              <a:rPr lang="en-US" altLang="en-US" sz="2200" b="1" dirty="0">
                <a:sym typeface="Wingdings" pitchFamily="2" charset="2"/>
              </a:rPr>
              <a:t>single </a:t>
            </a:r>
            <a:r>
              <a:rPr lang="en-US" altLang="en-US" sz="2200" dirty="0">
                <a:sym typeface="Wingdings" pitchFamily="2" charset="2"/>
              </a:rPr>
              <a:t>mapping of physical frame to &lt;</a:t>
            </a:r>
            <a:r>
              <a:rPr lang="en-US" altLang="en-US" sz="2200" dirty="0" err="1">
                <a:sym typeface="Wingdings" pitchFamily="2" charset="2"/>
              </a:rPr>
              <a:t>pid</a:t>
            </a:r>
            <a:r>
              <a:rPr lang="en-US" altLang="en-US" sz="2200" dirty="0">
                <a:sym typeface="Wingdings" pitchFamily="2" charset="2"/>
              </a:rPr>
              <a:t>, page#&gt; </a:t>
            </a:r>
          </a:p>
          <a:p>
            <a:pPr lvl="2"/>
            <a:r>
              <a:rPr lang="en-US" altLang="en-US" sz="2000" dirty="0" err="1"/>
              <a:t>pid</a:t>
            </a:r>
            <a:r>
              <a:rPr lang="en-US" altLang="en-US" sz="2000" dirty="0"/>
              <a:t> = process id , page# = page number </a:t>
            </a:r>
          </a:p>
          <a:p>
            <a:pPr lvl="2"/>
            <a:r>
              <a:rPr lang="en-US" altLang="en-US" sz="2000" dirty="0"/>
              <a:t>page# is not unique among processes</a:t>
            </a:r>
          </a:p>
          <a:p>
            <a:pPr lvl="2"/>
            <a:r>
              <a:rPr lang="en-US" altLang="en-US" sz="2000" dirty="0" err="1"/>
              <a:t>pid</a:t>
            </a:r>
            <a:r>
              <a:rPr lang="en-US" altLang="en-US" sz="2000" dirty="0"/>
              <a:t> + page# can uniquely identify a memory page</a:t>
            </a:r>
          </a:p>
          <a:p>
            <a:pPr lvl="2"/>
            <a:endParaRPr lang="en-US" alt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008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Inverted Page Table: Basic Idea (cont)</a:t>
            </a:r>
          </a:p>
        </p:txBody>
      </p:sp>
      <p:sp>
        <p:nvSpPr>
          <p:cNvPr id="87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410200"/>
          </a:xfrm>
        </p:spPr>
        <p:txBody>
          <a:bodyPr/>
          <a:lstStyle/>
          <a:p>
            <a:r>
              <a:rPr lang="en-US" altLang="en-US" dirty="0"/>
              <a:t>In normal page table, the entries are ordered by page number</a:t>
            </a:r>
          </a:p>
          <a:p>
            <a:pPr lvl="1"/>
            <a:r>
              <a:rPr lang="en-US" altLang="en-US" dirty="0"/>
              <a:t>To lookup page X, simply access the </a:t>
            </a:r>
            <a:r>
              <a:rPr lang="en-US" altLang="en-US" dirty="0" err="1"/>
              <a:t>X</a:t>
            </a:r>
            <a:r>
              <a:rPr lang="en-US" altLang="en-US" baseline="30000" dirty="0" err="1"/>
              <a:t>th</a:t>
            </a:r>
            <a:r>
              <a:rPr lang="en-US" altLang="en-US" dirty="0"/>
              <a:t> entry</a:t>
            </a:r>
          </a:p>
          <a:p>
            <a:r>
              <a:rPr lang="en-US" altLang="en-US" dirty="0"/>
              <a:t>In inverted page table, the entries are ordered by frame number</a:t>
            </a:r>
          </a:p>
          <a:p>
            <a:pPr lvl="1"/>
            <a:r>
              <a:rPr lang="en-US" altLang="en-US" dirty="0"/>
              <a:t>To lookup page X, need to search the whole table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006600"/>
                </a:solidFill>
              </a:rPr>
              <a:t>Advantage:</a:t>
            </a:r>
          </a:p>
          <a:p>
            <a:pPr lvl="1"/>
            <a:r>
              <a:rPr lang="en-US" altLang="en-US" dirty="0"/>
              <a:t>Huge saving: One table for all processes</a:t>
            </a:r>
          </a:p>
          <a:p>
            <a:r>
              <a:rPr lang="en-US" altLang="en-US" b="1" dirty="0">
                <a:solidFill>
                  <a:srgbClr val="C00000"/>
                </a:solidFill>
              </a:rPr>
              <a:t>Disadvantage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Slow translation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795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/>
              <a:t>Inverted Table</a:t>
            </a:r>
            <a:r>
              <a:rPr lang="en-US" altLang="en-US" sz="3600" dirty="0"/>
              <a:t>: Illustration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386177" y="1643470"/>
            <a:ext cx="990600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CPU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410097" y="2128430"/>
            <a:ext cx="1066800" cy="304800"/>
            <a:chOff x="2410097" y="2128430"/>
            <a:chExt cx="1066800" cy="304800"/>
          </a:xfrm>
        </p:grpSpPr>
        <p:sp>
          <p:nvSpPr>
            <p:cNvPr id="9" name="Rectangle 8"/>
            <p:cNvSpPr/>
            <p:nvPr/>
          </p:nvSpPr>
          <p:spPr>
            <a:xfrm>
              <a:off x="2410097" y="212843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3497" y="2128430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cxnSp>
        <p:nvCxnSpPr>
          <p:cNvPr id="43" name="Elbow Connector 42"/>
          <p:cNvCxnSpPr>
            <a:stCxn id="10" idx="0"/>
            <a:endCxn id="42" idx="0"/>
          </p:cNvCxnSpPr>
          <p:nvPr/>
        </p:nvCxnSpPr>
        <p:spPr>
          <a:xfrm rot="5400000" flipH="1" flipV="1">
            <a:off x="4761440" y="559771"/>
            <a:ext cx="17417" cy="3119902"/>
          </a:xfrm>
          <a:prstGeom prst="bentConnector3">
            <a:avLst>
              <a:gd name="adj1" fmla="val 1412511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010400" y="1355271"/>
            <a:ext cx="1524000" cy="488795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Physical Memory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5529999" y="2111013"/>
            <a:ext cx="1452098" cy="304800"/>
            <a:chOff x="5529999" y="2111013"/>
            <a:chExt cx="1452098" cy="304800"/>
          </a:xfrm>
        </p:grpSpPr>
        <p:sp>
          <p:nvSpPr>
            <p:cNvPr id="40" name="Rectangle 39"/>
            <p:cNvSpPr/>
            <p:nvPr/>
          </p:nvSpPr>
          <p:spPr>
            <a:xfrm>
              <a:off x="5529999" y="2111013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i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063399" y="2111013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6596799" y="2253070"/>
              <a:ext cx="38529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Elbow Connector 63"/>
          <p:cNvCxnSpPr>
            <a:stCxn id="63" idx="3"/>
            <a:endCxn id="40" idx="2"/>
          </p:cNvCxnSpPr>
          <p:nvPr/>
        </p:nvCxnSpPr>
        <p:spPr>
          <a:xfrm flipV="1">
            <a:off x="4811051" y="2415813"/>
            <a:ext cx="985648" cy="2793736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48" idx="2"/>
          </p:cNvCxnSpPr>
          <p:nvPr/>
        </p:nvCxnSpPr>
        <p:spPr>
          <a:xfrm rot="16200000" flipH="1">
            <a:off x="1343445" y="3194015"/>
            <a:ext cx="2770141" cy="1248569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1376777" y="2128430"/>
            <a:ext cx="1033320" cy="304800"/>
            <a:chOff x="1376777" y="2128430"/>
            <a:chExt cx="1033320" cy="304800"/>
          </a:xfrm>
        </p:grpSpPr>
        <p:cxnSp>
          <p:nvCxnSpPr>
            <p:cNvPr id="20" name="Straight Arrow Connector 19"/>
            <p:cNvCxnSpPr>
              <a:stCxn id="7" idx="3"/>
            </p:cNvCxnSpPr>
            <p:nvPr/>
          </p:nvCxnSpPr>
          <p:spPr>
            <a:xfrm>
              <a:off x="1376777" y="2253070"/>
              <a:ext cx="409303" cy="51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1798365" y="2128430"/>
              <a:ext cx="611732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PID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951964" y="4572000"/>
            <a:ext cx="2443818" cy="1816251"/>
            <a:chOff x="2951964" y="4572000"/>
            <a:chExt cx="2443818" cy="1816251"/>
          </a:xfrm>
        </p:grpSpPr>
        <p:grpSp>
          <p:nvGrpSpPr>
            <p:cNvPr id="21" name="Group 20"/>
            <p:cNvGrpSpPr/>
            <p:nvPr/>
          </p:nvGrpSpPr>
          <p:grpSpPr>
            <a:xfrm>
              <a:off x="2951964" y="4572000"/>
              <a:ext cx="2443818" cy="1816251"/>
              <a:chOff x="2951964" y="4572000"/>
              <a:chExt cx="2443818" cy="1816251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4242366" y="4572000"/>
                <a:ext cx="569179" cy="142820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2951964" y="5936389"/>
                <a:ext cx="2443818" cy="451862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Inverted Page Table</a:t>
                </a:r>
              </a:p>
            </p:txBody>
          </p:sp>
        </p:grpSp>
        <p:sp>
          <p:nvSpPr>
            <p:cNvPr id="63" name="Rectangle 62"/>
            <p:cNvSpPr/>
            <p:nvPr/>
          </p:nvSpPr>
          <p:spPr>
            <a:xfrm>
              <a:off x="4248365" y="5002720"/>
              <a:ext cx="562686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969418" y="4561342"/>
            <a:ext cx="619762" cy="465094"/>
            <a:chOff x="3851608" y="4552354"/>
            <a:chExt cx="619762" cy="304800"/>
          </a:xfrm>
        </p:grpSpPr>
        <p:sp>
          <p:nvSpPr>
            <p:cNvPr id="52" name="Left Brace 51"/>
            <p:cNvSpPr/>
            <p:nvPr/>
          </p:nvSpPr>
          <p:spPr>
            <a:xfrm flipH="1">
              <a:off x="3851608" y="4571727"/>
              <a:ext cx="212181" cy="2645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37970" y="4552354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chemeClr val="tx1"/>
                  </a:solidFill>
                </a:rPr>
                <a:t>i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352800" y="4572000"/>
            <a:ext cx="888940" cy="1428206"/>
            <a:chOff x="3352800" y="4572000"/>
            <a:chExt cx="888940" cy="1428206"/>
          </a:xfrm>
        </p:grpSpPr>
        <p:sp>
          <p:nvSpPr>
            <p:cNvPr id="55" name="Rectangle 54"/>
            <p:cNvSpPr/>
            <p:nvPr/>
          </p:nvSpPr>
          <p:spPr>
            <a:xfrm>
              <a:off x="3355323" y="4572000"/>
              <a:ext cx="886417" cy="142820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352800" y="4996542"/>
              <a:ext cx="878432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PID</a:t>
              </a:r>
            </a:p>
          </p:txBody>
        </p:sp>
      </p:grpSp>
      <p:sp>
        <p:nvSpPr>
          <p:cNvPr id="13" name="Slide Number Placeholder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882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Page Replacement Algorithms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should I kick out next?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5778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Page Replacement Algorithms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700" dirty="0"/>
              <a:t>Suppose there is no free physical memory frame during a page fault: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evict (free) a memory page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When a page is evicted: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Clean page: not modified </a:t>
            </a:r>
            <a:r>
              <a:rPr lang="en-US" altLang="en-US" dirty="0">
                <a:sym typeface="Wingdings" pitchFamily="2" charset="2"/>
              </a:rPr>
              <a:t> no need to write back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Dirty page: modified </a:t>
            </a:r>
            <a:r>
              <a:rPr lang="en-US" altLang="en-US" dirty="0">
                <a:sym typeface="Wingdings" pitchFamily="2" charset="2"/>
              </a:rPr>
              <a:t> need to write back 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2700" dirty="0"/>
              <a:t>Algorithms to find a suitable replacement page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Optimum (OPT)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FIFO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Least Recently Used</a:t>
            </a:r>
          </a:p>
          <a:p>
            <a:pPr lvl="1">
              <a:lnSpc>
                <a:spcPct val="90000"/>
              </a:lnSpc>
            </a:pPr>
            <a:r>
              <a:rPr lang="en-US" altLang="en-US" sz="2500" b="1" dirty="0"/>
              <a:t>Second-Chance (Clock)</a:t>
            </a:r>
          </a:p>
          <a:p>
            <a:pPr lvl="1">
              <a:lnSpc>
                <a:spcPct val="90000"/>
              </a:lnSpc>
            </a:pPr>
            <a:r>
              <a:rPr lang="en-US" altLang="en-US" sz="2300" dirty="0"/>
              <a:t>etc…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180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Modeling Memory References</a:t>
            </a:r>
          </a:p>
        </p:txBody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 actual memory reference:</a:t>
            </a:r>
          </a:p>
          <a:p>
            <a:pPr lvl="1"/>
            <a:r>
              <a:rPr lang="en-US" altLang="en-US" dirty="0"/>
              <a:t>Logical Address = Page Number + Offset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However, to study the page replacement algorithm</a:t>
            </a:r>
          </a:p>
          <a:p>
            <a:pPr lvl="1"/>
            <a:r>
              <a:rPr lang="en-US" altLang="en-US" dirty="0"/>
              <a:t>Only </a:t>
            </a:r>
            <a:r>
              <a:rPr lang="en-US" altLang="en-US" b="1" dirty="0"/>
              <a:t>page number </a:t>
            </a:r>
            <a:r>
              <a:rPr lang="en-US" altLang="en-US" dirty="0"/>
              <a:t>is important </a:t>
            </a:r>
          </a:p>
          <a:p>
            <a:pPr marL="344487" lvl="1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To simplify discussion, m</a:t>
            </a:r>
            <a:r>
              <a:rPr lang="en-US" altLang="en-US" dirty="0"/>
              <a:t>emory references are often modeled as </a:t>
            </a:r>
            <a:r>
              <a:rPr lang="en-US" altLang="en-US" b="1" dirty="0"/>
              <a:t>memory reference strings</a:t>
            </a:r>
            <a:r>
              <a:rPr lang="en-US" altLang="en-US" dirty="0"/>
              <a:t>, i.e. a sequence of page numbers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624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Page Replacement Algorithms: Evaluation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4548" y="2438400"/>
            <a:ext cx="7632469" cy="3048000"/>
          </a:xfrm>
        </p:spPr>
        <p:txBody>
          <a:bodyPr>
            <a:normAutofit fontScale="92500"/>
          </a:bodyPr>
          <a:lstStyle/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itchFamily="49" charset="0"/>
              </a:rPr>
              <a:t>𝒑</a:t>
            </a:r>
            <a:r>
              <a:rPr lang="en-US" altLang="en-US" dirty="0"/>
              <a:t> = probability of page fault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mem</a:t>
            </a:r>
            <a:r>
              <a:rPr lang="en-US" altLang="en-US" dirty="0"/>
              <a:t> = access time for memory resident page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page_fault</a:t>
            </a:r>
            <a:r>
              <a:rPr lang="en-US" altLang="en-US" dirty="0"/>
              <a:t> = access time if page fault occurs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Since</a:t>
            </a:r>
            <a:r>
              <a:rPr lang="en-US" altLang="en-US" b="1" dirty="0">
                <a:latin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page_fault</a:t>
            </a:r>
            <a:r>
              <a:rPr lang="en-US" altLang="en-US" dirty="0"/>
              <a:t> &gt;&gt;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mem</a:t>
            </a:r>
            <a:endParaRPr lang="en-US" altLang="en-US" b="1" baseline="-250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reduce </a:t>
            </a:r>
            <a:r>
              <a:rPr lang="en-US" altLang="en-US" b="1" dirty="0">
                <a:latin typeface="Courier New" pitchFamily="49" charset="0"/>
              </a:rPr>
              <a:t>p</a:t>
            </a:r>
            <a:r>
              <a:rPr lang="en-US" altLang="en-US" dirty="0"/>
              <a:t> to keep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access</a:t>
            </a:r>
            <a:r>
              <a:rPr lang="en-US" altLang="en-US" dirty="0"/>
              <a:t> reasonable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See for yourself, try to find 𝒑 if: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mem</a:t>
            </a:r>
            <a:r>
              <a:rPr lang="en-US" altLang="en-US" dirty="0"/>
              <a:t> = 100ns,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page_fault</a:t>
            </a:r>
            <a:r>
              <a:rPr lang="en-US" altLang="en-US" dirty="0"/>
              <a:t> = 10ms, </a:t>
            </a:r>
            <a:r>
              <a:rPr lang="en-US" altLang="en-US" b="1" dirty="0" err="1">
                <a:latin typeface="Courier New" pitchFamily="49" charset="0"/>
              </a:rPr>
              <a:t>T</a:t>
            </a:r>
            <a:r>
              <a:rPr lang="en-US" altLang="en-US" b="1" baseline="-25000" dirty="0" err="1">
                <a:latin typeface="Courier New" pitchFamily="49" charset="0"/>
              </a:rPr>
              <a:t>access</a:t>
            </a:r>
            <a:r>
              <a:rPr lang="en-US" altLang="en-US" dirty="0"/>
              <a:t> = 120ns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sz="1200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571500" y="990600"/>
                <a:ext cx="8001000" cy="1219200"/>
              </a:xfrm>
              <a:prstGeom prst="roundRect">
                <a:avLst>
                  <a:gd name="adj" fmla="val 8325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>
                  <a:lnSpc>
                    <a:spcPct val="90000"/>
                  </a:lnSpc>
                  <a:spcBef>
                    <a:spcPct val="20000"/>
                  </a:spcBef>
                  <a:buClr>
                    <a:srgbClr val="F07F09"/>
                  </a:buClr>
                  <a:buSzPct val="65000"/>
                </a:pPr>
                <a:r>
                  <a:rPr lang="en-US" altLang="en-US" sz="3000" b="1" kern="0" dirty="0">
                    <a:solidFill>
                      <a:prstClr val="black"/>
                    </a:solidFill>
                  </a:rPr>
                  <a:t>Memory access time</a:t>
                </a:r>
                <a:r>
                  <a:rPr lang="en-US" altLang="en-US" sz="3000" kern="0" dirty="0">
                    <a:solidFill>
                      <a:prstClr val="black"/>
                    </a:solidFill>
                  </a:rPr>
                  <a:t>:</a:t>
                </a:r>
                <a:br>
                  <a:rPr lang="en-US" altLang="en-US" sz="3000" kern="0" dirty="0">
                    <a:solidFill>
                      <a:prstClr val="black"/>
                    </a:solidFill>
                  </a:rPr>
                </a:br>
                <a:endParaRPr lang="en-US" altLang="en-US" sz="1200" kern="0" dirty="0">
                  <a:solidFill>
                    <a:prstClr val="black"/>
                  </a:solidFill>
                </a:endParaRPr>
              </a:p>
              <a:p>
                <a:pPr indent="-112713">
                  <a:lnSpc>
                    <a:spcPct val="90000"/>
                  </a:lnSpc>
                  <a:spcBef>
                    <a:spcPct val="20000"/>
                  </a:spcBef>
                  <a:buClr>
                    <a:srgbClr val="9F2936"/>
                  </a:buClr>
                  <a:buSzPct val="6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𝒂𝒄𝒄𝒆𝒔𝒔</m:t>
                          </m:r>
                        </m:sub>
                      </m:sSub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d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𝒎𝒆𝒎</m:t>
                          </m:r>
                        </m:sub>
                      </m:sSub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en-US" sz="3200" b="1" i="1">
                          <a:latin typeface="Cambria Math" panose="020405030504060302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n-US" alt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𝒑𝒂𝒈𝒆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en-US" sz="3200" b="1" i="1">
                              <a:latin typeface="Cambria Math" panose="02040503050406030204" pitchFamily="18" charset="0"/>
                            </a:rPr>
                            <m:t>𝒇𝒂𝒖𝒍𝒕</m:t>
                          </m:r>
                        </m:sub>
                      </m:sSub>
                    </m:oMath>
                  </m:oMathPara>
                </a14:m>
                <a:endParaRPr lang="en-US" altLang="en-US" sz="3200" b="1" kern="0" baseline="-25000" dirty="0">
                  <a:solidFill>
                    <a:prstClr val="black"/>
                  </a:solidFill>
                  <a:latin typeface="Courier New" pitchFamily="49" charset="0"/>
                </a:endParaRP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990600"/>
                <a:ext cx="8001000" cy="1219200"/>
              </a:xfrm>
              <a:prstGeom prst="roundRect">
                <a:avLst>
                  <a:gd name="adj" fmla="val 8325"/>
                </a:avLst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571500" y="5546725"/>
            <a:ext cx="800100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dirty="0">
                <a:solidFill>
                  <a:schemeClr val="tx1"/>
                </a:solidFill>
              </a:rPr>
              <a:t>Good algorithm should </a:t>
            </a:r>
            <a:r>
              <a:rPr lang="en-SG" sz="2800" b="1" dirty="0">
                <a:solidFill>
                  <a:srgbClr val="C00000"/>
                </a:solidFill>
              </a:rPr>
              <a:t>reduce the total number of </a:t>
            </a:r>
            <a:r>
              <a:rPr lang="en-SG" sz="2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faults</a:t>
            </a:r>
          </a:p>
        </p:txBody>
      </p:sp>
    </p:spTree>
    <p:extLst>
      <p:ext uri="{BB962C8B-B14F-4D97-AF65-F5344CB8AC3E}">
        <p14:creationId xmlns:p14="http://schemas.microsoft.com/office/powerpoint/2010/main" val="116729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Optimal Page Replacement (OPT) </a:t>
            </a:r>
          </a:p>
        </p:txBody>
      </p:sp>
      <p:sp>
        <p:nvSpPr>
          <p:cNvPr id="88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General Idea:</a:t>
            </a:r>
          </a:p>
          <a:p>
            <a:pPr lvl="1"/>
            <a:r>
              <a:rPr lang="en-US" altLang="en-US"/>
              <a:t>Replace the page that </a:t>
            </a:r>
            <a:r>
              <a:rPr lang="en-US" altLang="en-US" b="1"/>
              <a:t>will not </a:t>
            </a:r>
            <a:r>
              <a:rPr lang="en-US" altLang="en-US"/>
              <a:t>be used again for the </a:t>
            </a:r>
            <a:r>
              <a:rPr lang="en-US" altLang="en-US" b="1"/>
              <a:t>longest period of time</a:t>
            </a:r>
          </a:p>
          <a:p>
            <a:pPr lvl="1"/>
            <a:r>
              <a:rPr lang="en-US" altLang="en-US" b="1"/>
              <a:t>Guarantees </a:t>
            </a:r>
            <a:r>
              <a:rPr lang="en-US" altLang="en-US"/>
              <a:t>minimum number of page faults</a:t>
            </a:r>
          </a:p>
          <a:p>
            <a:pPr lvl="1"/>
            <a:endParaRPr lang="en-US" altLang="en-US"/>
          </a:p>
          <a:p>
            <a:r>
              <a:rPr lang="en-US" altLang="en-US"/>
              <a:t>Unfortunately, not realizable:</a:t>
            </a:r>
          </a:p>
          <a:p>
            <a:pPr lvl="1"/>
            <a:r>
              <a:rPr lang="en-US" altLang="en-US"/>
              <a:t>Need </a:t>
            </a:r>
            <a:r>
              <a:rPr lang="en-US" altLang="en-US" b="1"/>
              <a:t>future knowledge </a:t>
            </a:r>
            <a:r>
              <a:rPr lang="en-US" altLang="en-US"/>
              <a:t>of memory references</a:t>
            </a:r>
            <a:endParaRPr lang="en-US" altLang="en-US" b="1"/>
          </a:p>
          <a:p>
            <a:pPr lvl="1">
              <a:buFont typeface="Wingdings" pitchFamily="2" charset="2"/>
              <a:buNone/>
            </a:pPr>
            <a:endParaRPr lang="en-US" altLang="en-US" b="1"/>
          </a:p>
          <a:p>
            <a:r>
              <a:rPr lang="en-US" altLang="en-US"/>
              <a:t>Still useful:</a:t>
            </a:r>
          </a:p>
          <a:p>
            <a:pPr lvl="1"/>
            <a:r>
              <a:rPr lang="en-US" altLang="en-US"/>
              <a:t>As a base of comparison for other algorithms</a:t>
            </a:r>
          </a:p>
          <a:p>
            <a:pPr lvl="1"/>
            <a:r>
              <a:rPr lang="en-US" altLang="en-US"/>
              <a:t>The closer to OPT == better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6346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OPT (6 Page Faults)</a:t>
            </a:r>
          </a:p>
        </p:txBody>
      </p:sp>
      <p:graphicFrame>
        <p:nvGraphicFramePr>
          <p:cNvPr id="850010" name="Group 9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205122"/>
              </p:ext>
            </p:extLst>
          </p:nvPr>
        </p:nvGraphicFramePr>
        <p:xfrm>
          <a:off x="685802" y="997624"/>
          <a:ext cx="7772397" cy="5547276"/>
        </p:xfrm>
        <a:graphic>
          <a:graphicData uri="http://schemas.openxmlformats.org/drawingml/2006/table">
            <a:tbl>
              <a:tblPr/>
              <a:tblGrid>
                <a:gridCol w="969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15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09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Next Use Time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sym typeface="Euclid Symbol" pitchFamily="18" charset="2"/>
                        </a:rPr>
                        <a:t>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0029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FIFO Page Replacement Algorithm</a:t>
            </a:r>
          </a:p>
        </p:txBody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Memory pages are evicted based on their loading time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Evict the oldest memory page</a:t>
            </a:r>
          </a:p>
          <a:p>
            <a:pPr lvl="1">
              <a:buFont typeface="Wingdings" pitchFamily="2" charset="2"/>
              <a:buNone/>
            </a:pPr>
            <a:endParaRPr lang="en-US" altLang="en-US" dirty="0">
              <a:sym typeface="Wingdings" pitchFamily="2" charset="2"/>
            </a:endParaRPr>
          </a:p>
          <a:p>
            <a:r>
              <a:rPr lang="en-US" altLang="en-US" dirty="0"/>
              <a:t>Implementation:</a:t>
            </a:r>
          </a:p>
          <a:p>
            <a:pPr lvl="1"/>
            <a:r>
              <a:rPr lang="en-US" altLang="en-US" dirty="0"/>
              <a:t>OS maintain a queue of resident page numbers</a:t>
            </a:r>
          </a:p>
          <a:p>
            <a:pPr lvl="2"/>
            <a:r>
              <a:rPr lang="en-US" altLang="en-US" dirty="0"/>
              <a:t>Remove the first page in queue if replacement is needed</a:t>
            </a:r>
          </a:p>
          <a:p>
            <a:pPr lvl="2"/>
            <a:r>
              <a:rPr lang="en-US" altLang="en-US" dirty="0"/>
              <a:t>Update the queue during page fault trap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Simple to implement</a:t>
            </a:r>
          </a:p>
          <a:p>
            <a:pPr lvl="2"/>
            <a:r>
              <a:rPr lang="en-US" altLang="en-US" dirty="0"/>
              <a:t>No hardware support needed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169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FIFO (9 Page Faults)</a:t>
            </a:r>
          </a:p>
        </p:txBody>
      </p:sp>
      <p:graphicFrame>
        <p:nvGraphicFramePr>
          <p:cNvPr id="841825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269798"/>
              </p:ext>
            </p:extLst>
          </p:nvPr>
        </p:nvGraphicFramePr>
        <p:xfrm>
          <a:off x="609601" y="1027254"/>
          <a:ext cx="8001001" cy="5486316"/>
        </p:xfrm>
        <a:graphic>
          <a:graphicData uri="http://schemas.openxmlformats.org/drawingml/2006/table">
            <a:tbl>
              <a:tblPr/>
              <a:tblGrid>
                <a:gridCol w="99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716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69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Loaded at Time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2305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FIFO: Problems</a:t>
            </a:r>
          </a:p>
        </p:txBody>
      </p:sp>
      <p:sp>
        <p:nvSpPr>
          <p:cNvPr id="88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If physical frame increases (e.g. more RAM)</a:t>
            </a:r>
          </a:p>
          <a:p>
            <a:pPr lvl="1"/>
            <a:r>
              <a:rPr lang="en-US" altLang="en-US" dirty="0"/>
              <a:t>The number page fault should decrease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FIFO violates this simple intuition!</a:t>
            </a:r>
          </a:p>
          <a:p>
            <a:pPr lvl="1"/>
            <a:r>
              <a:rPr lang="en-US" altLang="en-US" dirty="0"/>
              <a:t>Use 3 / 4 frames to try: </a:t>
            </a:r>
            <a:r>
              <a:rPr lang="en-US" altLang="en-US" b="1" dirty="0">
                <a:cs typeface="Arial" charset="0"/>
              </a:rPr>
              <a:t>1 2 3 4 1 2 5 1 2 3 4 5</a:t>
            </a:r>
          </a:p>
          <a:p>
            <a:pPr lvl="1"/>
            <a:endParaRPr lang="en-US" altLang="en-US" b="1" dirty="0">
              <a:cs typeface="Arial" charset="0"/>
            </a:endParaRPr>
          </a:p>
          <a:p>
            <a:r>
              <a:rPr lang="en-US" altLang="en-US" dirty="0">
                <a:cs typeface="Arial" charset="0"/>
              </a:rPr>
              <a:t>Opposite behavior (↑ frames </a:t>
            </a:r>
            <a:r>
              <a:rPr lang="en-US" altLang="en-US" dirty="0">
                <a:cs typeface="Arial" charset="0"/>
                <a:sym typeface="Wingdings" pitchFamily="2" charset="2"/>
              </a:rPr>
              <a:t> </a:t>
            </a:r>
            <a:r>
              <a:rPr lang="en-US" altLang="en-US" dirty="0">
                <a:cs typeface="Arial" charset="0"/>
              </a:rPr>
              <a:t>↑</a:t>
            </a:r>
            <a:r>
              <a:rPr lang="en-US" altLang="en-US" dirty="0">
                <a:cs typeface="Arial" charset="0"/>
                <a:sym typeface="Wingdings" pitchFamily="2" charset="2"/>
              </a:rPr>
              <a:t> page faults)</a:t>
            </a:r>
          </a:p>
          <a:p>
            <a:pPr lvl="1"/>
            <a:r>
              <a:rPr lang="en-US" altLang="en-US" dirty="0">
                <a:cs typeface="Arial" charset="0"/>
              </a:rPr>
              <a:t>Known as </a:t>
            </a:r>
            <a:r>
              <a:rPr lang="en-US" altLang="en-US" b="1" dirty="0" err="1">
                <a:solidFill>
                  <a:srgbClr val="660066"/>
                </a:solidFill>
                <a:cs typeface="Arial" charset="0"/>
              </a:rPr>
              <a:t>Belady's</a:t>
            </a:r>
            <a:r>
              <a:rPr lang="en-US" altLang="en-US" b="1" dirty="0">
                <a:solidFill>
                  <a:srgbClr val="660066"/>
                </a:solidFill>
                <a:cs typeface="Arial" charset="0"/>
              </a:rPr>
              <a:t> Anomaly</a:t>
            </a:r>
          </a:p>
          <a:p>
            <a:pPr lvl="1"/>
            <a:endParaRPr lang="en-US" altLang="en-US" dirty="0">
              <a:cs typeface="Arial" charset="0"/>
            </a:endParaRPr>
          </a:p>
          <a:p>
            <a:r>
              <a:rPr lang="en-US" altLang="en-US" dirty="0">
                <a:cs typeface="Arial" charset="0"/>
              </a:rPr>
              <a:t>Reason:</a:t>
            </a:r>
          </a:p>
          <a:p>
            <a:pPr lvl="1"/>
            <a:r>
              <a:rPr lang="en-US" altLang="en-US" dirty="0">
                <a:cs typeface="Arial" charset="0"/>
              </a:rPr>
              <a:t>FIFO does not exploit </a:t>
            </a:r>
            <a:r>
              <a:rPr lang="en-US" altLang="en-US" b="1" dirty="0">
                <a:cs typeface="Arial" charset="0"/>
              </a:rPr>
              <a:t>temporal locality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113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600" dirty="0"/>
              <a:t>Least Recently Used Page Replacement (</a:t>
            </a:r>
            <a:r>
              <a:rPr lang="en-US" altLang="en-US" sz="3600" b="1" dirty="0"/>
              <a:t>LRU</a:t>
            </a:r>
            <a:r>
              <a:rPr lang="en-US" altLang="en-US" sz="3600" dirty="0"/>
              <a:t>)</a:t>
            </a:r>
          </a:p>
        </p:txBody>
      </p:sp>
      <p:sp>
        <p:nvSpPr>
          <p:cNvPr id="88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General Idea:</a:t>
            </a:r>
          </a:p>
          <a:p>
            <a:pPr lvl="1"/>
            <a:r>
              <a:rPr lang="en-US" altLang="en-US" dirty="0"/>
              <a:t>Make use of temporal locality:</a:t>
            </a:r>
          </a:p>
          <a:p>
            <a:pPr lvl="2"/>
            <a:r>
              <a:rPr lang="en-US" altLang="en-US" dirty="0"/>
              <a:t>Replace the page that has not been used in the longest time</a:t>
            </a:r>
          </a:p>
          <a:p>
            <a:pPr lvl="1"/>
            <a:r>
              <a:rPr lang="en-US" altLang="en-US" dirty="0"/>
              <a:t>Expect a page to be reused in a short time window</a:t>
            </a:r>
          </a:p>
          <a:p>
            <a:pPr lvl="2"/>
            <a:r>
              <a:rPr lang="en-US" altLang="en-US" dirty="0"/>
              <a:t>Have not used for some time </a:t>
            </a:r>
            <a:r>
              <a:rPr lang="en-US" altLang="en-US" dirty="0">
                <a:sym typeface="Wingdings" pitchFamily="2" charset="2"/>
              </a:rPr>
              <a:t> most likely will not be used again</a:t>
            </a:r>
          </a:p>
          <a:p>
            <a:r>
              <a:rPr lang="en-US" altLang="en-US" dirty="0"/>
              <a:t>Notes:</a:t>
            </a:r>
          </a:p>
          <a:p>
            <a:pPr lvl="1"/>
            <a:r>
              <a:rPr lang="en-US" altLang="en-US" dirty="0"/>
              <a:t>Attempts to approximate the OPT algorithm</a:t>
            </a:r>
          </a:p>
          <a:p>
            <a:pPr lvl="2"/>
            <a:r>
              <a:rPr lang="en-US" altLang="en-US" dirty="0"/>
              <a:t>Gives good results generally</a:t>
            </a:r>
          </a:p>
          <a:p>
            <a:pPr lvl="1"/>
            <a:r>
              <a:rPr lang="en-US" altLang="en-US" dirty="0"/>
              <a:t>Does not suffer from </a:t>
            </a:r>
            <a:r>
              <a:rPr lang="en-US" altLang="en-US" dirty="0" err="1"/>
              <a:t>Belady's</a:t>
            </a:r>
            <a:r>
              <a:rPr lang="en-US" altLang="en-US" dirty="0"/>
              <a:t> Anomaly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12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LRU (7 Page Faults)</a:t>
            </a:r>
          </a:p>
        </p:txBody>
      </p:sp>
      <p:graphicFrame>
        <p:nvGraphicFramePr>
          <p:cNvPr id="854105" name="Group 8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534900"/>
              </p:ext>
            </p:extLst>
          </p:nvPr>
        </p:nvGraphicFramePr>
        <p:xfrm>
          <a:off x="914401" y="960198"/>
          <a:ext cx="7087150" cy="5547276"/>
        </p:xfrm>
        <a:graphic>
          <a:graphicData uri="http://schemas.openxmlformats.org/drawingml/2006/table">
            <a:tbl>
              <a:tblPr/>
              <a:tblGrid>
                <a:gridCol w="885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3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7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37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174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09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Last Use Time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sym typeface="Euclid Symbol" pitchFamily="18" charset="2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4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kumimoji="0" lang="en-US" altLang="en-US" sz="2000" b="1" i="0" u="sng" strike="noStrike" kern="1200" cap="none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sym typeface="Euclid Symbol" pitchFamily="18" charset="2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A473AF-C3EB-4885-86D1-A60D69D2DEE0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285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LRU: Implementation Details</a:t>
            </a:r>
          </a:p>
        </p:txBody>
      </p:sp>
      <p:sp>
        <p:nvSpPr>
          <p:cNvPr id="88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sz="2600" dirty="0"/>
              <a:t>Implementing LRU is not easy: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Need to keep track of the "last access time" somehow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Need substantial hardware support</a:t>
            </a:r>
          </a:p>
          <a:p>
            <a:pPr marL="839788" lvl="1" indent="-495300">
              <a:lnSpc>
                <a:spcPct val="90000"/>
              </a:lnSpc>
              <a:buFont typeface="Wingdings" pitchFamily="2" charset="2"/>
              <a:buNone/>
            </a:pPr>
            <a:endParaRPr lang="en-US" altLang="en-US" sz="2200" dirty="0"/>
          </a:p>
          <a:p>
            <a:pPr marL="571500" indent="-5715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sz="2600" dirty="0"/>
              <a:t>Approach A - </a:t>
            </a:r>
            <a:r>
              <a:rPr lang="en-US" altLang="en-US" sz="2600" b="1" dirty="0"/>
              <a:t>Use a Counter</a:t>
            </a:r>
            <a:r>
              <a:rPr lang="en-US" altLang="en-US" sz="2600" dirty="0"/>
              <a:t>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A logical "time" counters, which is i</a:t>
            </a:r>
            <a:r>
              <a:rPr lang="en-US" altLang="en-US" sz="2000" dirty="0"/>
              <a:t>ncremented for every memory reference</a:t>
            </a:r>
          </a:p>
          <a:p>
            <a:pPr marL="671513" lvl="2" indent="0">
              <a:lnSpc>
                <a:spcPct val="90000"/>
              </a:lnSpc>
              <a:buNone/>
            </a:pPr>
            <a:endParaRPr lang="en-US" altLang="en-US" sz="2000" dirty="0"/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Page table entry has a "time-of-use" field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sz="2000" dirty="0"/>
              <a:t>Store the time counter value whenever reference occurs</a:t>
            </a:r>
          </a:p>
          <a:p>
            <a:pPr marL="1192213" lvl="2" indent="-495300">
              <a:lnSpc>
                <a:spcPct val="90000"/>
              </a:lnSpc>
            </a:pPr>
            <a:r>
              <a:rPr lang="en-US" altLang="en-US" sz="1800" dirty="0"/>
              <a:t>Replace the page with smallest "time-of-use"</a:t>
            </a:r>
          </a:p>
          <a:p>
            <a:pPr marL="696913" lvl="2" indent="0">
              <a:lnSpc>
                <a:spcPct val="90000"/>
              </a:lnSpc>
              <a:buNone/>
            </a:pPr>
            <a:endParaRPr lang="en-US" altLang="en-US" sz="1800" dirty="0"/>
          </a:p>
          <a:p>
            <a:pPr marL="839788" lvl="1" indent="-495300">
              <a:lnSpc>
                <a:spcPct val="90000"/>
              </a:lnSpc>
            </a:pPr>
            <a:r>
              <a:rPr lang="en-US" altLang="en-US" sz="2200" dirty="0"/>
              <a:t>Problems: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sz="2000" dirty="0"/>
              <a:t>Need to search through all pages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sz="2000" dirty="0"/>
              <a:t>"Time-of-use" is forever increasing (overflow possible!)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0216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LRU: Implementation Details (cont)</a:t>
            </a:r>
          </a:p>
        </p:txBody>
      </p:sp>
      <p:sp>
        <p:nvSpPr>
          <p:cNvPr id="88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SzTx/>
              <a:buFont typeface="Wingdings" pitchFamily="2" charset="2"/>
              <a:buAutoNum type="arabicPeriod" startAt="2"/>
            </a:pPr>
            <a:r>
              <a:rPr lang="en-US" altLang="en-US" dirty="0"/>
              <a:t>Approach B - Use a "Stack":</a:t>
            </a:r>
          </a:p>
          <a:p>
            <a:pPr marL="839788" lvl="1" indent="-495300">
              <a:buSzTx/>
            </a:pPr>
            <a:r>
              <a:rPr lang="en-US" altLang="en-US" dirty="0"/>
              <a:t>Maintain a stack of page numbers</a:t>
            </a:r>
          </a:p>
          <a:p>
            <a:pPr marL="839788" lvl="1" indent="-495300">
              <a:buSzTx/>
            </a:pPr>
            <a:r>
              <a:rPr lang="en-US" altLang="en-US" dirty="0"/>
              <a:t>If page </a:t>
            </a:r>
            <a:r>
              <a:rPr lang="en-US" altLang="en-US" b="1" dirty="0"/>
              <a:t>X</a:t>
            </a:r>
            <a:r>
              <a:rPr lang="en-US" altLang="en-US" dirty="0"/>
              <a:t> is referenced</a:t>
            </a:r>
          </a:p>
          <a:p>
            <a:pPr marL="1090613" lvl="2" indent="-419100">
              <a:buSzTx/>
            </a:pPr>
            <a:r>
              <a:rPr lang="en-US" altLang="en-US" dirty="0"/>
              <a:t>Remove from the stack (for existing entry)</a:t>
            </a:r>
          </a:p>
          <a:p>
            <a:pPr marL="1090613" lvl="2" indent="-419100">
              <a:buSzTx/>
            </a:pPr>
            <a:r>
              <a:rPr lang="en-US" altLang="en-US" dirty="0"/>
              <a:t>Push on top of stack</a:t>
            </a:r>
          </a:p>
          <a:p>
            <a:pPr marL="671513" lvl="2" indent="0">
              <a:buSzTx/>
              <a:buNone/>
            </a:pPr>
            <a:endParaRPr lang="en-US" altLang="en-US" dirty="0"/>
          </a:p>
          <a:p>
            <a:pPr marL="839788" lvl="1" indent="-495300">
              <a:buSzTx/>
            </a:pPr>
            <a:r>
              <a:rPr lang="en-US" altLang="en-US" dirty="0"/>
              <a:t>Replace the page at the bottom of stack</a:t>
            </a:r>
          </a:p>
          <a:p>
            <a:pPr marL="1090613" lvl="2" indent="-419100">
              <a:buSzTx/>
            </a:pPr>
            <a:r>
              <a:rPr lang="en-US" altLang="en-US" dirty="0"/>
              <a:t>No need to search through all entries</a:t>
            </a:r>
          </a:p>
          <a:p>
            <a:pPr marL="1090613" lvl="2" indent="-419100">
              <a:buSzTx/>
              <a:buFont typeface="Wingdings" pitchFamily="2" charset="2"/>
              <a:buNone/>
            </a:pPr>
            <a:endParaRPr lang="en-US" altLang="en-US" dirty="0"/>
          </a:p>
          <a:p>
            <a:pPr marL="839788" lvl="1" indent="-495300">
              <a:buSzTx/>
            </a:pPr>
            <a:r>
              <a:rPr lang="en-US" altLang="en-US" dirty="0"/>
              <a:t>Problems:</a:t>
            </a:r>
          </a:p>
          <a:p>
            <a:pPr marL="1090613" lvl="2" indent="-419100">
              <a:buSzTx/>
            </a:pPr>
            <a:r>
              <a:rPr lang="en-US" altLang="en-US" dirty="0"/>
              <a:t>Not a pure stack:  Entries can be removed from any where in the stack</a:t>
            </a:r>
          </a:p>
          <a:p>
            <a:pPr marL="1090613" lvl="2" indent="-419100">
              <a:buSzTx/>
            </a:pPr>
            <a:r>
              <a:rPr lang="en-US" altLang="en-US" dirty="0"/>
              <a:t>Hard to implement in hardware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227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Second-Chance Page Replacement (CLOCK) 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562600"/>
          </a:xfrm>
        </p:spPr>
        <p:txBody>
          <a:bodyPr/>
          <a:lstStyle/>
          <a:p>
            <a:pPr marL="571500" indent="-571500">
              <a:lnSpc>
                <a:spcPct val="90000"/>
              </a:lnSpc>
            </a:pPr>
            <a:r>
              <a:rPr lang="en-US" altLang="en-US" dirty="0"/>
              <a:t>General Idea:</a:t>
            </a:r>
          </a:p>
          <a:p>
            <a:pPr marL="898525" lvl="1" indent="-571500">
              <a:lnSpc>
                <a:spcPct val="90000"/>
              </a:lnSpc>
            </a:pPr>
            <a:r>
              <a:rPr lang="en-US" altLang="en-US" dirty="0"/>
              <a:t>Modified FIFO to give a second chance to pages that are accessed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Each PTE now maintains a "reference bit":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dirty="0"/>
              <a:t>1 = Accessed, 0 = Not accessed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Algorithm:</a:t>
            </a:r>
          </a:p>
          <a:p>
            <a:pPr marL="1090613" lvl="2" indent="-4191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dirty="0"/>
              <a:t>The oldest FIFO page is selected</a:t>
            </a:r>
          </a:p>
          <a:p>
            <a:pPr marL="1090613" lvl="2" indent="-4191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dirty="0"/>
              <a:t>If reference bit == 0 </a:t>
            </a: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Page is replaced</a:t>
            </a:r>
          </a:p>
          <a:p>
            <a:pPr marL="1090613" lvl="2" indent="-4191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en-US" dirty="0"/>
              <a:t>If reference bit == 1 </a:t>
            </a:r>
            <a:r>
              <a:rPr lang="en-US" altLang="en-US" dirty="0">
                <a:sym typeface="Wingdings" panose="05000000000000000000" pitchFamily="2" charset="2"/>
              </a:rPr>
              <a:t> Page is given a 2</a:t>
            </a:r>
            <a:r>
              <a:rPr lang="en-US" altLang="en-US" baseline="30000" dirty="0">
                <a:sym typeface="Wingdings" panose="05000000000000000000" pitchFamily="2" charset="2"/>
              </a:rPr>
              <a:t>nd</a:t>
            </a:r>
            <a:r>
              <a:rPr lang="en-US" altLang="en-US" dirty="0">
                <a:sym typeface="Wingdings" panose="05000000000000000000" pitchFamily="2" charset="2"/>
              </a:rPr>
              <a:t> chance</a:t>
            </a:r>
            <a:endParaRPr lang="en-US" altLang="en-US" dirty="0"/>
          </a:p>
          <a:p>
            <a:pPr marL="1404938" lvl="3" indent="-381000">
              <a:lnSpc>
                <a:spcPct val="90000"/>
              </a:lnSpc>
            </a:pPr>
            <a:r>
              <a:rPr lang="en-US" altLang="en-US" dirty="0"/>
              <a:t>Reference bit cleared to 0</a:t>
            </a:r>
          </a:p>
          <a:p>
            <a:pPr marL="1404938" lvl="3" indent="-381000">
              <a:lnSpc>
                <a:spcPct val="90000"/>
              </a:lnSpc>
            </a:pPr>
            <a:r>
              <a:rPr lang="en-US" altLang="en-US" dirty="0"/>
              <a:t>Arrival time reset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page taken as newly loaded</a:t>
            </a:r>
          </a:p>
          <a:p>
            <a:pPr marL="1404938" lvl="3" indent="-381000">
              <a:lnSpc>
                <a:spcPct val="90000"/>
              </a:lnSpc>
            </a:pPr>
            <a:r>
              <a:rPr lang="en-US" altLang="en-US" dirty="0"/>
              <a:t>Next FIFO page is selected, go to Step 2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Degenerate into FIFO algorithm</a:t>
            </a:r>
          </a:p>
          <a:p>
            <a:pPr marL="1090613" lvl="2" indent="-419100">
              <a:lnSpc>
                <a:spcPct val="90000"/>
              </a:lnSpc>
            </a:pPr>
            <a:r>
              <a:rPr lang="en-US" altLang="en-US" dirty="0"/>
              <a:t>When all pages has reference bit ==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433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Second-Chance: Implementation Details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486400" y="1219200"/>
            <a:ext cx="3200399" cy="50292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Use </a:t>
            </a:r>
            <a:r>
              <a:rPr lang="en-US" altLang="en-US" b="1" dirty="0"/>
              <a:t>circular queue </a:t>
            </a:r>
            <a:r>
              <a:rPr lang="en-US" altLang="en-US" dirty="0"/>
              <a:t>to maintain the pages:</a:t>
            </a:r>
          </a:p>
          <a:p>
            <a:pPr lvl="1"/>
            <a:r>
              <a:rPr lang="en-US" altLang="en-US" dirty="0"/>
              <a:t>With a pointer pointing to the oldest page ( the </a:t>
            </a:r>
            <a:r>
              <a:rPr lang="en-US" altLang="en-US" b="1" dirty="0"/>
              <a:t>victim</a:t>
            </a:r>
            <a:r>
              <a:rPr lang="en-US" altLang="en-US" dirty="0"/>
              <a:t> </a:t>
            </a:r>
            <a:r>
              <a:rPr lang="en-US" altLang="en-US" b="1" dirty="0"/>
              <a:t>page </a:t>
            </a:r>
            <a:r>
              <a:rPr lang="en-US" altLang="en-US" dirty="0"/>
              <a:t>)</a:t>
            </a:r>
          </a:p>
          <a:p>
            <a:pPr lvl="1"/>
            <a:endParaRPr lang="en-US" altLang="en-US" b="1" dirty="0"/>
          </a:p>
          <a:p>
            <a:r>
              <a:rPr lang="en-US" altLang="en-US" dirty="0"/>
              <a:t>To find a page to be replaced:</a:t>
            </a:r>
          </a:p>
          <a:p>
            <a:pPr lvl="1"/>
            <a:r>
              <a:rPr lang="en-US" altLang="en-US" dirty="0"/>
              <a:t>Advance until a page with '0'  reference bit</a:t>
            </a:r>
          </a:p>
          <a:p>
            <a:pPr marL="671512" lvl="2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Clear the reference bit as pointer passes through</a:t>
            </a:r>
          </a:p>
          <a:p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38</a:t>
            </a:fld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83" y="990599"/>
            <a:ext cx="5172075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024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CLOCK( 6 Page Faults )</a:t>
            </a:r>
          </a:p>
        </p:txBody>
      </p:sp>
      <p:graphicFrame>
        <p:nvGraphicFramePr>
          <p:cNvPr id="893162" name="Group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61116"/>
              </p:ext>
            </p:extLst>
          </p:nvPr>
        </p:nvGraphicFramePr>
        <p:xfrm>
          <a:off x="457200" y="990600"/>
          <a:ext cx="7086599" cy="5547276"/>
        </p:xfrm>
        <a:graphic>
          <a:graphicData uri="http://schemas.openxmlformats.org/drawingml/2006/table">
            <a:tbl>
              <a:tblPr/>
              <a:tblGrid>
                <a:gridCol w="110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99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Reference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Frame (with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Ref Bit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Fault?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►2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marL="91434" marR="91434"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sng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kern="1200" dirty="0">
                          <a:solidFill>
                            <a:schemeClr val="tx1"/>
                          </a:solidFill>
                          <a:latin typeface="Arial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►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altLang="en-US" sz="20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altLang="en-US" sz="20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4" marR="91434"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7696200" y="5334000"/>
            <a:ext cx="1371600" cy="762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2000" b="1" dirty="0">
                <a:solidFill>
                  <a:schemeClr val="tx1"/>
                </a:solidFill>
                <a:latin typeface="Arial" charset="0"/>
              </a:rPr>
              <a:t>► Victim Page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778812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Frame Allocation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process should I favor?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15505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Frame Allocation</a:t>
            </a:r>
          </a:p>
        </p:txBody>
      </p:sp>
      <p:sp>
        <p:nvSpPr>
          <p:cNvPr id="89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Consider: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There are </a:t>
            </a:r>
            <a:r>
              <a:rPr lang="en-US" altLang="en-US" b="1" dirty="0">
                <a:latin typeface="Courier New" pitchFamily="49" charset="0"/>
              </a:rPr>
              <a:t>N</a:t>
            </a:r>
            <a:r>
              <a:rPr lang="en-US" altLang="en-US" dirty="0"/>
              <a:t> physical memory frames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There are </a:t>
            </a:r>
            <a:r>
              <a:rPr lang="en-US" altLang="en-US" b="1" dirty="0">
                <a:latin typeface="Courier New" pitchFamily="49" charset="0"/>
              </a:rPr>
              <a:t>M</a:t>
            </a:r>
            <a:r>
              <a:rPr lang="en-US" altLang="en-US" dirty="0"/>
              <a:t> processes competing for frames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What is the best way to distribute the </a:t>
            </a:r>
            <a:r>
              <a:rPr lang="en-US" altLang="en-US" b="1" dirty="0">
                <a:latin typeface="Courier New" pitchFamily="49" charset="0"/>
              </a:rPr>
              <a:t>N</a:t>
            </a:r>
            <a:r>
              <a:rPr lang="en-US" altLang="en-US" dirty="0"/>
              <a:t> frames among </a:t>
            </a:r>
            <a:r>
              <a:rPr lang="en-US" altLang="en-US" b="1" dirty="0">
                <a:latin typeface="Courier New" pitchFamily="49" charset="0"/>
              </a:rPr>
              <a:t>M</a:t>
            </a:r>
            <a:r>
              <a:rPr lang="en-US" altLang="en-US" dirty="0"/>
              <a:t> processes?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Simple Approaches: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Equal Allocation: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process get </a:t>
            </a:r>
            <a:r>
              <a:rPr lang="en-US" altLang="en-US" b="1" dirty="0">
                <a:latin typeface="Courier New" pitchFamily="49" charset="0"/>
              </a:rPr>
              <a:t>N / M</a:t>
            </a:r>
            <a:r>
              <a:rPr lang="en-US" altLang="en-US" dirty="0"/>
              <a:t> frames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Proportional Allocation: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Processes are different in size (memory usage)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Let 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p</a:t>
            </a:r>
            <a:r>
              <a:rPr lang="en-US" altLang="en-US" dirty="0"/>
              <a:t> = size of process </a:t>
            </a:r>
            <a:r>
              <a:rPr lang="en-US" altLang="en-US" b="1" dirty="0">
                <a:latin typeface="Courier New" pitchFamily="49" charset="0"/>
              </a:rPr>
              <a:t>p</a:t>
            </a:r>
            <a:r>
              <a:rPr lang="en-US" altLang="en-US" dirty="0"/>
              <a:t>, 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total</a:t>
            </a:r>
            <a:r>
              <a:rPr lang="en-US" altLang="en-US" dirty="0"/>
              <a:t> = total size of all processes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Each process get 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p</a:t>
            </a:r>
            <a:r>
              <a:rPr lang="en-US" altLang="en-US" b="1" dirty="0">
                <a:latin typeface="Courier New" pitchFamily="49" charset="0"/>
              </a:rPr>
              <a:t>/</a:t>
            </a:r>
            <a:r>
              <a:rPr lang="en-US" altLang="en-US" b="1" dirty="0" err="1">
                <a:latin typeface="Courier New" pitchFamily="49" charset="0"/>
              </a:rPr>
              <a:t>size</a:t>
            </a:r>
            <a:r>
              <a:rPr lang="en-US" altLang="en-US" b="1" baseline="-25000" dirty="0" err="1">
                <a:latin typeface="Courier New" pitchFamily="49" charset="0"/>
              </a:rPr>
              <a:t>total</a:t>
            </a:r>
            <a:r>
              <a:rPr lang="en-US" altLang="en-US" b="1" dirty="0">
                <a:latin typeface="Courier New" pitchFamily="49" charset="0"/>
              </a:rPr>
              <a:t>*N</a:t>
            </a:r>
            <a:r>
              <a:rPr lang="en-US" altLang="en-US" dirty="0"/>
              <a:t> frames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0135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Frame Allocation and Page Replacement</a:t>
            </a:r>
          </a:p>
        </p:txBody>
      </p:sp>
      <p:sp>
        <p:nvSpPr>
          <p:cNvPr id="90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implicit assumption for page replacement algorithms discussed:</a:t>
            </a:r>
          </a:p>
          <a:p>
            <a:pPr lvl="1"/>
            <a:r>
              <a:rPr lang="en-US" altLang="en-US" dirty="0"/>
              <a:t>Victim page are selected </a:t>
            </a:r>
            <a:r>
              <a:rPr lang="en-US" altLang="en-US" b="1" dirty="0"/>
              <a:t>among pages of the process </a:t>
            </a:r>
            <a:r>
              <a:rPr lang="en-US" altLang="en-US" dirty="0"/>
              <a:t>that causes page fault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C00000"/>
                </a:solidFill>
              </a:rPr>
              <a:t>local replacement</a:t>
            </a:r>
          </a:p>
          <a:p>
            <a:pPr lvl="1">
              <a:buFont typeface="Wingdings" pitchFamily="2" charset="2"/>
              <a:buNone/>
            </a:pPr>
            <a:endParaRPr lang="en-US" altLang="en-US" b="1" dirty="0"/>
          </a:p>
          <a:p>
            <a:r>
              <a:rPr lang="en-US" altLang="en-US" dirty="0"/>
              <a:t>If victim page can be chosen </a:t>
            </a:r>
            <a:r>
              <a:rPr lang="en-US" altLang="en-US" b="1" dirty="0"/>
              <a:t>among all physical frames</a:t>
            </a:r>
            <a:r>
              <a:rPr lang="en-US" altLang="en-US" dirty="0"/>
              <a:t>:</a:t>
            </a:r>
          </a:p>
          <a:p>
            <a:pPr lvl="1"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Process P can take a frame from Process Q by evicting Q's frame during replacement!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00"/>
                </a:solidFill>
              </a:rPr>
              <a:t>global replacement</a:t>
            </a:r>
            <a:endParaRPr lang="en-US" altLang="en-US" dirty="0">
              <a:solidFill>
                <a:srgbClr val="006600"/>
              </a:solidFill>
            </a:endParaRP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1354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Local vs Global Replacement</a:t>
            </a:r>
          </a:p>
        </p:txBody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600" b="1" dirty="0"/>
              <a:t>Local Replacement:</a:t>
            </a:r>
          </a:p>
          <a:p>
            <a:pPr lvl="1"/>
            <a:r>
              <a:rPr lang="en-US" altLang="en-US" sz="2200" b="1" dirty="0">
                <a:solidFill>
                  <a:srgbClr val="006600"/>
                </a:solidFill>
              </a:rPr>
              <a:t>Pros:</a:t>
            </a:r>
          </a:p>
          <a:p>
            <a:pPr lvl="2"/>
            <a:r>
              <a:rPr lang="en-US" altLang="en-US" sz="2000" dirty="0"/>
              <a:t>Frames allocated to a process remain constant </a:t>
            </a:r>
            <a:r>
              <a:rPr lang="en-US" altLang="en-US" sz="2000" dirty="0">
                <a:sym typeface="Wingdings" pitchFamily="2" charset="2"/>
              </a:rPr>
              <a:t> Performance is stable between multiple runs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Cons:</a:t>
            </a:r>
          </a:p>
          <a:p>
            <a:pPr lvl="2"/>
            <a:r>
              <a:rPr lang="en-US" altLang="en-US" sz="2000" dirty="0"/>
              <a:t>If frame allocated is not enough </a:t>
            </a:r>
            <a:r>
              <a:rPr lang="en-US" altLang="en-US" sz="2000" dirty="0">
                <a:sym typeface="Wingdings" pitchFamily="2" charset="2"/>
              </a:rPr>
              <a:t> </a:t>
            </a:r>
            <a:r>
              <a:rPr lang="en-US" altLang="en-US" sz="2000" dirty="0"/>
              <a:t>hinder the progress of a process</a:t>
            </a:r>
          </a:p>
          <a:p>
            <a:pPr marL="671512" lvl="2" indent="0">
              <a:buNone/>
            </a:pPr>
            <a:endParaRPr lang="en-US" altLang="en-US" sz="2000" dirty="0"/>
          </a:p>
          <a:p>
            <a:r>
              <a:rPr lang="en-US" altLang="en-US" sz="2600" b="1" dirty="0"/>
              <a:t>Global Replacement:</a:t>
            </a:r>
          </a:p>
          <a:p>
            <a:pPr lvl="1"/>
            <a:r>
              <a:rPr lang="en-US" altLang="en-US" sz="2200" b="1" dirty="0">
                <a:solidFill>
                  <a:srgbClr val="006600"/>
                </a:solidFill>
              </a:rPr>
              <a:t>Pros:</a:t>
            </a:r>
          </a:p>
          <a:p>
            <a:pPr lvl="2"/>
            <a:r>
              <a:rPr lang="en-US" altLang="en-US" sz="2000" dirty="0"/>
              <a:t>Allow self-adjustment between processes</a:t>
            </a:r>
          </a:p>
          <a:p>
            <a:pPr lvl="3"/>
            <a:r>
              <a:rPr lang="en-US" altLang="en-US" sz="1800" dirty="0"/>
              <a:t>Process that needs more frame can get from other</a:t>
            </a:r>
          </a:p>
          <a:p>
            <a:pPr lvl="1"/>
            <a:r>
              <a:rPr lang="en-US" altLang="en-US" sz="2200" b="1" dirty="0">
                <a:solidFill>
                  <a:srgbClr val="C00000"/>
                </a:solidFill>
              </a:rPr>
              <a:t>Cons:</a:t>
            </a:r>
          </a:p>
          <a:p>
            <a:pPr lvl="2"/>
            <a:r>
              <a:rPr lang="en-US" altLang="en-US" sz="2000" dirty="0"/>
              <a:t>Badly behave process can affect others</a:t>
            </a:r>
          </a:p>
          <a:p>
            <a:pPr lvl="2"/>
            <a:r>
              <a:rPr lang="en-US" altLang="en-US" sz="2000" dirty="0"/>
              <a:t>Frames allocated to a process can be different from run to run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8923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Frame Allocation and Thrashing</a:t>
            </a:r>
          </a:p>
        </p:txBody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Insufficient physical frame </a:t>
            </a:r>
            <a:r>
              <a:rPr lang="en-US" altLang="en-US" dirty="0">
                <a:sym typeface="Wingdings" pitchFamily="2" charset="2"/>
              </a:rPr>
              <a:t> Thrashing in process</a:t>
            </a:r>
          </a:p>
          <a:p>
            <a:pPr lvl="1"/>
            <a:r>
              <a:rPr lang="en-US" altLang="en-US" dirty="0">
                <a:sym typeface="Wingdings" pitchFamily="2" charset="2"/>
              </a:rPr>
              <a:t>Heavy I/O to bring non-resident pages into RAM</a:t>
            </a:r>
          </a:p>
          <a:p>
            <a:pPr marL="344487" lvl="1" indent="0">
              <a:buNone/>
            </a:pPr>
            <a:endParaRPr lang="en-US" altLang="en-US" dirty="0">
              <a:sym typeface="Wingdings" pitchFamily="2" charset="2"/>
            </a:endParaRPr>
          </a:p>
          <a:p>
            <a:r>
              <a:rPr lang="en-US" altLang="en-US" dirty="0"/>
              <a:t>Hard to find the right number of frames:</a:t>
            </a:r>
          </a:p>
          <a:p>
            <a:pPr lvl="1"/>
            <a:r>
              <a:rPr lang="en-US" altLang="en-US" dirty="0"/>
              <a:t>If global replacement is used:</a:t>
            </a:r>
          </a:p>
          <a:p>
            <a:pPr lvl="2"/>
            <a:r>
              <a:rPr lang="en-US" altLang="en-US" dirty="0"/>
              <a:t>A thrashing process "steals" page from other process </a:t>
            </a:r>
          </a:p>
          <a:p>
            <a:pPr lvl="2">
              <a:buFont typeface="Wingdings" pitchFamily="2" charset="2"/>
              <a:buChar char="è"/>
            </a:pPr>
            <a:r>
              <a:rPr lang="en-US" altLang="en-US" dirty="0">
                <a:sym typeface="Wingdings" pitchFamily="2" charset="2"/>
              </a:rPr>
              <a:t>cause other process to thrashing  (</a:t>
            </a:r>
            <a:r>
              <a:rPr lang="en-US" altLang="en-US" b="1" dirty="0">
                <a:sym typeface="Wingdings" pitchFamily="2" charset="2"/>
              </a:rPr>
              <a:t>Cascading Thrashing</a:t>
            </a:r>
            <a:r>
              <a:rPr lang="en-US" altLang="en-US" dirty="0">
                <a:sym typeface="Wingdings" pitchFamily="2" charset="2"/>
              </a:rPr>
              <a:t>)</a:t>
            </a:r>
          </a:p>
          <a:p>
            <a:pPr marL="671512" lvl="2" indent="0">
              <a:buNone/>
            </a:pPr>
            <a:endParaRPr lang="en-US" altLang="en-US" dirty="0">
              <a:sym typeface="Wingdings" pitchFamily="2" charset="2"/>
            </a:endParaRPr>
          </a:p>
          <a:p>
            <a:pPr lvl="1"/>
            <a:r>
              <a:rPr lang="en-US" altLang="en-US" dirty="0"/>
              <a:t>If local replacement is used:</a:t>
            </a:r>
          </a:p>
          <a:p>
            <a:pPr lvl="2"/>
            <a:r>
              <a:rPr lang="en-US" altLang="en-US" dirty="0"/>
              <a:t>Thrashing can be limited to one process</a:t>
            </a:r>
          </a:p>
          <a:p>
            <a:pPr lvl="2"/>
            <a:r>
              <a:rPr lang="en-US" altLang="en-US" dirty="0"/>
              <a:t>But that single process can hog the I/O and degrades the performance of other processes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2479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Finding the right number of frames…</a:t>
            </a:r>
          </a:p>
        </p:txBody>
      </p:sp>
      <p:sp>
        <p:nvSpPr>
          <p:cNvPr id="90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Observation: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b="1" dirty="0"/>
              <a:t>set </a:t>
            </a:r>
            <a:r>
              <a:rPr lang="en-US" altLang="en-US" dirty="0"/>
              <a:t>of pages referenced by a process is relatively constant in a period of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/>
              <a:t>locality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However, as time passes, the set of pages can change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 Example: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a function is executing, the references are likely on:</a:t>
            </a:r>
          </a:p>
          <a:p>
            <a:pPr lvl="2">
              <a:lnSpc>
                <a:spcPct val="90000"/>
              </a:lnSpc>
            </a:pPr>
            <a:r>
              <a:rPr lang="en-US" altLang="en-US" i="1" dirty="0"/>
              <a:t>local variables, parameters, code in that function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these pages define the locality for the function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After the function terminates, the references will changes to another set of pages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157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Working Set Model</a:t>
            </a:r>
          </a:p>
        </p:txBody>
      </p:sp>
      <p:sp>
        <p:nvSpPr>
          <p:cNvPr id="90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dirty="0"/>
              <a:t>Using the observation on locality:</a:t>
            </a:r>
          </a:p>
          <a:p>
            <a:pPr lvl="1"/>
            <a:r>
              <a:rPr lang="en-US" altLang="en-US" dirty="0"/>
              <a:t>In a new locality:</a:t>
            </a:r>
          </a:p>
          <a:p>
            <a:pPr lvl="2"/>
            <a:r>
              <a:rPr lang="en-US" altLang="en-US" dirty="0"/>
              <a:t>A process will cause page fault for the set of pages</a:t>
            </a:r>
          </a:p>
          <a:p>
            <a:pPr lvl="1"/>
            <a:r>
              <a:rPr lang="en-US" altLang="en-US" dirty="0"/>
              <a:t>With the set of pages in frame:</a:t>
            </a:r>
          </a:p>
          <a:p>
            <a:pPr lvl="2"/>
            <a:r>
              <a:rPr lang="en-US" altLang="en-US" dirty="0"/>
              <a:t>No/few page fault until process transits to new locality</a:t>
            </a:r>
          </a:p>
          <a:p>
            <a:pPr marL="671512" lvl="2" indent="0">
              <a:buNone/>
            </a:pPr>
            <a:endParaRPr lang="en-US" altLang="en-US" dirty="0"/>
          </a:p>
          <a:p>
            <a:r>
              <a:rPr lang="en-US" altLang="en-US" dirty="0"/>
              <a:t>Working Set Model:</a:t>
            </a:r>
          </a:p>
          <a:p>
            <a:pPr lvl="1"/>
            <a:r>
              <a:rPr lang="en-US" altLang="en-US" dirty="0"/>
              <a:t>Defines Working Set Window </a:t>
            </a:r>
            <a:r>
              <a:rPr lang="en-US" altLang="en-US" dirty="0">
                <a:sym typeface="Symbol" pitchFamily="18" charset="2"/>
              </a:rPr>
              <a:t></a:t>
            </a:r>
          </a:p>
          <a:p>
            <a:pPr lvl="2"/>
            <a:r>
              <a:rPr lang="en-US" altLang="en-US" dirty="0"/>
              <a:t>An interval of time</a:t>
            </a:r>
          </a:p>
          <a:p>
            <a:pPr lvl="1"/>
            <a:r>
              <a:rPr lang="en-US" altLang="en-US" b="1" dirty="0">
                <a:latin typeface="Courier New" pitchFamily="49" charset="0"/>
              </a:rPr>
              <a:t>W(t,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)</a:t>
            </a:r>
            <a:r>
              <a:rPr lang="en-US" altLang="en-US" dirty="0">
                <a:sym typeface="Symbol" pitchFamily="18" charset="2"/>
              </a:rPr>
              <a:t> = active pages in the interval at time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t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Allocate enough frames for pages in </a:t>
            </a:r>
            <a:r>
              <a:rPr lang="en-US" altLang="en-US" b="1" dirty="0">
                <a:latin typeface="Courier New" pitchFamily="49" charset="0"/>
              </a:rPr>
              <a:t>W(t,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)</a:t>
            </a:r>
            <a:r>
              <a:rPr lang="en-US" altLang="en-US" dirty="0">
                <a:sym typeface="Symbol" pitchFamily="18" charset="2"/>
              </a:rPr>
              <a:t> to reduce possibility of page fault</a:t>
            </a:r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5799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27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Working Set Model: Illustration</a:t>
            </a:r>
          </a:p>
        </p:txBody>
      </p:sp>
      <p:sp>
        <p:nvSpPr>
          <p:cNvPr id="866328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457200" y="4648200"/>
            <a:ext cx="8229600" cy="182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Accuracy of working set model is directly affected by the choice of </a:t>
            </a:r>
            <a:r>
              <a:rPr lang="en-US" altLang="en-US">
                <a:sym typeface="Symbol" pitchFamily="18" charset="2"/>
              </a:rPr>
              <a:t>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itchFamily="18" charset="2"/>
              </a:rPr>
              <a:t>Too small: May miss pages in the current locality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itchFamily="18" charset="2"/>
              </a:rPr>
              <a:t>Too big: May contains pages from different locality</a:t>
            </a:r>
          </a:p>
        </p:txBody>
      </p:sp>
      <p:sp>
        <p:nvSpPr>
          <p:cNvPr id="866307" name="Freeform 3"/>
          <p:cNvSpPr>
            <a:spLocks/>
          </p:cNvSpPr>
          <p:nvPr/>
        </p:nvSpPr>
        <p:spPr bwMode="auto">
          <a:xfrm>
            <a:off x="1247775" y="2090738"/>
            <a:ext cx="3290888" cy="1600200"/>
          </a:xfrm>
          <a:custGeom>
            <a:avLst/>
            <a:gdLst>
              <a:gd name="T0" fmla="*/ 0 w 2405"/>
              <a:gd name="T1" fmla="*/ 1102 h 1102"/>
              <a:gd name="T2" fmla="*/ 36 w 2405"/>
              <a:gd name="T3" fmla="*/ 1051 h 1102"/>
              <a:gd name="T4" fmla="*/ 65 w 2405"/>
              <a:gd name="T5" fmla="*/ 965 h 1102"/>
              <a:gd name="T6" fmla="*/ 144 w 2405"/>
              <a:gd name="T7" fmla="*/ 900 h 1102"/>
              <a:gd name="T8" fmla="*/ 173 w 2405"/>
              <a:gd name="T9" fmla="*/ 864 h 1102"/>
              <a:gd name="T10" fmla="*/ 194 w 2405"/>
              <a:gd name="T11" fmla="*/ 821 h 1102"/>
              <a:gd name="T12" fmla="*/ 302 w 2405"/>
              <a:gd name="T13" fmla="*/ 806 h 1102"/>
              <a:gd name="T14" fmla="*/ 360 w 2405"/>
              <a:gd name="T15" fmla="*/ 792 h 1102"/>
              <a:gd name="T16" fmla="*/ 417 w 2405"/>
              <a:gd name="T17" fmla="*/ 806 h 1102"/>
              <a:gd name="T18" fmla="*/ 475 w 2405"/>
              <a:gd name="T19" fmla="*/ 799 h 1102"/>
              <a:gd name="T20" fmla="*/ 482 w 2405"/>
              <a:gd name="T21" fmla="*/ 778 h 1102"/>
              <a:gd name="T22" fmla="*/ 504 w 2405"/>
              <a:gd name="T23" fmla="*/ 727 h 1102"/>
              <a:gd name="T24" fmla="*/ 540 w 2405"/>
              <a:gd name="T25" fmla="*/ 648 h 1102"/>
              <a:gd name="T26" fmla="*/ 605 w 2405"/>
              <a:gd name="T27" fmla="*/ 504 h 1102"/>
              <a:gd name="T28" fmla="*/ 705 w 2405"/>
              <a:gd name="T29" fmla="*/ 497 h 1102"/>
              <a:gd name="T30" fmla="*/ 979 w 2405"/>
              <a:gd name="T31" fmla="*/ 403 h 1102"/>
              <a:gd name="T32" fmla="*/ 1022 w 2405"/>
              <a:gd name="T33" fmla="*/ 259 h 1102"/>
              <a:gd name="T34" fmla="*/ 1037 w 2405"/>
              <a:gd name="T35" fmla="*/ 216 h 1102"/>
              <a:gd name="T36" fmla="*/ 1058 w 2405"/>
              <a:gd name="T37" fmla="*/ 101 h 1102"/>
              <a:gd name="T38" fmla="*/ 1087 w 2405"/>
              <a:gd name="T39" fmla="*/ 7 h 1102"/>
              <a:gd name="T40" fmla="*/ 1145 w 2405"/>
              <a:gd name="T41" fmla="*/ 79 h 1102"/>
              <a:gd name="T42" fmla="*/ 1166 w 2405"/>
              <a:gd name="T43" fmla="*/ 698 h 1102"/>
              <a:gd name="T44" fmla="*/ 1181 w 2405"/>
              <a:gd name="T45" fmla="*/ 742 h 1102"/>
              <a:gd name="T46" fmla="*/ 1397 w 2405"/>
              <a:gd name="T47" fmla="*/ 799 h 1102"/>
              <a:gd name="T48" fmla="*/ 1490 w 2405"/>
              <a:gd name="T49" fmla="*/ 821 h 1102"/>
              <a:gd name="T50" fmla="*/ 1677 w 2405"/>
              <a:gd name="T51" fmla="*/ 792 h 1102"/>
              <a:gd name="T52" fmla="*/ 1728 w 2405"/>
              <a:gd name="T53" fmla="*/ 626 h 1102"/>
              <a:gd name="T54" fmla="*/ 1785 w 2405"/>
              <a:gd name="T55" fmla="*/ 554 h 1102"/>
              <a:gd name="T56" fmla="*/ 1829 w 2405"/>
              <a:gd name="T57" fmla="*/ 497 h 1102"/>
              <a:gd name="T58" fmla="*/ 1944 w 2405"/>
              <a:gd name="T59" fmla="*/ 482 h 1102"/>
              <a:gd name="T60" fmla="*/ 2095 w 2405"/>
              <a:gd name="T61" fmla="*/ 461 h 1102"/>
              <a:gd name="T62" fmla="*/ 2124 w 2405"/>
              <a:gd name="T63" fmla="*/ 374 h 1102"/>
              <a:gd name="T64" fmla="*/ 2153 w 2405"/>
              <a:gd name="T65" fmla="*/ 151 h 1102"/>
              <a:gd name="T66" fmla="*/ 2196 w 2405"/>
              <a:gd name="T67" fmla="*/ 86 h 1102"/>
              <a:gd name="T68" fmla="*/ 2405 w 2405"/>
              <a:gd name="T69" fmla="*/ 0 h 1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05" h="1102">
                <a:moveTo>
                  <a:pt x="0" y="1102"/>
                </a:moveTo>
                <a:cubicBezTo>
                  <a:pt x="16" y="1085"/>
                  <a:pt x="19" y="1068"/>
                  <a:pt x="36" y="1051"/>
                </a:cubicBezTo>
                <a:cubicBezTo>
                  <a:pt x="41" y="1034"/>
                  <a:pt x="51" y="983"/>
                  <a:pt x="65" y="965"/>
                </a:cubicBezTo>
                <a:cubicBezTo>
                  <a:pt x="80" y="946"/>
                  <a:pt x="124" y="913"/>
                  <a:pt x="144" y="900"/>
                </a:cubicBezTo>
                <a:cubicBezTo>
                  <a:pt x="152" y="887"/>
                  <a:pt x="165" y="877"/>
                  <a:pt x="173" y="864"/>
                </a:cubicBezTo>
                <a:cubicBezTo>
                  <a:pt x="185" y="844"/>
                  <a:pt x="173" y="838"/>
                  <a:pt x="194" y="821"/>
                </a:cubicBezTo>
                <a:cubicBezTo>
                  <a:pt x="223" y="799"/>
                  <a:pt x="266" y="809"/>
                  <a:pt x="302" y="806"/>
                </a:cubicBezTo>
                <a:cubicBezTo>
                  <a:pt x="322" y="802"/>
                  <a:pt x="340" y="792"/>
                  <a:pt x="360" y="792"/>
                </a:cubicBezTo>
                <a:cubicBezTo>
                  <a:pt x="380" y="792"/>
                  <a:pt x="398" y="802"/>
                  <a:pt x="417" y="806"/>
                </a:cubicBezTo>
                <a:cubicBezTo>
                  <a:pt x="436" y="804"/>
                  <a:pt x="457" y="807"/>
                  <a:pt x="475" y="799"/>
                </a:cubicBezTo>
                <a:cubicBezTo>
                  <a:pt x="482" y="796"/>
                  <a:pt x="480" y="785"/>
                  <a:pt x="482" y="778"/>
                </a:cubicBezTo>
                <a:cubicBezTo>
                  <a:pt x="494" y="737"/>
                  <a:pt x="481" y="760"/>
                  <a:pt x="504" y="727"/>
                </a:cubicBezTo>
                <a:cubicBezTo>
                  <a:pt x="515" y="694"/>
                  <a:pt x="516" y="670"/>
                  <a:pt x="540" y="648"/>
                </a:cubicBezTo>
                <a:cubicBezTo>
                  <a:pt x="556" y="599"/>
                  <a:pt x="566" y="540"/>
                  <a:pt x="605" y="504"/>
                </a:cubicBezTo>
                <a:cubicBezTo>
                  <a:pt x="639" y="515"/>
                  <a:pt x="671" y="508"/>
                  <a:pt x="705" y="497"/>
                </a:cubicBezTo>
                <a:cubicBezTo>
                  <a:pt x="862" y="504"/>
                  <a:pt x="896" y="534"/>
                  <a:pt x="979" y="403"/>
                </a:cubicBezTo>
                <a:cubicBezTo>
                  <a:pt x="1008" y="357"/>
                  <a:pt x="1005" y="309"/>
                  <a:pt x="1022" y="259"/>
                </a:cubicBezTo>
                <a:cubicBezTo>
                  <a:pt x="1027" y="245"/>
                  <a:pt x="1037" y="216"/>
                  <a:pt x="1037" y="216"/>
                </a:cubicBezTo>
                <a:cubicBezTo>
                  <a:pt x="1042" y="176"/>
                  <a:pt x="1045" y="139"/>
                  <a:pt x="1058" y="101"/>
                </a:cubicBezTo>
                <a:cubicBezTo>
                  <a:pt x="1063" y="58"/>
                  <a:pt x="1059" y="36"/>
                  <a:pt x="1087" y="7"/>
                </a:cubicBezTo>
                <a:cubicBezTo>
                  <a:pt x="1122" y="18"/>
                  <a:pt x="1133" y="47"/>
                  <a:pt x="1145" y="79"/>
                </a:cubicBezTo>
                <a:cubicBezTo>
                  <a:pt x="1173" y="282"/>
                  <a:pt x="1160" y="498"/>
                  <a:pt x="1166" y="698"/>
                </a:cubicBezTo>
                <a:cubicBezTo>
                  <a:pt x="1166" y="699"/>
                  <a:pt x="1180" y="741"/>
                  <a:pt x="1181" y="742"/>
                </a:cubicBezTo>
                <a:cubicBezTo>
                  <a:pt x="1224" y="772"/>
                  <a:pt x="1346" y="794"/>
                  <a:pt x="1397" y="799"/>
                </a:cubicBezTo>
                <a:cubicBezTo>
                  <a:pt x="1427" y="809"/>
                  <a:pt x="1458" y="815"/>
                  <a:pt x="1490" y="821"/>
                </a:cubicBezTo>
                <a:cubicBezTo>
                  <a:pt x="1574" y="816"/>
                  <a:pt x="1606" y="810"/>
                  <a:pt x="1677" y="792"/>
                </a:cubicBezTo>
                <a:cubicBezTo>
                  <a:pt x="1689" y="739"/>
                  <a:pt x="1704" y="676"/>
                  <a:pt x="1728" y="626"/>
                </a:cubicBezTo>
                <a:cubicBezTo>
                  <a:pt x="1741" y="600"/>
                  <a:pt x="1767" y="577"/>
                  <a:pt x="1785" y="554"/>
                </a:cubicBezTo>
                <a:cubicBezTo>
                  <a:pt x="1799" y="536"/>
                  <a:pt x="1809" y="509"/>
                  <a:pt x="1829" y="497"/>
                </a:cubicBezTo>
                <a:cubicBezTo>
                  <a:pt x="1862" y="478"/>
                  <a:pt x="1905" y="485"/>
                  <a:pt x="1944" y="482"/>
                </a:cubicBezTo>
                <a:cubicBezTo>
                  <a:pt x="2002" y="468"/>
                  <a:pt x="2023" y="466"/>
                  <a:pt x="2095" y="461"/>
                </a:cubicBezTo>
                <a:cubicBezTo>
                  <a:pt x="2118" y="437"/>
                  <a:pt x="2118" y="406"/>
                  <a:pt x="2124" y="374"/>
                </a:cubicBezTo>
                <a:cubicBezTo>
                  <a:pt x="2125" y="346"/>
                  <a:pt x="2107" y="197"/>
                  <a:pt x="2153" y="151"/>
                </a:cubicBezTo>
                <a:cubicBezTo>
                  <a:pt x="2162" y="124"/>
                  <a:pt x="2178" y="109"/>
                  <a:pt x="2196" y="86"/>
                </a:cubicBezTo>
                <a:cubicBezTo>
                  <a:pt x="2224" y="3"/>
                  <a:pt x="2332" y="0"/>
                  <a:pt x="2405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08" name="Line 4"/>
          <p:cNvSpPr>
            <a:spLocks noChangeShapeType="1"/>
          </p:cNvSpPr>
          <p:nvPr/>
        </p:nvSpPr>
        <p:spPr bwMode="auto">
          <a:xfrm flipV="1">
            <a:off x="1247775" y="1502175"/>
            <a:ext cx="0" cy="219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09" name="Line 5"/>
          <p:cNvSpPr>
            <a:spLocks noChangeShapeType="1"/>
          </p:cNvSpPr>
          <p:nvPr/>
        </p:nvSpPr>
        <p:spPr bwMode="auto">
          <a:xfrm>
            <a:off x="1247775" y="3694113"/>
            <a:ext cx="3613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10" name="Text Box 6"/>
          <p:cNvSpPr txBox="1">
            <a:spLocks noChangeArrowheads="1"/>
          </p:cNvSpPr>
          <p:nvPr/>
        </p:nvSpPr>
        <p:spPr bwMode="auto">
          <a:xfrm>
            <a:off x="611672" y="1174351"/>
            <a:ext cx="1621941" cy="327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600" dirty="0"/>
              <a:t>working set size</a:t>
            </a:r>
          </a:p>
        </p:txBody>
      </p:sp>
      <p:sp>
        <p:nvSpPr>
          <p:cNvPr id="866311" name="Text Box 7"/>
          <p:cNvSpPr txBox="1">
            <a:spLocks noChangeArrowheads="1"/>
          </p:cNvSpPr>
          <p:nvPr/>
        </p:nvSpPr>
        <p:spPr bwMode="auto">
          <a:xfrm>
            <a:off x="4992688" y="3484563"/>
            <a:ext cx="551135" cy="327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600" dirty="0"/>
              <a:t>time</a:t>
            </a:r>
          </a:p>
        </p:txBody>
      </p:sp>
      <p:sp>
        <p:nvSpPr>
          <p:cNvPr id="866312" name="Line 8"/>
          <p:cNvSpPr>
            <a:spLocks noChangeShapeType="1"/>
          </p:cNvSpPr>
          <p:nvPr/>
        </p:nvSpPr>
        <p:spPr bwMode="auto">
          <a:xfrm>
            <a:off x="1511300" y="2787650"/>
            <a:ext cx="0" cy="9064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13" name="Line 9"/>
          <p:cNvSpPr>
            <a:spLocks noChangeShapeType="1"/>
          </p:cNvSpPr>
          <p:nvPr/>
        </p:nvSpPr>
        <p:spPr bwMode="auto">
          <a:xfrm>
            <a:off x="1905000" y="2787650"/>
            <a:ext cx="0" cy="9064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14" name="Line 10"/>
          <p:cNvSpPr>
            <a:spLocks noChangeShapeType="1"/>
          </p:cNvSpPr>
          <p:nvPr/>
        </p:nvSpPr>
        <p:spPr bwMode="auto">
          <a:xfrm>
            <a:off x="2101850" y="2717800"/>
            <a:ext cx="0" cy="9763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15" name="Line 11"/>
          <p:cNvSpPr>
            <a:spLocks noChangeShapeType="1"/>
          </p:cNvSpPr>
          <p:nvPr/>
        </p:nvSpPr>
        <p:spPr bwMode="auto">
          <a:xfrm>
            <a:off x="2495550" y="2717800"/>
            <a:ext cx="0" cy="9763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16" name="AutoShape 12"/>
          <p:cNvSpPr>
            <a:spLocks/>
          </p:cNvSpPr>
          <p:nvPr/>
        </p:nvSpPr>
        <p:spPr bwMode="auto">
          <a:xfrm rot="16200000">
            <a:off x="1309688" y="3702050"/>
            <a:ext cx="139700" cy="263525"/>
          </a:xfrm>
          <a:prstGeom prst="leftBrace">
            <a:avLst>
              <a:gd name="adj1" fmla="val 1572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66317" name="AutoShape 13"/>
          <p:cNvSpPr>
            <a:spLocks/>
          </p:cNvSpPr>
          <p:nvPr/>
        </p:nvSpPr>
        <p:spPr bwMode="auto">
          <a:xfrm rot="16200000">
            <a:off x="1670844" y="3669507"/>
            <a:ext cx="139700" cy="328612"/>
          </a:xfrm>
          <a:prstGeom prst="leftBrace">
            <a:avLst>
              <a:gd name="adj1" fmla="val 1960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66318" name="AutoShape 14"/>
          <p:cNvSpPr>
            <a:spLocks/>
          </p:cNvSpPr>
          <p:nvPr/>
        </p:nvSpPr>
        <p:spPr bwMode="auto">
          <a:xfrm rot="16200000">
            <a:off x="2196307" y="3669506"/>
            <a:ext cx="139700" cy="328613"/>
          </a:xfrm>
          <a:prstGeom prst="leftBrace">
            <a:avLst>
              <a:gd name="adj1" fmla="val 1960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866319" name="Text Box 15"/>
          <p:cNvSpPr txBox="1">
            <a:spLocks noChangeArrowheads="1"/>
          </p:cNvSpPr>
          <p:nvPr/>
        </p:nvSpPr>
        <p:spPr bwMode="auto">
          <a:xfrm>
            <a:off x="854075" y="3998913"/>
            <a:ext cx="1299738" cy="404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100" b="1" dirty="0">
                <a:solidFill>
                  <a:srgbClr val="C00000"/>
                </a:solidFill>
              </a:rPr>
              <a:t>transient</a:t>
            </a:r>
          </a:p>
        </p:txBody>
      </p:sp>
      <p:sp>
        <p:nvSpPr>
          <p:cNvPr id="866320" name="Line 16"/>
          <p:cNvSpPr>
            <a:spLocks noChangeShapeType="1"/>
          </p:cNvSpPr>
          <p:nvPr/>
        </p:nvSpPr>
        <p:spPr bwMode="auto">
          <a:xfrm flipV="1">
            <a:off x="1247775" y="3903663"/>
            <a:ext cx="131763" cy="207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21" name="Text Box 17"/>
          <p:cNvSpPr txBox="1">
            <a:spLocks noChangeArrowheads="1"/>
          </p:cNvSpPr>
          <p:nvPr/>
        </p:nvSpPr>
        <p:spPr bwMode="auto">
          <a:xfrm>
            <a:off x="2233613" y="3998913"/>
            <a:ext cx="91757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100" b="1">
                <a:solidFill>
                  <a:srgbClr val="008000"/>
                </a:solidFill>
              </a:rPr>
              <a:t>stable</a:t>
            </a:r>
          </a:p>
        </p:txBody>
      </p:sp>
      <p:sp>
        <p:nvSpPr>
          <p:cNvPr id="866322" name="Line 18"/>
          <p:cNvSpPr>
            <a:spLocks noChangeShapeType="1"/>
          </p:cNvSpPr>
          <p:nvPr/>
        </p:nvSpPr>
        <p:spPr bwMode="auto">
          <a:xfrm>
            <a:off x="1740694" y="3903663"/>
            <a:ext cx="558006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23" name="Line 19"/>
          <p:cNvSpPr>
            <a:spLocks noChangeShapeType="1"/>
          </p:cNvSpPr>
          <p:nvPr/>
        </p:nvSpPr>
        <p:spPr bwMode="auto">
          <a:xfrm>
            <a:off x="2298700" y="3903663"/>
            <a:ext cx="66675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66324" name="Text Box 20"/>
          <p:cNvSpPr txBox="1">
            <a:spLocks noChangeArrowheads="1"/>
          </p:cNvSpPr>
          <p:nvPr/>
        </p:nvSpPr>
        <p:spPr bwMode="auto">
          <a:xfrm>
            <a:off x="5867400" y="1454150"/>
            <a:ext cx="266065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80803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100" b="1" dirty="0">
                <a:solidFill>
                  <a:srgbClr val="C00000"/>
                </a:solidFill>
              </a:rPr>
              <a:t>transient region:</a:t>
            </a:r>
          </a:p>
          <a:p>
            <a:r>
              <a:rPr lang="en-US" altLang="en-US" sz="2100" dirty="0"/>
              <a:t>working set changing</a:t>
            </a:r>
          </a:p>
          <a:p>
            <a:r>
              <a:rPr lang="en-US" altLang="en-US" sz="2100" dirty="0"/>
              <a:t>in size</a:t>
            </a:r>
          </a:p>
          <a:p>
            <a:endParaRPr lang="en-US" altLang="en-US" sz="2100" dirty="0"/>
          </a:p>
        </p:txBody>
      </p:sp>
      <p:sp>
        <p:nvSpPr>
          <p:cNvPr id="866325" name="Text Box 21"/>
          <p:cNvSpPr txBox="1">
            <a:spLocks noChangeArrowheads="1"/>
          </p:cNvSpPr>
          <p:nvPr/>
        </p:nvSpPr>
        <p:spPr bwMode="auto">
          <a:xfrm>
            <a:off x="5867400" y="2971800"/>
            <a:ext cx="269240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100" b="1" dirty="0">
                <a:solidFill>
                  <a:srgbClr val="006600"/>
                </a:solidFill>
              </a:rPr>
              <a:t>stable region</a:t>
            </a:r>
            <a:r>
              <a:rPr lang="en-US" altLang="en-US" sz="2100" dirty="0"/>
              <a:t>:</a:t>
            </a:r>
          </a:p>
          <a:p>
            <a:r>
              <a:rPr lang="en-US" altLang="en-US" sz="2100" dirty="0"/>
              <a:t>working set about the</a:t>
            </a:r>
          </a:p>
          <a:p>
            <a:r>
              <a:rPr lang="en-US" altLang="en-US" sz="2100" dirty="0"/>
              <a:t>same for a long time</a:t>
            </a:r>
          </a:p>
          <a:p>
            <a:endParaRPr lang="en-US" altLang="en-US" sz="21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963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6316" grpId="0" animBg="1"/>
      <p:bldP spid="866317" grpId="0" animBg="1"/>
      <p:bldP spid="866318" grpId="0" animBg="1"/>
      <p:bldP spid="866319" grpId="0"/>
      <p:bldP spid="866320" grpId="0" animBg="1"/>
      <p:bldP spid="866321" grpId="0"/>
      <p:bldP spid="866322" grpId="0" animBg="1"/>
      <p:bldP spid="866323" grpId="0" animBg="1"/>
      <p:bldP spid="866324" grpId="0"/>
      <p:bldP spid="8663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Working Set Model: Illustration</a:t>
            </a:r>
          </a:p>
        </p:txBody>
      </p:sp>
      <p:sp>
        <p:nvSpPr>
          <p:cNvPr id="90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762000"/>
          </a:xfrm>
        </p:spPr>
        <p:txBody>
          <a:bodyPr/>
          <a:lstStyle/>
          <a:p>
            <a:r>
              <a:rPr lang="en-US" altLang="en-US"/>
              <a:t>Example memory reference strings</a:t>
            </a:r>
          </a:p>
        </p:txBody>
      </p:sp>
      <p:sp>
        <p:nvSpPr>
          <p:cNvPr id="905221" name="Rectangle 5"/>
          <p:cNvSpPr>
            <a:spLocks noChangeArrowheads="1"/>
          </p:cNvSpPr>
          <p:nvPr/>
        </p:nvSpPr>
        <p:spPr bwMode="auto">
          <a:xfrm>
            <a:off x="609600" y="3352800"/>
            <a:ext cx="80772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Assume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>
                <a:sym typeface="Symbol" pitchFamily="18" charset="2"/>
              </a:rPr>
              <a:t></a:t>
            </a:r>
            <a:r>
              <a:rPr lang="en-US" altLang="en-US" dirty="0"/>
              <a:t> = an interval of 5 memory references</a:t>
            </a:r>
          </a:p>
          <a:p>
            <a:r>
              <a:rPr lang="en-US" altLang="en-US" sz="2800" b="1" dirty="0">
                <a:latin typeface="Courier New" pitchFamily="49" charset="0"/>
              </a:rPr>
              <a:t>W(</a:t>
            </a:r>
            <a:r>
              <a:rPr lang="en-US" altLang="en-US" sz="2800" b="1" i="1" dirty="0">
                <a:latin typeface="Courier New" pitchFamily="49" charset="0"/>
              </a:rPr>
              <a:t>t1</a:t>
            </a:r>
            <a:r>
              <a:rPr lang="en-US" altLang="en-US" sz="2800" b="1" dirty="0">
                <a:latin typeface="Courier New" pitchFamily="49" charset="0"/>
              </a:rPr>
              <a:t>,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)={1,2,5,6,7}</a:t>
            </a:r>
            <a:r>
              <a:rPr lang="en-US" altLang="en-US" dirty="0">
                <a:sym typeface="Symbol" pitchFamily="18" charset="2"/>
              </a:rPr>
              <a:t>  (5 frames needed)</a:t>
            </a:r>
          </a:p>
          <a:p>
            <a:r>
              <a:rPr lang="en-US" altLang="en-US" sz="2800" b="1" dirty="0">
                <a:latin typeface="Courier New" pitchFamily="49" charset="0"/>
              </a:rPr>
              <a:t>W(</a:t>
            </a:r>
            <a:r>
              <a:rPr lang="en-US" altLang="en-US" sz="2800" b="1" i="1" dirty="0">
                <a:latin typeface="Courier New" pitchFamily="49" charset="0"/>
              </a:rPr>
              <a:t>t2</a:t>
            </a:r>
            <a:r>
              <a:rPr lang="en-US" altLang="en-US" sz="2800" b="1" dirty="0">
                <a:latin typeface="Courier New" pitchFamily="49" charset="0"/>
              </a:rPr>
              <a:t>,</a:t>
            </a:r>
            <a:r>
              <a:rPr lang="en-US" altLang="en-US" sz="2800" b="1" dirty="0">
                <a:latin typeface="Courier New" pitchFamily="49" charset="0"/>
                <a:sym typeface="Symbol" pitchFamily="18" charset="2"/>
              </a:rPr>
              <a:t>)={3,4}</a:t>
            </a:r>
            <a:r>
              <a:rPr lang="en-US" altLang="en-US" dirty="0">
                <a:sym typeface="Symbol" pitchFamily="18" charset="2"/>
              </a:rPr>
              <a:t>              (2 frames needed)</a:t>
            </a:r>
          </a:p>
          <a:p>
            <a:r>
              <a:rPr lang="en-US" altLang="en-US" dirty="0">
                <a:sym typeface="Symbol" pitchFamily="18" charset="2"/>
              </a:rPr>
              <a:t>Try using different  values</a:t>
            </a:r>
          </a:p>
        </p:txBody>
      </p:sp>
      <p:grpSp>
        <p:nvGrpSpPr>
          <p:cNvPr id="905224" name="Group 8"/>
          <p:cNvGrpSpPr>
            <a:grpSpLocks/>
          </p:cNvGrpSpPr>
          <p:nvPr/>
        </p:nvGrpSpPr>
        <p:grpSpPr bwMode="auto">
          <a:xfrm>
            <a:off x="2514600" y="2034236"/>
            <a:ext cx="457200" cy="1357313"/>
            <a:chOff x="1440" y="1344"/>
            <a:chExt cx="288" cy="855"/>
          </a:xfrm>
        </p:grpSpPr>
        <p:sp>
          <p:nvSpPr>
            <p:cNvPr id="905222" name="Line 6"/>
            <p:cNvSpPr>
              <a:spLocks noChangeShapeType="1"/>
            </p:cNvSpPr>
            <p:nvPr/>
          </p:nvSpPr>
          <p:spPr bwMode="auto">
            <a:xfrm flipV="1">
              <a:off x="1584" y="1344"/>
              <a:ext cx="0" cy="62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905223" name="Text Box 7"/>
            <p:cNvSpPr txBox="1">
              <a:spLocks noChangeArrowheads="1"/>
            </p:cNvSpPr>
            <p:nvPr/>
          </p:nvSpPr>
          <p:spPr bwMode="auto">
            <a:xfrm>
              <a:off x="1440" y="196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t1</a:t>
              </a:r>
            </a:p>
          </p:txBody>
        </p:sp>
      </p:grpSp>
      <p:grpSp>
        <p:nvGrpSpPr>
          <p:cNvPr id="905227" name="Group 11"/>
          <p:cNvGrpSpPr>
            <a:grpSpLocks/>
          </p:cNvGrpSpPr>
          <p:nvPr/>
        </p:nvGrpSpPr>
        <p:grpSpPr bwMode="auto">
          <a:xfrm>
            <a:off x="990600" y="2262836"/>
            <a:ext cx="1752600" cy="366713"/>
            <a:chOff x="480" y="1488"/>
            <a:chExt cx="1104" cy="231"/>
          </a:xfrm>
        </p:grpSpPr>
        <p:sp>
          <p:nvSpPr>
            <p:cNvPr id="905225" name="Line 9"/>
            <p:cNvSpPr>
              <a:spLocks noChangeShapeType="1"/>
            </p:cNvSpPr>
            <p:nvPr/>
          </p:nvSpPr>
          <p:spPr bwMode="auto">
            <a:xfrm flipV="1">
              <a:off x="480" y="1694"/>
              <a:ext cx="1104" cy="1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arrow" w="lg" len="lg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905226" name="Rectangle 10"/>
            <p:cNvSpPr>
              <a:spLocks noChangeArrowheads="1"/>
            </p:cNvSpPr>
            <p:nvPr/>
          </p:nvSpPr>
          <p:spPr bwMode="auto">
            <a:xfrm>
              <a:off x="1200" y="148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ym typeface="Symbol" pitchFamily="18" charset="2"/>
                </a:rPr>
                <a:t>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48</a:t>
            </a:fld>
            <a:endParaRPr lang="en-US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364760"/>
              </p:ext>
            </p:extLst>
          </p:nvPr>
        </p:nvGraphicFramePr>
        <p:xfrm>
          <a:off x="609600" y="1641966"/>
          <a:ext cx="73913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9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902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8"/>
          <p:cNvGrpSpPr>
            <a:grpSpLocks/>
          </p:cNvGrpSpPr>
          <p:nvPr/>
        </p:nvGrpSpPr>
        <p:grpSpPr bwMode="auto">
          <a:xfrm>
            <a:off x="6400800" y="2045060"/>
            <a:ext cx="457200" cy="1357313"/>
            <a:chOff x="1440" y="1344"/>
            <a:chExt cx="288" cy="855"/>
          </a:xfrm>
        </p:grpSpPr>
        <p:sp>
          <p:nvSpPr>
            <p:cNvPr id="22" name="Line 6"/>
            <p:cNvSpPr>
              <a:spLocks noChangeShapeType="1"/>
            </p:cNvSpPr>
            <p:nvPr/>
          </p:nvSpPr>
          <p:spPr bwMode="auto">
            <a:xfrm flipV="1">
              <a:off x="1584" y="1344"/>
              <a:ext cx="0" cy="62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1440" y="196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t2</a:t>
              </a:r>
            </a:p>
          </p:txBody>
        </p:sp>
      </p:grpSp>
      <p:grpSp>
        <p:nvGrpSpPr>
          <p:cNvPr id="24" name="Group 11"/>
          <p:cNvGrpSpPr>
            <a:grpSpLocks/>
          </p:cNvGrpSpPr>
          <p:nvPr/>
        </p:nvGrpSpPr>
        <p:grpSpPr bwMode="auto">
          <a:xfrm>
            <a:off x="4876800" y="2273660"/>
            <a:ext cx="1752600" cy="366713"/>
            <a:chOff x="480" y="1488"/>
            <a:chExt cx="1104" cy="231"/>
          </a:xfrm>
        </p:grpSpPr>
        <p:sp>
          <p:nvSpPr>
            <p:cNvPr id="25" name="Line 9"/>
            <p:cNvSpPr>
              <a:spLocks noChangeShapeType="1"/>
            </p:cNvSpPr>
            <p:nvPr/>
          </p:nvSpPr>
          <p:spPr bwMode="auto">
            <a:xfrm flipV="1">
              <a:off x="480" y="1694"/>
              <a:ext cx="1104" cy="1"/>
            </a:xfrm>
            <a:prstGeom prst="line">
              <a:avLst/>
            </a:prstGeom>
            <a:noFill/>
            <a:ln w="19050">
              <a:solidFill>
                <a:srgbClr val="000080"/>
              </a:solidFill>
              <a:round/>
              <a:headEnd type="arrow" w="lg" len="lg"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Rectangle 10"/>
            <p:cNvSpPr>
              <a:spLocks noChangeArrowheads="1"/>
            </p:cNvSpPr>
            <p:nvPr/>
          </p:nvSpPr>
          <p:spPr bwMode="auto">
            <a:xfrm>
              <a:off x="1200" y="148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>
                  <a:sym typeface="Symbol" pitchFamily="18" charset="2"/>
                </a:rPr>
                <a:t>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96091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Virtual memory</a:t>
            </a:r>
          </a:p>
          <a:p>
            <a:pPr lvl="1"/>
            <a:r>
              <a:rPr lang="en-US" altLang="en-US" dirty="0"/>
              <a:t>The "why" and "how"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Discussed different aspects of virtual memory management</a:t>
            </a:r>
          </a:p>
          <a:p>
            <a:pPr lvl="1"/>
            <a:r>
              <a:rPr lang="en-US" altLang="en-US" dirty="0"/>
              <a:t>Use different page table structure to reduce page table overhead</a:t>
            </a:r>
          </a:p>
          <a:p>
            <a:pPr lvl="1"/>
            <a:r>
              <a:rPr lang="en-US" altLang="en-US" dirty="0"/>
              <a:t>Use different page replacement algorithms to reduce page fault</a:t>
            </a:r>
          </a:p>
          <a:p>
            <a:pPr lvl="1"/>
            <a:r>
              <a:rPr lang="en-US" altLang="en-US" dirty="0"/>
              <a:t>How frame allocation affects page fault of a process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8408978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18750</TotalTime>
  <Words>3474</Words>
  <Application>Microsoft Office PowerPoint</Application>
  <PresentationFormat>On-screen Show (4:3)</PresentationFormat>
  <Paragraphs>949</Paragraphs>
  <Slides>49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Cambria Math</vt:lpstr>
      <vt:lpstr>Consolas</vt:lpstr>
      <vt:lpstr>Courier New</vt:lpstr>
      <vt:lpstr>Garamond</vt:lpstr>
      <vt:lpstr>Symbol</vt:lpstr>
      <vt:lpstr>Wingdings</vt:lpstr>
      <vt:lpstr>Edge</vt:lpstr>
      <vt:lpstr>Memory Management Virtual Memory Management</vt:lpstr>
      <vt:lpstr>Overview</vt:lpstr>
      <vt:lpstr>Virtual Memory: Motivation</vt:lpstr>
      <vt:lpstr>Virtual Memory: Basic Idea</vt:lpstr>
      <vt:lpstr>Virtual Memory: Paging Illustration</vt:lpstr>
      <vt:lpstr>Extended Paging Scheme</vt:lpstr>
      <vt:lpstr>Accessing Page X: General Steps</vt:lpstr>
      <vt:lpstr>Virtual Memory Accessing: Illustration</vt:lpstr>
      <vt:lpstr>Virtual Memory: Justification</vt:lpstr>
      <vt:lpstr>Recap: Locality Principles</vt:lpstr>
      <vt:lpstr>Virtual Memory and Locality Principle</vt:lpstr>
      <vt:lpstr>Virtual Memory: Summary</vt:lpstr>
      <vt:lpstr>More on Virtual Memory Management</vt:lpstr>
      <vt:lpstr>Page Table Structure</vt:lpstr>
      <vt:lpstr>Page Table Structure</vt:lpstr>
      <vt:lpstr>Page Table Structure: Direct Paging</vt:lpstr>
      <vt:lpstr>2-Level Paging: Basic Idea</vt:lpstr>
      <vt:lpstr>2-Level Paging: Description</vt:lpstr>
      <vt:lpstr>2-level Paging: Illustration</vt:lpstr>
      <vt:lpstr>2-Level Paging: Advantages</vt:lpstr>
      <vt:lpstr>Inverted Page Table: Basic Idea</vt:lpstr>
      <vt:lpstr>Inverted Page Table: Basic Idea (cont)</vt:lpstr>
      <vt:lpstr>Inverted Table: Illustration</vt:lpstr>
      <vt:lpstr>Page Replacement Algorithms</vt:lpstr>
      <vt:lpstr>Page Replacement Algorithms</vt:lpstr>
      <vt:lpstr>Modeling Memory References</vt:lpstr>
      <vt:lpstr>Page Replacement Algorithms: Evaluation</vt:lpstr>
      <vt:lpstr>Optimal Page Replacement (OPT) </vt:lpstr>
      <vt:lpstr>Example: OPT (6 Page Faults)</vt:lpstr>
      <vt:lpstr>FIFO Page Replacement Algorithm</vt:lpstr>
      <vt:lpstr>Example: FIFO (9 Page Faults)</vt:lpstr>
      <vt:lpstr>FIFO: Problems</vt:lpstr>
      <vt:lpstr>Least Recently Used Page Replacement (LRU)</vt:lpstr>
      <vt:lpstr>Example: LRU (7 Page Faults)</vt:lpstr>
      <vt:lpstr>LRU: Implementation Details</vt:lpstr>
      <vt:lpstr>LRU: Implementation Details (cont)</vt:lpstr>
      <vt:lpstr>Second-Chance Page Replacement (CLOCK) </vt:lpstr>
      <vt:lpstr>Second-Chance: Implementation Details</vt:lpstr>
      <vt:lpstr>Example: CLOCK( 6 Page Faults )</vt:lpstr>
      <vt:lpstr>Frame Allocation </vt:lpstr>
      <vt:lpstr>Frame Allocation</vt:lpstr>
      <vt:lpstr>Frame Allocation and Page Replacement</vt:lpstr>
      <vt:lpstr>Local vs Global Replacement</vt:lpstr>
      <vt:lpstr>Frame Allocation and Thrashing</vt:lpstr>
      <vt:lpstr>Finding the right number of frames…</vt:lpstr>
      <vt:lpstr>Working Set Model</vt:lpstr>
      <vt:lpstr>Working Set Model: Illustration</vt:lpstr>
      <vt:lpstr>Working Set Model: Illustration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750</cp:revision>
  <cp:lastPrinted>2017-10-14T07:44:07Z</cp:lastPrinted>
  <dcterms:created xsi:type="dcterms:W3CDTF">1601-01-01T00:00:00Z</dcterms:created>
  <dcterms:modified xsi:type="dcterms:W3CDTF">2025-10-13T10:13:28Z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