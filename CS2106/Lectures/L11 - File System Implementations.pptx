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7"/>
  </p:notesMasterIdLst>
  <p:sldIdLst>
    <p:sldId id="256" r:id="rId2"/>
    <p:sldId id="258" r:id="rId3"/>
    <p:sldId id="259" r:id="rId4"/>
    <p:sldId id="307" r:id="rId5"/>
    <p:sldId id="260" r:id="rId6"/>
    <p:sldId id="261" r:id="rId7"/>
    <p:sldId id="262" r:id="rId8"/>
    <p:sldId id="263" r:id="rId9"/>
    <p:sldId id="264" r:id="rId10"/>
    <p:sldId id="303" r:id="rId11"/>
    <p:sldId id="266" r:id="rId12"/>
    <p:sldId id="304" r:id="rId13"/>
    <p:sldId id="268" r:id="rId14"/>
    <p:sldId id="305" r:id="rId15"/>
    <p:sldId id="270" r:id="rId16"/>
    <p:sldId id="306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01" r:id="rId34"/>
    <p:sldId id="288" r:id="rId35"/>
    <p:sldId id="302" r:id="rId36"/>
    <p:sldId id="296" r:id="rId37"/>
    <p:sldId id="297" r:id="rId38"/>
    <p:sldId id="298" r:id="rId39"/>
    <p:sldId id="299" r:id="rId40"/>
    <p:sldId id="292" r:id="rId41"/>
    <p:sldId id="294" r:id="rId42"/>
    <p:sldId id="295" r:id="rId43"/>
    <p:sldId id="308" r:id="rId44"/>
    <p:sldId id="309" r:id="rId45"/>
    <p:sldId id="290" r:id="rId4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33CC"/>
    <a:srgbClr val="003300"/>
    <a:srgbClr val="FFFFCC"/>
    <a:srgbClr val="660066"/>
    <a:srgbClr val="006600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4660"/>
  </p:normalViewPr>
  <p:slideViewPr>
    <p:cSldViewPr>
      <p:cViewPr varScale="1">
        <p:scale>
          <a:sx n="85" d="100"/>
          <a:sy n="85" d="100"/>
        </p:scale>
        <p:origin x="121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17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Sheet1!$A$26:$A$32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12</c:v>
                </c:pt>
                <c:pt idx="3">
                  <c:v>16</c:v>
                </c:pt>
                <c:pt idx="4">
                  <c:v>17</c:v>
                </c:pt>
                <c:pt idx="5">
                  <c:v>21</c:v>
                </c:pt>
                <c:pt idx="6">
                  <c:v>27</c:v>
                </c:pt>
              </c:numCache>
            </c:numRef>
          </c:xVal>
          <c:yVal>
            <c:numRef>
              <c:f>Sheet1!$B$26:$B$32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2</c:v>
                </c:pt>
                <c:pt idx="3">
                  <c:v>18</c:v>
                </c:pt>
                <c:pt idx="4">
                  <c:v>17</c:v>
                </c:pt>
                <c:pt idx="5">
                  <c:v>21</c:v>
                </c:pt>
                <c:pt idx="6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917-4EF5-B9A2-90E538D82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8547456"/>
        <c:axId val="618545888"/>
      </c:scatterChart>
      <c:valAx>
        <c:axId val="6185474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45888"/>
        <c:crosses val="autoZero"/>
        <c:crossBetween val="midCat"/>
      </c:valAx>
      <c:valAx>
        <c:axId val="61854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layout>
            <c:manualLayout>
              <c:xMode val="edge"/>
              <c:yMode val="edge"/>
              <c:x val="1.3095238095238096E-2"/>
              <c:y val="0.34873875140607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5474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18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21</c:v>
                </c:pt>
                <c:pt idx="6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55-47DD-9CB4-9F8DA830E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2229128"/>
        <c:axId val="582229520"/>
      </c:scatterChart>
      <c:valAx>
        <c:axId val="582229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</a:t>
                </a:r>
                <a:r>
                  <a:rPr lang="en-US" sz="2000" baseline="0"/>
                  <a:t> Time</a:t>
                </a:r>
                <a:endParaRPr 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29520"/>
        <c:crosses val="autoZero"/>
        <c:crossBetween val="midCat"/>
        <c:minorUnit val="1"/>
      </c:valAx>
      <c:valAx>
        <c:axId val="58222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29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0380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788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6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file data only?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66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include Files Info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075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Implementations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60646-8620-4935-8D80-E38650719E8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File System Implementation:</a:t>
            </a:r>
          </a:p>
          <a:p>
            <a:pPr lvl="1"/>
            <a:r>
              <a:rPr lang="en-US" altLang="en-US" dirty="0"/>
              <a:t>File system layout</a:t>
            </a:r>
          </a:p>
          <a:p>
            <a:pPr lvl="1"/>
            <a:r>
              <a:rPr lang="en-US" altLang="en-US" dirty="0"/>
              <a:t>Disk organization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Implementation details for: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File System in Action</a:t>
            </a:r>
          </a:p>
          <a:p>
            <a:endParaRPr lang="en-US" altLang="en-US" dirty="0"/>
          </a:p>
          <a:p>
            <a:r>
              <a:rPr lang="en-US" altLang="en-US" dirty="0"/>
              <a:t>Disk I/O Scheduling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9AB2A-2F68-4153-AB07-62EB8B1C33D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 Implementation: Overview</a:t>
            </a:r>
          </a:p>
        </p:txBody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systems are stored on storage media:</a:t>
            </a:r>
          </a:p>
          <a:p>
            <a:pPr lvl="1"/>
            <a:r>
              <a:rPr lang="en-US" altLang="en-US" dirty="0"/>
              <a:t>e.g. Hard disk, CD/DVD, SRAM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Concentrate on hard disk in this lecture</a:t>
            </a:r>
          </a:p>
          <a:p>
            <a:pPr lvl="1"/>
            <a:r>
              <a:rPr lang="en-US" altLang="en-US" dirty="0"/>
              <a:t>Though the ideas are generally applicable</a:t>
            </a:r>
          </a:p>
          <a:p>
            <a:r>
              <a:rPr lang="en-US" altLang="en-US" dirty="0"/>
              <a:t>General </a:t>
            </a:r>
            <a:r>
              <a:rPr lang="en-US" altLang="en-US" b="1" dirty="0">
                <a:solidFill>
                  <a:srgbClr val="C00000"/>
                </a:solidFill>
              </a:rPr>
              <a:t>Disk Structure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Can be treated as a 1-D array of </a:t>
            </a:r>
            <a:r>
              <a:rPr lang="en-US" altLang="en-US" b="1" dirty="0"/>
              <a:t>logical blocks</a:t>
            </a:r>
          </a:p>
          <a:p>
            <a:pPr lvl="1"/>
            <a:r>
              <a:rPr lang="en-US" altLang="en-US" dirty="0"/>
              <a:t>Logical block:</a:t>
            </a:r>
          </a:p>
          <a:p>
            <a:pPr lvl="2"/>
            <a:r>
              <a:rPr lang="en-US" altLang="en-US" dirty="0"/>
              <a:t>Smallest accessible unit (Usually 512-bytes to 4KB)</a:t>
            </a:r>
          </a:p>
          <a:p>
            <a:pPr lvl="1"/>
            <a:r>
              <a:rPr lang="en-US" altLang="en-US" dirty="0"/>
              <a:t>Logical block is mapped into </a:t>
            </a:r>
            <a:r>
              <a:rPr lang="en-US" altLang="en-US" b="1" dirty="0"/>
              <a:t>disk sector(s)</a:t>
            </a:r>
            <a:endParaRPr lang="en-US" altLang="en-US" dirty="0"/>
          </a:p>
          <a:p>
            <a:pPr lvl="2"/>
            <a:r>
              <a:rPr lang="en-US" altLang="en-US" dirty="0"/>
              <a:t>Layout of disk sector is </a:t>
            </a:r>
            <a:r>
              <a:rPr lang="en-US" altLang="en-US" b="1" dirty="0"/>
              <a:t>hardware dependent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866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OS</a:t>
            </a:r>
            <a:r>
              <a:rPr lang="en-US" dirty="0">
                <a:sym typeface="Wingdings" panose="05000000000000000000" pitchFamily="2" charset="2"/>
              </a:rPr>
              <a:t> 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Hardware</a:t>
            </a:r>
            <a:r>
              <a:rPr lang="en-US" dirty="0">
                <a:sym typeface="Wingdings" panose="05000000000000000000" pitchFamily="2" charset="2"/>
              </a:rPr>
              <a:t>: Views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1028" name="Picture 4" descr="use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8600" y="2209800"/>
            <a:ext cx="10668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9" name="Flowchart: Magnetic Disk 8"/>
          <p:cNvSpPr/>
          <p:nvPr/>
        </p:nvSpPr>
        <p:spPr>
          <a:xfrm>
            <a:off x="381000" y="5370830"/>
            <a:ext cx="914400" cy="76200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4800" y="6216650"/>
            <a:ext cx="1066800" cy="289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447800" y="25908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371600" y="47244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nip Single Corner Rectangle 12"/>
          <p:cNvSpPr/>
          <p:nvPr/>
        </p:nvSpPr>
        <p:spPr>
          <a:xfrm>
            <a:off x="3657600" y="1864128"/>
            <a:ext cx="5029200" cy="609600"/>
          </a:xfrm>
          <a:prstGeom prst="snip1Rect">
            <a:avLst>
              <a:gd name="adj" fmla="val 2818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file.txt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474" y="1219201"/>
            <a:ext cx="1266825" cy="1028700"/>
          </a:xfrm>
          <a:prstGeom prst="rect">
            <a:avLst/>
          </a:prstGeom>
        </p:spPr>
      </p:pic>
      <p:sp>
        <p:nvSpPr>
          <p:cNvPr id="18" name="Snip Single Corner Rectangle 17"/>
          <p:cNvSpPr/>
          <p:nvPr/>
        </p:nvSpPr>
        <p:spPr>
          <a:xfrm>
            <a:off x="3650673" y="1006878"/>
            <a:ext cx="1600200" cy="609600"/>
          </a:xfrm>
          <a:prstGeom prst="snip1Rect">
            <a:avLst>
              <a:gd name="adj" fmla="val 281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….</a:t>
            </a:r>
          </a:p>
        </p:txBody>
      </p:sp>
      <p:cxnSp>
        <p:nvCxnSpPr>
          <p:cNvPr id="17" name="Straight Connector 16"/>
          <p:cNvCxnSpPr>
            <a:stCxn id="14" idx="3"/>
            <a:endCxn id="18" idx="2"/>
          </p:cNvCxnSpPr>
          <p:nvPr/>
        </p:nvCxnSpPr>
        <p:spPr>
          <a:xfrm flipV="1">
            <a:off x="2987299" y="1311678"/>
            <a:ext cx="663374" cy="421873"/>
          </a:xfrm>
          <a:prstGeom prst="line">
            <a:avLst/>
          </a:prstGeom>
          <a:ln w="1270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3"/>
            <a:endCxn id="13" idx="2"/>
          </p:cNvCxnSpPr>
          <p:nvPr/>
        </p:nvCxnSpPr>
        <p:spPr>
          <a:xfrm>
            <a:off x="2987299" y="1733551"/>
            <a:ext cx="670301" cy="435377"/>
          </a:xfrm>
          <a:prstGeom prst="line">
            <a:avLst/>
          </a:prstGeom>
          <a:ln w="12700">
            <a:solidFill>
              <a:schemeClr val="accent3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cogs, configuration, gears, machine, settings, system icon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07" y="3389383"/>
            <a:ext cx="914893" cy="91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242455" y="4388096"/>
            <a:ext cx="1066800" cy="2895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 - FS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1" y="4746569"/>
            <a:ext cx="2431822" cy="1871918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07846"/>
              </p:ext>
            </p:extLst>
          </p:nvPr>
        </p:nvGraphicFramePr>
        <p:xfrm>
          <a:off x="1955223" y="3668685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Curved Connector 25"/>
          <p:cNvCxnSpPr>
            <a:stCxn id="14" idx="2"/>
          </p:cNvCxnSpPr>
          <p:nvPr/>
        </p:nvCxnSpPr>
        <p:spPr>
          <a:xfrm rot="16200000" flipH="1">
            <a:off x="2219151" y="2382636"/>
            <a:ext cx="1420784" cy="1151313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endCxn id="23" idx="0"/>
          </p:cNvCxnSpPr>
          <p:nvPr/>
        </p:nvCxnSpPr>
        <p:spPr>
          <a:xfrm rot="16200000" flipH="1">
            <a:off x="4257906" y="2675718"/>
            <a:ext cx="1185836" cy="800098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513691" y="2482849"/>
            <a:ext cx="1232945" cy="134733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06460" y="2482849"/>
            <a:ext cx="1594540" cy="134733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410200" y="5067623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445552" y="5429867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710517" y="5533505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183490" y="6258213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/>
          <p:cNvCxnSpPr/>
          <p:nvPr/>
        </p:nvCxnSpPr>
        <p:spPr>
          <a:xfrm rot="16200000" flipH="1">
            <a:off x="3337158" y="4174434"/>
            <a:ext cx="1402884" cy="1066800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endCxn id="52" idx="3"/>
          </p:cNvCxnSpPr>
          <p:nvPr/>
        </p:nvCxnSpPr>
        <p:spPr>
          <a:xfrm rot="5400000">
            <a:off x="4818693" y="4573491"/>
            <a:ext cx="2234071" cy="1234945"/>
          </a:xfrm>
          <a:prstGeom prst="curved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5183490" y="1862043"/>
            <a:ext cx="9035" cy="609722"/>
          </a:xfrm>
          <a:prstGeom prst="line">
            <a:avLst/>
          </a:prstGeom>
          <a:ln w="12700">
            <a:solidFill>
              <a:schemeClr val="accent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7147301" y="1873127"/>
            <a:ext cx="9035" cy="609722"/>
          </a:xfrm>
          <a:prstGeom prst="line">
            <a:avLst/>
          </a:prstGeom>
          <a:ln w="12700">
            <a:solidFill>
              <a:schemeClr val="accent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endCxn id="45" idx="0"/>
          </p:cNvCxnSpPr>
          <p:nvPr/>
        </p:nvCxnSpPr>
        <p:spPr>
          <a:xfrm rot="16200000" flipH="1">
            <a:off x="4596328" y="4186368"/>
            <a:ext cx="1028098" cy="734412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23" idx="2"/>
          </p:cNvCxnSpPr>
          <p:nvPr/>
        </p:nvCxnSpPr>
        <p:spPr>
          <a:xfrm rot="5400000">
            <a:off x="4286386" y="4548326"/>
            <a:ext cx="1473289" cy="455686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130163" y="6301228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076836" y="6346884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359055" y="5132506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5327451" y="5180032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4769807" y="5546657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846212" y="5559808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4505664" y="5479653"/>
            <a:ext cx="134765" cy="99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4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C51610-294A-4E8E-9102-B24FCF080C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Disk Organization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Disk organization:</a:t>
            </a:r>
          </a:p>
          <a:p>
            <a:pPr lvl="1"/>
            <a:r>
              <a:rPr lang="en-US" altLang="en-US" sz="2200" b="1" dirty="0"/>
              <a:t>M</a:t>
            </a:r>
            <a:r>
              <a:rPr lang="en-US" altLang="en-US" sz="2200" dirty="0"/>
              <a:t>aster </a:t>
            </a:r>
            <a:r>
              <a:rPr lang="en-US" altLang="en-US" sz="2200" b="1" dirty="0"/>
              <a:t>B</a:t>
            </a:r>
            <a:r>
              <a:rPr lang="en-US" altLang="en-US" sz="2200" dirty="0"/>
              <a:t>oot </a:t>
            </a:r>
            <a:r>
              <a:rPr lang="en-US" altLang="en-US" sz="2200" b="1" dirty="0"/>
              <a:t>R</a:t>
            </a:r>
            <a:r>
              <a:rPr lang="en-US" altLang="en-US" sz="2200" dirty="0"/>
              <a:t>ecord (</a:t>
            </a:r>
            <a:r>
              <a:rPr lang="en-US" altLang="en-US" sz="2200" b="1" dirty="0"/>
              <a:t>MBR</a:t>
            </a:r>
            <a:r>
              <a:rPr lang="en-US" altLang="en-US" sz="2200" dirty="0"/>
              <a:t>) at sector 0 with partition table</a:t>
            </a:r>
          </a:p>
          <a:p>
            <a:pPr lvl="1"/>
            <a:r>
              <a:rPr lang="en-US" altLang="en-US" sz="2200" dirty="0"/>
              <a:t>Followed by one or more </a:t>
            </a:r>
            <a:r>
              <a:rPr lang="en-US" altLang="en-US" sz="2200" b="1" dirty="0"/>
              <a:t>partitions</a:t>
            </a:r>
          </a:p>
          <a:p>
            <a:pPr lvl="2"/>
            <a:r>
              <a:rPr lang="en-US" altLang="en-US" sz="2000" dirty="0"/>
              <a:t>Each partition can contains an independent </a:t>
            </a:r>
            <a:r>
              <a:rPr lang="en-US" altLang="en-US" sz="2000" b="1" dirty="0"/>
              <a:t>file system</a:t>
            </a:r>
          </a:p>
          <a:p>
            <a:endParaRPr lang="en-US" altLang="en-US" sz="2600" dirty="0"/>
          </a:p>
          <a:p>
            <a:r>
              <a:rPr lang="en-US" altLang="en-US" sz="2600" dirty="0"/>
              <a:t>A file system generally contains:</a:t>
            </a:r>
          </a:p>
          <a:p>
            <a:pPr lvl="1"/>
            <a:r>
              <a:rPr lang="en-US" altLang="en-US" sz="2200" dirty="0"/>
              <a:t>OS Boot-Up information</a:t>
            </a:r>
          </a:p>
          <a:p>
            <a:pPr lvl="1"/>
            <a:r>
              <a:rPr lang="en-US" altLang="en-US" sz="2200" dirty="0"/>
              <a:t>Partition details:</a:t>
            </a:r>
          </a:p>
          <a:p>
            <a:pPr lvl="2"/>
            <a:r>
              <a:rPr lang="en-US" altLang="en-US" sz="2000" dirty="0"/>
              <a:t>Total Number of blocks</a:t>
            </a:r>
          </a:p>
          <a:p>
            <a:pPr lvl="2"/>
            <a:r>
              <a:rPr lang="en-US" altLang="en-US" sz="2000" dirty="0"/>
              <a:t>Number and location of free disk blocks</a:t>
            </a:r>
          </a:p>
          <a:p>
            <a:pPr lvl="1"/>
            <a:r>
              <a:rPr lang="en-US" altLang="en-US" sz="2200" dirty="0"/>
              <a:t>Directory Structure</a:t>
            </a:r>
          </a:p>
          <a:p>
            <a:pPr lvl="1"/>
            <a:r>
              <a:rPr lang="en-US" altLang="en-US" sz="2200" dirty="0"/>
              <a:t>Files Information</a:t>
            </a:r>
          </a:p>
          <a:p>
            <a:pPr lvl="1"/>
            <a:r>
              <a:rPr lang="en-US" altLang="en-US" sz="2200" dirty="0"/>
              <a:t>Actual File Data</a:t>
            </a:r>
          </a:p>
        </p:txBody>
      </p:sp>
    </p:spTree>
    <p:extLst>
      <p:ext uri="{BB962C8B-B14F-4D97-AF65-F5344CB8AC3E}">
        <p14:creationId xmlns:p14="http://schemas.microsoft.com/office/powerpoint/2010/main" val="205126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5846-D065-4C4F-972F-2DB4981F853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Generic Disk Organization: Illustration</a:t>
            </a:r>
          </a:p>
        </p:txBody>
      </p:sp>
      <p:sp>
        <p:nvSpPr>
          <p:cNvPr id="1097755" name="Rectangle 27"/>
          <p:cNvSpPr>
            <a:spLocks noChangeArrowheads="1"/>
          </p:cNvSpPr>
          <p:nvPr/>
        </p:nvSpPr>
        <p:spPr bwMode="auto">
          <a:xfrm>
            <a:off x="457200" y="2590800"/>
            <a:ext cx="762000" cy="838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MBR</a:t>
            </a:r>
          </a:p>
        </p:txBody>
      </p:sp>
      <p:sp>
        <p:nvSpPr>
          <p:cNvPr id="1097757" name="Rectangle 29"/>
          <p:cNvSpPr>
            <a:spLocks noChangeArrowheads="1"/>
          </p:cNvSpPr>
          <p:nvPr/>
        </p:nvSpPr>
        <p:spPr bwMode="auto">
          <a:xfrm>
            <a:off x="1219200" y="2590800"/>
            <a:ext cx="2057400" cy="838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  <p:sp>
        <p:nvSpPr>
          <p:cNvPr id="1097758" name="Rectangle 30"/>
          <p:cNvSpPr>
            <a:spLocks noChangeArrowheads="1"/>
          </p:cNvSpPr>
          <p:nvPr/>
        </p:nvSpPr>
        <p:spPr bwMode="auto">
          <a:xfrm>
            <a:off x="3276600" y="2590800"/>
            <a:ext cx="20574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  <p:sp>
        <p:nvSpPr>
          <p:cNvPr id="1097759" name="Rectangle 31"/>
          <p:cNvSpPr>
            <a:spLocks noChangeArrowheads="1"/>
          </p:cNvSpPr>
          <p:nvPr/>
        </p:nvSpPr>
        <p:spPr bwMode="auto">
          <a:xfrm>
            <a:off x="5334000" y="2590800"/>
            <a:ext cx="9144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……</a:t>
            </a:r>
          </a:p>
        </p:txBody>
      </p:sp>
      <p:sp>
        <p:nvSpPr>
          <p:cNvPr id="1097760" name="Rectangle 32"/>
          <p:cNvSpPr>
            <a:spLocks noChangeArrowheads="1"/>
          </p:cNvSpPr>
          <p:nvPr/>
        </p:nvSpPr>
        <p:spPr bwMode="auto">
          <a:xfrm>
            <a:off x="6248400" y="2590800"/>
            <a:ext cx="20574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  <p:grpSp>
        <p:nvGrpSpPr>
          <p:cNvPr id="1097765" name="Group 37"/>
          <p:cNvGrpSpPr>
            <a:grpSpLocks/>
          </p:cNvGrpSpPr>
          <p:nvPr/>
        </p:nvGrpSpPr>
        <p:grpSpPr bwMode="auto">
          <a:xfrm>
            <a:off x="609600" y="1143000"/>
            <a:ext cx="2438400" cy="838200"/>
            <a:chOff x="384" y="672"/>
            <a:chExt cx="1536" cy="528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97761" name="Rectangle 33"/>
            <p:cNvSpPr>
              <a:spLocks noChangeArrowheads="1"/>
            </p:cNvSpPr>
            <p:nvPr/>
          </p:nvSpPr>
          <p:spPr bwMode="auto">
            <a:xfrm>
              <a:off x="384" y="672"/>
              <a:ext cx="816" cy="5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Simple Boot Code</a:t>
              </a:r>
            </a:p>
          </p:txBody>
        </p:sp>
        <p:sp>
          <p:nvSpPr>
            <p:cNvPr id="1097762" name="Rectangle 34"/>
            <p:cNvSpPr>
              <a:spLocks noChangeArrowheads="1"/>
            </p:cNvSpPr>
            <p:nvPr/>
          </p:nvSpPr>
          <p:spPr bwMode="auto">
            <a:xfrm>
              <a:off x="1200" y="672"/>
              <a:ext cx="720" cy="5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Partition Table</a:t>
              </a:r>
            </a:p>
          </p:txBody>
        </p:sp>
      </p:grpSp>
      <p:sp>
        <p:nvSpPr>
          <p:cNvPr id="1097763" name="Line 35"/>
          <p:cNvSpPr>
            <a:spLocks noChangeShapeType="1"/>
          </p:cNvSpPr>
          <p:nvPr/>
        </p:nvSpPr>
        <p:spPr bwMode="auto">
          <a:xfrm flipV="1">
            <a:off x="457200" y="19812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7764" name="Line 36"/>
          <p:cNvSpPr>
            <a:spLocks noChangeShapeType="1"/>
          </p:cNvSpPr>
          <p:nvPr/>
        </p:nvSpPr>
        <p:spPr bwMode="auto">
          <a:xfrm flipV="1">
            <a:off x="1219200" y="1981200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7776" name="Group 48"/>
          <p:cNvGrpSpPr>
            <a:grpSpLocks/>
          </p:cNvGrpSpPr>
          <p:nvPr/>
        </p:nvGrpSpPr>
        <p:grpSpPr bwMode="auto">
          <a:xfrm>
            <a:off x="609600" y="4419600"/>
            <a:ext cx="7315200" cy="838200"/>
            <a:chOff x="384" y="2736"/>
            <a:chExt cx="4608" cy="528"/>
          </a:xfrm>
        </p:grpSpPr>
        <p:sp>
          <p:nvSpPr>
            <p:cNvPr id="1097766" name="Rectangle 38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OS Boot Block</a:t>
              </a:r>
            </a:p>
          </p:txBody>
        </p:sp>
        <p:sp>
          <p:nvSpPr>
            <p:cNvPr id="1097767" name="Rectangle 39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097768" name="Rectangle 40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097769" name="Rectangle 41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097770" name="Rectangle 42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097771" name="Line 43"/>
          <p:cNvSpPr>
            <a:spLocks noChangeShapeType="1"/>
          </p:cNvSpPr>
          <p:nvPr/>
        </p:nvSpPr>
        <p:spPr bwMode="auto">
          <a:xfrm flipV="1">
            <a:off x="609600" y="3429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7772" name="Line 44"/>
          <p:cNvSpPr>
            <a:spLocks noChangeShapeType="1"/>
          </p:cNvSpPr>
          <p:nvPr/>
        </p:nvSpPr>
        <p:spPr bwMode="auto">
          <a:xfrm>
            <a:off x="3276600" y="3429000"/>
            <a:ext cx="46482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7774" name="AutoShape 46"/>
          <p:cNvSpPr>
            <a:spLocks/>
          </p:cNvSpPr>
          <p:nvPr/>
        </p:nvSpPr>
        <p:spPr bwMode="auto">
          <a:xfrm>
            <a:off x="6477000" y="5562600"/>
            <a:ext cx="1981200" cy="685800"/>
          </a:xfrm>
          <a:prstGeom prst="accentCallout2">
            <a:avLst>
              <a:gd name="adj1" fmla="val 16667"/>
              <a:gd name="adj2" fmla="val -3847"/>
              <a:gd name="adj3" fmla="val 16667"/>
              <a:gd name="adj4" fmla="val -9778"/>
              <a:gd name="adj5" fmla="val -51852"/>
              <a:gd name="adj6" fmla="val -1602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Data for </a:t>
            </a:r>
            <a:r>
              <a:rPr lang="en-US" altLang="en-US" b="1"/>
              <a:t>all files </a:t>
            </a:r>
            <a:r>
              <a:rPr lang="en-US" altLang="en-US"/>
              <a:t>are here</a:t>
            </a:r>
          </a:p>
          <a:p>
            <a:pPr algn="ctr"/>
            <a:endParaRPr lang="en-US" altLang="en-US"/>
          </a:p>
        </p:txBody>
      </p:sp>
      <p:sp>
        <p:nvSpPr>
          <p:cNvPr id="1097775" name="AutoShape 47"/>
          <p:cNvSpPr>
            <a:spLocks/>
          </p:cNvSpPr>
          <p:nvPr/>
        </p:nvSpPr>
        <p:spPr bwMode="auto">
          <a:xfrm>
            <a:off x="2286000" y="5638800"/>
            <a:ext cx="1981200" cy="685800"/>
          </a:xfrm>
          <a:prstGeom prst="accentCallout2">
            <a:avLst>
              <a:gd name="adj1" fmla="val 16667"/>
              <a:gd name="adj2" fmla="val 103847"/>
              <a:gd name="adj3" fmla="val 16667"/>
              <a:gd name="adj4" fmla="val 115463"/>
              <a:gd name="adj5" fmla="val -65972"/>
              <a:gd name="adj6" fmla="val 12772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/>
              <a:t>Information for </a:t>
            </a:r>
            <a:r>
              <a:rPr lang="en-US" altLang="en-US" b="1"/>
              <a:t>all files </a:t>
            </a:r>
            <a:r>
              <a:rPr lang="en-US" altLang="en-US"/>
              <a:t>are here</a:t>
            </a:r>
          </a:p>
        </p:txBody>
      </p:sp>
    </p:spTree>
    <p:extLst>
      <p:ext uri="{BB962C8B-B14F-4D97-AF65-F5344CB8AC3E}">
        <p14:creationId xmlns:p14="http://schemas.microsoft.com/office/powerpoint/2010/main" val="364431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Implementing File</a:t>
            </a:r>
          </a:p>
        </p:txBody>
      </p: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838200" y="4648200"/>
            <a:ext cx="7315200" cy="838200"/>
            <a:chOff x="384" y="2736"/>
            <a:chExt cx="4608" cy="528"/>
          </a:xfrm>
        </p:grpSpPr>
        <p:sp>
          <p:nvSpPr>
            <p:cNvPr id="110080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080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080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081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081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0812" name="Oval 12"/>
          <p:cNvSpPr>
            <a:spLocks noChangeArrowheads="1"/>
          </p:cNvSpPr>
          <p:nvPr/>
        </p:nvSpPr>
        <p:spPr bwMode="auto">
          <a:xfrm>
            <a:off x="4572000" y="4114800"/>
            <a:ext cx="4038600" cy="19050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5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818CE-FF05-49E5-8426-2A7F55B5AD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Implementation: Overview</a:t>
            </a:r>
          </a:p>
        </p:txBody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Logical view of a file: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collection of logical blocks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When file size != multiple of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Last block may contain wasted space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i.e. </a:t>
            </a:r>
            <a:r>
              <a:rPr lang="en-US" altLang="en-US" b="1" dirty="0">
                <a:solidFill>
                  <a:srgbClr val="C00000"/>
                </a:solidFill>
              </a:rPr>
              <a:t>internal fragmentation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good file implementation must: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Keep track of the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efficient access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Disk space is utilized effectively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Basically focuses on </a:t>
            </a:r>
            <a:r>
              <a:rPr lang="en-US" altLang="en-US" b="1" dirty="0"/>
              <a:t>how to allocate </a:t>
            </a:r>
            <a:r>
              <a:rPr lang="en-US" altLang="en-US" dirty="0"/>
              <a:t>file data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03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92CE8-6606-40C1-AF1E-9D86C3E8E4A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1: </a:t>
            </a:r>
            <a:r>
              <a:rPr lang="en-US" altLang="en-US" sz="3800" b="1" dirty="0"/>
              <a:t>Contiguous </a:t>
            </a:r>
          </a:p>
        </p:txBody>
      </p:sp>
      <p:sp>
        <p:nvSpPr>
          <p:cNvPr id="110900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Allocate consecutive disk blocks to a file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to keep track: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file only needs: Starting block number + Length</a:t>
            </a:r>
            <a:endParaRPr lang="en-US" altLang="en-US" b="1" dirty="0">
              <a:solidFill>
                <a:srgbClr val="008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(only need to seek to first block)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Think of each file as a variable-size "partition"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Over time, with file creation/deletion, disk can have many small "holes"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173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029200" y="1528010"/>
            <a:ext cx="3810000" cy="2586790"/>
            <a:chOff x="5105400" y="1310940"/>
            <a:chExt cx="3810000" cy="258679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25867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count 	    2</a:t>
              </a:r>
            </a:p>
            <a:p>
              <a:r>
                <a:rPr lang="en-US" altLang="en-US" sz="2400" dirty="0" err="1"/>
                <a:t>tr</a:t>
              </a:r>
              <a:r>
                <a:rPr lang="en-US" altLang="en-US" sz="2400" dirty="0"/>
                <a:t>	    3</a:t>
              </a:r>
            </a:p>
            <a:p>
              <a:r>
                <a:rPr lang="en-US" altLang="en-US" sz="2400" dirty="0"/>
                <a:t>mail	    6</a:t>
              </a:r>
            </a:p>
            <a:p>
              <a:r>
                <a:rPr lang="en-US" altLang="en-US" sz="2400" dirty="0"/>
                <a:t>list	    4</a:t>
              </a:r>
            </a:p>
            <a:p>
              <a:r>
                <a:rPr lang="en-US" altLang="en-US" sz="2400" dirty="0"/>
                <a:t>f	    2</a:t>
              </a: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1144154" y="1828800"/>
            <a:ext cx="990600" cy="304800"/>
            <a:chOff x="1295400" y="1981200"/>
            <a:chExt cx="990600" cy="304800"/>
          </a:xfrm>
        </p:grpSpPr>
        <p:sp>
          <p:nvSpPr>
            <p:cNvPr id="210" name="Rectangle 209"/>
            <p:cNvSpPr/>
            <p:nvPr/>
          </p:nvSpPr>
          <p:spPr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9812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1143000" y="3476625"/>
            <a:ext cx="2416463" cy="817852"/>
            <a:chOff x="1294246" y="3629025"/>
            <a:chExt cx="2416463" cy="817852"/>
          </a:xfrm>
        </p:grpSpPr>
        <p:sp>
          <p:nvSpPr>
            <p:cNvPr id="213" name="Rectangle 212"/>
            <p:cNvSpPr/>
            <p:nvPr/>
          </p:nvSpPr>
          <p:spPr>
            <a:xfrm>
              <a:off x="27201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34059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294246" y="4142077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1143000" y="3989677"/>
            <a:ext cx="2414155" cy="1403350"/>
            <a:chOff x="1294246" y="4142077"/>
            <a:chExt cx="2414155" cy="1403350"/>
          </a:xfrm>
        </p:grpSpPr>
        <p:sp>
          <p:nvSpPr>
            <p:cNvPr id="217" name="Rectangle 216"/>
            <p:cNvSpPr/>
            <p:nvPr/>
          </p:nvSpPr>
          <p:spPr>
            <a:xfrm>
              <a:off x="3403601" y="414207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2942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9800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27178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036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295400" y="524062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144154" y="5637502"/>
            <a:ext cx="2414155" cy="304800"/>
            <a:chOff x="1295400" y="5789902"/>
            <a:chExt cx="2414155" cy="304800"/>
          </a:xfrm>
        </p:grpSpPr>
        <p:sp>
          <p:nvSpPr>
            <p:cNvPr id="224" name="Rectangle 223"/>
            <p:cNvSpPr/>
            <p:nvPr/>
          </p:nvSpPr>
          <p:spPr>
            <a:xfrm>
              <a:off x="12954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9812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189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4047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2567709" y="2378075"/>
            <a:ext cx="990600" cy="304800"/>
            <a:chOff x="2718955" y="2530475"/>
            <a:chExt cx="990600" cy="304800"/>
          </a:xfrm>
        </p:grpSpPr>
        <p:sp>
          <p:nvSpPr>
            <p:cNvPr id="229" name="Rectangle 228"/>
            <p:cNvSpPr/>
            <p:nvPr/>
          </p:nvSpPr>
          <p:spPr>
            <a:xfrm>
              <a:off x="27189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4047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181600" y="223637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/>
          <p:cNvSpPr/>
          <p:nvPr/>
        </p:nvSpPr>
        <p:spPr>
          <a:xfrm>
            <a:off x="5181600" y="2606429"/>
            <a:ext cx="185618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/>
        </p:nvSpPr>
        <p:spPr>
          <a:xfrm>
            <a:off x="5181600" y="2998370"/>
            <a:ext cx="185618" cy="228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/>
          <p:cNvSpPr/>
          <p:nvPr/>
        </p:nvSpPr>
        <p:spPr>
          <a:xfrm>
            <a:off x="5181600" y="3341270"/>
            <a:ext cx="185618" cy="22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/>
          <p:cNvSpPr/>
          <p:nvPr/>
        </p:nvSpPr>
        <p:spPr>
          <a:xfrm>
            <a:off x="5181600" y="3673229"/>
            <a:ext cx="185618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453984" y="1654785"/>
            <a:ext cx="2347116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0	       2</a:t>
            </a:r>
          </a:p>
          <a:p>
            <a:r>
              <a:rPr lang="en-US" altLang="en-US" sz="2400" dirty="0"/>
              <a:t>14	       3</a:t>
            </a:r>
          </a:p>
          <a:p>
            <a:r>
              <a:rPr lang="en-US" altLang="en-US" sz="2400" dirty="0"/>
              <a:t>19	       6</a:t>
            </a:r>
          </a:p>
          <a:p>
            <a:r>
              <a:rPr lang="en-US" altLang="en-US" sz="2400" dirty="0"/>
              <a:t>28	       4</a:t>
            </a:r>
          </a:p>
          <a:p>
            <a:r>
              <a:rPr lang="en-US" altLang="en-US" sz="2400" dirty="0"/>
              <a:t>  6	       2</a:t>
            </a:r>
          </a:p>
        </p:txBody>
      </p:sp>
      <p:sp>
        <p:nvSpPr>
          <p:cNvPr id="3" name="Line Callout 2 2"/>
          <p:cNvSpPr/>
          <p:nvPr/>
        </p:nvSpPr>
        <p:spPr>
          <a:xfrm>
            <a:off x="4199028" y="5393027"/>
            <a:ext cx="1219200" cy="5492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74667"/>
              <a:gd name="adj5" fmla="val 1517"/>
              <a:gd name="adj6" fmla="val -88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Block Number</a:t>
            </a:r>
          </a:p>
        </p:txBody>
      </p:sp>
      <p:sp>
        <p:nvSpPr>
          <p:cNvPr id="206" name="Line Callout 2 205"/>
          <p:cNvSpPr/>
          <p:nvPr/>
        </p:nvSpPr>
        <p:spPr>
          <a:xfrm>
            <a:off x="4648200" y="4691352"/>
            <a:ext cx="990600" cy="5492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88205"/>
              <a:gd name="adj5" fmla="val 63667"/>
              <a:gd name="adj6" fmla="val -11143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Disk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029756"/>
            <a:ext cx="37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Directory</a:t>
            </a:r>
          </a:p>
        </p:txBody>
      </p:sp>
    </p:spTree>
    <p:extLst>
      <p:ext uri="{BB962C8B-B14F-4D97-AF65-F5344CB8AC3E}">
        <p14:creationId xmlns:p14="http://schemas.microsoft.com/office/powerpoint/2010/main" val="152940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4" grpId="0" animBg="1"/>
      <p:bldP spid="235" grpId="0" animBg="1"/>
      <p:bldP spid="236" grpId="0" animBg="1"/>
      <p:bldP spid="237" grpId="0" animBg="1"/>
      <p:bldP spid="238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D8C67-74F0-48BF-BE4E-42ABE5AB4DF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11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sp>
        <p:nvSpPr>
          <p:cNvPr id="111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660066"/>
                </a:solidFill>
              </a:rPr>
              <a:t>General Idea:</a:t>
            </a:r>
          </a:p>
          <a:p>
            <a:pPr lvl="1"/>
            <a:r>
              <a:rPr lang="en-US" altLang="en-US" sz="2200" dirty="0"/>
              <a:t>Keep a linked list of disk blocks</a:t>
            </a:r>
          </a:p>
          <a:p>
            <a:pPr lvl="1"/>
            <a:r>
              <a:rPr lang="en-US" altLang="en-US" sz="2200" dirty="0"/>
              <a:t>Each disk block stores:</a:t>
            </a:r>
          </a:p>
          <a:p>
            <a:pPr lvl="2"/>
            <a:r>
              <a:rPr lang="en-US" altLang="en-US" sz="2000" dirty="0"/>
              <a:t>The next disk block number (i.e. act as </a:t>
            </a:r>
            <a:r>
              <a:rPr lang="en-US" altLang="en-US" sz="2000" b="1" dirty="0"/>
              <a:t>pointer</a:t>
            </a:r>
            <a:r>
              <a:rPr lang="en-US" altLang="en-US" sz="2000" dirty="0"/>
              <a:t>)</a:t>
            </a:r>
          </a:p>
          <a:p>
            <a:pPr lvl="2"/>
            <a:r>
              <a:rPr lang="en-US" altLang="en-US" sz="2000" dirty="0"/>
              <a:t>Actual file data</a:t>
            </a:r>
          </a:p>
          <a:p>
            <a:pPr lvl="1"/>
            <a:r>
              <a:rPr lang="en-US" altLang="en-US" sz="2200" dirty="0"/>
              <a:t>File information stores:</a:t>
            </a:r>
          </a:p>
          <a:p>
            <a:pPr lvl="2"/>
            <a:r>
              <a:rPr lang="en-US" altLang="en-US" sz="2000" dirty="0"/>
              <a:t>First and last disk block number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Solve fragmentation problem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Random access in a file is very slow</a:t>
            </a:r>
          </a:p>
          <a:p>
            <a:pPr lvl="1"/>
            <a:r>
              <a:rPr lang="en-US" altLang="en-US" sz="2200" dirty="0"/>
              <a:t>Part of disk block is used for pointer</a:t>
            </a:r>
          </a:p>
          <a:p>
            <a:pPr lvl="1"/>
            <a:r>
              <a:rPr lang="en-US" altLang="en-US" sz="2200" dirty="0"/>
              <a:t>Less reliable (what if one of the pointers is incorrect?)</a:t>
            </a:r>
          </a:p>
        </p:txBody>
      </p:sp>
    </p:spTree>
    <p:extLst>
      <p:ext uri="{BB962C8B-B14F-4D97-AF65-F5344CB8AC3E}">
        <p14:creationId xmlns:p14="http://schemas.microsoft.com/office/powerpoint/2010/main" val="93366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jeep 	    5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86014" y="1497568"/>
            <a:ext cx="227091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9	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31108" y="29273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143000" y="3232150"/>
            <a:ext cx="840508" cy="1062327"/>
            <a:chOff x="1143000" y="3232150"/>
            <a:chExt cx="840508" cy="1062327"/>
          </a:xfrm>
        </p:grpSpPr>
        <p:sp>
          <p:nvSpPr>
            <p:cNvPr id="209" name="Rectangle 208"/>
            <p:cNvSpPr/>
            <p:nvPr/>
          </p:nvSpPr>
          <p:spPr>
            <a:xfrm>
              <a:off x="1143000" y="3989677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208" idx="2"/>
            </p:cNvCxnSpPr>
            <p:nvPr/>
          </p:nvCxnSpPr>
          <p:spPr>
            <a:xfrm flipH="1">
              <a:off x="1446646" y="3232150"/>
              <a:ext cx="536862" cy="7575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295400" y="1828800"/>
            <a:ext cx="839354" cy="2160877"/>
            <a:chOff x="1295400" y="1828800"/>
            <a:chExt cx="839354" cy="2160877"/>
          </a:xfrm>
        </p:grpSpPr>
        <p:sp>
          <p:nvSpPr>
            <p:cNvPr id="239" name="Rectangle 238"/>
            <p:cNvSpPr/>
            <p:nvPr/>
          </p:nvSpPr>
          <p:spPr>
            <a:xfrm>
              <a:off x="1829954" y="18288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>
              <a:stCxn id="209" idx="0"/>
              <a:endCxn id="239" idx="2"/>
            </p:cNvCxnSpPr>
            <p:nvPr/>
          </p:nvCxnSpPr>
          <p:spPr>
            <a:xfrm flipV="1">
              <a:off x="1295400" y="2133600"/>
              <a:ext cx="686954" cy="18560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123737" y="2133600"/>
            <a:ext cx="747609" cy="1097735"/>
            <a:chOff x="2132446" y="2133600"/>
            <a:chExt cx="747609" cy="1097735"/>
          </a:xfrm>
        </p:grpSpPr>
        <p:sp>
          <p:nvSpPr>
            <p:cNvPr id="242" name="Rectangle 241"/>
            <p:cNvSpPr/>
            <p:nvPr/>
          </p:nvSpPr>
          <p:spPr>
            <a:xfrm>
              <a:off x="2575255" y="2926535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Arrow Connector 243"/>
            <p:cNvCxnSpPr>
              <a:endCxn id="242" idx="0"/>
            </p:cNvCxnSpPr>
            <p:nvPr/>
          </p:nvCxnSpPr>
          <p:spPr>
            <a:xfrm>
              <a:off x="2132446" y="2133600"/>
              <a:ext cx="595209" cy="7929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29954" y="3231335"/>
            <a:ext cx="888992" cy="2161692"/>
            <a:chOff x="1829954" y="3231335"/>
            <a:chExt cx="888992" cy="2161692"/>
          </a:xfrm>
        </p:grpSpPr>
        <p:sp>
          <p:nvSpPr>
            <p:cNvPr id="241" name="Rectangle 240"/>
            <p:cNvSpPr/>
            <p:nvPr/>
          </p:nvSpPr>
          <p:spPr>
            <a:xfrm>
              <a:off x="1829954" y="5088227"/>
              <a:ext cx="304800" cy="304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Straight Arrow Connector 244"/>
            <p:cNvCxnSpPr>
              <a:stCxn id="242" idx="2"/>
              <a:endCxn id="241" idx="0"/>
            </p:cNvCxnSpPr>
            <p:nvPr/>
          </p:nvCxnSpPr>
          <p:spPr>
            <a:xfrm flipH="1">
              <a:off x="1982354" y="3231335"/>
              <a:ext cx="736592" cy="18568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54895" y="1524000"/>
            <a:ext cx="803305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25</a:t>
            </a:r>
          </a:p>
        </p:txBody>
      </p:sp>
      <p:sp>
        <p:nvSpPr>
          <p:cNvPr id="210" name="Line Callout 2 209"/>
          <p:cNvSpPr/>
          <p:nvPr/>
        </p:nvSpPr>
        <p:spPr>
          <a:xfrm>
            <a:off x="4547616" y="4691352"/>
            <a:ext cx="3107279" cy="1098550"/>
          </a:xfrm>
          <a:prstGeom prst="borderCallout2">
            <a:avLst>
              <a:gd name="adj1" fmla="val 18750"/>
              <a:gd name="adj2" fmla="val -8333"/>
              <a:gd name="adj3" fmla="val 22080"/>
              <a:gd name="adj4" fmla="val -68295"/>
              <a:gd name="adj5" fmla="val 37031"/>
              <a:gd name="adj6" fmla="val -7584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Next Disk Block Number contains a special value to indicate the end of list</a:t>
            </a:r>
          </a:p>
        </p:txBody>
      </p:sp>
      <p:sp>
        <p:nvSpPr>
          <p:cNvPr id="211" name="Line Callout 2 210"/>
          <p:cNvSpPr/>
          <p:nvPr/>
        </p:nvSpPr>
        <p:spPr>
          <a:xfrm>
            <a:off x="4435632" y="2779063"/>
            <a:ext cx="1829954" cy="549275"/>
          </a:xfrm>
          <a:prstGeom prst="borderCallout2">
            <a:avLst>
              <a:gd name="adj1" fmla="val 20970"/>
              <a:gd name="adj2" fmla="val 108590"/>
              <a:gd name="adj3" fmla="val 5432"/>
              <a:gd name="adj4" fmla="val 132438"/>
              <a:gd name="adj5" fmla="val -76171"/>
              <a:gd name="adj6" fmla="val 13899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First Disk Block Number</a:t>
            </a:r>
          </a:p>
        </p:txBody>
      </p:sp>
      <p:sp>
        <p:nvSpPr>
          <p:cNvPr id="212" name="Line Callout 2 211"/>
          <p:cNvSpPr/>
          <p:nvPr/>
        </p:nvSpPr>
        <p:spPr>
          <a:xfrm>
            <a:off x="5486400" y="3440402"/>
            <a:ext cx="1829954" cy="549275"/>
          </a:xfrm>
          <a:prstGeom prst="borderCallout2">
            <a:avLst>
              <a:gd name="adj1" fmla="val 20970"/>
              <a:gd name="adj2" fmla="val 108590"/>
              <a:gd name="adj3" fmla="val 5432"/>
              <a:gd name="adj4" fmla="val 132438"/>
              <a:gd name="adj5" fmla="val -198252"/>
              <a:gd name="adj6" fmla="val 13899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Last Disk Block Number</a:t>
            </a:r>
          </a:p>
        </p:txBody>
      </p:sp>
    </p:spTree>
    <p:extLst>
      <p:ext uri="{BB962C8B-B14F-4D97-AF65-F5344CB8AC3E}">
        <p14:creationId xmlns:p14="http://schemas.microsoft.com/office/powerpoint/2010/main" val="34630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8" grpId="0" build="allAtOnce" animBg="1"/>
      <p:bldP spid="208" grpId="0" animBg="1"/>
      <p:bldP spid="206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F</a:t>
            </a:r>
            <a:r>
              <a:rPr lang="en-US" altLang="en-US" dirty="0"/>
              <a:t>ile </a:t>
            </a:r>
            <a:r>
              <a:rPr lang="en-US" altLang="en-US" b="1" dirty="0"/>
              <a:t>A</a:t>
            </a:r>
            <a:r>
              <a:rPr lang="en-US" altLang="en-US" dirty="0"/>
              <a:t>llocation </a:t>
            </a:r>
            <a:r>
              <a:rPr lang="en-US" altLang="en-US" b="1" dirty="0"/>
              <a:t>T</a:t>
            </a:r>
            <a:r>
              <a:rPr lang="en-US" altLang="en-US" dirty="0"/>
              <a:t>able </a:t>
            </a:r>
            <a:r>
              <a:rPr lang="en-US" altLang="en-US" b="1" dirty="0"/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Used by MS-DOS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Random Access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linked list traversal now takes place in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FAT keep tracks of </a:t>
            </a:r>
            <a:r>
              <a:rPr lang="en-US" altLang="en-US" b="1" dirty="0"/>
              <a:t>all disk blocks </a:t>
            </a:r>
            <a:r>
              <a:rPr lang="en-US" altLang="en-US" dirty="0"/>
              <a:t>in a partition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be huge when disk is large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Consume valuable memory space</a:t>
            </a:r>
          </a:p>
        </p:txBody>
      </p:sp>
    </p:spTree>
    <p:extLst>
      <p:ext uri="{BB962C8B-B14F-4D97-AF65-F5344CB8AC3E}">
        <p14:creationId xmlns:p14="http://schemas.microsoft.com/office/powerpoint/2010/main" val="2482085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6011771" y="2020923"/>
            <a:ext cx="2058360" cy="4257827"/>
            <a:chOff x="3632201" y="2025030"/>
            <a:chExt cx="2065327" cy="4257827"/>
          </a:xfrm>
        </p:grpSpPr>
        <p:sp>
          <p:nvSpPr>
            <p:cNvPr id="264" name="Rectangle 9"/>
            <p:cNvSpPr>
              <a:spLocks noChangeArrowheads="1"/>
            </p:cNvSpPr>
            <p:nvPr/>
          </p:nvSpPr>
          <p:spPr bwMode="auto">
            <a:xfrm>
              <a:off x="4332716" y="2451980"/>
              <a:ext cx="1364812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65" name="Rectangle 9"/>
            <p:cNvSpPr>
              <a:spLocks noChangeArrowheads="1"/>
            </p:cNvSpPr>
            <p:nvPr/>
          </p:nvSpPr>
          <p:spPr bwMode="auto">
            <a:xfrm>
              <a:off x="3641636" y="245198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  <p:grpSp>
          <p:nvGrpSpPr>
            <p:cNvPr id="251" name="Group 250"/>
            <p:cNvGrpSpPr/>
            <p:nvPr/>
          </p:nvGrpSpPr>
          <p:grpSpPr>
            <a:xfrm>
              <a:off x="3650690" y="5849122"/>
              <a:ext cx="2046836" cy="430964"/>
              <a:chOff x="5638799" y="3015853"/>
              <a:chExt cx="2046836" cy="430964"/>
            </a:xfrm>
          </p:grpSpPr>
          <p:sp>
            <p:nvSpPr>
              <p:cNvPr id="260" name="Rectangle 9"/>
              <p:cNvSpPr>
                <a:spLocks noChangeArrowheads="1"/>
              </p:cNvSpPr>
              <p:nvPr/>
            </p:nvSpPr>
            <p:spPr bwMode="auto">
              <a:xfrm>
                <a:off x="6323091" y="3015853"/>
                <a:ext cx="1362544" cy="4309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61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3641636" y="2882943"/>
              <a:ext cx="2055892" cy="2438403"/>
              <a:chOff x="5638799" y="3013211"/>
              <a:chExt cx="2055892" cy="802208"/>
            </a:xfrm>
          </p:grpSpPr>
          <p:sp>
            <p:nvSpPr>
              <p:cNvPr id="258" name="Rectangle 9"/>
              <p:cNvSpPr>
                <a:spLocks noChangeArrowheads="1"/>
              </p:cNvSpPr>
              <p:nvPr/>
            </p:nvSpPr>
            <p:spPr bwMode="auto">
              <a:xfrm>
                <a:off x="6329879" y="3013211"/>
                <a:ext cx="1364812" cy="80220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59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sp>
          <p:nvSpPr>
            <p:cNvPr id="253" name="Rectangle 9"/>
            <p:cNvSpPr>
              <a:spLocks noChangeArrowheads="1"/>
            </p:cNvSpPr>
            <p:nvPr/>
          </p:nvSpPr>
          <p:spPr bwMode="auto">
            <a:xfrm>
              <a:off x="4332715" y="2029044"/>
              <a:ext cx="1364811" cy="4309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54" name="Rectangle 9"/>
            <p:cNvSpPr>
              <a:spLocks noChangeArrowheads="1"/>
            </p:cNvSpPr>
            <p:nvPr/>
          </p:nvSpPr>
          <p:spPr bwMode="auto">
            <a:xfrm>
              <a:off x="3632202" y="202503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0</a:t>
              </a:r>
            </a:p>
          </p:txBody>
        </p:sp>
        <p:sp>
          <p:nvSpPr>
            <p:cNvPr id="255" name="Rectangle 9"/>
            <p:cNvSpPr>
              <a:spLocks noChangeArrowheads="1"/>
            </p:cNvSpPr>
            <p:nvPr/>
          </p:nvSpPr>
          <p:spPr bwMode="auto">
            <a:xfrm>
              <a:off x="3632201" y="28829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endParaRPr lang="en-US" altLang="en-US" sz="2000" b="1" dirty="0"/>
            </a:p>
          </p:txBody>
        </p:sp>
        <p:sp>
          <p:nvSpPr>
            <p:cNvPr id="257" name="Rectangle 9"/>
            <p:cNvSpPr>
              <a:spLocks noChangeArrowheads="1"/>
            </p:cNvSpPr>
            <p:nvPr/>
          </p:nvSpPr>
          <p:spPr bwMode="auto">
            <a:xfrm>
              <a:off x="4332717" y="5321344"/>
              <a:ext cx="1364809" cy="5356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98" name="Rectangle 9"/>
            <p:cNvSpPr>
              <a:spLocks noChangeArrowheads="1"/>
            </p:cNvSpPr>
            <p:nvPr/>
          </p:nvSpPr>
          <p:spPr bwMode="auto">
            <a:xfrm>
              <a:off x="3648425" y="585189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n-1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</a:rPr>
              <a:t>FAT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1" name="Group 10"/>
          <p:cNvGrpSpPr/>
          <p:nvPr/>
        </p:nvGrpSpPr>
        <p:grpSpPr>
          <a:xfrm>
            <a:off x="5575964" y="820317"/>
            <a:ext cx="2494165" cy="1003545"/>
            <a:chOff x="5105400" y="1402708"/>
            <a:chExt cx="2469470" cy="1003545"/>
          </a:xfrm>
        </p:grpSpPr>
        <p:grpSp>
          <p:nvGrpSpPr>
            <p:cNvPr id="2" name="Group 1"/>
            <p:cNvGrpSpPr/>
            <p:nvPr/>
          </p:nvGrpSpPr>
          <p:grpSpPr>
            <a:xfrm>
              <a:off x="5105400" y="1402708"/>
              <a:ext cx="2469470" cy="1003545"/>
              <a:chOff x="5105400" y="1402708"/>
              <a:chExt cx="2469470" cy="1003545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402708"/>
                <a:ext cx="2469470" cy="100354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1920089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73385" y="1497129"/>
              <a:ext cx="833104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</a:t>
              </a:r>
            </a:p>
          </p:txBody>
        </p:sp>
      </p:grpSp>
      <p:sp>
        <p:nvSpPr>
          <p:cNvPr id="208" name="Rectangle 207"/>
          <p:cNvSpPr/>
          <p:nvPr/>
        </p:nvSpPr>
        <p:spPr>
          <a:xfrm>
            <a:off x="1831108" y="29273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143000" y="398967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1829954" y="18288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/>
          <p:cNvSpPr/>
          <p:nvPr/>
        </p:nvSpPr>
        <p:spPr>
          <a:xfrm>
            <a:off x="2575255" y="2926535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/>
        </p:nvSpPr>
        <p:spPr>
          <a:xfrm>
            <a:off x="1829954" y="5088227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011516" y="3315859"/>
            <a:ext cx="2065579" cy="430964"/>
            <a:chOff x="5638799" y="3015853"/>
            <a:chExt cx="2065579" cy="430964"/>
          </a:xfrm>
        </p:grpSpPr>
        <p:sp>
          <p:nvSpPr>
            <p:cNvPr id="215" name="Rectangle 9"/>
            <p:cNvSpPr>
              <a:spLocks noChangeArrowheads="1"/>
            </p:cNvSpPr>
            <p:nvPr/>
          </p:nvSpPr>
          <p:spPr bwMode="auto">
            <a:xfrm>
              <a:off x="6349821" y="3015853"/>
              <a:ext cx="1354557" cy="4131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16</a:t>
              </a:r>
            </a:p>
          </p:txBody>
        </p:sp>
        <p:sp>
          <p:nvSpPr>
            <p:cNvPr id="216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9</a:t>
              </a: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6021203" y="4441975"/>
            <a:ext cx="2055892" cy="430964"/>
            <a:chOff x="5638799" y="3015853"/>
            <a:chExt cx="2055892" cy="430964"/>
          </a:xfrm>
        </p:grpSpPr>
        <p:sp>
          <p:nvSpPr>
            <p:cNvPr id="218" name="Rectangle 9"/>
            <p:cNvSpPr>
              <a:spLocks noChangeArrowheads="1"/>
            </p:cNvSpPr>
            <p:nvPr/>
          </p:nvSpPr>
          <p:spPr bwMode="auto">
            <a:xfrm>
              <a:off x="6327497" y="3015853"/>
              <a:ext cx="1367194" cy="4309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</a:t>
              </a:r>
            </a:p>
          </p:txBody>
        </p:sp>
        <p:sp>
          <p:nvSpPr>
            <p:cNvPr id="219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16</a:t>
              </a:r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6020570" y="2455498"/>
            <a:ext cx="2056526" cy="430964"/>
            <a:chOff x="5638799" y="3015853"/>
            <a:chExt cx="2056526" cy="430964"/>
          </a:xfrm>
        </p:grpSpPr>
        <p:sp>
          <p:nvSpPr>
            <p:cNvPr id="221" name="Rectangle 9"/>
            <p:cNvSpPr>
              <a:spLocks noChangeArrowheads="1"/>
            </p:cNvSpPr>
            <p:nvPr/>
          </p:nvSpPr>
          <p:spPr bwMode="auto">
            <a:xfrm>
              <a:off x="6332781" y="3015853"/>
              <a:ext cx="1362544" cy="4309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10</a:t>
              </a:r>
            </a:p>
          </p:txBody>
        </p:sp>
        <p:sp>
          <p:nvSpPr>
            <p:cNvPr id="222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6029625" y="5235203"/>
            <a:ext cx="2047470" cy="430964"/>
            <a:chOff x="5638799" y="3015853"/>
            <a:chExt cx="2050618" cy="430964"/>
          </a:xfrm>
        </p:grpSpPr>
        <p:sp>
          <p:nvSpPr>
            <p:cNvPr id="227" name="Rectangle 9"/>
            <p:cNvSpPr>
              <a:spLocks noChangeArrowheads="1"/>
            </p:cNvSpPr>
            <p:nvPr/>
          </p:nvSpPr>
          <p:spPr bwMode="auto">
            <a:xfrm>
              <a:off x="6323091" y="3015853"/>
              <a:ext cx="1366326" cy="430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>
                  <a:solidFill>
                    <a:schemeClr val="accent2"/>
                  </a:solidFill>
                </a:rPr>
                <a:t>-1</a:t>
              </a:r>
            </a:p>
          </p:txBody>
        </p:sp>
        <p:sp>
          <p:nvSpPr>
            <p:cNvPr id="228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25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6022078" y="3727967"/>
            <a:ext cx="2048051" cy="432003"/>
            <a:chOff x="5638799" y="3014814"/>
            <a:chExt cx="2048051" cy="432003"/>
          </a:xfrm>
        </p:grpSpPr>
        <p:sp>
          <p:nvSpPr>
            <p:cNvPr id="224" name="Rectangle 9"/>
            <p:cNvSpPr>
              <a:spLocks noChangeArrowheads="1"/>
            </p:cNvSpPr>
            <p:nvPr/>
          </p:nvSpPr>
          <p:spPr bwMode="auto">
            <a:xfrm>
              <a:off x="6328371" y="3014814"/>
              <a:ext cx="1358479" cy="43200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25</a:t>
              </a:r>
            </a:p>
          </p:txBody>
        </p:sp>
        <p:sp>
          <p:nvSpPr>
            <p:cNvPr id="225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10</a:t>
              </a:r>
            </a:p>
          </p:txBody>
        </p:sp>
      </p:grpSp>
      <p:sp>
        <p:nvSpPr>
          <p:cNvPr id="212" name="Line Callout 2 211"/>
          <p:cNvSpPr/>
          <p:nvPr/>
        </p:nvSpPr>
        <p:spPr>
          <a:xfrm>
            <a:off x="4154693" y="3677968"/>
            <a:ext cx="1829954" cy="928218"/>
          </a:xfrm>
          <a:prstGeom prst="borderCallout2">
            <a:avLst>
              <a:gd name="adj1" fmla="val 20970"/>
              <a:gd name="adj2" fmla="val 108590"/>
              <a:gd name="adj3" fmla="val 40896"/>
              <a:gd name="adj4" fmla="val 108453"/>
              <a:gd name="adj5" fmla="val 42042"/>
              <a:gd name="adj6" fmla="val 10834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Disk Block Number used to index table</a:t>
            </a:r>
          </a:p>
        </p:txBody>
      </p:sp>
      <p:sp>
        <p:nvSpPr>
          <p:cNvPr id="12" name="Left Brace 11"/>
          <p:cNvSpPr/>
          <p:nvPr/>
        </p:nvSpPr>
        <p:spPr>
          <a:xfrm>
            <a:off x="6011516" y="2087750"/>
            <a:ext cx="269798" cy="41882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2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A77E8-DCFA-4C71-95E8-578CE1D4A97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1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File Block Allocation 3: </a:t>
            </a:r>
            <a:r>
              <a:rPr lang="en-US" altLang="en-US" sz="3600" b="1" dirty="0">
                <a:solidFill>
                  <a:srgbClr val="C00000"/>
                </a:solidFill>
              </a:rPr>
              <a:t>Indexed Allocation</a:t>
            </a:r>
          </a:p>
        </p:txBody>
      </p:sp>
      <p:sp>
        <p:nvSpPr>
          <p:cNvPr id="111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 has an </a:t>
            </a:r>
            <a:r>
              <a:rPr lang="en-US" altLang="en-US" b="1" dirty="0"/>
              <a:t>index block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dirty="0"/>
              <a:t>array of </a:t>
            </a:r>
            <a:r>
              <a:rPr lang="en-US" altLang="en-US" dirty="0"/>
              <a:t>disk block addresses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IndexBlock</a:t>
            </a:r>
            <a:r>
              <a:rPr lang="en-US" altLang="en-US" dirty="0"/>
              <a:t>[ N ] == N</a:t>
            </a:r>
            <a:r>
              <a:rPr lang="en-US" altLang="en-US" baseline="30000" dirty="0"/>
              <a:t>th</a:t>
            </a:r>
            <a:r>
              <a:rPr lang="en-US" altLang="en-US" dirty="0"/>
              <a:t> Block address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Lesser memory overhead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index block of opened file needs to be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direct access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Limited maximum file size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Max number of blocks == Number of index block entries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 block overhead</a:t>
            </a:r>
          </a:p>
        </p:txBody>
      </p:sp>
    </p:spTree>
    <p:extLst>
      <p:ext uri="{BB962C8B-B14F-4D97-AF65-F5344CB8AC3E}">
        <p14:creationId xmlns:p14="http://schemas.microsoft.com/office/powerpoint/2010/main" val="2807339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Indexed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3048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</a:t>
              </a:r>
            </a:p>
            <a:p>
              <a:r>
                <a:rPr lang="en-US" altLang="en-US" sz="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</a:t>
              </a:r>
              <a:endParaRPr lang="en-US" altLang="en-US" sz="800" b="1" dirty="0"/>
            </a:p>
            <a:p>
              <a:r>
                <a:rPr lang="en-US" altLang="en-US" sz="2400" dirty="0"/>
                <a:t>jeep 	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644484" y="1507678"/>
            <a:ext cx="1932898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 block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     19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31108" y="29273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143000" y="398967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1829954" y="18288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/>
          <p:cNvSpPr/>
          <p:nvPr/>
        </p:nvSpPr>
        <p:spPr>
          <a:xfrm>
            <a:off x="2573382" y="2926535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/>
        </p:nvSpPr>
        <p:spPr>
          <a:xfrm>
            <a:off x="1829954" y="5088227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/>
          <p:cNvSpPr/>
          <p:nvPr/>
        </p:nvSpPr>
        <p:spPr>
          <a:xfrm>
            <a:off x="3251201" y="3989677"/>
            <a:ext cx="3048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572000" y="2907099"/>
            <a:ext cx="1749831" cy="2819400"/>
            <a:chOff x="5715000" y="3581400"/>
            <a:chExt cx="1749831" cy="2819400"/>
          </a:xfrm>
        </p:grpSpPr>
        <p:sp>
          <p:nvSpPr>
            <p:cNvPr id="210" name="Rectangle 209"/>
            <p:cNvSpPr/>
            <p:nvPr/>
          </p:nvSpPr>
          <p:spPr>
            <a:xfrm>
              <a:off x="5715000" y="4745704"/>
              <a:ext cx="624684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45720" rtlCol="0" anchor="ctr"/>
            <a:lstStyle/>
            <a:p>
              <a:pPr algn="r"/>
              <a:r>
                <a:rPr lang="en-US" sz="2400" b="1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6339684" y="3581400"/>
              <a:ext cx="1125147" cy="281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9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16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1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10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25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-1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-1</a:t>
              </a:r>
            </a:p>
            <a:p>
              <a:pPr algn="ctr">
                <a:spcAft>
                  <a:spcPts val="300"/>
                </a:spcAft>
              </a:pPr>
              <a:r>
                <a:rPr lang="en-US" sz="2000" b="1" dirty="0">
                  <a:solidFill>
                    <a:schemeClr val="tx1"/>
                  </a:solidFill>
                </a:rPr>
                <a:t>-1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251201" y="2907099"/>
            <a:ext cx="1945483" cy="2819399"/>
            <a:chOff x="3251201" y="2907099"/>
            <a:chExt cx="2555083" cy="2819399"/>
          </a:xfrm>
        </p:grpSpPr>
        <p:sp>
          <p:nvSpPr>
            <p:cNvPr id="212" name="Line 44"/>
            <p:cNvSpPr>
              <a:spLocks noChangeShapeType="1"/>
            </p:cNvSpPr>
            <p:nvPr/>
          </p:nvSpPr>
          <p:spPr bwMode="auto">
            <a:xfrm flipV="1">
              <a:off x="3261055" y="2907099"/>
              <a:ext cx="2545229" cy="108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44"/>
            <p:cNvSpPr>
              <a:spLocks noChangeShapeType="1"/>
            </p:cNvSpPr>
            <p:nvPr/>
          </p:nvSpPr>
          <p:spPr bwMode="auto">
            <a:xfrm>
              <a:off x="3251201" y="4294475"/>
              <a:ext cx="2555083" cy="1432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4" name="Left Brace 213"/>
          <p:cNvSpPr/>
          <p:nvPr/>
        </p:nvSpPr>
        <p:spPr>
          <a:xfrm flipH="1">
            <a:off x="6255913" y="2979071"/>
            <a:ext cx="363172" cy="265843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705600" y="3832810"/>
            <a:ext cx="168671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Disk Block used by this file (in order)</a:t>
            </a:r>
          </a:p>
        </p:txBody>
      </p:sp>
    </p:spTree>
    <p:extLst>
      <p:ext uri="{BB962C8B-B14F-4D97-AF65-F5344CB8AC3E}">
        <p14:creationId xmlns:p14="http://schemas.microsoft.com/office/powerpoint/2010/main" val="46878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8" grpId="0" animBg="1"/>
      <p:bldP spid="20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0E185-9A17-42CD-90E8-BB19E2AB43B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12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</a:p>
        </p:txBody>
      </p:sp>
      <p:sp>
        <p:nvSpPr>
          <p:cNvPr id="112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Several schemes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larger file size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Linked scheme: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Keep a </a:t>
            </a:r>
            <a:r>
              <a:rPr lang="en-US" altLang="en-US" b="1" dirty="0"/>
              <a:t>linked list </a:t>
            </a:r>
            <a:r>
              <a:rPr lang="en-US" altLang="en-US" dirty="0"/>
              <a:t>of index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index block contains the pointer to next index block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Multilevel index: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Similar idea </a:t>
            </a:r>
            <a:r>
              <a:rPr lang="en-US" altLang="en-US" b="1" dirty="0"/>
              <a:t>as multi-level paging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First level index block points to a number of </a:t>
            </a:r>
            <a:r>
              <a:rPr lang="en-US" altLang="en-US" b="1" dirty="0"/>
              <a:t>second level index blocks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second level index blocks point to actual disk 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generalized to any number of levels</a:t>
            </a:r>
          </a:p>
        </p:txBody>
      </p:sp>
    </p:spTree>
    <p:extLst>
      <p:ext uri="{BB962C8B-B14F-4D97-AF65-F5344CB8AC3E}">
        <p14:creationId xmlns:p14="http://schemas.microsoft.com/office/powerpoint/2010/main" val="953472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92B95-808A-4A1F-ACED-4DBA2C82124A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Indexed Block Allocation: </a:t>
            </a:r>
            <a:r>
              <a:rPr lang="en-US" altLang="en-US" sz="3600" b="1" dirty="0">
                <a:solidFill>
                  <a:srgbClr val="C00000"/>
                </a:solidFill>
              </a:rPr>
              <a:t>Variation</a:t>
            </a:r>
            <a:r>
              <a:rPr lang="en-US" altLang="en-US" sz="3600" dirty="0"/>
              <a:t> (</a:t>
            </a:r>
            <a:r>
              <a:rPr lang="en-US" altLang="en-US" sz="3600" dirty="0" err="1"/>
              <a:t>cont</a:t>
            </a:r>
            <a:r>
              <a:rPr lang="en-US" altLang="en-US" sz="3600" dirty="0"/>
              <a:t>)</a:t>
            </a:r>
          </a:p>
        </p:txBody>
      </p:sp>
      <p:sp>
        <p:nvSpPr>
          <p:cNvPr id="112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Combined scheme:</a:t>
            </a:r>
          </a:p>
          <a:p>
            <a:pPr lvl="1"/>
            <a:r>
              <a:rPr lang="en-US" altLang="en-US"/>
              <a:t>Combination of direct indexing and multi-level index scheme</a:t>
            </a:r>
          </a:p>
          <a:p>
            <a:pPr lvl="1"/>
            <a:r>
              <a:rPr lang="en-US" altLang="en-US"/>
              <a:t>Example: Unix I-node has:</a:t>
            </a:r>
          </a:p>
          <a:p>
            <a:pPr lvl="2"/>
            <a:r>
              <a:rPr lang="en-US" altLang="en-US"/>
              <a:t>12 </a:t>
            </a:r>
            <a:r>
              <a:rPr lang="en-US" altLang="en-US" b="1"/>
              <a:t>direct pointers </a:t>
            </a:r>
            <a:r>
              <a:rPr lang="en-US" altLang="en-US"/>
              <a:t>that point to disk block directly</a:t>
            </a:r>
            <a:endParaRPr lang="en-US" altLang="en-US" b="1"/>
          </a:p>
          <a:p>
            <a:pPr lvl="2"/>
            <a:r>
              <a:rPr lang="en-US" altLang="en-US"/>
              <a:t>1 </a:t>
            </a:r>
            <a:r>
              <a:rPr lang="en-US" altLang="en-US" b="1"/>
              <a:t>single indirect block</a:t>
            </a:r>
            <a:endParaRPr lang="en-US" altLang="en-US"/>
          </a:p>
          <a:p>
            <a:pPr lvl="3"/>
            <a:r>
              <a:rPr lang="en-US" altLang="en-US"/>
              <a:t>which contains a number of direct pointers</a:t>
            </a:r>
          </a:p>
          <a:p>
            <a:pPr lvl="2"/>
            <a:r>
              <a:rPr lang="en-US" altLang="en-US"/>
              <a:t>1 </a:t>
            </a:r>
            <a:r>
              <a:rPr lang="en-US" altLang="en-US" b="1"/>
              <a:t>double indirect block</a:t>
            </a:r>
            <a:endParaRPr lang="en-US" altLang="en-US"/>
          </a:p>
          <a:p>
            <a:pPr lvl="3"/>
            <a:r>
              <a:rPr lang="en-US" altLang="en-US"/>
              <a:t>which points to a number of </a:t>
            </a:r>
            <a:r>
              <a:rPr lang="en-US" altLang="en-US" b="1"/>
              <a:t>single indirect blocks</a:t>
            </a:r>
          </a:p>
          <a:p>
            <a:pPr lvl="2"/>
            <a:r>
              <a:rPr lang="en-US" altLang="en-US"/>
              <a:t>1 </a:t>
            </a:r>
            <a:r>
              <a:rPr lang="en-US" altLang="en-US" b="1"/>
              <a:t>triple indirect block</a:t>
            </a:r>
          </a:p>
          <a:p>
            <a:pPr lvl="3"/>
            <a:r>
              <a:rPr lang="en-US" altLang="en-US"/>
              <a:t>which points to a number of </a:t>
            </a:r>
            <a:r>
              <a:rPr lang="en-US" altLang="en-US" b="1"/>
              <a:t>double indirect blocks</a:t>
            </a:r>
            <a:endParaRPr lang="en-US" altLang="en-US"/>
          </a:p>
          <a:p>
            <a:pPr lvl="2"/>
            <a:r>
              <a:rPr lang="en-US" altLang="en-US"/>
              <a:t>A combination of efficiency (for small file) and flexibility (still allow large file)</a:t>
            </a:r>
          </a:p>
        </p:txBody>
      </p:sp>
    </p:spTree>
    <p:extLst>
      <p:ext uri="{BB962C8B-B14F-4D97-AF65-F5344CB8AC3E}">
        <p14:creationId xmlns:p14="http://schemas.microsoft.com/office/powerpoint/2010/main" val="2456349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BA3F9-9127-4DA5-AC41-0EA38BD2A82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Unix Indexed Node: Illustration</a:t>
            </a:r>
          </a:p>
        </p:txBody>
      </p:sp>
      <p:pic>
        <p:nvPicPr>
          <p:cNvPr id="11243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" t="948" r="4706" b="948"/>
          <a:stretch>
            <a:fillRect/>
          </a:stretch>
        </p:blipFill>
        <p:spPr bwMode="auto">
          <a:xfrm>
            <a:off x="1447800" y="914400"/>
            <a:ext cx="6278563" cy="508793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4357" name="Rectangle 5"/>
          <p:cNvSpPr>
            <a:spLocks noChangeArrowheads="1"/>
          </p:cNvSpPr>
          <p:nvPr/>
        </p:nvSpPr>
        <p:spPr bwMode="auto">
          <a:xfrm>
            <a:off x="457200" y="6172200"/>
            <a:ext cx="822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400"/>
              <a:t>Image taken from "Operating System Concepts" 7</a:t>
            </a:r>
            <a:r>
              <a:rPr lang="en-US" altLang="en-US" sz="1400" baseline="30000"/>
              <a:t>th</a:t>
            </a:r>
            <a:r>
              <a:rPr lang="en-US" altLang="en-US" sz="1400"/>
              <a:t> Edition by Silberschatz, Galvin and Gagne</a:t>
            </a:r>
          </a:p>
        </p:txBody>
      </p:sp>
    </p:spTree>
    <p:extLst>
      <p:ext uri="{BB962C8B-B14F-4D97-AF65-F5344CB8AC3E}">
        <p14:creationId xmlns:p14="http://schemas.microsoft.com/office/powerpoint/2010/main" val="1600217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Free Space Management</a:t>
            </a:r>
          </a:p>
        </p:txBody>
      </p:sp>
      <p:grpSp>
        <p:nvGrpSpPr>
          <p:cNvPr id="1102854" name="Group 6"/>
          <p:cNvGrpSpPr>
            <a:grpSpLocks/>
          </p:cNvGrpSpPr>
          <p:nvPr/>
        </p:nvGrpSpPr>
        <p:grpSpPr bwMode="auto">
          <a:xfrm>
            <a:off x="990600" y="4800600"/>
            <a:ext cx="7315200" cy="838200"/>
            <a:chOff x="384" y="2736"/>
            <a:chExt cx="4608" cy="528"/>
          </a:xfrm>
        </p:grpSpPr>
        <p:sp>
          <p:nvSpPr>
            <p:cNvPr id="1102855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2856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2857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2858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2859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2860" name="Oval 12"/>
          <p:cNvSpPr>
            <a:spLocks noChangeArrowheads="1"/>
          </p:cNvSpPr>
          <p:nvPr/>
        </p:nvSpPr>
        <p:spPr bwMode="auto">
          <a:xfrm>
            <a:off x="2133600" y="4343400"/>
            <a:ext cx="1600200" cy="16764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97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8BE52-1497-4BCF-9291-E94DEF2F80B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Free Space Management: Overview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perform file allocation:</a:t>
            </a:r>
          </a:p>
          <a:p>
            <a:pPr lvl="1"/>
            <a:r>
              <a:rPr lang="en-US" altLang="en-US" dirty="0"/>
              <a:t>Need to know which disk block is free</a:t>
            </a:r>
          </a:p>
          <a:p>
            <a:pPr lvl="1"/>
            <a:r>
              <a:rPr lang="en-US" altLang="en-US" dirty="0"/>
              <a:t>i.e. maintain a </a:t>
            </a:r>
            <a:r>
              <a:rPr lang="en-US" altLang="en-US" b="1" dirty="0"/>
              <a:t>free space list</a:t>
            </a:r>
          </a:p>
          <a:p>
            <a:r>
              <a:rPr lang="en-US" altLang="en-US" dirty="0"/>
              <a:t>Free space management:</a:t>
            </a:r>
          </a:p>
          <a:p>
            <a:pPr lvl="1"/>
            <a:r>
              <a:rPr lang="en-US" altLang="en-US" dirty="0"/>
              <a:t>Maintain free space information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Allocate:</a:t>
            </a:r>
          </a:p>
          <a:p>
            <a:pPr lvl="2"/>
            <a:r>
              <a:rPr lang="en-US" altLang="en-US" dirty="0"/>
              <a:t>Remove free disk block from free space list</a:t>
            </a:r>
          </a:p>
          <a:p>
            <a:pPr lvl="2"/>
            <a:r>
              <a:rPr lang="en-US" altLang="en-US" dirty="0"/>
              <a:t>Needed when file is created or enlarged (appended)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Free:</a:t>
            </a:r>
          </a:p>
          <a:p>
            <a:pPr lvl="2"/>
            <a:r>
              <a:rPr lang="en-US" altLang="en-US" dirty="0"/>
              <a:t>Add free disk block to free space list</a:t>
            </a:r>
          </a:p>
          <a:p>
            <a:pPr lvl="2"/>
            <a:r>
              <a:rPr lang="en-US" altLang="en-US" dirty="0"/>
              <a:t>Needed when file is deleted or truncated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3087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0FAD-955A-4FD7-912F-4D8A7311B65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Bitmap</a:t>
            </a:r>
          </a:p>
        </p:txBody>
      </p:sp>
      <p:sp>
        <p:nvSpPr>
          <p:cNvPr id="112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52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Each disk block is represented by 1 bit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 1 == free, 0 == occupied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Example:</a:t>
            </a:r>
          </a:p>
        </p:txBody>
      </p:sp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1295400" y="2559050"/>
            <a:ext cx="5562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1 1 1 </a:t>
            </a: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0 0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</a:t>
            </a:r>
            <a:r>
              <a:rPr lang="en-US" altLang="en-US" sz="2400" b="1" dirty="0">
                <a:latin typeface="Courier New" panose="02070309020205020404" pitchFamily="49" charset="0"/>
              </a:rPr>
              <a:t> ......</a:t>
            </a:r>
          </a:p>
        </p:txBody>
      </p:sp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457200" y="3124200"/>
            <a:ext cx="8229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>
              <a:lnSpc>
                <a:spcPct val="90000"/>
              </a:lnSpc>
            </a:pPr>
            <a:r>
              <a:rPr lang="en-US" altLang="en-US" dirty="0"/>
              <a:t>Occupied Blocks = </a:t>
            </a:r>
            <a:r>
              <a:rPr lang="en-US" altLang="en-US" b="1" dirty="0">
                <a:solidFill>
                  <a:srgbClr val="C00000"/>
                </a:solidFill>
              </a:rPr>
              <a:t>0, 2, 6, 7, 9, …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Free Blocks =  </a:t>
            </a:r>
            <a:r>
              <a:rPr lang="en-US" altLang="en-US" b="1" dirty="0">
                <a:solidFill>
                  <a:srgbClr val="006600"/>
                </a:solidFill>
              </a:rPr>
              <a:t>1, 3, 4, 5, 8, 10, 11, …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a good set of manipulations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can find the first free block, n-consecutive free blocks easily by bit level operation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keep in memory for efficiency reason</a:t>
            </a:r>
          </a:p>
        </p:txBody>
      </p:sp>
    </p:spTree>
    <p:extLst>
      <p:ext uri="{BB962C8B-B14F-4D97-AF65-F5344CB8AC3E}">
        <p14:creationId xmlns:p14="http://schemas.microsoft.com/office/powerpoint/2010/main" val="1369963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0AEA2-6780-44C9-9AD7-785AAA91F405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a linked list of disk blocks: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contains: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number of free disk block numbers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pointer to the next free space disk block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locate free 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Only the first pointer is needed in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Though other blocks can be cached for efficiency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High overhead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be mitigated by storing the free block list in free blocks!</a:t>
            </a:r>
          </a:p>
        </p:txBody>
      </p:sp>
    </p:spTree>
    <p:extLst>
      <p:ext uri="{BB962C8B-B14F-4D97-AF65-F5344CB8AC3E}">
        <p14:creationId xmlns:p14="http://schemas.microsoft.com/office/powerpoint/2010/main" val="1756365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Implementing Directory</a:t>
            </a:r>
          </a:p>
        </p:txBody>
      </p:sp>
      <p:grpSp>
        <p:nvGrpSpPr>
          <p:cNvPr id="1104902" name="Group 6"/>
          <p:cNvGrpSpPr>
            <a:grpSpLocks/>
          </p:cNvGrpSpPr>
          <p:nvPr/>
        </p:nvGrpSpPr>
        <p:grpSpPr bwMode="auto">
          <a:xfrm>
            <a:off x="1143000" y="4953000"/>
            <a:ext cx="7315200" cy="838200"/>
            <a:chOff x="384" y="2736"/>
            <a:chExt cx="4608" cy="528"/>
          </a:xfrm>
        </p:grpSpPr>
        <p:sp>
          <p:nvSpPr>
            <p:cNvPr id="1104903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OS Boot Block</a:t>
              </a:r>
            </a:p>
          </p:txBody>
        </p:sp>
        <p:sp>
          <p:nvSpPr>
            <p:cNvPr id="1104904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4905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4906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4907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4908" name="Oval 12"/>
          <p:cNvSpPr>
            <a:spLocks noChangeArrowheads="1"/>
          </p:cNvSpPr>
          <p:nvPr/>
        </p:nvSpPr>
        <p:spPr bwMode="auto">
          <a:xfrm>
            <a:off x="3429000" y="4495800"/>
            <a:ext cx="1905000" cy="17526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63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6EAB1-8EBB-42BA-A9C3-3ADFF3CA80E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Overview</a:t>
            </a:r>
          </a:p>
        </p:txBody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main tasks of a directory structure: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Keep tracks of the files in a directory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Possibly with the file metadata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Map the file name to the file information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Remember: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must be opened before use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Something like </a:t>
            </a:r>
            <a:r>
              <a:rPr lang="en-US" altLang="en-US" b="1" dirty="0">
                <a:latin typeface="Courier New" panose="02070309020205020404" pitchFamily="49" charset="0"/>
              </a:rPr>
              <a:t>open( "data.txt" );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purpose of the open operation: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Locate the file information using pathname + file name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Path name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List of directory names traversed from root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</a:t>
            </a:r>
            <a:r>
              <a:rPr lang="en-US" altLang="en-US" b="1" dirty="0">
                <a:latin typeface="Courier New" panose="02070309020205020404" pitchFamily="49" charset="0"/>
              </a:rPr>
              <a:t>/dir2/dir3/data.txt</a:t>
            </a:r>
          </a:p>
        </p:txBody>
      </p:sp>
    </p:spTree>
    <p:extLst>
      <p:ext uri="{BB962C8B-B14F-4D97-AF65-F5344CB8AC3E}">
        <p14:creationId xmlns:p14="http://schemas.microsoft.com/office/powerpoint/2010/main" val="1479935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1618F-C860-41A0-9243-440E64C71D81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Overview (cont)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/>
              <a:t>Given a full path name: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/>
              <a:t>Need to recursively search the directories along the path to arrive at the file information</a:t>
            </a:r>
          </a:p>
          <a:p>
            <a:pPr marL="571500" indent="-571500">
              <a:lnSpc>
                <a:spcPct val="90000"/>
              </a:lnSpc>
            </a:pPr>
            <a:r>
              <a:rPr lang="en-US" altLang="en-US"/>
              <a:t>Example: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/>
              <a:t>Full path name:</a:t>
            </a:r>
            <a:r>
              <a:rPr lang="en-US" altLang="en-US" b="1">
                <a:latin typeface="Courier New" panose="02070309020205020404" pitchFamily="49" charset="0"/>
              </a:rPr>
              <a:t> /dir2/dir3/data.txt</a:t>
            </a:r>
            <a:endParaRPr lang="en-US" altLang="en-US"/>
          </a:p>
          <a:p>
            <a:pPr marL="1090613" lvl="2" indent="-4191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/>
              <a:t>Find "</a:t>
            </a:r>
            <a:r>
              <a:rPr lang="en-US" altLang="en-US" b="1">
                <a:latin typeface="Courier New" panose="02070309020205020404" pitchFamily="49" charset="0"/>
              </a:rPr>
              <a:t>dir2</a:t>
            </a:r>
            <a:r>
              <a:rPr lang="en-US" altLang="en-US"/>
              <a:t>" in directory "</a:t>
            </a:r>
            <a:r>
              <a:rPr lang="en-US" altLang="en-US" b="1">
                <a:latin typeface="Courier New" panose="02070309020205020404" pitchFamily="49" charset="0"/>
              </a:rPr>
              <a:t>/</a:t>
            </a:r>
            <a:r>
              <a:rPr lang="en-US" altLang="en-US"/>
              <a:t>"</a:t>
            </a:r>
          </a:p>
          <a:p>
            <a:pPr marL="1404938" lvl="3" indent="-3810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Stop if not found (or incorrect type)</a:t>
            </a:r>
          </a:p>
          <a:p>
            <a:pPr marL="1090613" lvl="2" indent="-4191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/>
              <a:t>Find "</a:t>
            </a:r>
            <a:r>
              <a:rPr lang="en-US" altLang="en-US" b="1">
                <a:latin typeface="Courier New" panose="02070309020205020404" pitchFamily="49" charset="0"/>
              </a:rPr>
              <a:t>dir3</a:t>
            </a:r>
            <a:r>
              <a:rPr lang="en-US" altLang="en-US"/>
              <a:t>" in directory "</a:t>
            </a:r>
            <a:r>
              <a:rPr lang="en-US" altLang="en-US" b="1">
                <a:latin typeface="Courier New" panose="02070309020205020404" pitchFamily="49" charset="0"/>
              </a:rPr>
              <a:t>dir2</a:t>
            </a:r>
            <a:r>
              <a:rPr lang="en-US" altLang="en-US"/>
              <a:t>"</a:t>
            </a:r>
          </a:p>
          <a:p>
            <a:pPr marL="1404938" lvl="3" indent="-3810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Stop if not found (or incorrect type)</a:t>
            </a:r>
          </a:p>
          <a:p>
            <a:pPr marL="1090613" lvl="2" indent="-4191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/>
              <a:t>Find "</a:t>
            </a:r>
            <a:r>
              <a:rPr lang="en-US" altLang="en-US" b="1">
                <a:latin typeface="Courier New" panose="02070309020205020404" pitchFamily="49" charset="0"/>
              </a:rPr>
              <a:t>data.txt</a:t>
            </a:r>
            <a:r>
              <a:rPr lang="en-US" altLang="en-US"/>
              <a:t>" in directory "</a:t>
            </a:r>
            <a:r>
              <a:rPr lang="en-US" altLang="en-US" b="1">
                <a:latin typeface="Courier New" panose="02070309020205020404" pitchFamily="49" charset="0"/>
              </a:rPr>
              <a:t>dir3</a:t>
            </a:r>
            <a:r>
              <a:rPr lang="en-US" altLang="en-US"/>
              <a:t>"</a:t>
            </a:r>
          </a:p>
          <a:p>
            <a:pPr marL="1404938" lvl="3" indent="-3810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Stop if not found (or incorrect type)</a:t>
            </a:r>
          </a:p>
          <a:p>
            <a:pPr marL="571500" indent="-571500">
              <a:lnSpc>
                <a:spcPct val="90000"/>
              </a:lnSpc>
            </a:pPr>
            <a:r>
              <a:rPr lang="en-US" altLang="en-US"/>
              <a:t>Sub-directory is usually stored as file entry with special type in a directory</a:t>
            </a:r>
          </a:p>
        </p:txBody>
      </p:sp>
    </p:spTree>
    <p:extLst>
      <p:ext uri="{BB962C8B-B14F-4D97-AF65-F5344CB8AC3E}">
        <p14:creationId xmlns:p14="http://schemas.microsoft.com/office/powerpoint/2010/main" val="204560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B75FB-FB92-40D6-AF08-B86E27401E76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Linear List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Directory consists of a list:</a:t>
            </a:r>
          </a:p>
          <a:p>
            <a:pPr lvl="1"/>
            <a:r>
              <a:rPr lang="en-US" altLang="en-US"/>
              <a:t>Each entry represents a file:</a:t>
            </a:r>
          </a:p>
          <a:p>
            <a:pPr lvl="2"/>
            <a:r>
              <a:rPr lang="en-US" altLang="en-US"/>
              <a:t>Store file name (minimum) and possibly other metadata</a:t>
            </a:r>
          </a:p>
          <a:p>
            <a:pPr lvl="2"/>
            <a:r>
              <a:rPr lang="en-US" altLang="en-US"/>
              <a:t>Store file information or pointer to file information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Locate a file using list:</a:t>
            </a:r>
          </a:p>
          <a:p>
            <a:pPr lvl="1"/>
            <a:r>
              <a:rPr lang="en-US" altLang="en-US"/>
              <a:t>Requires a linear search</a:t>
            </a:r>
          </a:p>
          <a:p>
            <a:pPr lvl="2"/>
            <a:r>
              <a:rPr lang="en-US" altLang="en-US"/>
              <a:t>Inefficient for large directories and/or deep tree traversal</a:t>
            </a:r>
          </a:p>
          <a:p>
            <a:pPr lvl="1"/>
            <a:r>
              <a:rPr lang="en-US" altLang="en-US"/>
              <a:t>Common solution:</a:t>
            </a:r>
          </a:p>
          <a:p>
            <a:pPr lvl="2"/>
            <a:r>
              <a:rPr lang="en-US" altLang="en-US"/>
              <a:t>Use cache to remember the latest few searches</a:t>
            </a:r>
          </a:p>
          <a:p>
            <a:pPr lvl="3"/>
            <a:r>
              <a:rPr lang="en-US" altLang="en-US"/>
              <a:t>User usually move up/down a path </a:t>
            </a:r>
          </a:p>
        </p:txBody>
      </p:sp>
    </p:spTree>
    <p:extLst>
      <p:ext uri="{BB962C8B-B14F-4D97-AF65-F5344CB8AC3E}">
        <p14:creationId xmlns:p14="http://schemas.microsoft.com/office/powerpoint/2010/main" val="2912469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C6A-4787-4A14-880E-E73D244D93D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3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Hash Table</a:t>
            </a:r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Each directory contains a </a:t>
            </a:r>
          </a:p>
          <a:p>
            <a:pPr lvl="1"/>
            <a:r>
              <a:rPr lang="en-US" altLang="en-US" sz="2200" dirty="0"/>
              <a:t>Hash table of size </a:t>
            </a:r>
            <a:r>
              <a:rPr lang="en-US" altLang="en-US" sz="2200" b="1" dirty="0">
                <a:latin typeface="Courier New" panose="02070309020205020404" pitchFamily="49" charset="0"/>
              </a:rPr>
              <a:t>N</a:t>
            </a:r>
          </a:p>
          <a:p>
            <a:r>
              <a:rPr lang="en-US" altLang="en-US" sz="2600" dirty="0"/>
              <a:t>To locate a file by file name:</a:t>
            </a:r>
          </a:p>
          <a:p>
            <a:pPr lvl="1"/>
            <a:r>
              <a:rPr lang="en-US" altLang="en-US" sz="2200" dirty="0"/>
              <a:t>File name is hashed into index </a:t>
            </a:r>
            <a:r>
              <a:rPr lang="en-US" altLang="en-US" sz="2200" b="1" dirty="0">
                <a:latin typeface="Courier New" panose="02070309020205020404" pitchFamily="49" charset="0"/>
              </a:rPr>
              <a:t>K</a:t>
            </a:r>
            <a:r>
              <a:rPr lang="en-US" altLang="en-US" sz="2200" dirty="0"/>
              <a:t> from </a:t>
            </a:r>
            <a:r>
              <a:rPr lang="en-US" altLang="en-US" sz="2200" b="1" dirty="0">
                <a:latin typeface="Courier New" panose="02070309020205020404" pitchFamily="49" charset="0"/>
              </a:rPr>
              <a:t>0</a:t>
            </a:r>
            <a:r>
              <a:rPr lang="en-US" altLang="en-US" sz="2200" dirty="0"/>
              <a:t> to </a:t>
            </a:r>
            <a:r>
              <a:rPr lang="en-US" altLang="en-US" sz="2200" b="1" dirty="0">
                <a:latin typeface="Courier New" panose="02070309020205020404" pitchFamily="49" charset="0"/>
              </a:rPr>
              <a:t>N-1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HashTable</a:t>
            </a:r>
            <a:r>
              <a:rPr lang="en-US" altLang="en-US" sz="2200" b="1" dirty="0">
                <a:latin typeface="Courier New" panose="02070309020205020404" pitchFamily="49" charset="0"/>
              </a:rPr>
              <a:t>[K]</a:t>
            </a:r>
            <a:r>
              <a:rPr lang="en-US" altLang="en-US" sz="2200" dirty="0"/>
              <a:t> is inspected to match file name</a:t>
            </a:r>
          </a:p>
          <a:p>
            <a:pPr lvl="2"/>
            <a:r>
              <a:rPr lang="en-US" altLang="en-US" sz="2000" dirty="0"/>
              <a:t>Usually chained collision resolution is used</a:t>
            </a:r>
          </a:p>
          <a:p>
            <a:pPr lvl="2"/>
            <a:r>
              <a:rPr lang="en-US" altLang="en-US" sz="2000" dirty="0"/>
              <a:t>i.e. file names with same hash value is chained together</a:t>
            </a:r>
          </a:p>
          <a:p>
            <a:pPr lvl="3"/>
            <a:r>
              <a:rPr lang="en-US" altLang="en-US" sz="1800" dirty="0"/>
              <a:t> to form a linked list with list head at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HashTable</a:t>
            </a:r>
            <a:r>
              <a:rPr lang="en-US" altLang="en-US" sz="1800" b="1" dirty="0">
                <a:latin typeface="Courier New" panose="02070309020205020404" pitchFamily="49" charset="0"/>
              </a:rPr>
              <a:t>[ K ]</a:t>
            </a:r>
          </a:p>
          <a:p>
            <a:r>
              <a:rPr lang="en-US" altLang="en-US" sz="2600" b="1" dirty="0">
                <a:solidFill>
                  <a:srgbClr val="0033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Fast lookup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Hash table has limited size</a:t>
            </a:r>
          </a:p>
          <a:p>
            <a:pPr lvl="1"/>
            <a:r>
              <a:rPr lang="en-US" altLang="en-US" sz="2200" dirty="0"/>
              <a:t>Depends on good hash function</a:t>
            </a:r>
          </a:p>
        </p:txBody>
      </p:sp>
    </p:spTree>
    <p:extLst>
      <p:ext uri="{BB962C8B-B14F-4D97-AF65-F5344CB8AC3E}">
        <p14:creationId xmlns:p14="http://schemas.microsoft.com/office/powerpoint/2010/main" val="597467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19DCA-629D-4B25-A3CB-6FD47C3C405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Directory Implementation: </a:t>
            </a:r>
            <a:r>
              <a:rPr lang="en-US" altLang="en-US" sz="3600" b="1" dirty="0">
                <a:solidFill>
                  <a:srgbClr val="C00000"/>
                </a:solidFill>
              </a:rPr>
              <a:t>File Information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File information consists of: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File name and other metadata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Disk blocks information 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As discussed in the file allocation schemes earlier</a:t>
            </a:r>
          </a:p>
          <a:p>
            <a:pPr marL="512763" indent="-495300">
              <a:lnSpc>
                <a:spcPct val="90000"/>
              </a:lnSpc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Two common approaches: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everything in directory entry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 simple scheme is to have a fixed size entry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All files have the same amount of space for information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only file name and points to some data structure for other info</a:t>
            </a:r>
          </a:p>
          <a:p>
            <a:pPr marL="839788" lvl="1" indent="-495300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3541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 System in Action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locked and loaded!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305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9D1DC-FAFB-4A1D-81CE-DD24C76D378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113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 in Action: Overview</a:t>
            </a:r>
          </a:p>
        </p:txBody>
      </p:sp>
      <p:sp>
        <p:nvSpPr>
          <p:cNvPr id="113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Previous sections are on </a:t>
            </a:r>
            <a:r>
              <a:rPr lang="en-US" altLang="en-US" b="1" dirty="0"/>
              <a:t>static information </a:t>
            </a:r>
            <a:r>
              <a:rPr lang="en-US" altLang="en-US" dirty="0"/>
              <a:t>for a FS stored on media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At runtime, when user interacts with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Run-time information </a:t>
            </a:r>
            <a:r>
              <a:rPr lang="en-US" altLang="en-US" dirty="0"/>
              <a:t>is needed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Maintained </a:t>
            </a:r>
            <a:r>
              <a:rPr lang="en-US" altLang="en-US" dirty="0"/>
              <a:t>by OS in memory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[Recap] Common in-memory information: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System-wide open-file table: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Contain a copy of file information for each open file + other info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Per-process open-file table: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Contains pointer to system-wide table + other info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Buffers for disk blocks read from/written to disk</a:t>
            </a:r>
          </a:p>
        </p:txBody>
      </p:sp>
    </p:spTree>
    <p:extLst>
      <p:ext uri="{BB962C8B-B14F-4D97-AF65-F5344CB8AC3E}">
        <p14:creationId xmlns:p14="http://schemas.microsoft.com/office/powerpoint/2010/main" val="1363504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D3770-1C62-4493-9F17-F60BE65B5BA8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Create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Let us relook at the file operation</a:t>
            </a:r>
          </a:p>
          <a:p>
            <a:pPr lvl="1"/>
            <a:r>
              <a:rPr lang="en-US" altLang="en-US"/>
              <a:t>With the newly covered details</a:t>
            </a:r>
          </a:p>
          <a:p>
            <a:r>
              <a:rPr lang="en-US" altLang="en-US"/>
              <a:t>To create a file </a:t>
            </a:r>
            <a:r>
              <a:rPr lang="en-US" altLang="en-US" b="1">
                <a:latin typeface="Courier New" panose="02070309020205020404" pitchFamily="49" charset="0"/>
              </a:rPr>
              <a:t>/…/…/parent/F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Use full pathname to locate the </a:t>
            </a:r>
            <a:r>
              <a:rPr lang="en-US" altLang="en-US" b="1"/>
              <a:t>parent </a:t>
            </a:r>
            <a:r>
              <a:rPr lang="en-US" altLang="en-US"/>
              <a:t>directory</a:t>
            </a:r>
          </a:p>
          <a:p>
            <a:pPr lvl="2"/>
            <a:r>
              <a:rPr lang="en-US" altLang="en-US"/>
              <a:t>Search for filename </a:t>
            </a:r>
            <a:r>
              <a:rPr lang="en-US" altLang="en-US" b="1"/>
              <a:t>F </a:t>
            </a:r>
            <a:r>
              <a:rPr lang="en-US" altLang="en-US"/>
              <a:t>to avoid duplicates</a:t>
            </a:r>
          </a:p>
          <a:p>
            <a:pPr lvl="3"/>
            <a:r>
              <a:rPr lang="en-US" altLang="en-US"/>
              <a:t>If found, file creation terminates with error</a:t>
            </a:r>
          </a:p>
          <a:p>
            <a:pPr lvl="2"/>
            <a:r>
              <a:rPr lang="en-US" altLang="en-US"/>
              <a:t>Search could be on the cached directory structure</a:t>
            </a:r>
          </a:p>
          <a:p>
            <a:pPr lvl="1"/>
            <a:r>
              <a:rPr lang="en-US" altLang="en-US"/>
              <a:t>Use free space list to find free disk block(s)</a:t>
            </a:r>
          </a:p>
          <a:p>
            <a:pPr lvl="2"/>
            <a:r>
              <a:rPr lang="en-US" altLang="en-US"/>
              <a:t>Depends on allocation scheme</a:t>
            </a:r>
          </a:p>
          <a:p>
            <a:pPr lvl="1"/>
            <a:r>
              <a:rPr lang="en-US" altLang="en-US"/>
              <a:t>Add an entry to </a:t>
            </a:r>
            <a:r>
              <a:rPr lang="en-US" altLang="en-US" b="1"/>
              <a:t>parent </a:t>
            </a:r>
            <a:r>
              <a:rPr lang="en-US" altLang="en-US"/>
              <a:t>directory</a:t>
            </a:r>
          </a:p>
          <a:p>
            <a:pPr lvl="2"/>
            <a:r>
              <a:rPr lang="en-US" altLang="en-US"/>
              <a:t>With relevant file</a:t>
            </a:r>
            <a:r>
              <a:rPr lang="en-US" altLang="en-US" b="1"/>
              <a:t> </a:t>
            </a:r>
            <a:r>
              <a:rPr lang="en-US" altLang="en-US"/>
              <a:t>information</a:t>
            </a:r>
          </a:p>
          <a:p>
            <a:pPr lvl="2"/>
            <a:r>
              <a:rPr lang="en-US" altLang="en-US"/>
              <a:t>File name, disk block information etc</a:t>
            </a:r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462269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Creation: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4145322" y="1841407"/>
            <a:ext cx="1657710" cy="7490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4145323" y="2586530"/>
            <a:ext cx="1657710" cy="5242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145322" y="3110805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7433" y="3967314"/>
            <a:ext cx="2380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Directory Structure</a:t>
            </a:r>
          </a:p>
          <a:p>
            <a:pPr algn="ctr"/>
            <a:r>
              <a:rPr lang="en-US" dirty="0"/>
              <a:t>(Can be cached in memory)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88083" y="5650735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Secondary</a:t>
            </a:r>
          </a:p>
          <a:p>
            <a:pPr algn="ctr"/>
            <a:r>
              <a:rPr lang="en-US" dirty="0"/>
              <a:t>Storage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3429000" y="971736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flipV="1">
            <a:off x="5801400" y="2538054"/>
            <a:ext cx="1580202" cy="16578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nip Single Corner Rectangle 2"/>
          <p:cNvSpPr/>
          <p:nvPr/>
        </p:nvSpPr>
        <p:spPr>
          <a:xfrm>
            <a:off x="379760" y="1574242"/>
            <a:ext cx="2857360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5482" y="324534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Program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7384868" y="1736864"/>
            <a:ext cx="1301932" cy="3854450"/>
            <a:chOff x="7156268" y="1981200"/>
            <a:chExt cx="1301932" cy="3854450"/>
          </a:xfrm>
        </p:grpSpPr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7162800" y="1981200"/>
              <a:ext cx="1295400" cy="1066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/>
                <a:t>Directory Structure</a:t>
              </a:r>
            </a:p>
            <a:p>
              <a:pPr algn="ctr"/>
              <a:endParaRPr lang="en-US" altLang="en-US" b="1" dirty="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7162800" y="3048000"/>
              <a:ext cx="1295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/>
                <a:t>Files Info</a:t>
              </a:r>
            </a:p>
            <a:p>
              <a:pPr algn="ctr"/>
              <a:r>
                <a:rPr lang="en-US" altLang="en-US" b="1" dirty="0"/>
                <a:t> 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7162800" y="3886200"/>
              <a:ext cx="1295400" cy="19494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File Data</a:t>
              </a:r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7315200" y="4618037"/>
              <a:ext cx="687978" cy="212725"/>
              <a:chOff x="2869474" y="2911475"/>
              <a:chExt cx="687978" cy="212725"/>
            </a:xfrm>
          </p:grpSpPr>
          <p:sp>
            <p:nvSpPr>
              <p:cNvPr id="66" name="Rectangle 65"/>
              <p:cNvSpPr>
                <a:spLocks noChangeArrowheads="1"/>
              </p:cNvSpPr>
              <p:nvPr/>
            </p:nvSpPr>
            <p:spPr bwMode="auto">
              <a:xfrm>
                <a:off x="2869474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7" name="Rectangle 66"/>
              <p:cNvSpPr>
                <a:spLocks noChangeArrowheads="1"/>
              </p:cNvSpPr>
              <p:nvPr/>
            </p:nvSpPr>
            <p:spPr bwMode="auto">
              <a:xfrm>
                <a:off x="3124200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>
                <a:off x="3378926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7315200" y="499001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811589" y="5273675"/>
              <a:ext cx="433252" cy="212725"/>
              <a:chOff x="3124200" y="2911475"/>
              <a:chExt cx="433252" cy="212725"/>
            </a:xfrm>
          </p:grpSpPr>
          <p:sp>
            <p:nvSpPr>
              <p:cNvPr id="64" name="Rectangle 63"/>
              <p:cNvSpPr>
                <a:spLocks noChangeArrowheads="1"/>
              </p:cNvSpPr>
              <p:nvPr/>
            </p:nvSpPr>
            <p:spPr bwMode="auto">
              <a:xfrm>
                <a:off x="3124200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5" name="Rectangle 64"/>
              <p:cNvSpPr>
                <a:spLocks noChangeArrowheads="1"/>
              </p:cNvSpPr>
              <p:nvPr/>
            </p:nvSpPr>
            <p:spPr bwMode="auto">
              <a:xfrm>
                <a:off x="3378926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7156268" y="2676026"/>
              <a:ext cx="1301931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cxnSp>
        <p:nvCxnSpPr>
          <p:cNvPr id="89" name="Elbow Connector 88"/>
          <p:cNvCxnSpPr>
            <a:endCxn id="66" idx="1"/>
          </p:cNvCxnSpPr>
          <p:nvPr/>
        </p:nvCxnSpPr>
        <p:spPr>
          <a:xfrm>
            <a:off x="5803032" y="3007917"/>
            <a:ext cx="1740768" cy="147214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7391399" y="3304681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cxnSp>
        <p:nvCxnSpPr>
          <p:cNvPr id="75" name="Elbow Connector 74"/>
          <p:cNvCxnSpPr>
            <a:endCxn id="74" idx="1"/>
          </p:cNvCxnSpPr>
          <p:nvPr/>
        </p:nvCxnSpPr>
        <p:spPr>
          <a:xfrm>
            <a:off x="5803032" y="2857179"/>
            <a:ext cx="1588367" cy="553865"/>
          </a:xfrm>
          <a:prstGeom prst="bentConnector3">
            <a:avLst>
              <a:gd name="adj1" fmla="val 70834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875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4524C-398A-4FEB-880A-1BEC1DD30D4A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Open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Process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 open file </a:t>
            </a:r>
            <a:r>
              <a:rPr lang="en-US" altLang="en-US" b="1">
                <a:latin typeface="Courier New" panose="02070309020205020404" pitchFamily="49" charset="0"/>
              </a:rPr>
              <a:t>/…/…/…/F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Search system-wide table for existing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found: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Return a pointer to this entry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not found, continue to next step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full pathname to locate file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If not found, open operation terminates with error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When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r>
              <a:rPr lang="en-US" altLang="en-US"/>
              <a:t>is located, its file information is loaded into a new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r>
              <a:rPr lang="en-US" altLang="en-US" b="1"/>
              <a:t> </a:t>
            </a:r>
            <a:r>
              <a:rPr lang="en-US" altLang="en-US"/>
              <a:t>in system-wide table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Return a pointer to this entry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returned pointer is used for further read/write operation</a:t>
            </a:r>
          </a:p>
        </p:txBody>
      </p:sp>
    </p:spTree>
    <p:extLst>
      <p:ext uri="{BB962C8B-B14F-4D97-AF65-F5344CB8AC3E}">
        <p14:creationId xmlns:p14="http://schemas.microsoft.com/office/powerpoint/2010/main" val="477341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File Open</a:t>
            </a:r>
            <a:r>
              <a:rPr lang="en-US" dirty="0"/>
              <a:t>: Improved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999327" y="2085481"/>
            <a:ext cx="1505685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P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385962" y="2591666"/>
            <a:ext cx="907869" cy="1426029"/>
            <a:chOff x="3429000" y="1936569"/>
            <a:chExt cx="907869" cy="1426029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solidFill>
                  <a:srgbClr val="C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227031" y="405350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963797" y="107710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5800" y="1077102"/>
            <a:ext cx="492610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963797" y="2019191"/>
            <a:ext cx="1657710" cy="23723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971690" y="439024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495799" y="2016555"/>
            <a:ext cx="492611" cy="2375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5015019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Info: </a:t>
            </a:r>
          </a:p>
          <a:p>
            <a:r>
              <a:rPr lang="en-US" altLang="en-US" sz="1400" dirty="0"/>
              <a:t>File Data: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495800" y="4387606"/>
            <a:ext cx="484718" cy="944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61076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4963797" y="5334966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495800" y="5334966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293831" y="3865295"/>
            <a:ext cx="1201969" cy="99467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1828800" y="1011193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nip Single Corner Rectangle 53"/>
          <p:cNvSpPr/>
          <p:nvPr/>
        </p:nvSpPr>
        <p:spPr>
          <a:xfrm>
            <a:off x="319561" y="2535249"/>
            <a:ext cx="1296508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7391400" y="1736864"/>
            <a:ext cx="1295400" cy="3854450"/>
            <a:chOff x="7162800" y="1981200"/>
            <a:chExt cx="1295400" cy="3854450"/>
          </a:xfrm>
        </p:grpSpPr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7162800" y="1981200"/>
              <a:ext cx="12954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/>
                <a:t>Directory Structure</a:t>
              </a:r>
            </a:p>
            <a:p>
              <a:pPr algn="ctr"/>
              <a:endParaRPr lang="en-US" altLang="en-US" b="1" dirty="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7162800" y="3048000"/>
              <a:ext cx="1295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/>
                <a:t>Files Info</a:t>
              </a:r>
            </a:p>
            <a:p>
              <a:pPr algn="ctr"/>
              <a:r>
                <a:rPr lang="en-US" altLang="en-US" b="1" dirty="0"/>
                <a:t> 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7162800" y="3886200"/>
              <a:ext cx="1295400" cy="19494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File Data</a:t>
              </a:r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7315200" y="4618037"/>
              <a:ext cx="687978" cy="212725"/>
              <a:chOff x="2869474" y="2911475"/>
              <a:chExt cx="687978" cy="212725"/>
            </a:xfrm>
          </p:grpSpPr>
          <p:sp>
            <p:nvSpPr>
              <p:cNvPr id="66" name="Rectangle 65"/>
              <p:cNvSpPr>
                <a:spLocks noChangeArrowheads="1"/>
              </p:cNvSpPr>
              <p:nvPr/>
            </p:nvSpPr>
            <p:spPr bwMode="auto">
              <a:xfrm>
                <a:off x="2869474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7" name="Rectangle 66"/>
              <p:cNvSpPr>
                <a:spLocks noChangeArrowheads="1"/>
              </p:cNvSpPr>
              <p:nvPr/>
            </p:nvSpPr>
            <p:spPr bwMode="auto">
              <a:xfrm>
                <a:off x="3124200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>
                <a:off x="3378926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7315200" y="499001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7811589" y="5273675"/>
              <a:ext cx="433252" cy="212725"/>
              <a:chOff x="3124200" y="2911475"/>
              <a:chExt cx="433252" cy="212725"/>
            </a:xfrm>
          </p:grpSpPr>
          <p:sp>
            <p:nvSpPr>
              <p:cNvPr id="64" name="Rectangle 63"/>
              <p:cNvSpPr>
                <a:spLocks noChangeArrowheads="1"/>
              </p:cNvSpPr>
              <p:nvPr/>
            </p:nvSpPr>
            <p:spPr bwMode="auto">
              <a:xfrm>
                <a:off x="3124200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  <p:sp>
            <p:nvSpPr>
              <p:cNvPr id="65" name="Rectangle 64"/>
              <p:cNvSpPr>
                <a:spLocks noChangeArrowheads="1"/>
              </p:cNvSpPr>
              <p:nvPr/>
            </p:nvSpPr>
            <p:spPr bwMode="auto">
              <a:xfrm>
                <a:off x="3378926" y="2911475"/>
                <a:ext cx="178526" cy="21272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C00000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</p:grp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7391399" y="3304681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8083" y="5650735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Secondary</a:t>
            </a:r>
          </a:p>
          <a:p>
            <a:pPr algn="ctr"/>
            <a:r>
              <a:rPr lang="en-US" dirty="0"/>
              <a:t>Storage</a:t>
            </a:r>
          </a:p>
        </p:txBody>
      </p:sp>
      <p:cxnSp>
        <p:nvCxnSpPr>
          <p:cNvPr id="89" name="Elbow Connector 88"/>
          <p:cNvCxnSpPr>
            <a:endCxn id="61" idx="1"/>
          </p:cNvCxnSpPr>
          <p:nvPr/>
        </p:nvCxnSpPr>
        <p:spPr>
          <a:xfrm flipV="1">
            <a:off x="6210440" y="4852038"/>
            <a:ext cx="1333360" cy="27268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69" idx="1"/>
            <a:endCxn id="76" idx="3"/>
          </p:cNvCxnSpPr>
          <p:nvPr/>
        </p:nvCxnSpPr>
        <p:spPr>
          <a:xfrm rot="10800000" flipV="1">
            <a:off x="6084331" y="3411043"/>
            <a:ext cx="1307069" cy="146589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5629307" y="4724539"/>
            <a:ext cx="45502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93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I/O Scheduling</a:t>
            </a:r>
            <a:br>
              <a:rPr lang="en-US" dirty="0"/>
            </a:br>
            <a:r>
              <a:rPr lang="en-US" dirty="0"/>
              <a:t>(</a:t>
            </a:r>
            <a:r>
              <a:rPr lang="en-US"/>
              <a:t>Not examinable)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afraid you have to wait…..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364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Disk in One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37</a:t>
            </a:fld>
            <a:endParaRPr lang="en-US" altLang="en-US"/>
          </a:p>
        </p:txBody>
      </p:sp>
      <p:grpSp>
        <p:nvGrpSpPr>
          <p:cNvPr id="19" name="Group 18"/>
          <p:cNvGrpSpPr/>
          <p:nvPr/>
        </p:nvGrpSpPr>
        <p:grpSpPr>
          <a:xfrm>
            <a:off x="3219449" y="2363377"/>
            <a:ext cx="2819400" cy="2743200"/>
            <a:chOff x="5410200" y="838200"/>
            <a:chExt cx="2819400" cy="2743200"/>
          </a:xfrm>
        </p:grpSpPr>
        <p:sp>
          <p:nvSpPr>
            <p:cNvPr id="17" name="Oval 16"/>
            <p:cNvSpPr/>
            <p:nvPr/>
          </p:nvSpPr>
          <p:spPr>
            <a:xfrm>
              <a:off x="5410200" y="838200"/>
              <a:ext cx="2819400" cy="27432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800" y="1066800"/>
              <a:ext cx="2362200" cy="2286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/>
            <p:cNvSpPr/>
            <p:nvPr/>
          </p:nvSpPr>
          <p:spPr>
            <a:xfrm>
              <a:off x="5867400" y="1295400"/>
              <a:ext cx="1905000" cy="18288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/>
            <p:cNvSpPr/>
            <p:nvPr/>
          </p:nvSpPr>
          <p:spPr>
            <a:xfrm>
              <a:off x="6096000" y="1524000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/>
            <p:cNvSpPr/>
            <p:nvPr/>
          </p:nvSpPr>
          <p:spPr>
            <a:xfrm>
              <a:off x="6324600" y="1752600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Block Arc 10"/>
            <p:cNvSpPr/>
            <p:nvPr/>
          </p:nvSpPr>
          <p:spPr>
            <a:xfrm rot="10800000">
              <a:off x="6172200" y="1600200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514012" y="1939835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62149" y="3658777"/>
            <a:ext cx="2133600" cy="228600"/>
            <a:chOff x="114300" y="2324100"/>
            <a:chExt cx="2133600" cy="2286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1066800" y="1371600"/>
              <a:ext cx="228600" cy="2133600"/>
            </a:xfrm>
            <a:prstGeom prst="round2SameRect">
              <a:avLst>
                <a:gd name="adj1" fmla="val 47143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055223" y="2367643"/>
              <a:ext cx="152400" cy="1415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8" name="Freeform 37"/>
          <p:cNvSpPr/>
          <p:nvPr/>
        </p:nvSpPr>
        <p:spPr>
          <a:xfrm>
            <a:off x="3409949" y="2013663"/>
            <a:ext cx="2438400" cy="623227"/>
          </a:xfrm>
          <a:custGeom>
            <a:avLst/>
            <a:gdLst>
              <a:gd name="connsiteX0" fmla="*/ 0 w 2908662"/>
              <a:gd name="connsiteY0" fmla="*/ 928027 h 928027"/>
              <a:gd name="connsiteX1" fmla="*/ 513805 w 2908662"/>
              <a:gd name="connsiteY1" fmla="*/ 318427 h 928027"/>
              <a:gd name="connsiteX2" fmla="*/ 1262742 w 2908662"/>
              <a:gd name="connsiteY2" fmla="*/ 22335 h 928027"/>
              <a:gd name="connsiteX3" fmla="*/ 1881051 w 2908662"/>
              <a:gd name="connsiteY3" fmla="*/ 57170 h 928027"/>
              <a:gd name="connsiteX4" fmla="*/ 2499360 w 2908662"/>
              <a:gd name="connsiteY4" fmla="*/ 344553 h 928027"/>
              <a:gd name="connsiteX5" fmla="*/ 2908662 w 2908662"/>
              <a:gd name="connsiteY5" fmla="*/ 884484 h 928027"/>
              <a:gd name="connsiteX6" fmla="*/ 2908662 w 2908662"/>
              <a:gd name="connsiteY6" fmla="*/ 884484 h 92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662" h="928027">
                <a:moveTo>
                  <a:pt x="0" y="928027"/>
                </a:moveTo>
                <a:cubicBezTo>
                  <a:pt x="151674" y="698701"/>
                  <a:pt x="303348" y="469376"/>
                  <a:pt x="513805" y="318427"/>
                </a:cubicBezTo>
                <a:cubicBezTo>
                  <a:pt x="724262" y="167478"/>
                  <a:pt x="1034868" y="65878"/>
                  <a:pt x="1262742" y="22335"/>
                </a:cubicBezTo>
                <a:cubicBezTo>
                  <a:pt x="1490616" y="-21208"/>
                  <a:pt x="1674948" y="3467"/>
                  <a:pt x="1881051" y="57170"/>
                </a:cubicBezTo>
                <a:cubicBezTo>
                  <a:pt x="2087154" y="110873"/>
                  <a:pt x="2328092" y="206667"/>
                  <a:pt x="2499360" y="344553"/>
                </a:cubicBezTo>
                <a:cubicBezTo>
                  <a:pt x="2670628" y="482439"/>
                  <a:pt x="2908662" y="884484"/>
                  <a:pt x="2908662" y="884484"/>
                </a:cubicBezTo>
                <a:lnTo>
                  <a:pt x="2908662" y="884484"/>
                </a:lnTo>
              </a:path>
            </a:pathLst>
          </a:custGeom>
          <a:noFill/>
          <a:ln w="50800">
            <a:solidFill>
              <a:schemeClr val="accent2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962149" y="3465012"/>
            <a:ext cx="1257300" cy="0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ine 53"/>
          <p:cNvSpPr>
            <a:spLocks noChangeShapeType="1"/>
          </p:cNvSpPr>
          <p:nvPr/>
        </p:nvSpPr>
        <p:spPr bwMode="auto">
          <a:xfrm flipH="1" flipV="1">
            <a:off x="4856659" y="4439282"/>
            <a:ext cx="838201" cy="1149531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54"/>
          <p:cNvSpPr>
            <a:spLocks noChangeArrowheads="1"/>
          </p:cNvSpPr>
          <p:nvPr/>
        </p:nvSpPr>
        <p:spPr bwMode="auto">
          <a:xfrm>
            <a:off x="5581649" y="5179700"/>
            <a:ext cx="1066800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2400" b="1" dirty="0">
                <a:latin typeface="Times New Roman" pitchFamily="18" charset="0"/>
              </a:rPr>
              <a:t>Sector</a:t>
            </a:r>
          </a:p>
        </p:txBody>
      </p:sp>
      <p:sp>
        <p:nvSpPr>
          <p:cNvPr id="45" name="Line 53"/>
          <p:cNvSpPr>
            <a:spLocks noChangeShapeType="1"/>
          </p:cNvSpPr>
          <p:nvPr/>
        </p:nvSpPr>
        <p:spPr bwMode="auto">
          <a:xfrm flipH="1" flipV="1">
            <a:off x="5399858" y="3773076"/>
            <a:ext cx="1143000" cy="1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54"/>
          <p:cNvSpPr>
            <a:spLocks noChangeArrowheads="1"/>
          </p:cNvSpPr>
          <p:nvPr/>
        </p:nvSpPr>
        <p:spPr bwMode="auto">
          <a:xfrm>
            <a:off x="6191249" y="3384734"/>
            <a:ext cx="1066800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2400" b="1" dirty="0">
                <a:latin typeface="Times New Roman" pitchFamily="18" charset="0"/>
              </a:rPr>
              <a:t>Track</a:t>
            </a:r>
          </a:p>
        </p:txBody>
      </p:sp>
      <p:sp>
        <p:nvSpPr>
          <p:cNvPr id="47" name="Line 53"/>
          <p:cNvSpPr>
            <a:spLocks noChangeShapeType="1"/>
          </p:cNvSpPr>
          <p:nvPr/>
        </p:nvSpPr>
        <p:spPr bwMode="auto">
          <a:xfrm flipH="1" flipV="1">
            <a:off x="2494458" y="3998413"/>
            <a:ext cx="1" cy="91085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54"/>
          <p:cNvSpPr>
            <a:spLocks noChangeArrowheads="1"/>
          </p:cNvSpPr>
          <p:nvPr/>
        </p:nvSpPr>
        <p:spPr bwMode="auto">
          <a:xfrm>
            <a:off x="2498812" y="4453839"/>
            <a:ext cx="968832" cy="82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2400" b="1" dirty="0">
                <a:latin typeface="Times New Roman" pitchFamily="18" charset="0"/>
              </a:rPr>
              <a:t>Disk Head</a:t>
            </a:r>
          </a:p>
        </p:txBody>
      </p:sp>
      <p:sp>
        <p:nvSpPr>
          <p:cNvPr id="50" name="Snip Single Corner Rectangle 49"/>
          <p:cNvSpPr/>
          <p:nvPr/>
        </p:nvSpPr>
        <p:spPr>
          <a:xfrm>
            <a:off x="5399858" y="1174287"/>
            <a:ext cx="2019300" cy="787222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Rotation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Sector)</a:t>
            </a:r>
          </a:p>
        </p:txBody>
      </p:sp>
      <p:sp>
        <p:nvSpPr>
          <p:cNvPr id="52" name="Snip Single Corner Rectangle 51"/>
          <p:cNvSpPr/>
          <p:nvPr/>
        </p:nvSpPr>
        <p:spPr>
          <a:xfrm>
            <a:off x="609600" y="2506468"/>
            <a:ext cx="2019300" cy="749389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Seek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Track)</a:t>
            </a:r>
          </a:p>
        </p:txBody>
      </p:sp>
    </p:spTree>
    <p:extLst>
      <p:ext uri="{BB962C8B-B14F-4D97-AF65-F5344CB8AC3E}">
        <p14:creationId xmlns:p14="http://schemas.microsoft.com/office/powerpoint/2010/main" val="734929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 (1/3)</a:t>
            </a:r>
            <a:endParaRPr lang="en-SG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</p:spPr>
            <p:txBody>
              <a:bodyPr>
                <a:normAutofit/>
              </a:bodyPr>
              <a:lstStyle/>
              <a:p>
                <a:pPr marL="531812" indent="-514350">
                  <a:buClr>
                    <a:srgbClr val="C00000"/>
                  </a:buClr>
                  <a:buSzPct val="80000"/>
                </a:pPr>
                <a:r>
                  <a:rPr lang="en-SG" dirty="0"/>
                  <a:t>Time taken to perform a read/write operation: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r>
                  <a:rPr lang="en-SG" dirty="0"/>
                  <a:t>   </a:t>
                </a:r>
                <a:r>
                  <a:rPr lang="en-SG" sz="2200" dirty="0"/>
                  <a:t>= [</a:t>
                </a:r>
                <a:r>
                  <a:rPr lang="en-SG" sz="2200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660066"/>
                    </a:solidFill>
                  </a:rPr>
                  <a:t>Rotational Latency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003300"/>
                    </a:solidFill>
                  </a:rPr>
                  <a:t>Transfer Time</a:t>
                </a:r>
                <a:r>
                  <a:rPr lang="en-SG" sz="2200" dirty="0"/>
                  <a:t>]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endParaRPr lang="en-SG" sz="2400" dirty="0"/>
              </a:p>
              <a:p>
                <a:pPr marL="531812" indent="-514350">
                  <a:buClr>
                    <a:srgbClr val="C00000"/>
                  </a:buClr>
                  <a:buSzPct val="80000"/>
                  <a:buFont typeface="+mj-lt"/>
                  <a:buAutoNum type="arabicPeriod"/>
                </a:pPr>
                <a:r>
                  <a:rPr lang="en-SG" dirty="0"/>
                  <a:t>Position the disk head over the proper track </a:t>
                </a:r>
              </a:p>
              <a:p>
                <a:pPr lvl="1"/>
                <a:r>
                  <a:rPr lang="en-SG" dirty="0"/>
                  <a:t>Time taken is known as [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dirty="0"/>
                  <a:t>]</a:t>
                </a:r>
              </a:p>
              <a:p>
                <a:pPr lvl="1"/>
                <a:endParaRPr lang="en-SG" b="1" dirty="0"/>
              </a:p>
              <a:p>
                <a:pPr lvl="1"/>
                <a:r>
                  <a:rPr lang="en-SG" b="1" dirty="0"/>
                  <a:t>Average 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b="1" dirty="0"/>
                  <a:t>:</a:t>
                </a:r>
              </a:p>
              <a:p>
                <a:pPr lvl="2"/>
                <a:r>
                  <a:rPr lang="en-SG" dirty="0"/>
                  <a:t>Typically in the range of 2 ms to 10 </a:t>
                </a:r>
                <a:r>
                  <a:rPr lang="en-SG" dirty="0" err="1"/>
                  <a:t>ms</a:t>
                </a:r>
                <a:endParaRPr lang="en-SG" dirty="0"/>
              </a:p>
              <a:p>
                <a:pPr marL="671512" lvl="2" indent="0">
                  <a:buNone/>
                </a:pPr>
                <a:r>
                  <a:rPr lang="en-SG" dirty="0"/>
                  <a:t> </a:t>
                </a:r>
              </a:p>
              <a:p>
                <a:pPr lvl="2"/>
                <a:r>
                  <a:rPr lang="en-SG" dirty="0"/>
                  <a:t>(∑ Time for all possible seek) / (Total # of possible seeks)</a:t>
                </a:r>
              </a:p>
              <a:p>
                <a:pPr marL="671512" lvl="2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     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SG" dirty="0"/>
                  <a:t> N,  where N is the time for maximum seek distance</a:t>
                </a:r>
              </a:p>
              <a:p>
                <a:pPr marL="858837" lvl="1" indent="-514350">
                  <a:buFont typeface="+mj-lt"/>
                  <a:buAutoNum type="arabicPeriod"/>
                </a:pPr>
                <a:endParaRPr lang="en-SG" dirty="0"/>
              </a:p>
              <a:p>
                <a:pPr marL="344487" lvl="1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  <a:blipFill rotWithShape="0">
                <a:blip r:embed="rId2"/>
                <a:stretch>
                  <a:fillRect l="-727" t="-1466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38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2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3-Stage of Read/Write Process (2/3)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C00000"/>
              </a:buClr>
              <a:buSzPct val="80000"/>
              <a:buFont typeface="+mj-lt"/>
              <a:buAutoNum type="arabicPeriod" startAt="2"/>
            </a:pPr>
            <a:r>
              <a:rPr lang="en-SG" dirty="0"/>
              <a:t>Wait for the desired sector to rotate under the read/write head  </a:t>
            </a:r>
          </a:p>
          <a:p>
            <a:pPr lvl="1"/>
            <a:r>
              <a:rPr lang="en-SG" dirty="0"/>
              <a:t>Time taken is known as [</a:t>
            </a:r>
            <a:r>
              <a:rPr lang="en-SG" b="1" dirty="0">
                <a:solidFill>
                  <a:srgbClr val="660066"/>
                </a:solidFill>
              </a:rPr>
              <a:t>Rotational latency</a:t>
            </a:r>
            <a:r>
              <a:rPr lang="en-SG" dirty="0"/>
              <a:t>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Rotation speed: 4800 to 15000 rotations per minute (RPM)</a:t>
            </a: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     </a:t>
            </a:r>
            <a:r>
              <a:rPr lang="en-US" dirty="0"/>
              <a:t>12.5 </a:t>
            </a:r>
            <a:r>
              <a:rPr lang="en-US" dirty="0" err="1"/>
              <a:t>ms</a:t>
            </a:r>
            <a:r>
              <a:rPr lang="en-US" dirty="0"/>
              <a:t> to 4 </a:t>
            </a:r>
            <a:r>
              <a:rPr lang="en-US" dirty="0" err="1"/>
              <a:t>ms</a:t>
            </a:r>
            <a:r>
              <a:rPr lang="en-US" dirty="0"/>
              <a:t> per rotation respectively</a:t>
            </a:r>
          </a:p>
          <a:p>
            <a:pPr lvl="1"/>
            <a:endParaRPr lang="en-US" b="1" dirty="0">
              <a:solidFill>
                <a:srgbClr val="660066"/>
              </a:solidFill>
            </a:endParaRP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Average Rotational Latency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 desired data is halfway around the track </a:t>
            </a:r>
          </a:p>
          <a:p>
            <a:pPr marL="671512" lvl="2" indent="0">
              <a:buNone/>
            </a:pPr>
            <a:r>
              <a:rPr lang="en-US" dirty="0">
                <a:sym typeface="Wingdings" pitchFamily="2" charset="2"/>
              </a:rPr>
              <a:t>     6.25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en-US" dirty="0"/>
              <a:t> at 4800 RPM, 2 </a:t>
            </a:r>
            <a:r>
              <a:rPr lang="en-US" dirty="0" err="1"/>
              <a:t>ms</a:t>
            </a:r>
            <a:r>
              <a:rPr lang="en-US" dirty="0"/>
              <a:t> at 15000 RPM</a:t>
            </a:r>
          </a:p>
          <a:p>
            <a:pPr marL="344487" lvl="1" indent="0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6E8D3-DB0C-4F74-BF97-C11193C2629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132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(3/3)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lnSpcReduction="10000"/>
          </a:bodyPr>
          <a:lstStyle/>
          <a:p>
            <a:pPr marL="531812" indent="-514350">
              <a:buClr>
                <a:srgbClr val="C00000"/>
              </a:buClr>
              <a:buSzPct val="80000"/>
              <a:buFont typeface="+mj-lt"/>
              <a:buAutoNum type="arabicPeriod" startAt="3"/>
            </a:pPr>
            <a:r>
              <a:rPr lang="en-SG" dirty="0"/>
              <a:t>Transfer the sector(s)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SG" dirty="0"/>
              <a:t>Time taken is known as [</a:t>
            </a:r>
            <a:r>
              <a:rPr lang="en-SG" b="1" dirty="0">
                <a:solidFill>
                  <a:srgbClr val="006600"/>
                </a:solidFill>
              </a:rPr>
              <a:t>Transfer time</a:t>
            </a:r>
            <a:r>
              <a:rPr lang="en-SG" dirty="0"/>
              <a:t>]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US" b="1" dirty="0">
                <a:solidFill>
                  <a:srgbClr val="006600"/>
                </a:solidFill>
              </a:rPr>
              <a:t>Transfer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Time</a:t>
            </a:r>
            <a:r>
              <a:rPr lang="en-US" dirty="0"/>
              <a:t> is a function of :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Transfer size / Transfer Rate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size: [X KB / Sector]  x [ # of Sectors]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rate: 70  to 125 MB / second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E.g. If we read 2 </a:t>
            </a:r>
            <a:r>
              <a:rPr lang="en-US" b="1" dirty="0"/>
              <a:t>consecutive sectors </a:t>
            </a:r>
            <a:r>
              <a:rPr lang="en-US" dirty="0"/>
              <a:t>of 512 Bytes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 = 512B x 2 = 1KB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Assuming a transfer rate of 100MB/second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time = 1KB / 100MB per second</a:t>
            </a:r>
          </a:p>
          <a:p>
            <a:pPr marL="1023937" lvl="3" indent="0">
              <a:buClr>
                <a:srgbClr val="C00000"/>
              </a:buClr>
              <a:buSzPct val="80000"/>
              <a:buNone/>
            </a:pPr>
            <a:r>
              <a:rPr lang="en-US" dirty="0"/>
              <a:t>                           = 2</a:t>
            </a:r>
            <a:r>
              <a:rPr lang="en-US" baseline="30000" dirty="0"/>
              <a:t>10</a:t>
            </a:r>
            <a:r>
              <a:rPr lang="en-US" dirty="0"/>
              <a:t> / 100 x2</a:t>
            </a:r>
            <a:r>
              <a:rPr lang="en-US" baseline="30000" dirty="0"/>
              <a:t>20</a:t>
            </a:r>
            <a:r>
              <a:rPr lang="en-US" dirty="0"/>
              <a:t>   = 9.7µs </a:t>
            </a:r>
          </a:p>
          <a:p>
            <a:pPr lvl="2">
              <a:buClr>
                <a:srgbClr val="C00000"/>
              </a:buClr>
              <a:buSzPct val="80000"/>
            </a:pPr>
            <a:endParaRPr lang="en-US" dirty="0"/>
          </a:p>
          <a:p>
            <a:pPr>
              <a:buClr>
                <a:srgbClr val="C00000"/>
              </a:buClr>
              <a:buSzPct val="80000"/>
            </a:pPr>
            <a:r>
              <a:rPr lang="en-SG" dirty="0"/>
              <a:t>(1) + (2) is significantly more than (3)</a:t>
            </a:r>
          </a:p>
          <a:p>
            <a:pPr marL="344487" lvl="1" indent="0">
              <a:buNone/>
            </a:pP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40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99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Due to the significant seek and rotational latency, OS should schedule the disk I/O requests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With the intention of reducing overall waiting time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rotational latency is hard to mitigate, we focus on reducing the </a:t>
            </a:r>
            <a:r>
              <a:rPr lang="en-US" b="1" dirty="0">
                <a:sym typeface="Wingdings" panose="05000000000000000000" pitchFamily="2" charset="2"/>
              </a:rPr>
              <a:t>seeking time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Consider the following disk I/O requests indicated by only the </a:t>
            </a:r>
            <a:r>
              <a:rPr lang="en-US" b="1" dirty="0">
                <a:sym typeface="Wingdings" panose="05000000000000000000" pitchFamily="2" charset="2"/>
              </a:rPr>
              <a:t>track number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/>
              <a:t>13, 14, 2, 18, 17, 21, 15</a:t>
            </a:r>
          </a:p>
          <a:p>
            <a:pPr lvl="1"/>
            <a:r>
              <a:rPr lang="en-US" dirty="0"/>
              <a:t>Use the following algorithms to schedule these I/O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670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</a:t>
            </a:r>
            <a:r>
              <a:rPr 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few obvious candidates:</a:t>
            </a:r>
          </a:p>
          <a:p>
            <a:pPr lvl="1"/>
            <a:r>
              <a:rPr lang="en-US" b="1" dirty="0"/>
              <a:t>FCFS</a:t>
            </a:r>
          </a:p>
          <a:p>
            <a:pPr lvl="1"/>
            <a:r>
              <a:rPr lang="en-US" b="1" dirty="0"/>
              <a:t>SSF</a:t>
            </a:r>
            <a:r>
              <a:rPr lang="en-US" dirty="0"/>
              <a:t> (</a:t>
            </a:r>
            <a:r>
              <a:rPr lang="en-US" b="1" dirty="0"/>
              <a:t>S</a:t>
            </a:r>
            <a:r>
              <a:rPr lang="en-US" dirty="0"/>
              <a:t>hortest </a:t>
            </a:r>
            <a:r>
              <a:rPr lang="en-US" b="1" dirty="0"/>
              <a:t>S</a:t>
            </a:r>
            <a:r>
              <a:rPr lang="en-US" dirty="0"/>
              <a:t>eek </a:t>
            </a:r>
            <a:r>
              <a:rPr lang="en-US" b="1" dirty="0"/>
              <a:t>F</a:t>
            </a:r>
            <a:r>
              <a:rPr lang="en-US" dirty="0"/>
              <a:t>irst)</a:t>
            </a:r>
          </a:p>
          <a:p>
            <a:pPr lvl="2"/>
            <a:r>
              <a:rPr lang="en-US" dirty="0"/>
              <a:t>"SJF" modified for the disk context</a:t>
            </a:r>
          </a:p>
          <a:p>
            <a:pPr lvl="1"/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SCAN</a:t>
            </a:r>
            <a:r>
              <a:rPr lang="en-US" dirty="0"/>
              <a:t> family (aka </a:t>
            </a:r>
            <a:r>
              <a:rPr lang="en-US" b="1" dirty="0"/>
              <a:t>Elevator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Bi-Direction [Innermost </a:t>
            </a:r>
            <a:r>
              <a:rPr lang="en-US" dirty="0">
                <a:sym typeface="Wingdings" panose="05000000000000000000" pitchFamily="2" charset="2"/>
              </a:rPr>
              <a:t> Outermost]</a:t>
            </a:r>
            <a:r>
              <a:rPr lang="en-US" dirty="0"/>
              <a:t> (SCAN)</a:t>
            </a:r>
          </a:p>
          <a:p>
            <a:pPr lvl="1"/>
            <a:r>
              <a:rPr lang="en-US" dirty="0"/>
              <a:t>1-Direction [Outermost</a:t>
            </a:r>
            <a:r>
              <a:rPr lang="en-US" dirty="0">
                <a:sym typeface="Wingdings" panose="05000000000000000000" pitchFamily="2" charset="2"/>
              </a:rPr>
              <a:t> Innermost]   </a:t>
            </a:r>
            <a:r>
              <a:rPr lang="en-US" dirty="0"/>
              <a:t>(C-SCAN)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Very intuitive: Imagine the tracks are floors in a building, and the disk head is the elevator servicing the floors (Figure out the algorithm before lecture </a:t>
            </a:r>
            <a:r>
              <a:rPr lang="en-US" dirty="0">
                <a:sym typeface="Wingdings" panose="05000000000000000000" pitchFamily="2" charset="2"/>
              </a:rPr>
              <a:t>)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7647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FCFS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b="1" dirty="0"/>
              <a:t>13, 14, 2, 18, 17, 21, 15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204764"/>
              </p:ext>
            </p:extLst>
          </p:nvPr>
        </p:nvGraphicFramePr>
        <p:xfrm>
          <a:off x="304800" y="1828800"/>
          <a:ext cx="83058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7659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SSF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b="1" dirty="0"/>
              <a:t>13, 14, 2, 18, 17, 21, 15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2911085"/>
              </p:ext>
            </p:extLst>
          </p:nvPr>
        </p:nvGraphicFramePr>
        <p:xfrm>
          <a:off x="430876" y="1704167"/>
          <a:ext cx="80772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684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485C1-448B-48E5-8D48-FD2D25073E19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implementation details for file system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2"/>
            <a:r>
              <a:rPr lang="en-US" altLang="en-US" dirty="0"/>
              <a:t>Allocation schemes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Relook at file operations from the OS viewpoint</a:t>
            </a:r>
          </a:p>
          <a:p>
            <a:endParaRPr lang="en-US" altLang="en-US" dirty="0"/>
          </a:p>
          <a:p>
            <a:r>
              <a:rPr lang="en-US" altLang="en-US" dirty="0"/>
              <a:t>Discussed OS responsibility in I/O scheduling</a:t>
            </a:r>
          </a:p>
        </p:txBody>
      </p:sp>
    </p:spTree>
    <p:extLst>
      <p:ext uri="{BB962C8B-B14F-4D97-AF65-F5344CB8AC3E}">
        <p14:creationId xmlns:p14="http://schemas.microsoft.com/office/powerpoint/2010/main" val="144627571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9473</TotalTime>
  <Words>2844</Words>
  <Application>Microsoft Office PowerPoint</Application>
  <PresentationFormat>On-screen Show (4:3)</PresentationFormat>
  <Paragraphs>748</Paragraphs>
  <Slides>45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Cambria Math</vt:lpstr>
      <vt:lpstr>Courier New</vt:lpstr>
      <vt:lpstr>Garamond</vt:lpstr>
      <vt:lpstr>Times New Roman</vt:lpstr>
      <vt:lpstr>Wingdings</vt:lpstr>
      <vt:lpstr>Edge</vt:lpstr>
      <vt:lpstr>File System Management File System Implementations</vt:lpstr>
      <vt:lpstr>Overview</vt:lpstr>
      <vt:lpstr>File System Implementation: Overview</vt:lpstr>
      <vt:lpstr>User  OS  Hardware: Views</vt:lpstr>
      <vt:lpstr>Disk Organization: Overview</vt:lpstr>
      <vt:lpstr>Generic Disk Organization: Illustration</vt:lpstr>
      <vt:lpstr>Implementing File</vt:lpstr>
      <vt:lpstr>File Implementation: Overview</vt:lpstr>
      <vt:lpstr>File Block Allocation 1: Contiguous </vt:lpstr>
      <vt:lpstr>Contiguous Block Allocation</vt:lpstr>
      <vt:lpstr>File Block Allocation 2: Linked List</vt:lpstr>
      <vt:lpstr>Linked List Allocation</vt:lpstr>
      <vt:lpstr>File Block Allocation 2: Linked List V2.0</vt:lpstr>
      <vt:lpstr>FAT Allocation</vt:lpstr>
      <vt:lpstr>File Block Allocation 3: Indexed Allocation</vt:lpstr>
      <vt:lpstr>Indexed Allocation</vt:lpstr>
      <vt:lpstr>Indexed Block Allocation: Variation</vt:lpstr>
      <vt:lpstr>Indexed Block Allocation: Variation (cont)</vt:lpstr>
      <vt:lpstr>Unix Indexed Node: Illustration</vt:lpstr>
      <vt:lpstr>Free Space Management</vt:lpstr>
      <vt:lpstr>Free Space Management: Overview</vt:lpstr>
      <vt:lpstr>Free Space Management: Bitmap</vt:lpstr>
      <vt:lpstr>Free Space Management: Linked List</vt:lpstr>
      <vt:lpstr>Implementing Directory</vt:lpstr>
      <vt:lpstr>Directory Structure: Overview</vt:lpstr>
      <vt:lpstr>Directory Structure: Overview (cont)</vt:lpstr>
      <vt:lpstr>Directory Implementation: Linear List</vt:lpstr>
      <vt:lpstr>Directory Implementation: Hash Table</vt:lpstr>
      <vt:lpstr>Directory Implementation: File Information</vt:lpstr>
      <vt:lpstr>File System in Action</vt:lpstr>
      <vt:lpstr>File System in Action: Overview</vt:lpstr>
      <vt:lpstr>Walkthrough on file operation: Create</vt:lpstr>
      <vt:lpstr>File Creation: Illustration</vt:lpstr>
      <vt:lpstr>Walkthrough on file operation: Open</vt:lpstr>
      <vt:lpstr>File Open: Improved Understanding</vt:lpstr>
      <vt:lpstr>disk I/O Scheduling (Not examinable)</vt:lpstr>
      <vt:lpstr>Magnetic Disk in One Glance</vt:lpstr>
      <vt:lpstr>3-Stage of Read/Write Process   (1/3)</vt:lpstr>
      <vt:lpstr>3-Stage of Read/Write Process (2/3)</vt:lpstr>
      <vt:lpstr>3-Stage of Read/Write Process  (3/3)</vt:lpstr>
      <vt:lpstr>Disk Scheduling: The Problem</vt:lpstr>
      <vt:lpstr>Disk Scheduling: Algorithms</vt:lpstr>
      <vt:lpstr>FCFS: Disk Head Movement</vt:lpstr>
      <vt:lpstr>SSF: Disk Head Movement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751</cp:revision>
  <cp:lastPrinted>2017-10-27T11:13:49Z</cp:lastPrinted>
  <dcterms:created xsi:type="dcterms:W3CDTF">1601-01-01T00:00:00Z</dcterms:created>
  <dcterms:modified xsi:type="dcterms:W3CDTF">2025-10-29T00:29:39Z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