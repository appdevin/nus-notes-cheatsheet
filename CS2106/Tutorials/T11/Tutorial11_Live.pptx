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77" r:id="rId1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RmFEaSIxPkdxIkoF94hzdK2J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04CD925-DF7C-43FA-B89C-E2350AF13488}">
  <a:tblStyle styleId="{804CD925-DF7C-43FA-B89C-E2350AF134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5"/>
  </p:normalViewPr>
  <p:slideViewPr>
    <p:cSldViewPr snapToGrid="0">
      <p:cViewPr varScale="1">
        <p:scale>
          <a:sx n="119" d="100"/>
          <a:sy n="119" d="100"/>
        </p:scale>
        <p:origin x="16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Implementation: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File Info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Linked List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FAT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Indexed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Free Space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Bitmap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Linked list of disc blocks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Directory structure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Linear List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eriod"/>
            </a:pPr>
            <a:r>
              <a:rPr lang="en-US"/>
              <a:t>Hash Table</a:t>
            </a: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Data Bitmap = (1 = FREE, 0 = OCCUPIED)</a:t>
            </a: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directory example in Q2 to illustrate</a:t>
            </a:r>
            <a:endParaRPr/>
          </a:p>
        </p:txBody>
      </p:sp>
      <p:sp>
        <p:nvSpPr>
          <p:cNvPr id="192" name="Google Shape;19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1948957" y="-389430"/>
            <a:ext cx="524608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Last Tutorial ☺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Please rename yourself to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[Row#] Name   🡸</a:t>
            </a:r>
            <a:endParaRPr/>
          </a:p>
          <a:p>
            <a:pPr marL="257175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 Summary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34290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Implementation: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 b="1"/>
              <a:t>File Info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Linked List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FAT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Indexed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 b="1"/>
              <a:t>Partition Details</a:t>
            </a:r>
            <a:endParaRPr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Bitmap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Linked list of disc blocks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 b="1"/>
              <a:t>Directory structure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Linear List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/>
              <a:t>Hash Table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97" name="Google Shape;97;p2" descr="Linux File System Hierarchy – nepalisuppo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1" y="56779"/>
            <a:ext cx="4946650" cy="2343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5679256" y="2410954"/>
            <a:ext cx="2369189" cy="2817511"/>
            <a:chOff x="5679256" y="2410954"/>
            <a:chExt cx="2369189" cy="2817511"/>
          </a:xfrm>
        </p:grpSpPr>
        <p:pic>
          <p:nvPicPr>
            <p:cNvPr id="99" name="Google Shape;99;p2" descr="Storage 101: Understanding the Hard-Disk Drive - Simple Talk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79256" y="3352857"/>
              <a:ext cx="2369189" cy="1875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2"/>
            <p:cNvSpPr/>
            <p:nvPr/>
          </p:nvSpPr>
          <p:spPr>
            <a:xfrm>
              <a:off x="6515100" y="2410954"/>
              <a:ext cx="762879" cy="107519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flat" cmpd="sng">
              <a:solidFill>
                <a:srgbClr val="85351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927060" y="5814528"/>
            <a:ext cx="7315200" cy="711679"/>
            <a:chOff x="384" y="2736"/>
            <a:chExt cx="4608" cy="528"/>
          </a:xfrm>
        </p:grpSpPr>
        <p:sp>
          <p:nvSpPr>
            <p:cNvPr id="102" name="Google Shape;102;p2"/>
            <p:cNvSpPr/>
            <p:nvPr/>
          </p:nvSpPr>
          <p:spPr>
            <a:xfrm>
              <a:off x="384" y="2736"/>
              <a:ext cx="816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 Boot Block</a:t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200" y="2736"/>
              <a:ext cx="816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Partition Details</a:t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016" y="2736"/>
              <a:ext cx="864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Directory Structure</a:t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880" y="2736"/>
              <a:ext cx="720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Files Info </a:t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600" y="2736"/>
              <a:ext cx="1392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Data 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11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1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(Discuss after Q2)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11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2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Overview</a:t>
            </a:r>
            <a:endParaRPr/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681317" y="2336212"/>
          <a:ext cx="79697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4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8" name="Google Shape;128;p5"/>
          <p:cNvGraphicFramePr/>
          <p:nvPr/>
        </p:nvGraphicFramePr>
        <p:xfrm>
          <a:off x="672355" y="3573010"/>
          <a:ext cx="7978525" cy="29260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9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-(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9" name="Google Shape;129;p5"/>
          <p:cNvGraphicFramePr/>
          <p:nvPr/>
        </p:nvGraphicFramePr>
        <p:xfrm>
          <a:off x="681322" y="1070395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(root)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0" name="Google Shape;130;p5"/>
          <p:cNvSpPr/>
          <p:nvPr/>
        </p:nvSpPr>
        <p:spPr>
          <a:xfrm rot="-5400000">
            <a:off x="-82471" y="1403884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 rot="-5400000">
            <a:off x="-98693" y="2662446"/>
            <a:ext cx="1111790" cy="43030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F.Data BM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 rot="-5400000">
            <a:off x="-1013093" y="4813643"/>
            <a:ext cx="2940590" cy="430303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File Data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5"/>
          <p:cNvGrpSpPr/>
          <p:nvPr/>
        </p:nvGrpSpPr>
        <p:grpSpPr>
          <a:xfrm>
            <a:off x="2631133" y="98573"/>
            <a:ext cx="6019800" cy="711679"/>
            <a:chOff x="1200" y="2736"/>
            <a:chExt cx="3792" cy="528"/>
          </a:xfrm>
        </p:grpSpPr>
        <p:sp>
          <p:nvSpPr>
            <p:cNvPr id="134" name="Google Shape;134;p5"/>
            <p:cNvSpPr/>
            <p:nvPr/>
          </p:nvSpPr>
          <p:spPr>
            <a:xfrm>
              <a:off x="1200" y="2736"/>
              <a:ext cx="816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Partition Details</a:t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2016" y="2736"/>
              <a:ext cx="864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Directory Structure</a:t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880" y="2736"/>
              <a:ext cx="720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Files Info </a:t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3600" y="2736"/>
              <a:ext cx="1392" cy="52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File Data 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a. Free capacity &amp; FS Overview</a:t>
            </a:r>
            <a:endParaRPr/>
          </a:p>
        </p:txBody>
      </p:sp>
      <p:graphicFrame>
        <p:nvGraphicFramePr>
          <p:cNvPr id="143" name="Google Shape;143;p6"/>
          <p:cNvGraphicFramePr/>
          <p:nvPr/>
        </p:nvGraphicFramePr>
        <p:xfrm>
          <a:off x="681317" y="2336212"/>
          <a:ext cx="79697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4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4" name="Google Shape;144;p6"/>
          <p:cNvGraphicFramePr/>
          <p:nvPr/>
        </p:nvGraphicFramePr>
        <p:xfrm>
          <a:off x="672355" y="3573010"/>
          <a:ext cx="7978525" cy="29260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9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-(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45" name="Google Shape;145;p6"/>
          <p:cNvGraphicFramePr/>
          <p:nvPr/>
        </p:nvGraphicFramePr>
        <p:xfrm>
          <a:off x="681322" y="1070395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(root)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6" name="Google Shape;146;p6"/>
          <p:cNvSpPr/>
          <p:nvPr/>
        </p:nvSpPr>
        <p:spPr>
          <a:xfrm rot="-5400000">
            <a:off x="-82471" y="1403884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 rot="-5400000">
            <a:off x="-98693" y="2662446"/>
            <a:ext cx="1111790" cy="43030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F.Data BM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 rot="-5400000">
            <a:off x="-1013093" y="4813643"/>
            <a:ext cx="2940590" cy="430303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File Data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b.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/y/i        </a:t>
            </a:r>
            <a:r>
              <a:rPr lang="en-US"/>
              <a:t>and    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/x/z/i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4" name="Google Shape;154;p7"/>
          <p:cNvGraphicFramePr/>
          <p:nvPr/>
        </p:nvGraphicFramePr>
        <p:xfrm>
          <a:off x="681317" y="2336212"/>
          <a:ext cx="79697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4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" name="Google Shape;155;p7"/>
          <p:cNvGraphicFramePr/>
          <p:nvPr/>
        </p:nvGraphicFramePr>
        <p:xfrm>
          <a:off x="672355" y="3573010"/>
          <a:ext cx="7978525" cy="29260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9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-(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6" name="Google Shape;156;p7"/>
          <p:cNvGraphicFramePr/>
          <p:nvPr/>
        </p:nvGraphicFramePr>
        <p:xfrm>
          <a:off x="681322" y="1070395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(root)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" name="Google Shape;157;p7"/>
          <p:cNvSpPr/>
          <p:nvPr/>
        </p:nvSpPr>
        <p:spPr>
          <a:xfrm rot="-5400000">
            <a:off x="-82471" y="1403884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 rot="-5400000">
            <a:off x="-98693" y="2662446"/>
            <a:ext cx="1111790" cy="43030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F.Data BM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 rot="-5400000">
            <a:off x="-1013093" y="4813643"/>
            <a:ext cx="2940590" cy="430303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File Data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c.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/x/z/k    </a:t>
            </a:r>
            <a:r>
              <a:rPr lang="en-US"/>
              <a:t>and   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/y/h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65" name="Google Shape;165;p8"/>
          <p:cNvGraphicFramePr/>
          <p:nvPr/>
        </p:nvGraphicFramePr>
        <p:xfrm>
          <a:off x="681317" y="2336212"/>
          <a:ext cx="79697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4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6" name="Google Shape;166;p8"/>
          <p:cNvGraphicFramePr/>
          <p:nvPr/>
        </p:nvGraphicFramePr>
        <p:xfrm>
          <a:off x="672355" y="3573010"/>
          <a:ext cx="7978525" cy="29260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9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-(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7" name="Google Shape;167;p8"/>
          <p:cNvGraphicFramePr/>
          <p:nvPr/>
        </p:nvGraphicFramePr>
        <p:xfrm>
          <a:off x="681322" y="1070395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(root)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8" name="Google Shape;168;p8"/>
          <p:cNvSpPr/>
          <p:nvPr/>
        </p:nvSpPr>
        <p:spPr>
          <a:xfrm rot="-5400000">
            <a:off x="-82471" y="1403884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 rot="-5400000">
            <a:off x="-98693" y="2662446"/>
            <a:ext cx="1111790" cy="43030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F.Data BM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 rot="-5400000">
            <a:off x="-1013093" y="4813643"/>
            <a:ext cx="2940590" cy="430303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File Data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d. new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/y/n </a:t>
            </a:r>
            <a:r>
              <a:rPr lang="en-US"/>
              <a:t>with 5 blocks</a:t>
            </a:r>
            <a:endParaRPr/>
          </a:p>
        </p:txBody>
      </p:sp>
      <p:graphicFrame>
        <p:nvGraphicFramePr>
          <p:cNvPr id="176" name="Google Shape;176;p9"/>
          <p:cNvGraphicFramePr/>
          <p:nvPr/>
        </p:nvGraphicFramePr>
        <p:xfrm>
          <a:off x="681317" y="2336212"/>
          <a:ext cx="79697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49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7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7" name="Google Shape;177;p9"/>
          <p:cNvGraphicFramePr/>
          <p:nvPr/>
        </p:nvGraphicFramePr>
        <p:xfrm>
          <a:off x="672355" y="3573010"/>
          <a:ext cx="7978525" cy="29260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9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7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ND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-(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-1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A!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8" name="Google Shape;178;p9"/>
          <p:cNvGraphicFramePr/>
          <p:nvPr/>
        </p:nvGraphicFramePr>
        <p:xfrm>
          <a:off x="681322" y="1070395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(root)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9" name="Google Shape;179;p9"/>
          <p:cNvSpPr/>
          <p:nvPr/>
        </p:nvSpPr>
        <p:spPr>
          <a:xfrm rot="-5400000">
            <a:off x="-82471" y="1403884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 rot="-5400000">
            <a:off x="-98693" y="2662446"/>
            <a:ext cx="1111790" cy="430303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F.Data BM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 rot="-5400000">
            <a:off x="-1013093" y="4813643"/>
            <a:ext cx="2940590" cy="430303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File Data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11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88" name="Google Shape;188;p1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1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(Now we can discuss)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11"/>
          <p:cNvGraphicFramePr/>
          <p:nvPr/>
        </p:nvGraphicFramePr>
        <p:xfrm>
          <a:off x="405804" y="1763600"/>
          <a:ext cx="8332400" cy="463235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43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ReadExeDir</a:t>
                      </a:r>
                      <a:endParaRPr sz="20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dr-x------</a:t>
                      </a:r>
                      <a:endParaRPr sz="20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WriteExeDir</a:t>
                      </a:r>
                      <a:endParaRPr sz="20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Consolas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d-wx------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ExeOnlyDir</a:t>
                      </a:r>
                      <a:endParaRPr sz="20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000"/>
                        <a:buFont typeface="Consolas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d--x------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ls –l DDD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cd DDD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ls –l 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 file.txt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touch file.txt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f. </a:t>
                      </a: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touch new.txt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nope</a:t>
                      </a:r>
                      <a:endParaRPr sz="2000" b="1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5" name="Google Shape;195;p11"/>
          <p:cNvGraphicFramePr/>
          <p:nvPr/>
        </p:nvGraphicFramePr>
        <p:xfrm>
          <a:off x="768583" y="249959"/>
          <a:ext cx="7969625" cy="1097280"/>
        </p:xfrm>
        <a:graphic>
          <a:graphicData uri="http://schemas.openxmlformats.org/drawingml/2006/table">
            <a:tbl>
              <a:tblPr>
                <a:noFill/>
                <a:tableStyleId>{804CD925-DF7C-43FA-B89C-E2350AF13488}</a:tableStyleId>
              </a:tblPr>
              <a:tblGrid>
                <a:gridCol w="20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|Dir 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 |File| 12|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|Dir | 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 |File| 0| 31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 |Dir | 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 |File| 6| 6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 |File| 1| 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 |File|27|28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" name="Google Shape;196;p11"/>
          <p:cNvSpPr/>
          <p:nvPr/>
        </p:nvSpPr>
        <p:spPr>
          <a:xfrm rot="-5400000">
            <a:off x="4791" y="583447"/>
            <a:ext cx="1097280" cy="43030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5705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Directory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11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49" name="Google Shape;249;p1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Question 3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Higher-Level I/O Scheduling</a:t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400050" y="1102327"/>
            <a:ext cx="8343900" cy="287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processes submit file operation requests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9017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starting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bytes)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sorts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requests by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that are nearby into a larger request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issues the processed requests when the hard disk is ready.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266700" y="4145332"/>
            <a:ext cx="8610600" cy="1343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How to decide to merge two user requests in step (iii)? Give two simple criteria.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Higher-Level I/O Scheduling</a:t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400050" y="1102327"/>
            <a:ext cx="8343900" cy="287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processes submit file operation requests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9017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starting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bytes)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sorts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requests by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that are nearby into a larger request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issues the processed requests when the hard disk is ready.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266700" y="4145332"/>
            <a:ext cx="8610600" cy="1343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Give one advantage of the algorithm above.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Higher-Level I/O Scheduling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400050" y="1102327"/>
            <a:ext cx="8343900" cy="287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processes submit file operation requests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9017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starting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bytes)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sorts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requests by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that are nearby into a larger request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issues the processed requests when the hard disk is ready.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266700" y="4145332"/>
            <a:ext cx="8610600" cy="1343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Give one disadvantage of the algorithm.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Suggest one solution.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Higher-Level I/O Scheduling</a:t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400050" y="1102327"/>
            <a:ext cx="8343900" cy="287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processes submit file operation requests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9017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starting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bytes)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sorts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requests by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that are nearby into a larger request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issues the processed requests when the hard disk is ready.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266700" y="4145332"/>
            <a:ext cx="8610600" cy="1343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OS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intentionally 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 in serving user I/O requests. Why? (use this algo as context)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Higher-Level I/O Scheduling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400050" y="1102327"/>
            <a:ext cx="8343900" cy="2871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processes submit file operation requests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9017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starting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disk 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bytes)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sorts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requests by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disk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 that are nearby into a larger request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romanLcPeriod" startAt="2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OS issues the processed requests when the hard disk is ready.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266700" y="4145332"/>
            <a:ext cx="8610600" cy="1343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 Scheduling also done by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controller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this algo may conflict.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Macintosh PowerPoint</Application>
  <PresentationFormat>On-screen Show (4:3)</PresentationFormat>
  <Paragraphs>1013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Times New Roman</vt:lpstr>
      <vt:lpstr>Office Theme</vt:lpstr>
      <vt:lpstr>Last Tutorial ☺</vt:lpstr>
      <vt:lpstr>Topic Summary</vt:lpstr>
      <vt:lpstr>Tutorial 11</vt:lpstr>
      <vt:lpstr>Tutorial 11</vt:lpstr>
      <vt:lpstr>Overview</vt:lpstr>
      <vt:lpstr>a. Free capacity &amp; FS Overview</vt:lpstr>
      <vt:lpstr>b. /y/i        and     /x/z/i</vt:lpstr>
      <vt:lpstr>c. /x/z/k    and    /y/h</vt:lpstr>
      <vt:lpstr>d. new /y/n with 5 blocks</vt:lpstr>
      <vt:lpstr>Tutorial 11</vt:lpstr>
      <vt:lpstr>PowerPoint Presentation</vt:lpstr>
      <vt:lpstr>Tutorial 11</vt:lpstr>
      <vt:lpstr>Higher-Level I/O Scheduling</vt:lpstr>
      <vt:lpstr>Higher-Level I/O Scheduling</vt:lpstr>
      <vt:lpstr>Higher-Level I/O Scheduling</vt:lpstr>
      <vt:lpstr>Higher-Level I/O Scheduling</vt:lpstr>
      <vt:lpstr>Higher-Level I/O Scheduling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yuenjien soo</dc:creator>
  <cp:lastModifiedBy>Tan Keng Yan, Colin</cp:lastModifiedBy>
  <cp:revision>1</cp:revision>
  <dcterms:created xsi:type="dcterms:W3CDTF">2015-08-24T14:25:17Z</dcterms:created>
  <dcterms:modified xsi:type="dcterms:W3CDTF">2024-11-06T01:17:12Z</dcterms:modified>
</cp:coreProperties>
</file>