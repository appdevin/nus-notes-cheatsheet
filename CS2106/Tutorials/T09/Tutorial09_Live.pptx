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9" r:id="rId15"/>
    <p:sldId id="27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h0hqoB19xbAcxGCDr7AfbUGXNS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839F4D5-BAFB-4499-96DE-BF936FD148C4}">
  <a:tblStyle styleId="{F839F4D5-BAFB-4499-96DE-BF936FD148C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FEB"/>
          </a:solidFill>
        </a:fill>
      </a:tcStyle>
    </a:wholeTbl>
    <a:band1H>
      <a:tcTxStyle/>
      <a:tcStyle>
        <a:tcBdr/>
        <a:fill>
          <a:solidFill>
            <a:srgbClr val="CBDDD5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DDD5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30E84B2-41B3-490C-8EB7-C00D5CA2D06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C</a:t>
            </a:r>
            <a:endParaRPr/>
          </a:p>
        </p:txBody>
      </p:sp>
      <p:sp>
        <p:nvSpPr>
          <p:cNvPr id="178" name="Google Shape;17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Part D</a:t>
            </a:r>
            <a:endParaRPr/>
          </a:p>
        </p:txBody>
      </p:sp>
      <p:sp>
        <p:nvSpPr>
          <p:cNvPr id="199" name="Google Shape;19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call each page of a PD / PT "tablet".</a:t>
            </a:r>
            <a:endParaRPr/>
          </a:p>
        </p:txBody>
      </p:sp>
      <p:sp>
        <p:nvSpPr>
          <p:cNvPr id="293" name="Google Shape;29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other way to look at it = Addresses of data in array = 0x0 to 0x3FF FFFFF</a:t>
            </a:r>
            <a:br>
              <a:rPr lang="en-US"/>
            </a:br>
            <a:r>
              <a:rPr lang="en-US"/>
              <a:t>Can easily see which level iterate through all values = number of entries needed at that level.</a:t>
            </a:r>
            <a:endParaRPr/>
          </a:p>
        </p:txBody>
      </p:sp>
      <p:sp>
        <p:nvSpPr>
          <p:cNvPr id="326" name="Google Shape;326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Point out that the Page is NOT aligned! (See page offset)</a:t>
            </a:r>
            <a:endParaRPr/>
          </a:p>
        </p:txBody>
      </p:sp>
      <p:sp>
        <p:nvSpPr>
          <p:cNvPr id="357" name="Google Shape;357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6" name="Google Shape;38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3" name="Google Shape;43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body" idx="1"/>
          </p:nvPr>
        </p:nvSpPr>
        <p:spPr>
          <a:xfrm>
            <a:off x="628650" y="930877"/>
            <a:ext cx="7886700" cy="524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8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9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9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0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30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1948957" y="-389430"/>
            <a:ext cx="5246086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628650" y="930877"/>
            <a:ext cx="7886700" cy="524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Welcome!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body" idx="1"/>
          </p:nvPr>
        </p:nvSpPr>
        <p:spPr>
          <a:xfrm>
            <a:off x="628650" y="930877"/>
            <a:ext cx="7886700" cy="524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Please rename yourself to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[Row#] Name   🡸</a:t>
            </a:r>
            <a:endParaRPr/>
          </a:p>
          <a:p>
            <a:pPr marL="257175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Topic Summary</a:t>
            </a:r>
            <a:endParaRPr/>
          </a:p>
        </p:txBody>
      </p:sp>
      <p:sp>
        <p:nvSpPr>
          <p:cNvPr id="95" name="Google Shape;95;p2"/>
          <p:cNvSpPr txBox="1">
            <a:spLocks noGrp="1"/>
          </p:cNvSpPr>
          <p:nvPr>
            <p:ph type="body" idx="1"/>
          </p:nvPr>
        </p:nvSpPr>
        <p:spPr>
          <a:xfrm>
            <a:off x="628650" y="930877"/>
            <a:ext cx="7886700" cy="5246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Calibri"/>
              <a:buNone/>
            </a:pPr>
            <a:r>
              <a:rPr lang="en-US">
                <a:solidFill>
                  <a:srgbClr val="C00000"/>
                </a:solidFill>
              </a:rPr>
              <a:t>Tutorial 9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02" name="Google Shape;102;p3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Question 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Google Shape;107;p4"/>
          <p:cNvGraphicFramePr/>
          <p:nvPr/>
        </p:nvGraphicFramePr>
        <p:xfrm>
          <a:off x="7375585" y="178368"/>
          <a:ext cx="1552750" cy="5933600"/>
        </p:xfrm>
        <a:graphic>
          <a:graphicData uri="http://schemas.openxmlformats.org/drawingml/2006/table">
            <a:tbl>
              <a:tblPr>
                <a:noFill/>
                <a:tableStyleId>{F839F4D5-BAFB-4499-96DE-BF936FD148C4}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HDD</a:t>
                      </a: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0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08" name="Google Shape;108;p4"/>
          <p:cNvGraphicFramePr/>
          <p:nvPr/>
        </p:nvGraphicFramePr>
        <p:xfrm>
          <a:off x="5492832" y="178368"/>
          <a:ext cx="1552750" cy="2966800"/>
        </p:xfrm>
        <a:graphic>
          <a:graphicData uri="http://schemas.openxmlformats.org/drawingml/2006/table">
            <a:tbl>
              <a:tblPr>
                <a:noFill/>
                <a:tableStyleId>{F839F4D5-BAFB-4499-96DE-BF936FD148C4}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66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RAM</a:t>
                      </a: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0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109" name="Google Shape;109;p4"/>
          <p:cNvCxnSpPr/>
          <p:nvPr/>
        </p:nvCxnSpPr>
        <p:spPr>
          <a:xfrm>
            <a:off x="7458102" y="0"/>
            <a:ext cx="21000" cy="618514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10" name="Google Shape;110;p4"/>
          <p:cNvCxnSpPr/>
          <p:nvPr/>
        </p:nvCxnSpPr>
        <p:spPr>
          <a:xfrm rot="10800000">
            <a:off x="-31498" y="3555660"/>
            <a:ext cx="7500100" cy="215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</p:cxnSp>
      <p:graphicFrame>
        <p:nvGraphicFramePr>
          <p:cNvPr id="111" name="Google Shape;111;p4"/>
          <p:cNvGraphicFramePr/>
          <p:nvPr/>
        </p:nvGraphicFramePr>
        <p:xfrm>
          <a:off x="2790698" y="64800"/>
          <a:ext cx="2521575" cy="31937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4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P#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F#</a:t>
                      </a:r>
                      <a:r>
                        <a:rPr lang="en-US" sz="1800" b="1" u="none" strike="noStrike" cap="none" baseline="30000"/>
                        <a:t>**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InM?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V?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---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---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12" name="Google Shape;112;p4"/>
          <p:cNvGrpSpPr/>
          <p:nvPr/>
        </p:nvGrpSpPr>
        <p:grpSpPr>
          <a:xfrm>
            <a:off x="427781" y="279904"/>
            <a:ext cx="2081420" cy="1760485"/>
            <a:chOff x="7398000" y="2117060"/>
            <a:chExt cx="2081420" cy="1760485"/>
          </a:xfrm>
        </p:grpSpPr>
        <p:sp>
          <p:nvSpPr>
            <p:cNvPr id="113" name="Google Shape;113;p4"/>
            <p:cNvSpPr/>
            <p:nvPr/>
          </p:nvSpPr>
          <p:spPr>
            <a:xfrm>
              <a:off x="7398000" y="2117060"/>
              <a:ext cx="2081420" cy="1760485"/>
            </a:xfrm>
            <a:prstGeom prst="rect">
              <a:avLst/>
            </a:prstGeom>
            <a:solidFill>
              <a:srgbClr val="C7E4F6"/>
            </a:solidFill>
            <a:ln w="190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7582407" y="3144790"/>
              <a:ext cx="1647802" cy="580876"/>
            </a:xfrm>
            <a:prstGeom prst="rect">
              <a:avLst/>
            </a:prstGeom>
            <a:solidFill>
              <a:srgbClr val="F2F2F2"/>
            </a:solidFill>
            <a:ln w="190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5" name="Google Shape;115;p4" descr="C:\Users\dcssooyj\AppData\Local\Microsoft\Windows\Temporary Internet Files\Content.IE5\4PFYX3WB\gi01a201405110400[1]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898009" y="2162439"/>
              <a:ext cx="1003801" cy="7620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6" name="Google Shape;116;p4"/>
          <p:cNvCxnSpPr/>
          <p:nvPr/>
        </p:nvCxnSpPr>
        <p:spPr>
          <a:xfrm flipH="1">
            <a:off x="2745126" y="0"/>
            <a:ext cx="14455" cy="355861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</p:cxnSp>
      <p:graphicFrame>
        <p:nvGraphicFramePr>
          <p:cNvPr id="117" name="Google Shape;117;p4"/>
          <p:cNvGraphicFramePr/>
          <p:nvPr/>
        </p:nvGraphicFramePr>
        <p:xfrm>
          <a:off x="101277" y="2188467"/>
          <a:ext cx="2521575" cy="14262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4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P#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F#</a:t>
                      </a:r>
                      <a:r>
                        <a:rPr lang="en-US" sz="1800" b="1" u="none" strike="noStrike" cap="none" baseline="30000"/>
                        <a:t>**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InM?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V?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DD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DD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DD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DD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0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TLB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8" name="Google Shape;118;p4"/>
          <p:cNvSpPr txBox="1"/>
          <p:nvPr/>
        </p:nvSpPr>
        <p:spPr>
          <a:xfrm>
            <a:off x="58166" y="6411766"/>
            <a:ext cx="8282675" cy="369332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Size = 4KiB| TLB = 2 Entries | PT = 8 Entries | RAM = 8 Frames | HDD = 16 Pages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/>
        </p:nvSpPr>
        <p:spPr>
          <a:xfrm>
            <a:off x="58166" y="6411766"/>
            <a:ext cx="8282675" cy="369332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Size = 4KiB| TLB = 2 Entries | PT = 8 Entries | RAM = 8 Frames | HDD = 16 Pages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4" name="Google Shape;124;p5"/>
          <p:cNvGraphicFramePr/>
          <p:nvPr/>
        </p:nvGraphicFramePr>
        <p:xfrm>
          <a:off x="7375585" y="178368"/>
          <a:ext cx="1552750" cy="5933600"/>
        </p:xfrm>
        <a:graphic>
          <a:graphicData uri="http://schemas.openxmlformats.org/drawingml/2006/table">
            <a:tbl>
              <a:tblPr>
                <a:noFill/>
                <a:tableStyleId>{F839F4D5-BAFB-4499-96DE-BF936FD148C4}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HDD</a:t>
                      </a: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0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P2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P5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25" name="Google Shape;125;p5"/>
          <p:cNvGraphicFramePr/>
          <p:nvPr/>
        </p:nvGraphicFramePr>
        <p:xfrm>
          <a:off x="2790698" y="64800"/>
          <a:ext cx="2521575" cy="31937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4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P#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F#</a:t>
                      </a:r>
                      <a:r>
                        <a:rPr lang="en-US" sz="1800" b="1" u="none" strike="noStrike" cap="none" baseline="30000"/>
                        <a:t>**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InM?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V?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---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---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26" name="Google Shape;126;p5"/>
          <p:cNvGraphicFramePr/>
          <p:nvPr/>
        </p:nvGraphicFramePr>
        <p:xfrm>
          <a:off x="5492832" y="178368"/>
          <a:ext cx="1552750" cy="2966800"/>
        </p:xfrm>
        <a:graphic>
          <a:graphicData uri="http://schemas.openxmlformats.org/drawingml/2006/table">
            <a:tbl>
              <a:tblPr>
                <a:noFill/>
                <a:tableStyleId>{F839F4D5-BAFB-4499-96DE-BF936FD148C4}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66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RAM</a:t>
                      </a: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0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P1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P4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P0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P3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27" name="Google Shape;127;p5"/>
          <p:cNvGraphicFramePr/>
          <p:nvPr/>
        </p:nvGraphicFramePr>
        <p:xfrm>
          <a:off x="101277" y="2188467"/>
          <a:ext cx="2521575" cy="14262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4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P#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F#</a:t>
                      </a:r>
                      <a:r>
                        <a:rPr lang="en-US" sz="1800" b="1" u="none" strike="noStrike" cap="none" baseline="30000"/>
                        <a:t>**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InM?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V?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DD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DD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DD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DD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0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TLB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28" name="Google Shape;128;p5"/>
          <p:cNvGrpSpPr/>
          <p:nvPr/>
        </p:nvGrpSpPr>
        <p:grpSpPr>
          <a:xfrm>
            <a:off x="427781" y="279904"/>
            <a:ext cx="2081420" cy="1760485"/>
            <a:chOff x="7398000" y="2117060"/>
            <a:chExt cx="2081420" cy="1760485"/>
          </a:xfrm>
        </p:grpSpPr>
        <p:sp>
          <p:nvSpPr>
            <p:cNvPr id="129" name="Google Shape;129;p5"/>
            <p:cNvSpPr/>
            <p:nvPr/>
          </p:nvSpPr>
          <p:spPr>
            <a:xfrm>
              <a:off x="7398000" y="2117060"/>
              <a:ext cx="2081420" cy="1760485"/>
            </a:xfrm>
            <a:prstGeom prst="rect">
              <a:avLst/>
            </a:prstGeom>
            <a:solidFill>
              <a:srgbClr val="C7E4F6"/>
            </a:solidFill>
            <a:ln w="190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7582407" y="3337964"/>
              <a:ext cx="1647802" cy="387701"/>
            </a:xfrm>
            <a:prstGeom prst="rect">
              <a:avLst/>
            </a:prstGeom>
            <a:solidFill>
              <a:srgbClr val="F2F2F2"/>
            </a:solidFill>
            <a:ln w="190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 </a:t>
              </a:r>
              <a:r>
                <a:rPr lang="en-US" sz="1800" b="1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P3</a:t>
              </a:r>
              <a:endParaRPr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1" name="Google Shape;131;p5" descr="C:\Users\dcssooyj\AppData\Local\Microsoft\Windows\Temporary Internet Files\Content.IE5\4PFYX3WB\gi01a201405110400[1]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898009" y="2162439"/>
              <a:ext cx="1003801" cy="7620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32" name="Google Shape;132;p5"/>
          <p:cNvCxnSpPr/>
          <p:nvPr/>
        </p:nvCxnSpPr>
        <p:spPr>
          <a:xfrm flipH="1">
            <a:off x="2745126" y="0"/>
            <a:ext cx="14455" cy="355861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33" name="Google Shape;133;p5"/>
          <p:cNvCxnSpPr/>
          <p:nvPr/>
        </p:nvCxnSpPr>
        <p:spPr>
          <a:xfrm>
            <a:off x="7458102" y="0"/>
            <a:ext cx="21000" cy="618514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34" name="Google Shape;134;p5"/>
          <p:cNvCxnSpPr/>
          <p:nvPr/>
        </p:nvCxnSpPr>
        <p:spPr>
          <a:xfrm rot="10800000">
            <a:off x="-20998" y="3558614"/>
            <a:ext cx="7500100" cy="215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35" name="Google Shape;135;p5"/>
          <p:cNvCxnSpPr/>
          <p:nvPr/>
        </p:nvCxnSpPr>
        <p:spPr>
          <a:xfrm rot="10800000">
            <a:off x="-20998" y="3558614"/>
            <a:ext cx="7500100" cy="215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</p:cxnSp>
      <p:graphicFrame>
        <p:nvGraphicFramePr>
          <p:cNvPr id="136" name="Google Shape;136;p5"/>
          <p:cNvGraphicFramePr/>
          <p:nvPr/>
        </p:nvGraphicFramePr>
        <p:xfrm>
          <a:off x="165915" y="3655433"/>
          <a:ext cx="2557625" cy="2401570"/>
        </p:xfrm>
        <a:graphic>
          <a:graphicData uri="http://schemas.openxmlformats.org/drawingml/2006/table">
            <a:tbl>
              <a:tblPr>
                <a:noFill/>
                <a:tableStyleId>{630E84B2-41B3-490C-8EB7-C00D5CA2D06C}</a:tableStyleId>
              </a:tblPr>
              <a:tblGrid>
                <a:gridCol w="255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457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[HW] Access </a:t>
                      </a:r>
                      <a:r>
                        <a:rPr lang="en-US" sz="16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</a:t>
                      </a:r>
                      <a:endParaRPr sz="1600" u="none" strike="noStrike" cap="non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 🡺 &lt;</a:t>
                      </a:r>
                      <a:r>
                        <a:rPr lang="en-US" sz="16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P#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-US" sz="1600" b="1" u="none" strike="noStrike" cap="none">
                          <a:solidFill>
                            <a:srgbClr val="0066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Ofs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Search TLB for &lt;</a:t>
                      </a:r>
                      <a:r>
                        <a:rPr lang="en-US" sz="16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P#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&gt;: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1950" marR="0" lvl="1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lphaL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Miss: ►OS { </a:t>
                      </a:r>
                      <a:r>
                        <a:rPr lang="en-US" sz="1600" b="1" i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TLB!!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}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 &lt;</a:t>
                      </a:r>
                      <a:r>
                        <a:rPr lang="en-US" sz="16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P#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in mem?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1950" marR="0" lvl="1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lphaL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NO:   ►OS { </a:t>
                      </a:r>
                      <a:r>
                        <a:rPr lang="en-US" sz="1600" b="1" i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Page!!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}  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&lt;</a:t>
                      </a:r>
                      <a:r>
                        <a:rPr lang="en-US" sz="16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F#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&gt;&lt;</a:t>
                      </a:r>
                      <a:r>
                        <a:rPr lang="en-US" sz="1600" b="1" u="none" strike="noStrike" cap="none">
                          <a:solidFill>
                            <a:srgbClr val="0066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Ofs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to access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/>
        </p:nvSpPr>
        <p:spPr>
          <a:xfrm>
            <a:off x="58166" y="6411766"/>
            <a:ext cx="8282675" cy="369332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Size = 4KiB| TLB = 2 Entries | PT = 8 Entries | RAM = 8 Frames | HDD = 16 Pages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2" name="Google Shape;142;p6"/>
          <p:cNvGraphicFramePr/>
          <p:nvPr/>
        </p:nvGraphicFramePr>
        <p:xfrm>
          <a:off x="7375585" y="178368"/>
          <a:ext cx="1552750" cy="5933600"/>
        </p:xfrm>
        <a:graphic>
          <a:graphicData uri="http://schemas.openxmlformats.org/drawingml/2006/table">
            <a:tbl>
              <a:tblPr>
                <a:noFill/>
                <a:tableStyleId>{F839F4D5-BAFB-4499-96DE-BF936FD148C4}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HDD</a:t>
                      </a: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0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P2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P5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43" name="Google Shape;143;p6"/>
          <p:cNvGraphicFramePr/>
          <p:nvPr/>
        </p:nvGraphicFramePr>
        <p:xfrm>
          <a:off x="2790698" y="64800"/>
          <a:ext cx="2521575" cy="31937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4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P#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F#</a:t>
                      </a:r>
                      <a:r>
                        <a:rPr lang="en-US" sz="1800" b="1" u="none" strike="noStrike" cap="none" baseline="30000"/>
                        <a:t>**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InM?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V?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---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---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44" name="Google Shape;144;p6"/>
          <p:cNvGraphicFramePr/>
          <p:nvPr/>
        </p:nvGraphicFramePr>
        <p:xfrm>
          <a:off x="5492832" y="178368"/>
          <a:ext cx="1552750" cy="2966800"/>
        </p:xfrm>
        <a:graphic>
          <a:graphicData uri="http://schemas.openxmlformats.org/drawingml/2006/table">
            <a:tbl>
              <a:tblPr>
                <a:noFill/>
                <a:tableStyleId>{F839F4D5-BAFB-4499-96DE-BF936FD148C4}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66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RAM</a:t>
                      </a: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0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P1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P4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P0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P3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45" name="Google Shape;145;p6"/>
          <p:cNvGrpSpPr/>
          <p:nvPr/>
        </p:nvGrpSpPr>
        <p:grpSpPr>
          <a:xfrm>
            <a:off x="427781" y="279904"/>
            <a:ext cx="2081420" cy="1760485"/>
            <a:chOff x="7398000" y="2117060"/>
            <a:chExt cx="2081420" cy="1760485"/>
          </a:xfrm>
        </p:grpSpPr>
        <p:sp>
          <p:nvSpPr>
            <p:cNvPr id="146" name="Google Shape;146;p6"/>
            <p:cNvSpPr/>
            <p:nvPr/>
          </p:nvSpPr>
          <p:spPr>
            <a:xfrm>
              <a:off x="7398000" y="2117060"/>
              <a:ext cx="2081420" cy="1760485"/>
            </a:xfrm>
            <a:prstGeom prst="rect">
              <a:avLst/>
            </a:prstGeom>
            <a:solidFill>
              <a:srgbClr val="C7E4F6"/>
            </a:solidFill>
            <a:ln w="190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7582407" y="3337964"/>
              <a:ext cx="1647802" cy="387701"/>
            </a:xfrm>
            <a:prstGeom prst="rect">
              <a:avLst/>
            </a:prstGeom>
            <a:solidFill>
              <a:srgbClr val="F2F2F2"/>
            </a:solidFill>
            <a:ln w="190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 </a:t>
              </a:r>
              <a:r>
                <a:rPr lang="en-US" sz="1800" b="1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P1</a:t>
              </a:r>
              <a:endParaRPr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8" name="Google Shape;148;p6" descr="C:\Users\dcssooyj\AppData\Local\Microsoft\Windows\Temporary Internet Files\Content.IE5\4PFYX3WB\gi01a201405110400[1]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898009" y="2162439"/>
              <a:ext cx="1003801" cy="7620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49" name="Google Shape;149;p6"/>
          <p:cNvCxnSpPr/>
          <p:nvPr/>
        </p:nvCxnSpPr>
        <p:spPr>
          <a:xfrm flipH="1">
            <a:off x="2745126" y="0"/>
            <a:ext cx="14455" cy="355861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6"/>
          <p:cNvCxnSpPr/>
          <p:nvPr/>
        </p:nvCxnSpPr>
        <p:spPr>
          <a:xfrm>
            <a:off x="7458102" y="0"/>
            <a:ext cx="21000" cy="618514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51" name="Google Shape;151;p6"/>
          <p:cNvCxnSpPr/>
          <p:nvPr/>
        </p:nvCxnSpPr>
        <p:spPr>
          <a:xfrm rot="10800000">
            <a:off x="-20998" y="3558614"/>
            <a:ext cx="7500100" cy="215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</p:cxnSp>
      <p:graphicFrame>
        <p:nvGraphicFramePr>
          <p:cNvPr id="152" name="Google Shape;152;p6"/>
          <p:cNvGraphicFramePr/>
          <p:nvPr/>
        </p:nvGraphicFramePr>
        <p:xfrm>
          <a:off x="101277" y="2188467"/>
          <a:ext cx="2521575" cy="14262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4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P#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F#</a:t>
                      </a:r>
                      <a:r>
                        <a:rPr lang="en-US" sz="1800" b="1" u="none" strike="noStrike" cap="none" baseline="30000"/>
                        <a:t>**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InM?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V?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DD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DD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DD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DD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0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TLB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53" name="Google Shape;153;p6"/>
          <p:cNvCxnSpPr/>
          <p:nvPr/>
        </p:nvCxnSpPr>
        <p:spPr>
          <a:xfrm rot="10800000">
            <a:off x="-20998" y="3558614"/>
            <a:ext cx="7500100" cy="215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</p:cxnSp>
      <p:graphicFrame>
        <p:nvGraphicFramePr>
          <p:cNvPr id="154" name="Google Shape;154;p6"/>
          <p:cNvGraphicFramePr/>
          <p:nvPr/>
        </p:nvGraphicFramePr>
        <p:xfrm>
          <a:off x="165915" y="3655433"/>
          <a:ext cx="2557625" cy="2401570"/>
        </p:xfrm>
        <a:graphic>
          <a:graphicData uri="http://schemas.openxmlformats.org/drawingml/2006/table">
            <a:tbl>
              <a:tblPr>
                <a:noFill/>
                <a:tableStyleId>{630E84B2-41B3-490C-8EB7-C00D5CA2D06C}</a:tableStyleId>
              </a:tblPr>
              <a:tblGrid>
                <a:gridCol w="255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457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[HW] Access </a:t>
                      </a:r>
                      <a:r>
                        <a:rPr lang="en-US" sz="16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</a:t>
                      </a:r>
                      <a:endParaRPr sz="1600" u="none" strike="noStrike" cap="non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 🡺 &lt;</a:t>
                      </a:r>
                      <a:r>
                        <a:rPr lang="en-US" sz="16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P#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-US" sz="1600" b="1" u="none" strike="noStrike" cap="none">
                          <a:solidFill>
                            <a:srgbClr val="0066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Ofs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Search TLB for &lt;</a:t>
                      </a:r>
                      <a:r>
                        <a:rPr lang="en-US" sz="16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P#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&gt;: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1950" marR="0" lvl="1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lphaL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Miss: ►OS { </a:t>
                      </a:r>
                      <a:r>
                        <a:rPr lang="en-US" sz="1600" b="1" i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TLB!!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}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 &lt;</a:t>
                      </a:r>
                      <a:r>
                        <a:rPr lang="en-US" sz="16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P#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in mem?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1950" marR="0" lvl="1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lphaL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NO:   ►OS { </a:t>
                      </a:r>
                      <a:r>
                        <a:rPr lang="en-US" sz="1600" b="1" i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Page!!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}  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&lt;</a:t>
                      </a:r>
                      <a:r>
                        <a:rPr lang="en-US" sz="16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F#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&gt;&lt;</a:t>
                      </a:r>
                      <a:r>
                        <a:rPr lang="en-US" sz="1600" b="1" u="none" strike="noStrike" cap="none">
                          <a:solidFill>
                            <a:srgbClr val="0066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Ofs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to access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5" name="Google Shape;155;p6"/>
          <p:cNvGraphicFramePr/>
          <p:nvPr/>
        </p:nvGraphicFramePr>
        <p:xfrm>
          <a:off x="2871906" y="3655433"/>
          <a:ext cx="2070475" cy="2272665"/>
        </p:xfrm>
        <a:graphic>
          <a:graphicData uri="http://schemas.openxmlformats.org/drawingml/2006/table">
            <a:tbl>
              <a:tblPr>
                <a:noFill/>
                <a:tableStyleId>{630E84B2-41B3-490C-8EB7-C00D5CA2D06C}</a:tableStyleId>
              </a:tblPr>
              <a:tblGrid>
                <a:gridCol w="207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[OS] </a:t>
                      </a: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TLB Fault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</a:t>
                      </a: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 &lt;</a:t>
                      </a: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P#</a:t>
                      </a: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PTE for &lt;</a:t>
                      </a:r>
                      <a:r>
                        <a:rPr lang="en-US" sz="16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P#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&gt;: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 Valid?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1950" marR="0" lvl="1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lphaL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NO: { </a:t>
                      </a:r>
                      <a:r>
                        <a:rPr lang="en-US" sz="1600" b="1" i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SegFault!!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}  </a:t>
                      </a:r>
                      <a:endParaRPr sz="16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Replace TLB Entry</a:t>
                      </a:r>
                      <a:endParaRPr/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"/>
          <p:cNvSpPr txBox="1"/>
          <p:nvPr/>
        </p:nvSpPr>
        <p:spPr>
          <a:xfrm>
            <a:off x="58166" y="6411766"/>
            <a:ext cx="8282675" cy="369332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Size = 4KiB| TLB = 2 Entries | PT = 8 Entries | RAM = 8 Frames | HDD = 16 Pages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1" name="Google Shape;161;p7"/>
          <p:cNvGraphicFramePr/>
          <p:nvPr/>
        </p:nvGraphicFramePr>
        <p:xfrm>
          <a:off x="7375585" y="178368"/>
          <a:ext cx="1552750" cy="5933600"/>
        </p:xfrm>
        <a:graphic>
          <a:graphicData uri="http://schemas.openxmlformats.org/drawingml/2006/table">
            <a:tbl>
              <a:tblPr>
                <a:noFill/>
                <a:tableStyleId>{F839F4D5-BAFB-4499-96DE-BF936FD148C4}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HDD</a:t>
                      </a: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0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P2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P5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62" name="Google Shape;162;p7"/>
          <p:cNvGraphicFramePr/>
          <p:nvPr/>
        </p:nvGraphicFramePr>
        <p:xfrm>
          <a:off x="2790698" y="64800"/>
          <a:ext cx="2521575" cy="31937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4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P#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F#</a:t>
                      </a:r>
                      <a:r>
                        <a:rPr lang="en-US" sz="1800" b="1" u="none" strike="noStrike" cap="none" baseline="30000"/>
                        <a:t>**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InM?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V?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---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---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3" name="Google Shape;163;p7"/>
          <p:cNvGraphicFramePr/>
          <p:nvPr/>
        </p:nvGraphicFramePr>
        <p:xfrm>
          <a:off x="5492832" y="178368"/>
          <a:ext cx="1552750" cy="2966800"/>
        </p:xfrm>
        <a:graphic>
          <a:graphicData uri="http://schemas.openxmlformats.org/drawingml/2006/table">
            <a:tbl>
              <a:tblPr>
                <a:noFill/>
                <a:tableStyleId>{F839F4D5-BAFB-4499-96DE-BF936FD148C4}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66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RAM</a:t>
                      </a: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0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P1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P4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P0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P3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64" name="Google Shape;164;p7"/>
          <p:cNvGrpSpPr/>
          <p:nvPr/>
        </p:nvGrpSpPr>
        <p:grpSpPr>
          <a:xfrm>
            <a:off x="427781" y="279904"/>
            <a:ext cx="2081420" cy="1760485"/>
            <a:chOff x="7398000" y="2117060"/>
            <a:chExt cx="2081420" cy="1760485"/>
          </a:xfrm>
        </p:grpSpPr>
        <p:sp>
          <p:nvSpPr>
            <p:cNvPr id="165" name="Google Shape;165;p7"/>
            <p:cNvSpPr/>
            <p:nvPr/>
          </p:nvSpPr>
          <p:spPr>
            <a:xfrm>
              <a:off x="7398000" y="2117060"/>
              <a:ext cx="2081420" cy="1760485"/>
            </a:xfrm>
            <a:prstGeom prst="rect">
              <a:avLst/>
            </a:prstGeom>
            <a:solidFill>
              <a:srgbClr val="C7E4F6"/>
            </a:solidFill>
            <a:ln w="190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66" name="Google Shape;166;p7"/>
            <p:cNvSpPr/>
            <p:nvPr/>
          </p:nvSpPr>
          <p:spPr>
            <a:xfrm>
              <a:off x="7582407" y="3337964"/>
              <a:ext cx="1647802" cy="387701"/>
            </a:xfrm>
            <a:prstGeom prst="rect">
              <a:avLst/>
            </a:prstGeom>
            <a:solidFill>
              <a:srgbClr val="F2F2F2"/>
            </a:solidFill>
            <a:ln w="190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 </a:t>
              </a:r>
              <a:r>
                <a:rPr lang="en-US" sz="1800" b="1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P5</a:t>
              </a:r>
              <a:endParaRPr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7" name="Google Shape;167;p7" descr="C:\Users\dcssooyj\AppData\Local\Microsoft\Windows\Temporary Internet Files\Content.IE5\4PFYX3WB\gi01a201405110400[1]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898009" y="2162439"/>
              <a:ext cx="1003801" cy="7620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68" name="Google Shape;168;p7"/>
          <p:cNvCxnSpPr/>
          <p:nvPr/>
        </p:nvCxnSpPr>
        <p:spPr>
          <a:xfrm flipH="1">
            <a:off x="2745126" y="0"/>
            <a:ext cx="14455" cy="355861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69" name="Google Shape;169;p7"/>
          <p:cNvCxnSpPr/>
          <p:nvPr/>
        </p:nvCxnSpPr>
        <p:spPr>
          <a:xfrm>
            <a:off x="7458102" y="0"/>
            <a:ext cx="21000" cy="618514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70" name="Google Shape;170;p7"/>
          <p:cNvCxnSpPr/>
          <p:nvPr/>
        </p:nvCxnSpPr>
        <p:spPr>
          <a:xfrm rot="10800000">
            <a:off x="-20998" y="3558614"/>
            <a:ext cx="7500100" cy="215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</p:cxnSp>
      <p:graphicFrame>
        <p:nvGraphicFramePr>
          <p:cNvPr id="171" name="Google Shape;171;p7"/>
          <p:cNvGraphicFramePr/>
          <p:nvPr/>
        </p:nvGraphicFramePr>
        <p:xfrm>
          <a:off x="165915" y="3655433"/>
          <a:ext cx="2557625" cy="2401570"/>
        </p:xfrm>
        <a:graphic>
          <a:graphicData uri="http://schemas.openxmlformats.org/drawingml/2006/table">
            <a:tbl>
              <a:tblPr>
                <a:noFill/>
                <a:tableStyleId>{630E84B2-41B3-490C-8EB7-C00D5CA2D06C}</a:tableStyleId>
              </a:tblPr>
              <a:tblGrid>
                <a:gridCol w="255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457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[HW] Access </a:t>
                      </a:r>
                      <a:r>
                        <a:rPr lang="en-US" sz="16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</a:t>
                      </a:r>
                      <a:endParaRPr sz="1600" u="none" strike="noStrike" cap="non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 🡺 &lt;</a:t>
                      </a:r>
                      <a:r>
                        <a:rPr lang="en-US" sz="16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P#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-US" sz="1600" b="1" u="none" strike="noStrike" cap="none">
                          <a:solidFill>
                            <a:srgbClr val="0066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Ofs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Search TLB for &lt;</a:t>
                      </a:r>
                      <a:r>
                        <a:rPr lang="en-US" sz="16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P#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&gt;: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1950" marR="0" lvl="1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lphaL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Miss: ►OS { </a:t>
                      </a:r>
                      <a:r>
                        <a:rPr lang="en-US" sz="1600" b="1" i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TLB!!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}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 &lt;</a:t>
                      </a:r>
                      <a:r>
                        <a:rPr lang="en-US" sz="16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P#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in mem?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1950" marR="0" lvl="1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lphaL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NO:   ►OS { </a:t>
                      </a:r>
                      <a:r>
                        <a:rPr lang="en-US" sz="1600" b="1" i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Page!!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}  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&lt;</a:t>
                      </a:r>
                      <a:r>
                        <a:rPr lang="en-US" sz="16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F#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&gt;&lt;</a:t>
                      </a:r>
                      <a:r>
                        <a:rPr lang="en-US" sz="1600" b="1" u="none" strike="noStrike" cap="none">
                          <a:solidFill>
                            <a:srgbClr val="0066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Ofs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to access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2" name="Google Shape;172;p7"/>
          <p:cNvGraphicFramePr/>
          <p:nvPr/>
        </p:nvGraphicFramePr>
        <p:xfrm>
          <a:off x="2871906" y="3655433"/>
          <a:ext cx="2070475" cy="2272665"/>
        </p:xfrm>
        <a:graphic>
          <a:graphicData uri="http://schemas.openxmlformats.org/drawingml/2006/table">
            <a:tbl>
              <a:tblPr>
                <a:noFill/>
                <a:tableStyleId>{630E84B2-41B3-490C-8EB7-C00D5CA2D06C}</a:tableStyleId>
              </a:tblPr>
              <a:tblGrid>
                <a:gridCol w="207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[OS] </a:t>
                      </a: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TLB Fault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</a:t>
                      </a: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 &lt;</a:t>
                      </a: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P#</a:t>
                      </a: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PTE for &lt;</a:t>
                      </a:r>
                      <a:r>
                        <a:rPr lang="en-US" sz="16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P#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&gt;: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 Valid?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1950" marR="0" lvl="1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lphaL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NO: { </a:t>
                      </a:r>
                      <a:r>
                        <a:rPr lang="en-US" sz="1600" b="1" i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SegFault!!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}  </a:t>
                      </a:r>
                      <a:endParaRPr sz="16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Replace TLB Entry</a:t>
                      </a:r>
                      <a:endParaRPr/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3" name="Google Shape;173;p7"/>
          <p:cNvGraphicFramePr/>
          <p:nvPr/>
        </p:nvGraphicFramePr>
        <p:xfrm>
          <a:off x="5057581" y="3661836"/>
          <a:ext cx="2276750" cy="2767330"/>
        </p:xfrm>
        <a:graphic>
          <a:graphicData uri="http://schemas.openxmlformats.org/drawingml/2006/table">
            <a:tbl>
              <a:tblPr>
                <a:noFill/>
                <a:tableStyleId>{630E84B2-41B3-490C-8EB7-C00D5CA2D06C}</a:tableStyleId>
              </a:tblPr>
              <a:tblGrid>
                <a:gridCol w="227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[OS] </a:t>
                      </a: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Pg.Fault </a:t>
                      </a: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 &lt;</a:t>
                      </a: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P#</a:t>
                      </a: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Choose </a:t>
                      </a: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ictim</a:t>
                      </a: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Write </a:t>
                      </a: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VP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if neeeded</a:t>
                      </a:r>
                      <a:endParaRPr sz="16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Locate P# in HDD</a:t>
                      </a:r>
                      <a:endParaRPr/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Load P# into RAM</a:t>
                      </a:r>
                      <a:endParaRPr/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Update P# PTE</a:t>
                      </a:r>
                      <a:endParaRPr/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Update TLB</a:t>
                      </a:r>
                      <a:endParaRPr/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4" name="Google Shape;174;p7"/>
          <p:cNvGraphicFramePr/>
          <p:nvPr/>
        </p:nvGraphicFramePr>
        <p:xfrm>
          <a:off x="101277" y="2188467"/>
          <a:ext cx="2521575" cy="14262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4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P#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F#</a:t>
                      </a:r>
                      <a:r>
                        <a:rPr lang="en-US" sz="1800" b="1" u="none" strike="noStrike" cap="none" baseline="30000"/>
                        <a:t>**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InM?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V?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DD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DD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DD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DD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0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TLB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 txBox="1"/>
          <p:nvPr/>
        </p:nvSpPr>
        <p:spPr>
          <a:xfrm>
            <a:off x="58166" y="6411766"/>
            <a:ext cx="8282675" cy="369332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Size = 4KiB| TLB = 2 Entries | PT = 8 Entries | RAM = 8 Frames | HDD = 16 Pages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1" name="Google Shape;181;p8"/>
          <p:cNvGraphicFramePr/>
          <p:nvPr/>
        </p:nvGraphicFramePr>
        <p:xfrm>
          <a:off x="7375585" y="178368"/>
          <a:ext cx="1552750" cy="5933600"/>
        </p:xfrm>
        <a:graphic>
          <a:graphicData uri="http://schemas.openxmlformats.org/drawingml/2006/table">
            <a:tbl>
              <a:tblPr>
                <a:noFill/>
                <a:tableStyleId>{F839F4D5-BAFB-4499-96DE-BF936FD148C4}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C0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HDD</a:t>
                      </a: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0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P2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75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P5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82" name="Google Shape;182;p8"/>
          <p:cNvGraphicFramePr/>
          <p:nvPr/>
        </p:nvGraphicFramePr>
        <p:xfrm>
          <a:off x="2790698" y="64800"/>
          <a:ext cx="2521575" cy="31937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4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P#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F#</a:t>
                      </a:r>
                      <a:r>
                        <a:rPr lang="en-US" sz="1800" b="1" u="none" strike="noStrike" cap="none" baseline="30000"/>
                        <a:t>**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InM?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V?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---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---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83" name="Google Shape;183;p8"/>
          <p:cNvGraphicFramePr/>
          <p:nvPr/>
        </p:nvGraphicFramePr>
        <p:xfrm>
          <a:off x="5492832" y="178368"/>
          <a:ext cx="1552750" cy="3337650"/>
        </p:xfrm>
        <a:graphic>
          <a:graphicData uri="http://schemas.openxmlformats.org/drawingml/2006/table">
            <a:tbl>
              <a:tblPr>
                <a:noFill/>
                <a:tableStyleId>{F839F4D5-BAFB-4499-96DE-BF936FD148C4}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0066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RAM</a:t>
                      </a: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0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P1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P4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P0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P3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[30ns]</a:t>
                      </a:r>
                      <a:endParaRPr sz="18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84" name="Google Shape;184;p8"/>
          <p:cNvGrpSpPr/>
          <p:nvPr/>
        </p:nvGrpSpPr>
        <p:grpSpPr>
          <a:xfrm>
            <a:off x="427781" y="279904"/>
            <a:ext cx="2081420" cy="1760485"/>
            <a:chOff x="7398000" y="2117060"/>
            <a:chExt cx="2081420" cy="1760485"/>
          </a:xfrm>
        </p:grpSpPr>
        <p:sp>
          <p:nvSpPr>
            <p:cNvPr id="185" name="Google Shape;185;p8"/>
            <p:cNvSpPr/>
            <p:nvPr/>
          </p:nvSpPr>
          <p:spPr>
            <a:xfrm>
              <a:off x="7398000" y="2117060"/>
              <a:ext cx="2081420" cy="1760485"/>
            </a:xfrm>
            <a:prstGeom prst="rect">
              <a:avLst/>
            </a:prstGeom>
            <a:solidFill>
              <a:srgbClr val="C7E4F6"/>
            </a:solidFill>
            <a:ln w="190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86" name="Google Shape;186;p8"/>
            <p:cNvSpPr/>
            <p:nvPr/>
          </p:nvSpPr>
          <p:spPr>
            <a:xfrm>
              <a:off x="7582407" y="3337964"/>
              <a:ext cx="1647802" cy="387701"/>
            </a:xfrm>
            <a:prstGeom prst="rect">
              <a:avLst/>
            </a:prstGeom>
            <a:solidFill>
              <a:srgbClr val="F2F2F2"/>
            </a:solidFill>
            <a:ln w="19050" cap="flat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Best / Worst</a:t>
              </a:r>
              <a:endParaRPr sz="1800" b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7" name="Google Shape;187;p8" descr="C:\Users\dcssooyj\AppData\Local\Microsoft\Windows\Temporary Internet Files\Content.IE5\4PFYX3WB\gi01a201405110400[1]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898009" y="2162439"/>
              <a:ext cx="1003801" cy="7620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88" name="Google Shape;188;p8"/>
          <p:cNvCxnSpPr/>
          <p:nvPr/>
        </p:nvCxnSpPr>
        <p:spPr>
          <a:xfrm flipH="1">
            <a:off x="2745126" y="0"/>
            <a:ext cx="14455" cy="3558614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89" name="Google Shape;189;p8"/>
          <p:cNvCxnSpPr/>
          <p:nvPr/>
        </p:nvCxnSpPr>
        <p:spPr>
          <a:xfrm>
            <a:off x="7458102" y="0"/>
            <a:ext cx="21000" cy="618514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90" name="Google Shape;190;p8"/>
          <p:cNvCxnSpPr/>
          <p:nvPr/>
        </p:nvCxnSpPr>
        <p:spPr>
          <a:xfrm rot="10800000">
            <a:off x="-20998" y="3558614"/>
            <a:ext cx="7500100" cy="2152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</p:cxnSp>
      <p:graphicFrame>
        <p:nvGraphicFramePr>
          <p:cNvPr id="191" name="Google Shape;191;p8"/>
          <p:cNvGraphicFramePr/>
          <p:nvPr/>
        </p:nvGraphicFramePr>
        <p:xfrm>
          <a:off x="165915" y="3655433"/>
          <a:ext cx="2557625" cy="2401570"/>
        </p:xfrm>
        <a:graphic>
          <a:graphicData uri="http://schemas.openxmlformats.org/drawingml/2006/table">
            <a:tbl>
              <a:tblPr>
                <a:noFill/>
                <a:tableStyleId>{630E84B2-41B3-490C-8EB7-C00D5CA2D06C}</a:tableStyleId>
              </a:tblPr>
              <a:tblGrid>
                <a:gridCol w="255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4572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[HW] Access </a:t>
                      </a:r>
                      <a:r>
                        <a:rPr lang="en-US" sz="16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</a:t>
                      </a:r>
                      <a:endParaRPr sz="1600" u="none" strike="noStrike" cap="none">
                        <a:solidFill>
                          <a:srgbClr val="C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 🡺 &lt;</a:t>
                      </a:r>
                      <a:r>
                        <a:rPr lang="en-US" sz="16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P#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-US" sz="1600" b="1" u="none" strike="noStrike" cap="none">
                          <a:solidFill>
                            <a:srgbClr val="0066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Ofs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Search TLB for &lt;</a:t>
                      </a:r>
                      <a:r>
                        <a:rPr lang="en-US" sz="16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P#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&gt;: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1950" marR="0" lvl="1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lphaL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Miss: ►OS { </a:t>
                      </a:r>
                      <a:r>
                        <a:rPr lang="en-US" sz="1600" b="1" i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TLB!!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}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 &lt;</a:t>
                      </a:r>
                      <a:r>
                        <a:rPr lang="en-US" sz="16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P#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in mem?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1950" marR="0" lvl="1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lphaL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NO:   ►OS { </a:t>
                      </a:r>
                      <a:r>
                        <a:rPr lang="en-US" sz="1600" b="1" i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Page!!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}  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&lt;</a:t>
                      </a:r>
                      <a:r>
                        <a:rPr lang="en-US" sz="16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F#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&gt;&lt;</a:t>
                      </a:r>
                      <a:r>
                        <a:rPr lang="en-US" sz="1600" b="1" u="none" strike="noStrike" cap="none">
                          <a:solidFill>
                            <a:srgbClr val="0066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Ofs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to access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2" name="Google Shape;192;p8"/>
          <p:cNvGraphicFramePr/>
          <p:nvPr/>
        </p:nvGraphicFramePr>
        <p:xfrm>
          <a:off x="2871906" y="3655433"/>
          <a:ext cx="2070475" cy="2272665"/>
        </p:xfrm>
        <a:graphic>
          <a:graphicData uri="http://schemas.openxmlformats.org/drawingml/2006/table">
            <a:tbl>
              <a:tblPr>
                <a:noFill/>
                <a:tableStyleId>{630E84B2-41B3-490C-8EB7-C00D5CA2D06C}</a:tableStyleId>
              </a:tblPr>
              <a:tblGrid>
                <a:gridCol w="207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[OS] </a:t>
                      </a: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TLB Fault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</a:t>
                      </a: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 &lt;</a:t>
                      </a: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P#</a:t>
                      </a: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PTE for &lt;</a:t>
                      </a:r>
                      <a:r>
                        <a:rPr lang="en-US" sz="1600" b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P#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&gt;: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 Valid?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61950" marR="0" lvl="1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lphaL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NO: { </a:t>
                      </a:r>
                      <a:r>
                        <a:rPr lang="en-US" sz="1600" b="1" i="1" u="none" strike="noStrike" cap="non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SegFault!!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}  </a:t>
                      </a:r>
                      <a:endParaRPr sz="16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Replace TLB Entry</a:t>
                      </a:r>
                      <a:endParaRPr/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3" name="Google Shape;193;p8"/>
          <p:cNvGraphicFramePr/>
          <p:nvPr/>
        </p:nvGraphicFramePr>
        <p:xfrm>
          <a:off x="5057581" y="3661836"/>
          <a:ext cx="2276750" cy="2767330"/>
        </p:xfrm>
        <a:graphic>
          <a:graphicData uri="http://schemas.openxmlformats.org/drawingml/2006/table">
            <a:tbl>
              <a:tblPr>
                <a:noFill/>
                <a:tableStyleId>{630E84B2-41B3-490C-8EB7-C00D5CA2D06C}</a:tableStyleId>
              </a:tblPr>
              <a:tblGrid>
                <a:gridCol w="227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[OS] </a:t>
                      </a: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Pg.Fault </a:t>
                      </a: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 &lt;</a:t>
                      </a: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P#</a:t>
                      </a:r>
                      <a:r>
                        <a:rPr lang="en-US" sz="1600" b="1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</a:t>
                      </a:r>
                      <a:endParaRPr sz="1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Choose </a:t>
                      </a: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ictim</a:t>
                      </a: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Write </a:t>
                      </a:r>
                      <a:r>
                        <a:rPr lang="en-US" sz="1600" b="1" u="none" strike="noStrike" cap="none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VP</a:t>
                      </a: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if neeeded</a:t>
                      </a:r>
                      <a:endParaRPr sz="1600" b="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Locate P# in HDD</a:t>
                      </a:r>
                      <a:endParaRPr/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Load P# into RAM</a:t>
                      </a:r>
                      <a:endParaRPr/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Update P# PTE</a:t>
                      </a:r>
                      <a:endParaRPr/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Update TLB</a:t>
                      </a:r>
                      <a:endParaRPr/>
                    </a:p>
                    <a:p>
                      <a:pPr marL="180975" marR="0" lvl="0" indent="-180975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AutoNum type="arabicPeriod"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Return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4" name="Google Shape;194;p8"/>
          <p:cNvGraphicFramePr/>
          <p:nvPr/>
        </p:nvGraphicFramePr>
        <p:xfrm>
          <a:off x="101277" y="2188467"/>
          <a:ext cx="2521575" cy="14262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4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P#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F#</a:t>
                      </a:r>
                      <a:r>
                        <a:rPr lang="en-US" sz="1800" b="1" u="none" strike="noStrike" cap="none" baseline="30000"/>
                        <a:t>**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InM?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V?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6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DD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DD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DDE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chemeClr val="dk1"/>
                      </a:solidFill>
                      <a:prstDash val="dot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DD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00">
                <a:tc grid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TLB 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[1ns]</a:t>
                      </a:r>
                      <a:endParaRPr sz="1800" b="1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5" name="Google Shape;195;p8"/>
          <p:cNvSpPr/>
          <p:nvPr/>
        </p:nvSpPr>
        <p:spPr>
          <a:xfrm>
            <a:off x="7314234" y="2915432"/>
            <a:ext cx="731290" cy="3693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[5ms]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 txBox="1"/>
          <p:nvPr/>
        </p:nvSpPr>
        <p:spPr>
          <a:xfrm>
            <a:off x="58166" y="6411766"/>
            <a:ext cx="8282675" cy="369332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 Size = 4KiB| TLB = 2 Entries | PT = 8 Entries | RAM = 8 Frames | HDD = 16 Pages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" name="Google Shape;202;p9"/>
          <p:cNvGraphicFramePr/>
          <p:nvPr/>
        </p:nvGraphicFramePr>
        <p:xfrm>
          <a:off x="464998" y="361275"/>
          <a:ext cx="2521575" cy="31937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4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P#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F#</a:t>
                      </a:r>
                      <a:r>
                        <a:rPr lang="en-US" sz="1800" b="1" u="none" strike="noStrike" cap="none" baseline="30000"/>
                        <a:t>**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InM?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V?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---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---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03" name="Google Shape;203;p9"/>
          <p:cNvGraphicFramePr/>
          <p:nvPr/>
        </p:nvGraphicFramePr>
        <p:xfrm>
          <a:off x="6331757" y="136518"/>
          <a:ext cx="2521575" cy="17797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4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P#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F#</a:t>
                      </a:r>
                      <a:r>
                        <a:rPr lang="en-US" sz="1800" b="1" u="none" strike="noStrike" cap="none" baseline="30000"/>
                        <a:t>**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InM?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V?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4" name="Google Shape;204;p9"/>
          <p:cNvGraphicFramePr/>
          <p:nvPr/>
        </p:nvGraphicFramePr>
        <p:xfrm>
          <a:off x="6318962" y="2740790"/>
          <a:ext cx="2521575" cy="17797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4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P#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F#</a:t>
                      </a:r>
                      <a:r>
                        <a:rPr lang="en-US" sz="1800" b="1" u="none" strike="noStrike" cap="none" baseline="30000"/>
                        <a:t>**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InM?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V?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---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---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5" name="Google Shape;205;p9"/>
          <p:cNvGraphicFramePr/>
          <p:nvPr/>
        </p:nvGraphicFramePr>
        <p:xfrm>
          <a:off x="3454086" y="1494334"/>
          <a:ext cx="1984825" cy="205409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48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1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PT.Ptr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V?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06" name="Google Shape;206;p9"/>
          <p:cNvCxnSpPr/>
          <p:nvPr/>
        </p:nvCxnSpPr>
        <p:spPr>
          <a:xfrm rot="10800000" flipH="1">
            <a:off x="4267200" y="1026282"/>
            <a:ext cx="2064600" cy="1035600"/>
          </a:xfrm>
          <a:prstGeom prst="bentConnector3">
            <a:avLst>
              <a:gd name="adj1" fmla="val 11354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207" name="Google Shape;207;p9"/>
          <p:cNvCxnSpPr/>
          <p:nvPr/>
        </p:nvCxnSpPr>
        <p:spPr>
          <a:xfrm>
            <a:off x="4267200" y="2402541"/>
            <a:ext cx="2051700" cy="1228200"/>
          </a:xfrm>
          <a:prstGeom prst="bentConnector3">
            <a:avLst>
              <a:gd name="adj1" fmla="val 1155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208" name="Google Shape;208;p9"/>
          <p:cNvCxnSpPr/>
          <p:nvPr/>
        </p:nvCxnSpPr>
        <p:spPr>
          <a:xfrm>
            <a:off x="3209819" y="0"/>
            <a:ext cx="21000" cy="618514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</p:cxnSp>
      <p:graphicFrame>
        <p:nvGraphicFramePr>
          <p:cNvPr id="209" name="Google Shape;209;p9"/>
          <p:cNvGraphicFramePr/>
          <p:nvPr/>
        </p:nvGraphicFramePr>
        <p:xfrm>
          <a:off x="6325618" y="2740790"/>
          <a:ext cx="2521575" cy="17797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4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P#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F#</a:t>
                      </a:r>
                      <a:r>
                        <a:rPr lang="en-US" sz="1800" b="1" u="none" strike="noStrike" cap="none" baseline="30000"/>
                        <a:t>**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InM?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V?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b="1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800" b="1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---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b="1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---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Calibri"/>
              <a:buNone/>
            </a:pPr>
            <a:r>
              <a:rPr lang="en-US">
                <a:solidFill>
                  <a:srgbClr val="C00000"/>
                </a:solidFill>
              </a:rPr>
              <a:t>Tutorial 9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16" name="Google Shape;216;p10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Question 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1" name="Google Shape;221;p11"/>
          <p:cNvGraphicFramePr/>
          <p:nvPr/>
        </p:nvGraphicFramePr>
        <p:xfrm>
          <a:off x="628650" y="3000809"/>
          <a:ext cx="7632625" cy="797580"/>
        </p:xfrm>
        <a:graphic>
          <a:graphicData uri="http://schemas.openxmlformats.org/drawingml/2006/table">
            <a:tbl>
              <a:tblPr firstRow="1" bandRow="1">
                <a:noFill/>
                <a:tableStyleId>{F839F4D5-BAFB-4499-96DE-BF936FD148C4}</a:tableStyleId>
              </a:tblPr>
              <a:tblGrid>
                <a:gridCol w="51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6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/>
                        <a:t>0000 0000 0000 0000 0000 0000 0000 0000 0000 0000 1010 0101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2" name="Google Shape;222;p11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Basic Parameters</a:t>
            </a:r>
            <a:endParaRPr/>
          </a:p>
        </p:txBody>
      </p:sp>
      <p:sp>
        <p:nvSpPr>
          <p:cNvPr id="223" name="Google Shape;223;p11"/>
          <p:cNvSpPr txBox="1">
            <a:spLocks noGrp="1"/>
          </p:cNvSpPr>
          <p:nvPr>
            <p:ph type="body" idx="1"/>
          </p:nvPr>
        </p:nvSpPr>
        <p:spPr>
          <a:xfrm>
            <a:off x="628650" y="930877"/>
            <a:ext cx="7886700" cy="2072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Memory Space of a process: maximum </a:t>
            </a:r>
            <a:r>
              <a:rPr lang="en-US" b="1">
                <a:solidFill>
                  <a:srgbClr val="C00000"/>
                </a:solidFill>
              </a:rPr>
              <a:t>2</a:t>
            </a:r>
            <a:r>
              <a:rPr lang="en-US" b="1" baseline="30000">
                <a:solidFill>
                  <a:srgbClr val="C00000"/>
                </a:solidFill>
              </a:rPr>
              <a:t>48</a:t>
            </a:r>
            <a:r>
              <a:rPr lang="en-US" b="1"/>
              <a:t> </a:t>
            </a:r>
            <a:r>
              <a:rPr lang="en-US"/>
              <a:t>bytes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Split into 4 KiB per page: 2</a:t>
            </a:r>
            <a:r>
              <a:rPr lang="en-US" baseline="30000"/>
              <a:t>48 </a:t>
            </a:r>
            <a:r>
              <a:rPr lang="en-US"/>
              <a:t>/ 2</a:t>
            </a:r>
            <a:r>
              <a:rPr lang="en-US" baseline="30000"/>
              <a:t>12 </a:t>
            </a:r>
            <a:r>
              <a:rPr lang="en-US"/>
              <a:t>= </a:t>
            </a:r>
            <a:r>
              <a:rPr lang="en-US" b="1">
                <a:solidFill>
                  <a:srgbClr val="C00000"/>
                </a:solidFill>
              </a:rPr>
              <a:t>2</a:t>
            </a:r>
            <a:r>
              <a:rPr lang="en-US" b="1" baseline="30000">
                <a:solidFill>
                  <a:srgbClr val="C00000"/>
                </a:solidFill>
              </a:rPr>
              <a:t>36</a:t>
            </a:r>
            <a:r>
              <a:rPr lang="en-US" b="1" baseline="30000"/>
              <a:t> </a:t>
            </a:r>
            <a:r>
              <a:rPr lang="en-US"/>
              <a:t>pages </a:t>
            </a:r>
            <a:endParaRPr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Entire Page Table = 2</a:t>
            </a:r>
            <a:r>
              <a:rPr lang="en-US" baseline="30000"/>
              <a:t>36 </a:t>
            </a:r>
            <a:r>
              <a:rPr lang="en-US"/>
              <a:t>PTEs x 8 bytes per PTE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baseline="30000"/>
              <a:t>			   </a:t>
            </a:r>
            <a:r>
              <a:rPr lang="en-US"/>
              <a:t>= </a:t>
            </a:r>
            <a:r>
              <a:rPr lang="en-US" b="1">
                <a:solidFill>
                  <a:srgbClr val="C00000"/>
                </a:solidFill>
              </a:rPr>
              <a:t>2</a:t>
            </a:r>
            <a:r>
              <a:rPr lang="en-US" b="1" baseline="30000">
                <a:solidFill>
                  <a:srgbClr val="C00000"/>
                </a:solidFill>
              </a:rPr>
              <a:t>39</a:t>
            </a:r>
            <a:r>
              <a:rPr lang="en-US" b="1"/>
              <a:t> </a:t>
            </a:r>
            <a:r>
              <a:rPr lang="en-US"/>
              <a:t>bytes (</a:t>
            </a:r>
            <a:r>
              <a:rPr lang="en-US" b="1">
                <a:solidFill>
                  <a:srgbClr val="C00000"/>
                </a:solidFill>
              </a:rPr>
              <a:t>512GiB</a:t>
            </a:r>
            <a:r>
              <a:rPr lang="en-US"/>
              <a:t>!!)</a:t>
            </a:r>
            <a:endParaRPr baseline="30000"/>
          </a:p>
        </p:txBody>
      </p:sp>
      <p:sp>
        <p:nvSpPr>
          <p:cNvPr id="224" name="Google Shape;224;p11"/>
          <p:cNvSpPr txBox="1"/>
          <p:nvPr/>
        </p:nvSpPr>
        <p:spPr>
          <a:xfrm>
            <a:off x="58166" y="6411766"/>
            <a:ext cx="8282675" cy="369332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 = 48 bits | Page/Frame Size = 4KiB| PTE Size = 8 bytes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5" name="Google Shape;225;p11"/>
          <p:cNvGraphicFramePr/>
          <p:nvPr/>
        </p:nvGraphicFramePr>
        <p:xfrm>
          <a:off x="628650" y="3000809"/>
          <a:ext cx="7632650" cy="797580"/>
        </p:xfrm>
        <a:graphic>
          <a:graphicData uri="http://schemas.openxmlformats.org/drawingml/2006/table">
            <a:tbl>
              <a:tblPr firstRow="1" bandRow="1">
                <a:noFill/>
                <a:tableStyleId>{F839F4D5-BAFB-4499-96DE-BF936FD148C4}</a:tableStyleId>
              </a:tblPr>
              <a:tblGrid>
                <a:gridCol w="38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35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36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/>
                        <a:t>0000 0000 0000 0000 0000 0000 0000 0000 0000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/>
                        <a:t>0000 1010 0101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6" name="Google Shape;226;p11"/>
          <p:cNvGraphicFramePr/>
          <p:nvPr/>
        </p:nvGraphicFramePr>
        <p:xfrm>
          <a:off x="1229032" y="4183204"/>
          <a:ext cx="3490450" cy="17797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148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P#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PTE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F#: &lt;</a:t>
                      </a: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</a:t>
                      </a:r>
                      <a:r>
                        <a:rPr lang="en-US" sz="1800" b="1" u="none" strike="noStrike" cap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ABCD</a:t>
                      </a: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0xF FFFF FFFF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7" name="Google Shape;227;p11"/>
          <p:cNvGraphicFramePr/>
          <p:nvPr/>
        </p:nvGraphicFramePr>
        <p:xfrm>
          <a:off x="5454167" y="3861110"/>
          <a:ext cx="2807100" cy="2487925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119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4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F#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Content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422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0xABCD</a:t>
                      </a:r>
                      <a:endParaRPr sz="2400" b="1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KiB</a:t>
                      </a:r>
                      <a:endParaRPr sz="2400" u="none" strike="noStrike" cap="non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0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228" name="Google Shape;228;p11"/>
          <p:cNvCxnSpPr/>
          <p:nvPr/>
        </p:nvCxnSpPr>
        <p:spPr>
          <a:xfrm rot="-5400000" flipH="1">
            <a:off x="439283" y="4283318"/>
            <a:ext cx="1274700" cy="304800"/>
          </a:xfrm>
          <a:prstGeom prst="bentConnector2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29" name="Google Shape;229;p11"/>
          <p:cNvCxnSpPr/>
          <p:nvPr/>
        </p:nvCxnSpPr>
        <p:spPr>
          <a:xfrm rot="-5400000" flipH="1">
            <a:off x="6215373" y="4425968"/>
            <a:ext cx="1511100" cy="255900"/>
          </a:xfrm>
          <a:prstGeom prst="bentConnector3">
            <a:avLst>
              <a:gd name="adj1" fmla="val 100100"/>
            </a:avLst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2-Level Page Table</a:t>
            </a:r>
            <a:endParaRPr/>
          </a:p>
        </p:txBody>
      </p:sp>
      <p:graphicFrame>
        <p:nvGraphicFramePr>
          <p:cNvPr id="235" name="Google Shape;235;p12"/>
          <p:cNvGraphicFramePr/>
          <p:nvPr/>
        </p:nvGraphicFramePr>
        <p:xfrm>
          <a:off x="3883742" y="1759971"/>
          <a:ext cx="3490450" cy="461690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148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P#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PTE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F#: &lt;</a:t>
                      </a: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0xABCD</a:t>
                      </a: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0xF FFFF FFFF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36" name="Google Shape;236;p12"/>
          <p:cNvGraphicFramePr/>
          <p:nvPr/>
        </p:nvGraphicFramePr>
        <p:xfrm>
          <a:off x="677812" y="660731"/>
          <a:ext cx="7632650" cy="797580"/>
        </p:xfrm>
        <a:graphic>
          <a:graphicData uri="http://schemas.openxmlformats.org/drawingml/2006/table">
            <a:tbl>
              <a:tblPr firstRow="1" bandRow="1">
                <a:noFill/>
                <a:tableStyleId>{F839F4D5-BAFB-4499-96DE-BF936FD148C4}</a:tableStyleId>
              </a:tblPr>
              <a:tblGrid>
                <a:gridCol w="38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35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36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/>
                        <a:t>0000 0000 0000 0000 0000 0000 0000 0000 0000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/>
                        <a:t>0000 1010 0101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7" name="Google Shape;237;p12"/>
          <p:cNvSpPr/>
          <p:nvPr/>
        </p:nvSpPr>
        <p:spPr>
          <a:xfrm>
            <a:off x="5319253" y="2141073"/>
            <a:ext cx="2143431" cy="1319882"/>
          </a:xfrm>
          <a:prstGeom prst="rect">
            <a:avLst/>
          </a:prstGeom>
          <a:solidFill>
            <a:srgbClr val="FF0000">
              <a:alpha val="29803"/>
            </a:srgbClr>
          </a:solidFill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5319253" y="3483796"/>
            <a:ext cx="2143431" cy="1319882"/>
          </a:xfrm>
          <a:prstGeom prst="rect">
            <a:avLst/>
          </a:prstGeom>
          <a:solidFill>
            <a:srgbClr val="FF0000">
              <a:alpha val="29803"/>
            </a:srgbClr>
          </a:solidFill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5319252" y="5056919"/>
            <a:ext cx="2143431" cy="1319882"/>
          </a:xfrm>
          <a:prstGeom prst="rect">
            <a:avLst/>
          </a:prstGeom>
          <a:solidFill>
            <a:srgbClr val="FF0000">
              <a:alpha val="29803"/>
            </a:srgbClr>
          </a:solidFill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0" name="Google Shape;240;p12"/>
          <p:cNvGraphicFramePr/>
          <p:nvPr/>
        </p:nvGraphicFramePr>
        <p:xfrm>
          <a:off x="304800" y="1759971"/>
          <a:ext cx="3490450" cy="252490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148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?????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241" name="Google Shape;241;p12"/>
          <p:cNvCxnSpPr/>
          <p:nvPr/>
        </p:nvCxnSpPr>
        <p:spPr>
          <a:xfrm rot="10800000" flipH="1">
            <a:off x="2762972" y="2212359"/>
            <a:ext cx="2222100" cy="249000"/>
          </a:xfrm>
          <a:prstGeom prst="bentConnector3">
            <a:avLst>
              <a:gd name="adj1" fmla="val 63714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242" name="Google Shape;242;p12"/>
          <p:cNvCxnSpPr/>
          <p:nvPr/>
        </p:nvCxnSpPr>
        <p:spPr>
          <a:xfrm>
            <a:off x="2772858" y="2830704"/>
            <a:ext cx="2212200" cy="653100"/>
          </a:xfrm>
          <a:prstGeom prst="bentConnector3">
            <a:avLst>
              <a:gd name="adj1" fmla="val 6333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243" name="Google Shape;243;p12"/>
          <p:cNvCxnSpPr/>
          <p:nvPr/>
        </p:nvCxnSpPr>
        <p:spPr>
          <a:xfrm>
            <a:off x="2777693" y="4142958"/>
            <a:ext cx="2207400" cy="971100"/>
          </a:xfrm>
          <a:prstGeom prst="bentConnector3">
            <a:avLst>
              <a:gd name="adj1" fmla="val 6336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244" name="Google Shape;244;p12"/>
          <p:cNvSpPr/>
          <p:nvPr/>
        </p:nvSpPr>
        <p:spPr>
          <a:xfrm>
            <a:off x="5319252" y="3478776"/>
            <a:ext cx="2143431" cy="1319882"/>
          </a:xfrm>
          <a:prstGeom prst="rect">
            <a:avLst/>
          </a:prstGeom>
          <a:solidFill>
            <a:srgbClr val="FFC9C9"/>
          </a:solidFill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of PTE per Page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2</a:t>
            </a:r>
            <a:r>
              <a:rPr lang="en-US" sz="20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 8 bytes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512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388455" y="4586511"/>
            <a:ext cx="3406796" cy="1319882"/>
          </a:xfrm>
          <a:prstGeom prst="rect">
            <a:avLst/>
          </a:prstGeom>
          <a:solidFill>
            <a:srgbClr val="D6EFF5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 Level Page Table = 2</a:t>
            </a:r>
            <a:r>
              <a:rPr lang="en-US" sz="20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PTEs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Cut into 2</a:t>
            </a:r>
            <a:r>
              <a:rPr lang="en-US" sz="20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 2</a:t>
            </a:r>
            <a:r>
              <a:rPr lang="en-US" sz="20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r>
              <a:rPr lang="en-US" sz="20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0" name="Google Shape;250;p13"/>
          <p:cNvGraphicFramePr/>
          <p:nvPr/>
        </p:nvGraphicFramePr>
        <p:xfrm>
          <a:off x="3883742" y="1759971"/>
          <a:ext cx="3490450" cy="461690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148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P#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PTE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F#: &lt;</a:t>
                      </a: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0xABCD</a:t>
                      </a: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51" name="Google Shape;251;p13"/>
          <p:cNvGraphicFramePr/>
          <p:nvPr/>
        </p:nvGraphicFramePr>
        <p:xfrm>
          <a:off x="677812" y="660731"/>
          <a:ext cx="7632650" cy="797580"/>
        </p:xfrm>
        <a:graphic>
          <a:graphicData uri="http://schemas.openxmlformats.org/drawingml/2006/table">
            <a:tbl>
              <a:tblPr firstRow="1" bandRow="1">
                <a:noFill/>
                <a:tableStyleId>{F839F4D5-BAFB-4499-96DE-BF936FD148C4}</a:tableStyleId>
              </a:tblPr>
              <a:tblGrid>
                <a:gridCol w="38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35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36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/>
                        <a:t>0000 0000 0000 0000 0000 0000 0000 0000 0000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/>
                        <a:t>0000 1010 0101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2" name="Google Shape;252;p13"/>
          <p:cNvSpPr/>
          <p:nvPr/>
        </p:nvSpPr>
        <p:spPr>
          <a:xfrm>
            <a:off x="5319253" y="2141073"/>
            <a:ext cx="2143431" cy="1319882"/>
          </a:xfrm>
          <a:prstGeom prst="rect">
            <a:avLst/>
          </a:prstGeom>
          <a:solidFill>
            <a:srgbClr val="FF0000">
              <a:alpha val="29803"/>
            </a:srgbClr>
          </a:solidFill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5319253" y="3483796"/>
            <a:ext cx="2143431" cy="1319882"/>
          </a:xfrm>
          <a:prstGeom prst="rect">
            <a:avLst/>
          </a:prstGeom>
          <a:solidFill>
            <a:srgbClr val="FF0000">
              <a:alpha val="29803"/>
            </a:srgbClr>
          </a:solidFill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5319252" y="5056919"/>
            <a:ext cx="2143431" cy="1319882"/>
          </a:xfrm>
          <a:prstGeom prst="rect">
            <a:avLst/>
          </a:prstGeom>
          <a:solidFill>
            <a:srgbClr val="FF0000">
              <a:alpha val="29803"/>
            </a:srgbClr>
          </a:solidFill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5" name="Google Shape;255;p13"/>
          <p:cNvGraphicFramePr/>
          <p:nvPr/>
        </p:nvGraphicFramePr>
        <p:xfrm>
          <a:off x="304800" y="1759971"/>
          <a:ext cx="3490450" cy="252490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148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0x7FF FFFF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256" name="Google Shape;256;p13"/>
          <p:cNvCxnSpPr/>
          <p:nvPr/>
        </p:nvCxnSpPr>
        <p:spPr>
          <a:xfrm rot="10800000" flipH="1">
            <a:off x="2762972" y="2212359"/>
            <a:ext cx="2222100" cy="249000"/>
          </a:xfrm>
          <a:prstGeom prst="bentConnector3">
            <a:avLst>
              <a:gd name="adj1" fmla="val 63714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257" name="Google Shape;257;p13"/>
          <p:cNvCxnSpPr/>
          <p:nvPr/>
        </p:nvCxnSpPr>
        <p:spPr>
          <a:xfrm>
            <a:off x="2772858" y="2830704"/>
            <a:ext cx="2212200" cy="653100"/>
          </a:xfrm>
          <a:prstGeom prst="bentConnector3">
            <a:avLst>
              <a:gd name="adj1" fmla="val 63331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258" name="Google Shape;258;p13"/>
          <p:cNvCxnSpPr/>
          <p:nvPr/>
        </p:nvCxnSpPr>
        <p:spPr>
          <a:xfrm>
            <a:off x="2777693" y="4142958"/>
            <a:ext cx="2207400" cy="971100"/>
          </a:xfrm>
          <a:prstGeom prst="bentConnector3">
            <a:avLst>
              <a:gd name="adj1" fmla="val 6336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259" name="Google Shape;259;p13"/>
          <p:cNvSpPr/>
          <p:nvPr/>
        </p:nvSpPr>
        <p:spPr>
          <a:xfrm>
            <a:off x="5319252" y="3483017"/>
            <a:ext cx="2143431" cy="1319882"/>
          </a:xfrm>
          <a:prstGeom prst="rect">
            <a:avLst/>
          </a:prstGeom>
          <a:solidFill>
            <a:srgbClr val="FFC9C9"/>
          </a:solidFill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0" name="Google Shape;260;p13"/>
          <p:cNvGraphicFramePr/>
          <p:nvPr/>
        </p:nvGraphicFramePr>
        <p:xfrm>
          <a:off x="677812" y="660799"/>
          <a:ext cx="7632625" cy="797580"/>
        </p:xfrm>
        <a:graphic>
          <a:graphicData uri="http://schemas.openxmlformats.org/drawingml/2006/table">
            <a:tbl>
              <a:tblPr firstRow="1" bandRow="1">
                <a:noFill/>
                <a:tableStyleId>{F839F4D5-BAFB-4499-96DE-BF936FD148C4}</a:tableStyleId>
              </a:tblPr>
              <a:tblGrid>
                <a:gridCol w="22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5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1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26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35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36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/>
                        <a:t>0000 0000 0000 0000 0000 0000 000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strike="noStrike" cap="none"/>
                        <a:t>0 0000 0000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/>
                        <a:t>0000 1010 0101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61" name="Google Shape;261;p13"/>
          <p:cNvCxnSpPr/>
          <p:nvPr/>
        </p:nvCxnSpPr>
        <p:spPr>
          <a:xfrm rot="-5400000" flipH="1">
            <a:off x="807128" y="1602288"/>
            <a:ext cx="878700" cy="590700"/>
          </a:xfrm>
          <a:prstGeom prst="bentConnector3">
            <a:avLst>
              <a:gd name="adj1" fmla="val 101007"/>
            </a:avLst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62" name="Google Shape;262;p13"/>
          <p:cNvCxnSpPr/>
          <p:nvPr/>
        </p:nvCxnSpPr>
        <p:spPr>
          <a:xfrm rot="-5400000" flipH="1">
            <a:off x="4807274" y="1700253"/>
            <a:ext cx="732000" cy="292200"/>
          </a:xfrm>
          <a:prstGeom prst="bentConnector3">
            <a:avLst>
              <a:gd name="adj1" fmla="val 102669"/>
            </a:avLst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63" name="Google Shape;263;p13"/>
          <p:cNvSpPr/>
          <p:nvPr/>
        </p:nvSpPr>
        <p:spPr>
          <a:xfrm>
            <a:off x="1131136" y="4726559"/>
            <a:ext cx="2856769" cy="1319882"/>
          </a:xfrm>
          <a:prstGeom prst="rect">
            <a:avLst/>
          </a:prstGeom>
          <a:solidFill>
            <a:srgbClr val="D6EFF5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Still quite big!!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2</a:t>
            </a:r>
            <a:r>
              <a:rPr lang="en-US" sz="20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PDEs x 8 bytes each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bytes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GiB 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2-Level Page Table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AB003-1165-0834-D79E-711FF5FC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19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37B52-B0CC-6998-78B4-E1548FF92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82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9" name="Google Shape;269;p14"/>
          <p:cNvGraphicFramePr/>
          <p:nvPr/>
        </p:nvGraphicFramePr>
        <p:xfrm>
          <a:off x="677811" y="671762"/>
          <a:ext cx="7632575" cy="797580"/>
        </p:xfrm>
        <a:graphic>
          <a:graphicData uri="http://schemas.openxmlformats.org/drawingml/2006/table">
            <a:tbl>
              <a:tblPr firstRow="1" bandRow="1">
                <a:noFill/>
                <a:tableStyleId>{F839F4D5-BAFB-4499-96DE-BF936FD148C4}</a:tableStyleId>
              </a:tblPr>
              <a:tblGrid>
                <a:gridCol w="11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1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1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9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5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335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33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26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35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36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/>
                        <a:t>0 0000 0000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strike="noStrike" cap="none"/>
                        <a:t>0 0000 0000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strike="noStrike" cap="none"/>
                        <a:t>0 0000 0000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EAD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strike="noStrike" cap="none"/>
                        <a:t>0 0000 0000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/>
                        <a:t>0000 1010 0101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0" name="Google Shape;270;p14"/>
          <p:cNvGraphicFramePr/>
          <p:nvPr/>
        </p:nvGraphicFramePr>
        <p:xfrm>
          <a:off x="0" y="1706182"/>
          <a:ext cx="1783975" cy="252490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1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71" name="Google Shape;271;p14"/>
          <p:cNvGraphicFramePr/>
          <p:nvPr/>
        </p:nvGraphicFramePr>
        <p:xfrm>
          <a:off x="1783975" y="1706182"/>
          <a:ext cx="1783975" cy="17373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2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72" name="Google Shape;272;p14"/>
          <p:cNvGraphicFramePr/>
          <p:nvPr/>
        </p:nvGraphicFramePr>
        <p:xfrm>
          <a:off x="1776728" y="4519937"/>
          <a:ext cx="1783975" cy="17373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2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73" name="Google Shape;273;p14"/>
          <p:cNvGrpSpPr/>
          <p:nvPr/>
        </p:nvGrpSpPr>
        <p:grpSpPr>
          <a:xfrm>
            <a:off x="2675962" y="3749504"/>
            <a:ext cx="660757" cy="770433"/>
            <a:chOff x="2798304" y="3680404"/>
            <a:chExt cx="660757" cy="770433"/>
          </a:xfrm>
        </p:grpSpPr>
        <p:sp>
          <p:nvSpPr>
            <p:cNvPr id="274" name="Google Shape;274;p14"/>
            <p:cNvSpPr/>
            <p:nvPr/>
          </p:nvSpPr>
          <p:spPr>
            <a:xfrm>
              <a:off x="2798304" y="3680404"/>
              <a:ext cx="6607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………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2798304" y="4081505"/>
              <a:ext cx="6607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………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76" name="Google Shape;276;p14"/>
          <p:cNvGraphicFramePr/>
          <p:nvPr/>
        </p:nvGraphicFramePr>
        <p:xfrm>
          <a:off x="3784684" y="1706182"/>
          <a:ext cx="1783975" cy="17373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3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5F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8FE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E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77" name="Google Shape;277;p14"/>
          <p:cNvGrpSpPr/>
          <p:nvPr/>
        </p:nvGrpSpPr>
        <p:grpSpPr>
          <a:xfrm>
            <a:off x="4676671" y="3749504"/>
            <a:ext cx="660757" cy="770433"/>
            <a:chOff x="2798304" y="3680404"/>
            <a:chExt cx="660757" cy="770433"/>
          </a:xfrm>
        </p:grpSpPr>
        <p:sp>
          <p:nvSpPr>
            <p:cNvPr id="278" name="Google Shape;278;p14"/>
            <p:cNvSpPr/>
            <p:nvPr/>
          </p:nvSpPr>
          <p:spPr>
            <a:xfrm>
              <a:off x="2798304" y="3680404"/>
              <a:ext cx="6607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………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2798304" y="4081505"/>
              <a:ext cx="6607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………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80" name="Google Shape;280;p14"/>
          <p:cNvGraphicFramePr/>
          <p:nvPr/>
        </p:nvGraphicFramePr>
        <p:xfrm>
          <a:off x="3784684" y="4519937"/>
          <a:ext cx="1783975" cy="17373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3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5F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8FE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E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1" name="Google Shape;281;p14"/>
          <p:cNvSpPr/>
          <p:nvPr/>
        </p:nvSpPr>
        <p:spPr>
          <a:xfrm>
            <a:off x="3886461" y="1706182"/>
            <a:ext cx="188259" cy="4796117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2" name="Google Shape;282;p14"/>
          <p:cNvGraphicFramePr/>
          <p:nvPr/>
        </p:nvGraphicFramePr>
        <p:xfrm>
          <a:off x="5785396" y="1706182"/>
          <a:ext cx="1783975" cy="17373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4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F#: &lt;ABCD&gt;</a:t>
                      </a:r>
                      <a:endParaRPr sz="14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83" name="Google Shape;283;p14"/>
          <p:cNvGrpSpPr/>
          <p:nvPr/>
        </p:nvGrpSpPr>
        <p:grpSpPr>
          <a:xfrm>
            <a:off x="6677383" y="3749504"/>
            <a:ext cx="660757" cy="770433"/>
            <a:chOff x="2798304" y="3680404"/>
            <a:chExt cx="660757" cy="770433"/>
          </a:xfrm>
        </p:grpSpPr>
        <p:sp>
          <p:nvSpPr>
            <p:cNvPr id="284" name="Google Shape;284;p14"/>
            <p:cNvSpPr/>
            <p:nvPr/>
          </p:nvSpPr>
          <p:spPr>
            <a:xfrm>
              <a:off x="2798304" y="3680404"/>
              <a:ext cx="6607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………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2798304" y="4081505"/>
              <a:ext cx="6607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………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p14"/>
          <p:cNvSpPr/>
          <p:nvPr/>
        </p:nvSpPr>
        <p:spPr>
          <a:xfrm>
            <a:off x="5887173" y="1706182"/>
            <a:ext cx="188259" cy="4796117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4-Level Page Table</a:t>
            </a:r>
            <a:endParaRPr/>
          </a:p>
        </p:txBody>
      </p:sp>
      <p:graphicFrame>
        <p:nvGraphicFramePr>
          <p:cNvPr id="288" name="Google Shape;288;p14"/>
          <p:cNvGraphicFramePr/>
          <p:nvPr/>
        </p:nvGraphicFramePr>
        <p:xfrm>
          <a:off x="5785394" y="4519937"/>
          <a:ext cx="1783975" cy="17373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4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89" name="Google Shape;289;p14"/>
          <p:cNvGraphicFramePr/>
          <p:nvPr/>
        </p:nvGraphicFramePr>
        <p:xfrm>
          <a:off x="7531140" y="2711828"/>
          <a:ext cx="1469425" cy="2075325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81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F#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32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97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0xABCD</a:t>
                      </a:r>
                      <a:endParaRPr sz="1400" b="1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KiB</a:t>
                      </a:r>
                      <a:endParaRPr sz="1400" u="none" strike="noStrike" cap="non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4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5" name="Google Shape;295;p15"/>
          <p:cNvGraphicFramePr/>
          <p:nvPr/>
        </p:nvGraphicFramePr>
        <p:xfrm>
          <a:off x="677811" y="671762"/>
          <a:ext cx="7632575" cy="797580"/>
        </p:xfrm>
        <a:graphic>
          <a:graphicData uri="http://schemas.openxmlformats.org/drawingml/2006/table">
            <a:tbl>
              <a:tblPr firstRow="1" bandRow="1">
                <a:noFill/>
                <a:tableStyleId>{F839F4D5-BAFB-4499-96DE-BF936FD148C4}</a:tableStyleId>
              </a:tblPr>
              <a:tblGrid>
                <a:gridCol w="11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1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1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9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5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335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33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26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35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36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/>
                        <a:t>0 0000 0000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strike="noStrike" cap="none"/>
                        <a:t>0 0000 0000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strike="noStrike" cap="none"/>
                        <a:t>0 0000 0000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EAD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strike="noStrike" cap="none"/>
                        <a:t>0 0000 0000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/>
                        <a:t>0000 0000 0000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6" name="Google Shape;296;p15"/>
          <p:cNvGraphicFramePr/>
          <p:nvPr/>
        </p:nvGraphicFramePr>
        <p:xfrm>
          <a:off x="0" y="1706182"/>
          <a:ext cx="1783975" cy="252490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1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97" name="Google Shape;297;p15"/>
          <p:cNvGraphicFramePr/>
          <p:nvPr/>
        </p:nvGraphicFramePr>
        <p:xfrm>
          <a:off x="1783975" y="1706182"/>
          <a:ext cx="1783975" cy="17373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2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98" name="Google Shape;298;p15"/>
          <p:cNvGraphicFramePr/>
          <p:nvPr/>
        </p:nvGraphicFramePr>
        <p:xfrm>
          <a:off x="1776728" y="4519937"/>
          <a:ext cx="1783975" cy="17373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2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99" name="Google Shape;299;p15"/>
          <p:cNvGrpSpPr/>
          <p:nvPr/>
        </p:nvGrpSpPr>
        <p:grpSpPr>
          <a:xfrm>
            <a:off x="2675962" y="3749504"/>
            <a:ext cx="660757" cy="770433"/>
            <a:chOff x="2798304" y="3680404"/>
            <a:chExt cx="660757" cy="770433"/>
          </a:xfrm>
        </p:grpSpPr>
        <p:sp>
          <p:nvSpPr>
            <p:cNvPr id="300" name="Google Shape;300;p15"/>
            <p:cNvSpPr/>
            <p:nvPr/>
          </p:nvSpPr>
          <p:spPr>
            <a:xfrm>
              <a:off x="2798304" y="3680404"/>
              <a:ext cx="6607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………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2798304" y="4081505"/>
              <a:ext cx="6607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………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02" name="Google Shape;302;p15"/>
          <p:cNvGraphicFramePr/>
          <p:nvPr/>
        </p:nvGraphicFramePr>
        <p:xfrm>
          <a:off x="3784684" y="1706182"/>
          <a:ext cx="1783975" cy="17373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3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5F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8FE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E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03" name="Google Shape;303;p15"/>
          <p:cNvGrpSpPr/>
          <p:nvPr/>
        </p:nvGrpSpPr>
        <p:grpSpPr>
          <a:xfrm>
            <a:off x="4676671" y="3749504"/>
            <a:ext cx="660757" cy="770433"/>
            <a:chOff x="2798304" y="3680404"/>
            <a:chExt cx="660757" cy="770433"/>
          </a:xfrm>
        </p:grpSpPr>
        <p:sp>
          <p:nvSpPr>
            <p:cNvPr id="304" name="Google Shape;304;p15"/>
            <p:cNvSpPr/>
            <p:nvPr/>
          </p:nvSpPr>
          <p:spPr>
            <a:xfrm>
              <a:off x="2798304" y="3680404"/>
              <a:ext cx="6607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………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2798304" y="4081505"/>
              <a:ext cx="6607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………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06" name="Google Shape;306;p15"/>
          <p:cNvGraphicFramePr/>
          <p:nvPr/>
        </p:nvGraphicFramePr>
        <p:xfrm>
          <a:off x="3784684" y="4519937"/>
          <a:ext cx="1783975" cy="17373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3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5F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8FE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E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7" name="Google Shape;307;p15"/>
          <p:cNvSpPr/>
          <p:nvPr/>
        </p:nvSpPr>
        <p:spPr>
          <a:xfrm>
            <a:off x="3886461" y="1706182"/>
            <a:ext cx="188259" cy="4796117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8" name="Google Shape;308;p15"/>
          <p:cNvGraphicFramePr/>
          <p:nvPr/>
        </p:nvGraphicFramePr>
        <p:xfrm>
          <a:off x="5785396" y="1706182"/>
          <a:ext cx="1783975" cy="17373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4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09" name="Google Shape;309;p15"/>
          <p:cNvGrpSpPr/>
          <p:nvPr/>
        </p:nvGrpSpPr>
        <p:grpSpPr>
          <a:xfrm>
            <a:off x="6677383" y="3749504"/>
            <a:ext cx="660757" cy="770433"/>
            <a:chOff x="2798304" y="3680404"/>
            <a:chExt cx="660757" cy="770433"/>
          </a:xfrm>
        </p:grpSpPr>
        <p:sp>
          <p:nvSpPr>
            <p:cNvPr id="310" name="Google Shape;310;p15"/>
            <p:cNvSpPr/>
            <p:nvPr/>
          </p:nvSpPr>
          <p:spPr>
            <a:xfrm>
              <a:off x="2798304" y="3680404"/>
              <a:ext cx="6607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………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5"/>
            <p:cNvSpPr/>
            <p:nvPr/>
          </p:nvSpPr>
          <p:spPr>
            <a:xfrm>
              <a:off x="2798304" y="4081505"/>
              <a:ext cx="6607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………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2" name="Google Shape;312;p15"/>
          <p:cNvSpPr/>
          <p:nvPr/>
        </p:nvSpPr>
        <p:spPr>
          <a:xfrm>
            <a:off x="5887173" y="1706182"/>
            <a:ext cx="188259" cy="4796117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So, 1 GiB of data? (Array at </a:t>
            </a:r>
            <a:r>
              <a:rPr lang="en-US" b="1" u="sng"/>
              <a:t>0x0</a:t>
            </a:r>
            <a:r>
              <a:rPr lang="en-US"/>
              <a:t>)</a:t>
            </a:r>
            <a:endParaRPr/>
          </a:p>
        </p:txBody>
      </p:sp>
      <p:graphicFrame>
        <p:nvGraphicFramePr>
          <p:cNvPr id="314" name="Google Shape;314;p15"/>
          <p:cNvGraphicFramePr/>
          <p:nvPr/>
        </p:nvGraphicFramePr>
        <p:xfrm>
          <a:off x="5785394" y="4519937"/>
          <a:ext cx="1783975" cy="17373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4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5" name="Google Shape;315;p15"/>
          <p:cNvGraphicFramePr/>
          <p:nvPr/>
        </p:nvGraphicFramePr>
        <p:xfrm>
          <a:off x="7531140" y="2711828"/>
          <a:ext cx="1469425" cy="2075325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81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F#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32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97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KiB</a:t>
                      </a:r>
                      <a:endParaRPr sz="1400" u="none" strike="noStrike" cap="non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4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6" name="Google Shape;316;p15"/>
          <p:cNvSpPr/>
          <p:nvPr/>
        </p:nvSpPr>
        <p:spPr>
          <a:xfrm>
            <a:off x="7725908" y="3606685"/>
            <a:ext cx="1351118" cy="819269"/>
          </a:xfrm>
          <a:prstGeom prst="rect">
            <a:avLst/>
          </a:prstGeom>
          <a:solidFill>
            <a:srgbClr val="F2F2F2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/ 4 KiB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b="1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pages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6023835" y="3610966"/>
            <a:ext cx="1621659" cy="819269"/>
          </a:xfrm>
          <a:prstGeom prst="rect">
            <a:avLst/>
          </a:prstGeom>
          <a:solidFill>
            <a:srgbClr val="E6F2D9"/>
          </a:solidFill>
          <a:ln w="28575" cap="flat" cmpd="sng">
            <a:solidFill>
              <a:srgbClr val="45622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/ 2</a:t>
            </a:r>
            <a:r>
              <a:rPr lang="en-US" sz="20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b="1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PD</a:t>
            </a:r>
            <a:r>
              <a:rPr lang="en-US" sz="20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lang="en-US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Tablets</a:t>
            </a:r>
            <a:r>
              <a:rPr lang="en-US" sz="17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700" b="1" baseline="3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4127148" y="3606685"/>
            <a:ext cx="1615836" cy="819269"/>
          </a:xfrm>
          <a:prstGeom prst="rect">
            <a:avLst/>
          </a:prstGeom>
          <a:solidFill>
            <a:srgbClr val="C5F5E8"/>
          </a:solidFill>
          <a:ln w="28575" cap="flat" cmpd="sng">
            <a:solidFill>
              <a:srgbClr val="0E4D3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/ 2</a:t>
            </a:r>
            <a:r>
              <a:rPr lang="en-US" sz="20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</a:t>
            </a:r>
            <a:r>
              <a:rPr lang="en-US" sz="20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Tablet</a:t>
            </a:r>
            <a:r>
              <a:rPr lang="en-US" sz="17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700" b="1" baseline="3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2126436" y="3612423"/>
            <a:ext cx="1615836" cy="819269"/>
          </a:xfrm>
          <a:prstGeom prst="rect">
            <a:avLst/>
          </a:prstGeom>
          <a:solidFill>
            <a:srgbClr val="F8D6C7"/>
          </a:solidFill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</a:t>
            </a:r>
            <a:r>
              <a:rPr lang="en-US" sz="20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Entry</a:t>
            </a:r>
            <a:r>
              <a:rPr lang="en-US" sz="20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b="1" baseline="3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240956" y="4488168"/>
            <a:ext cx="1615836" cy="819269"/>
          </a:xfrm>
          <a:prstGeom prst="rect">
            <a:avLst/>
          </a:prstGeom>
          <a:solidFill>
            <a:srgbClr val="FCEAD0"/>
          </a:solidFill>
          <a:ln w="28575" cap="flat" cmpd="sng">
            <a:solidFill>
              <a:srgbClr val="7D4F0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</a:t>
            </a:r>
            <a:r>
              <a:rPr lang="en-US" sz="20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Entry</a:t>
            </a:r>
            <a:r>
              <a:rPr lang="en-US" sz="20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b="1" baseline="3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1" name="Google Shape;321;p15"/>
          <p:cNvGraphicFramePr/>
          <p:nvPr/>
        </p:nvGraphicFramePr>
        <p:xfrm>
          <a:off x="1856791" y="1706182"/>
          <a:ext cx="1711150" cy="17373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68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2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22" name="Google Shape;322;p15"/>
          <p:cNvGraphicFramePr/>
          <p:nvPr/>
        </p:nvGraphicFramePr>
        <p:xfrm>
          <a:off x="14239" y="1706182"/>
          <a:ext cx="1783975" cy="252490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1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8" name="Google Shape;328;p16"/>
          <p:cNvGraphicFramePr/>
          <p:nvPr/>
        </p:nvGraphicFramePr>
        <p:xfrm>
          <a:off x="677811" y="671762"/>
          <a:ext cx="7632575" cy="797580"/>
        </p:xfrm>
        <a:graphic>
          <a:graphicData uri="http://schemas.openxmlformats.org/drawingml/2006/table">
            <a:tbl>
              <a:tblPr firstRow="1" bandRow="1">
                <a:noFill/>
                <a:tableStyleId>{F839F4D5-BAFB-4499-96DE-BF936FD148C4}</a:tableStyleId>
              </a:tblPr>
              <a:tblGrid>
                <a:gridCol w="11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1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1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9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5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335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33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26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35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36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/>
                        <a:t>0 0000 0000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strike="noStrike" cap="none"/>
                        <a:t>0 0000 0000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strike="noStrike" cap="none"/>
                        <a:t>1 1111 1111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EAD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strike="noStrike" cap="none"/>
                        <a:t>1 1111 1111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/>
                        <a:t>1111 1111 1111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29" name="Google Shape;329;p16"/>
          <p:cNvGraphicFramePr/>
          <p:nvPr/>
        </p:nvGraphicFramePr>
        <p:xfrm>
          <a:off x="0" y="1706182"/>
          <a:ext cx="1783975" cy="252490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1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30" name="Google Shape;330;p16"/>
          <p:cNvGraphicFramePr/>
          <p:nvPr/>
        </p:nvGraphicFramePr>
        <p:xfrm>
          <a:off x="1783975" y="1706182"/>
          <a:ext cx="1783975" cy="17373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2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31" name="Google Shape;331;p16"/>
          <p:cNvGrpSpPr/>
          <p:nvPr/>
        </p:nvGrpSpPr>
        <p:grpSpPr>
          <a:xfrm>
            <a:off x="2675962" y="3749504"/>
            <a:ext cx="660757" cy="770433"/>
            <a:chOff x="2798304" y="3680404"/>
            <a:chExt cx="660757" cy="770433"/>
          </a:xfrm>
        </p:grpSpPr>
        <p:sp>
          <p:nvSpPr>
            <p:cNvPr id="332" name="Google Shape;332;p16"/>
            <p:cNvSpPr/>
            <p:nvPr/>
          </p:nvSpPr>
          <p:spPr>
            <a:xfrm>
              <a:off x="2798304" y="3680404"/>
              <a:ext cx="6607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………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6"/>
            <p:cNvSpPr/>
            <p:nvPr/>
          </p:nvSpPr>
          <p:spPr>
            <a:xfrm>
              <a:off x="2798304" y="4081505"/>
              <a:ext cx="6607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………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34" name="Google Shape;334;p16"/>
          <p:cNvGraphicFramePr/>
          <p:nvPr/>
        </p:nvGraphicFramePr>
        <p:xfrm>
          <a:off x="3784684" y="1706182"/>
          <a:ext cx="1783975" cy="17373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3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5F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8FE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E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35" name="Google Shape;335;p16"/>
          <p:cNvGrpSpPr/>
          <p:nvPr/>
        </p:nvGrpSpPr>
        <p:grpSpPr>
          <a:xfrm>
            <a:off x="4676671" y="3749504"/>
            <a:ext cx="660757" cy="770433"/>
            <a:chOff x="2798304" y="3680404"/>
            <a:chExt cx="660757" cy="770433"/>
          </a:xfrm>
        </p:grpSpPr>
        <p:sp>
          <p:nvSpPr>
            <p:cNvPr id="336" name="Google Shape;336;p16"/>
            <p:cNvSpPr/>
            <p:nvPr/>
          </p:nvSpPr>
          <p:spPr>
            <a:xfrm>
              <a:off x="2798304" y="3680404"/>
              <a:ext cx="6607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………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6"/>
            <p:cNvSpPr/>
            <p:nvPr/>
          </p:nvSpPr>
          <p:spPr>
            <a:xfrm>
              <a:off x="2798304" y="4081505"/>
              <a:ext cx="6607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………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38" name="Google Shape;338;p16"/>
          <p:cNvGraphicFramePr/>
          <p:nvPr/>
        </p:nvGraphicFramePr>
        <p:xfrm>
          <a:off x="5785396" y="1706182"/>
          <a:ext cx="1783975" cy="17373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4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39" name="Google Shape;339;p16"/>
          <p:cNvGrpSpPr/>
          <p:nvPr/>
        </p:nvGrpSpPr>
        <p:grpSpPr>
          <a:xfrm>
            <a:off x="6677383" y="3749504"/>
            <a:ext cx="660757" cy="770433"/>
            <a:chOff x="2798304" y="3680404"/>
            <a:chExt cx="660757" cy="770433"/>
          </a:xfrm>
        </p:grpSpPr>
        <p:sp>
          <p:nvSpPr>
            <p:cNvPr id="340" name="Google Shape;340;p16"/>
            <p:cNvSpPr/>
            <p:nvPr/>
          </p:nvSpPr>
          <p:spPr>
            <a:xfrm>
              <a:off x="2798304" y="3680404"/>
              <a:ext cx="6607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………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6"/>
            <p:cNvSpPr/>
            <p:nvPr/>
          </p:nvSpPr>
          <p:spPr>
            <a:xfrm>
              <a:off x="2798304" y="4081505"/>
              <a:ext cx="6607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………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2" name="Google Shape;342;p16"/>
          <p:cNvSpPr/>
          <p:nvPr/>
        </p:nvSpPr>
        <p:spPr>
          <a:xfrm>
            <a:off x="5887173" y="1706182"/>
            <a:ext cx="188259" cy="4796117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So, 1 GiB of data? (Array at </a:t>
            </a:r>
            <a:r>
              <a:rPr lang="en-US" b="1" u="sng"/>
              <a:t>0x0</a:t>
            </a:r>
            <a:r>
              <a:rPr lang="en-US"/>
              <a:t>)</a:t>
            </a:r>
            <a:endParaRPr/>
          </a:p>
        </p:txBody>
      </p:sp>
      <p:graphicFrame>
        <p:nvGraphicFramePr>
          <p:cNvPr id="344" name="Google Shape;344;p16"/>
          <p:cNvGraphicFramePr/>
          <p:nvPr/>
        </p:nvGraphicFramePr>
        <p:xfrm>
          <a:off x="5785394" y="4519937"/>
          <a:ext cx="1783975" cy="17373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4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45" name="Google Shape;345;p16"/>
          <p:cNvGraphicFramePr/>
          <p:nvPr/>
        </p:nvGraphicFramePr>
        <p:xfrm>
          <a:off x="7531140" y="2711828"/>
          <a:ext cx="1469425" cy="2075325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81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F#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32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97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KiB</a:t>
                      </a:r>
                      <a:endParaRPr sz="1400" u="none" strike="noStrike" cap="non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4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6" name="Google Shape;346;p16"/>
          <p:cNvSpPr/>
          <p:nvPr/>
        </p:nvSpPr>
        <p:spPr>
          <a:xfrm>
            <a:off x="7725908" y="3606685"/>
            <a:ext cx="1351118" cy="819269"/>
          </a:xfrm>
          <a:prstGeom prst="rect">
            <a:avLst/>
          </a:prstGeom>
          <a:solidFill>
            <a:srgbClr val="F2F2F2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/ 4 KiB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b="1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pages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6023835" y="3610966"/>
            <a:ext cx="1621659" cy="819269"/>
          </a:xfrm>
          <a:prstGeom prst="rect">
            <a:avLst/>
          </a:prstGeom>
          <a:solidFill>
            <a:srgbClr val="E6F2D9"/>
          </a:solidFill>
          <a:ln w="28575" cap="flat" cmpd="sng">
            <a:solidFill>
              <a:srgbClr val="45622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/ 2</a:t>
            </a:r>
            <a:r>
              <a:rPr lang="en-US" sz="20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b="1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PD</a:t>
            </a:r>
            <a:r>
              <a:rPr lang="en-US" sz="20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Tablets</a:t>
            </a:r>
            <a:r>
              <a:rPr lang="en-US" sz="16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1" baseline="3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4127148" y="3606685"/>
            <a:ext cx="1615836" cy="819269"/>
          </a:xfrm>
          <a:prstGeom prst="rect">
            <a:avLst/>
          </a:prstGeom>
          <a:solidFill>
            <a:srgbClr val="C5F5E8"/>
          </a:solidFill>
          <a:ln w="28575" cap="flat" cmpd="sng">
            <a:solidFill>
              <a:srgbClr val="0E4D3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/ 2</a:t>
            </a:r>
            <a:r>
              <a:rPr lang="en-US" sz="20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</a:t>
            </a:r>
            <a:r>
              <a:rPr lang="en-US" sz="20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Tablet</a:t>
            </a:r>
            <a:r>
              <a:rPr lang="en-US" sz="20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b="1" baseline="3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2126436" y="3612423"/>
            <a:ext cx="1615836" cy="819269"/>
          </a:xfrm>
          <a:prstGeom prst="rect">
            <a:avLst/>
          </a:prstGeom>
          <a:solidFill>
            <a:srgbClr val="F8D6C7"/>
          </a:solidFill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</a:t>
            </a:r>
            <a:r>
              <a:rPr lang="en-US" sz="20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Entry</a:t>
            </a:r>
            <a:r>
              <a:rPr lang="en-US" sz="20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b="1" baseline="3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240956" y="4488168"/>
            <a:ext cx="1615836" cy="819269"/>
          </a:xfrm>
          <a:prstGeom prst="rect">
            <a:avLst/>
          </a:prstGeom>
          <a:solidFill>
            <a:srgbClr val="FCEAD0"/>
          </a:solidFill>
          <a:ln w="28575" cap="flat" cmpd="sng">
            <a:solidFill>
              <a:srgbClr val="7D4F0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</a:t>
            </a:r>
            <a:r>
              <a:rPr lang="en-US" sz="20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Entry</a:t>
            </a:r>
            <a:r>
              <a:rPr lang="en-US" sz="20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b="1" baseline="3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1" name="Google Shape;351;p16"/>
          <p:cNvGraphicFramePr/>
          <p:nvPr/>
        </p:nvGraphicFramePr>
        <p:xfrm>
          <a:off x="1856791" y="1706182"/>
          <a:ext cx="1711150" cy="17373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68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2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52" name="Google Shape;352;p16"/>
          <p:cNvGraphicFramePr/>
          <p:nvPr/>
        </p:nvGraphicFramePr>
        <p:xfrm>
          <a:off x="14239" y="1706182"/>
          <a:ext cx="1783975" cy="252490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1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53" name="Google Shape;353;p16"/>
          <p:cNvGraphicFramePr/>
          <p:nvPr/>
        </p:nvGraphicFramePr>
        <p:xfrm>
          <a:off x="677810" y="-53820"/>
          <a:ext cx="7632575" cy="797580"/>
        </p:xfrm>
        <a:graphic>
          <a:graphicData uri="http://schemas.openxmlformats.org/drawingml/2006/table">
            <a:tbl>
              <a:tblPr firstRow="1" bandRow="1">
                <a:noFill/>
                <a:tableStyleId>{F839F4D5-BAFB-4499-96DE-BF936FD148C4}</a:tableStyleId>
              </a:tblPr>
              <a:tblGrid>
                <a:gridCol w="11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1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1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9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5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335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33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26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35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36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/>
                        <a:t>0 0000 0000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strike="noStrike" cap="none"/>
                        <a:t>0 0000 0000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strike="noStrike" cap="none"/>
                        <a:t>0 0000 0000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EAD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strike="noStrike" cap="none"/>
                        <a:t>0 0000 0000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/>
                        <a:t>0000 0000 0000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9" name="Google Shape;359;p17"/>
          <p:cNvGraphicFramePr/>
          <p:nvPr/>
        </p:nvGraphicFramePr>
        <p:xfrm>
          <a:off x="677811" y="671762"/>
          <a:ext cx="7632575" cy="797580"/>
        </p:xfrm>
        <a:graphic>
          <a:graphicData uri="http://schemas.openxmlformats.org/drawingml/2006/table">
            <a:tbl>
              <a:tblPr firstRow="1" bandRow="1">
                <a:noFill/>
                <a:tableStyleId>{F839F4D5-BAFB-4499-96DE-BF936FD148C4}</a:tableStyleId>
              </a:tblPr>
              <a:tblGrid>
                <a:gridCol w="11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1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1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9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5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335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33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26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35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36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/>
                        <a:t>0 1111 1111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strike="noStrike" cap="none"/>
                        <a:t>0 0110 1101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strike="noStrike" cap="none"/>
                        <a:t>0 1010 1001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EAD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strike="noStrike" cap="none"/>
                        <a:t>0 0010 0110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/>
                        <a:t>0000 0001 0000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0" name="Google Shape;360;p17"/>
          <p:cNvGraphicFramePr/>
          <p:nvPr/>
        </p:nvGraphicFramePr>
        <p:xfrm>
          <a:off x="0" y="1706182"/>
          <a:ext cx="1783975" cy="252490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1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61" name="Google Shape;361;p17"/>
          <p:cNvGraphicFramePr/>
          <p:nvPr/>
        </p:nvGraphicFramePr>
        <p:xfrm>
          <a:off x="1783975" y="1706182"/>
          <a:ext cx="1783975" cy="17373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2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62" name="Google Shape;362;p17"/>
          <p:cNvGrpSpPr/>
          <p:nvPr/>
        </p:nvGrpSpPr>
        <p:grpSpPr>
          <a:xfrm>
            <a:off x="2675962" y="3749504"/>
            <a:ext cx="660757" cy="770433"/>
            <a:chOff x="2798304" y="3680404"/>
            <a:chExt cx="660757" cy="770433"/>
          </a:xfrm>
        </p:grpSpPr>
        <p:sp>
          <p:nvSpPr>
            <p:cNvPr id="363" name="Google Shape;363;p17"/>
            <p:cNvSpPr/>
            <p:nvPr/>
          </p:nvSpPr>
          <p:spPr>
            <a:xfrm>
              <a:off x="2798304" y="3680404"/>
              <a:ext cx="6607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………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2798304" y="4081505"/>
              <a:ext cx="6607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………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65" name="Google Shape;365;p17"/>
          <p:cNvGraphicFramePr/>
          <p:nvPr/>
        </p:nvGraphicFramePr>
        <p:xfrm>
          <a:off x="3784684" y="1706182"/>
          <a:ext cx="1783975" cy="17373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3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5F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8FE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E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66" name="Google Shape;366;p17"/>
          <p:cNvGrpSpPr/>
          <p:nvPr/>
        </p:nvGrpSpPr>
        <p:grpSpPr>
          <a:xfrm>
            <a:off x="4676671" y="3749504"/>
            <a:ext cx="660757" cy="770433"/>
            <a:chOff x="2798304" y="3680404"/>
            <a:chExt cx="660757" cy="770433"/>
          </a:xfrm>
        </p:grpSpPr>
        <p:sp>
          <p:nvSpPr>
            <p:cNvPr id="367" name="Google Shape;367;p17"/>
            <p:cNvSpPr/>
            <p:nvPr/>
          </p:nvSpPr>
          <p:spPr>
            <a:xfrm>
              <a:off x="2798304" y="3680404"/>
              <a:ext cx="6607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………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2798304" y="4081505"/>
              <a:ext cx="6607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………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369" name="Google Shape;369;p17"/>
          <p:cNvGraphicFramePr/>
          <p:nvPr/>
        </p:nvGraphicFramePr>
        <p:xfrm>
          <a:off x="5785396" y="1706182"/>
          <a:ext cx="1783975" cy="17373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4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70" name="Google Shape;370;p17"/>
          <p:cNvGrpSpPr/>
          <p:nvPr/>
        </p:nvGrpSpPr>
        <p:grpSpPr>
          <a:xfrm>
            <a:off x="6677383" y="3749504"/>
            <a:ext cx="660757" cy="770433"/>
            <a:chOff x="2798304" y="3680404"/>
            <a:chExt cx="660757" cy="770433"/>
          </a:xfrm>
        </p:grpSpPr>
        <p:sp>
          <p:nvSpPr>
            <p:cNvPr id="371" name="Google Shape;371;p17"/>
            <p:cNvSpPr/>
            <p:nvPr/>
          </p:nvSpPr>
          <p:spPr>
            <a:xfrm>
              <a:off x="2798304" y="3680404"/>
              <a:ext cx="6607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………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2798304" y="4081505"/>
              <a:ext cx="6607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………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3" name="Google Shape;373;p17"/>
          <p:cNvSpPr/>
          <p:nvPr/>
        </p:nvSpPr>
        <p:spPr>
          <a:xfrm>
            <a:off x="5887173" y="1706182"/>
            <a:ext cx="188259" cy="4796117"/>
          </a:xfrm>
          <a:prstGeom prst="leftBracket">
            <a:avLst>
              <a:gd name="adj" fmla="val 8333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So, (Array at </a:t>
            </a:r>
            <a:r>
              <a:rPr lang="en-US" b="1" u="sng"/>
              <a:t>0x7F9B 5522 6010</a:t>
            </a:r>
            <a:r>
              <a:rPr lang="en-US" b="1"/>
              <a:t> ??</a:t>
            </a:r>
            <a:r>
              <a:rPr lang="en-US"/>
              <a:t>)</a:t>
            </a:r>
            <a:endParaRPr/>
          </a:p>
        </p:txBody>
      </p:sp>
      <p:graphicFrame>
        <p:nvGraphicFramePr>
          <p:cNvPr id="375" name="Google Shape;375;p17"/>
          <p:cNvGraphicFramePr/>
          <p:nvPr/>
        </p:nvGraphicFramePr>
        <p:xfrm>
          <a:off x="5785394" y="4519937"/>
          <a:ext cx="1783975" cy="17373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4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E6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76" name="Google Shape;376;p17"/>
          <p:cNvGraphicFramePr/>
          <p:nvPr/>
        </p:nvGraphicFramePr>
        <p:xfrm>
          <a:off x="7531140" y="2711828"/>
          <a:ext cx="1469425" cy="2075325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81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F#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32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97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>
                          <a:solidFill>
                            <a:srgbClr val="7F7F7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KiB</a:t>
                      </a:r>
                      <a:endParaRPr sz="1400" u="none" strike="noStrike" cap="none">
                        <a:solidFill>
                          <a:srgbClr val="7F7F7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4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7" name="Google Shape;377;p17"/>
          <p:cNvSpPr/>
          <p:nvPr/>
        </p:nvSpPr>
        <p:spPr>
          <a:xfrm>
            <a:off x="7725908" y="3606685"/>
            <a:ext cx="1351118" cy="819269"/>
          </a:xfrm>
          <a:prstGeom prst="rect">
            <a:avLst/>
          </a:prstGeom>
          <a:solidFill>
            <a:srgbClr val="F2F2F2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/ 4 KiB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b="1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pages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7"/>
          <p:cNvSpPr/>
          <p:nvPr/>
        </p:nvSpPr>
        <p:spPr>
          <a:xfrm>
            <a:off x="6023835" y="3610966"/>
            <a:ext cx="1621659" cy="819269"/>
          </a:xfrm>
          <a:prstGeom prst="rect">
            <a:avLst/>
          </a:prstGeom>
          <a:solidFill>
            <a:srgbClr val="E6F2D9"/>
          </a:solidFill>
          <a:ln w="28575" cap="flat" cmpd="sng">
            <a:solidFill>
              <a:srgbClr val="45622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/ 2</a:t>
            </a:r>
            <a:r>
              <a:rPr lang="en-US" sz="20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b="1" baseline="30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PD</a:t>
            </a:r>
            <a:r>
              <a:rPr lang="en-US" sz="20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lang="en-US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Tablets</a:t>
            </a:r>
            <a:r>
              <a:rPr lang="en-US" sz="17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700" b="1" baseline="3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4127148" y="3606685"/>
            <a:ext cx="1615836" cy="819269"/>
          </a:xfrm>
          <a:prstGeom prst="rect">
            <a:avLst/>
          </a:prstGeom>
          <a:solidFill>
            <a:srgbClr val="C5F5E8"/>
          </a:solidFill>
          <a:ln w="28575" cap="flat" cmpd="sng">
            <a:solidFill>
              <a:srgbClr val="0E4D3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/ 2</a:t>
            </a:r>
            <a:r>
              <a:rPr lang="en-US" sz="2000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</a:t>
            </a:r>
            <a:r>
              <a:rPr lang="en-US" sz="20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lang="en-US" sz="17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Tablet</a:t>
            </a:r>
            <a:r>
              <a:rPr lang="en-US" sz="17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700" b="1" baseline="3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7"/>
          <p:cNvSpPr/>
          <p:nvPr/>
        </p:nvSpPr>
        <p:spPr>
          <a:xfrm>
            <a:off x="2126436" y="3612423"/>
            <a:ext cx="1615836" cy="819269"/>
          </a:xfrm>
          <a:prstGeom prst="rect">
            <a:avLst/>
          </a:prstGeom>
          <a:solidFill>
            <a:srgbClr val="F8D6C7"/>
          </a:solidFill>
          <a:ln w="28575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</a:t>
            </a:r>
            <a:r>
              <a:rPr lang="en-US" sz="20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Entry</a:t>
            </a:r>
            <a:r>
              <a:rPr lang="en-US" sz="20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b="1" baseline="3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7"/>
          <p:cNvSpPr/>
          <p:nvPr/>
        </p:nvSpPr>
        <p:spPr>
          <a:xfrm>
            <a:off x="240956" y="4488168"/>
            <a:ext cx="1615836" cy="819269"/>
          </a:xfrm>
          <a:prstGeom prst="rect">
            <a:avLst/>
          </a:prstGeom>
          <a:solidFill>
            <a:srgbClr val="FCEAD0"/>
          </a:solidFill>
          <a:ln w="28575" cap="flat" cmpd="sng">
            <a:solidFill>
              <a:srgbClr val="7D4F0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</a:t>
            </a:r>
            <a:r>
              <a:rPr lang="en-US" sz="20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Entry</a:t>
            </a:r>
            <a:r>
              <a:rPr lang="en-US" sz="2000" b="1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b="1" baseline="3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2" name="Google Shape;382;p17"/>
          <p:cNvGraphicFramePr/>
          <p:nvPr/>
        </p:nvGraphicFramePr>
        <p:xfrm>
          <a:off x="1856791" y="1706182"/>
          <a:ext cx="1711150" cy="17373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68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5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2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8D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b="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83" name="Google Shape;383;p17"/>
          <p:cNvGraphicFramePr/>
          <p:nvPr/>
        </p:nvGraphicFramePr>
        <p:xfrm>
          <a:off x="14239" y="1706182"/>
          <a:ext cx="1783975" cy="252490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r>
                        <a:rPr lang="en-US" sz="1800" b="1" u="none" strike="noStrike" cap="none" baseline="30000"/>
                        <a:t>1</a:t>
                      </a:r>
                      <a:endParaRPr sz="18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8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Calibri"/>
              <a:buNone/>
            </a:pPr>
            <a:r>
              <a:rPr lang="en-US">
                <a:solidFill>
                  <a:srgbClr val="C00000"/>
                </a:solidFill>
              </a:rPr>
              <a:t>Tutorial 9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390" name="Google Shape;390;p18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Question 3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9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Page Replacement ( Access </a:t>
            </a:r>
            <a:r>
              <a:rPr lang="en-US" b="1" u="sng"/>
              <a:t>A8</a:t>
            </a:r>
            <a:r>
              <a:rPr lang="en-US"/>
              <a:t>)</a:t>
            </a:r>
            <a:endParaRPr/>
          </a:p>
        </p:txBody>
      </p:sp>
      <p:graphicFrame>
        <p:nvGraphicFramePr>
          <p:cNvPr id="396" name="Google Shape;396;p19"/>
          <p:cNvGraphicFramePr/>
          <p:nvPr/>
        </p:nvGraphicFramePr>
        <p:xfrm>
          <a:off x="766" y="1426800"/>
          <a:ext cx="3200400" cy="213081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136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Frame#</a:t>
                      </a:r>
                      <a:endParaRPr sz="24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Content</a:t>
                      </a:r>
                      <a:endParaRPr sz="24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B17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A31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A04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A17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97" name="Google Shape;397;p19"/>
          <p:cNvGraphicFramePr/>
          <p:nvPr/>
        </p:nvGraphicFramePr>
        <p:xfrm>
          <a:off x="5429542" y="1526888"/>
          <a:ext cx="1783975" cy="24965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Ref Bit</a:t>
                      </a:r>
                      <a:endParaRPr sz="24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1</a:t>
                      </a:r>
                      <a:endParaRPr sz="2400" b="1" u="none" strike="noStrike" cap="none"/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1</a:t>
                      </a:r>
                      <a:endParaRPr sz="2400" b="1" u="none" strike="noStrike" cap="none"/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1</a:t>
                      </a:r>
                      <a:endParaRPr sz="2400" b="1" u="none" strike="noStrike" cap="none"/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98" name="Google Shape;398;p19"/>
          <p:cNvCxnSpPr/>
          <p:nvPr/>
        </p:nvCxnSpPr>
        <p:spPr>
          <a:xfrm>
            <a:off x="3512195" y="587566"/>
            <a:ext cx="21000" cy="618514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399" name="Google Shape;399;p19"/>
          <p:cNvSpPr/>
          <p:nvPr/>
        </p:nvSpPr>
        <p:spPr>
          <a:xfrm>
            <a:off x="1089447" y="858502"/>
            <a:ext cx="102303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RAM</a:t>
            </a:r>
            <a:endParaRPr sz="3200" b="1" baseline="3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9"/>
          <p:cNvSpPr/>
          <p:nvPr/>
        </p:nvSpPr>
        <p:spPr>
          <a:xfrm>
            <a:off x="5796332" y="930877"/>
            <a:ext cx="65595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endParaRPr sz="3200" b="1" baseline="3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1" name="Google Shape;401;p19"/>
          <p:cNvGraphicFramePr/>
          <p:nvPr/>
        </p:nvGraphicFramePr>
        <p:xfrm>
          <a:off x="5429542" y="1538124"/>
          <a:ext cx="1783975" cy="24965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Ref Bit</a:t>
                      </a:r>
                      <a:endParaRPr sz="24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C00000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1</a:t>
                      </a:r>
                      <a:endParaRPr sz="2400" b="1" u="none" strike="noStrike" cap="none"/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1</a:t>
                      </a:r>
                      <a:endParaRPr sz="2400" b="1" u="none" strike="noStrike" cap="none"/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02" name="Google Shape;402;p19"/>
          <p:cNvGraphicFramePr/>
          <p:nvPr/>
        </p:nvGraphicFramePr>
        <p:xfrm>
          <a:off x="5429542" y="1549360"/>
          <a:ext cx="1783975" cy="24965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Ref Bit</a:t>
                      </a:r>
                      <a:endParaRPr sz="24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C00000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C00000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1</a:t>
                      </a:r>
                      <a:endParaRPr sz="2400" b="1" u="none" strike="noStrike" cap="none"/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3" name="Google Shape;403;p19"/>
          <p:cNvSpPr/>
          <p:nvPr/>
        </p:nvSpPr>
        <p:spPr>
          <a:xfrm>
            <a:off x="4823013" y="1936376"/>
            <a:ext cx="973320" cy="555812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C16149"/>
              </a:gs>
              <a:gs pos="50000">
                <a:srgbClr val="BE4510"/>
              </a:gs>
              <a:gs pos="100000">
                <a:srgbClr val="AF3A07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Victim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9"/>
          <p:cNvSpPr/>
          <p:nvPr/>
        </p:nvSpPr>
        <p:spPr>
          <a:xfrm>
            <a:off x="4823013" y="2314370"/>
            <a:ext cx="973320" cy="555812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C16149"/>
              </a:gs>
              <a:gs pos="50000">
                <a:srgbClr val="BE4510"/>
              </a:gs>
              <a:gs pos="100000">
                <a:srgbClr val="AF3A07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Victim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9"/>
          <p:cNvSpPr/>
          <p:nvPr/>
        </p:nvSpPr>
        <p:spPr>
          <a:xfrm>
            <a:off x="4823013" y="2708111"/>
            <a:ext cx="973320" cy="555812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C16149"/>
              </a:gs>
              <a:gs pos="50000">
                <a:srgbClr val="BE4510"/>
              </a:gs>
              <a:gs pos="100000">
                <a:srgbClr val="AF3A07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Victim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6" name="Google Shape;406;p19"/>
          <p:cNvGraphicFramePr/>
          <p:nvPr/>
        </p:nvGraphicFramePr>
        <p:xfrm>
          <a:off x="6124307" y="4029028"/>
          <a:ext cx="2184325" cy="211591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115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12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F#</a:t>
                      </a:r>
                      <a:endParaRPr sz="24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P#</a:t>
                      </a:r>
                      <a:endParaRPr sz="24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B17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A31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A04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A17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07" name="Google Shape;407;p19"/>
          <p:cNvGraphicFramePr/>
          <p:nvPr/>
        </p:nvGraphicFramePr>
        <p:xfrm>
          <a:off x="4166840" y="4029028"/>
          <a:ext cx="1790850" cy="228601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69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P#</a:t>
                      </a:r>
                      <a:endParaRPr sz="24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F#</a:t>
                      </a:r>
                      <a:endParaRPr sz="24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2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….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2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F#2</a:t>
                      </a:r>
                      <a:endParaRPr sz="24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2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….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2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….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2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….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08" name="Google Shape;408;p19"/>
          <p:cNvGraphicFramePr/>
          <p:nvPr/>
        </p:nvGraphicFramePr>
        <p:xfrm>
          <a:off x="6121359" y="4029028"/>
          <a:ext cx="2184325" cy="211591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115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12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F#</a:t>
                      </a:r>
                      <a:endParaRPr sz="24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P#</a:t>
                      </a:r>
                      <a:endParaRPr sz="24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B17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A31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A08</a:t>
                      </a:r>
                      <a:endParaRPr sz="2400" b="1" i="0" u="none" strike="noStrike" cap="none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A17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09" name="Google Shape;409;p19"/>
          <p:cNvGraphicFramePr/>
          <p:nvPr/>
        </p:nvGraphicFramePr>
        <p:xfrm>
          <a:off x="4163892" y="4029028"/>
          <a:ext cx="1790850" cy="228601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69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P#</a:t>
                      </a:r>
                      <a:endParaRPr sz="24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F#</a:t>
                      </a:r>
                      <a:endParaRPr sz="24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2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….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2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---</a:t>
                      </a:r>
                      <a:endParaRPr sz="2400" b="1" u="none" strike="noStrike" cap="none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2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….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2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F#2</a:t>
                      </a:r>
                      <a:endParaRPr sz="2400" b="1" u="none" strike="noStrike" cap="none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2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….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10" name="Google Shape;410;p19"/>
          <p:cNvGraphicFramePr/>
          <p:nvPr/>
        </p:nvGraphicFramePr>
        <p:xfrm>
          <a:off x="766" y="1443277"/>
          <a:ext cx="3200400" cy="213081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136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Frame#</a:t>
                      </a:r>
                      <a:endParaRPr sz="24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Content</a:t>
                      </a:r>
                      <a:endParaRPr sz="24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B17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A31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A08</a:t>
                      </a:r>
                      <a:endParaRPr sz="2400" b="1" i="0" u="none" strike="noStrike" cap="none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A17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5" name="Google Shape;415;p20"/>
          <p:cNvGraphicFramePr/>
          <p:nvPr/>
        </p:nvGraphicFramePr>
        <p:xfrm>
          <a:off x="-15910" y="1426800"/>
          <a:ext cx="3200400" cy="213081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136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Frame#</a:t>
                      </a:r>
                      <a:endParaRPr sz="24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Content</a:t>
                      </a:r>
                      <a:endParaRPr sz="24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B17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A31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A08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A17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16" name="Google Shape;416;p20"/>
          <p:cNvGraphicFramePr/>
          <p:nvPr/>
        </p:nvGraphicFramePr>
        <p:xfrm>
          <a:off x="6121359" y="4029028"/>
          <a:ext cx="2184325" cy="211591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115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12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F#</a:t>
                      </a:r>
                      <a:endParaRPr sz="24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P#</a:t>
                      </a:r>
                      <a:endParaRPr sz="24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B17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A31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A08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A17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17" name="Google Shape;417;p20"/>
          <p:cNvGraphicFramePr/>
          <p:nvPr/>
        </p:nvGraphicFramePr>
        <p:xfrm>
          <a:off x="4166840" y="4017792"/>
          <a:ext cx="1790850" cy="228601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69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P#</a:t>
                      </a:r>
                      <a:endParaRPr sz="24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F#</a:t>
                      </a:r>
                      <a:endParaRPr sz="24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2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….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2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---</a:t>
                      </a:r>
                      <a:endParaRPr sz="2400" b="1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2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….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2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F#0</a:t>
                      </a:r>
                      <a:endParaRPr sz="2400" b="1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2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….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8" name="Google Shape;418;p20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Page Replacement ( Access </a:t>
            </a:r>
            <a:r>
              <a:rPr lang="en-US" b="1" u="sng"/>
              <a:t>B13</a:t>
            </a:r>
            <a:r>
              <a:rPr lang="en-US"/>
              <a:t>)</a:t>
            </a:r>
            <a:endParaRPr/>
          </a:p>
        </p:txBody>
      </p:sp>
      <p:graphicFrame>
        <p:nvGraphicFramePr>
          <p:cNvPr id="419" name="Google Shape;419;p20"/>
          <p:cNvGraphicFramePr/>
          <p:nvPr/>
        </p:nvGraphicFramePr>
        <p:xfrm>
          <a:off x="-15910" y="1426800"/>
          <a:ext cx="3200400" cy="213081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136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Frame#</a:t>
                      </a:r>
                      <a:endParaRPr sz="24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Content</a:t>
                      </a:r>
                      <a:endParaRPr sz="24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B13</a:t>
                      </a:r>
                      <a:endParaRPr sz="2400" b="1" i="0" u="none" strike="noStrike" cap="none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A31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A08</a:t>
                      </a:r>
                      <a:endParaRPr sz="2400" b="0" i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A17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20" name="Google Shape;420;p20"/>
          <p:cNvGraphicFramePr/>
          <p:nvPr/>
        </p:nvGraphicFramePr>
        <p:xfrm>
          <a:off x="5429542" y="1526888"/>
          <a:ext cx="1783975" cy="24965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Ref Bit</a:t>
                      </a:r>
                      <a:endParaRPr sz="24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1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400" b="1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1</a:t>
                      </a:r>
                      <a:endParaRPr sz="2400" b="1" u="none" strike="noStrike" cap="none"/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421" name="Google Shape;421;p20"/>
          <p:cNvCxnSpPr/>
          <p:nvPr/>
        </p:nvCxnSpPr>
        <p:spPr>
          <a:xfrm>
            <a:off x="3512195" y="587566"/>
            <a:ext cx="21000" cy="618514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422" name="Google Shape;422;p20"/>
          <p:cNvSpPr/>
          <p:nvPr/>
        </p:nvSpPr>
        <p:spPr>
          <a:xfrm>
            <a:off x="1089447" y="858502"/>
            <a:ext cx="102303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RAM</a:t>
            </a:r>
            <a:endParaRPr sz="3200" b="1" baseline="3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0"/>
          <p:cNvSpPr/>
          <p:nvPr/>
        </p:nvSpPr>
        <p:spPr>
          <a:xfrm>
            <a:off x="5796332" y="930877"/>
            <a:ext cx="65595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endParaRPr sz="3200" b="1" baseline="30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4" name="Google Shape;424;p20"/>
          <p:cNvGraphicFramePr/>
          <p:nvPr/>
        </p:nvGraphicFramePr>
        <p:xfrm>
          <a:off x="5422554" y="1547908"/>
          <a:ext cx="1783975" cy="24965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Ref Bit</a:t>
                      </a:r>
                      <a:endParaRPr sz="24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C00000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25" name="Google Shape;425;p20"/>
          <p:cNvGraphicFramePr/>
          <p:nvPr/>
        </p:nvGraphicFramePr>
        <p:xfrm>
          <a:off x="5429542" y="1549115"/>
          <a:ext cx="1783975" cy="249657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75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Ref Bit</a:t>
                      </a:r>
                      <a:endParaRPr sz="24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0</a:t>
                      </a:r>
                      <a:endParaRPr sz="2400" b="1" u="none" strike="noStrike" cap="none"/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C00000"/>
                          </a:solidFill>
                        </a:rPr>
                        <a:t>0</a:t>
                      </a:r>
                      <a:endParaRPr sz="2400" b="1" u="none" strike="noStrike" cap="none">
                        <a:solidFill>
                          <a:srgbClr val="C00000"/>
                        </a:solidFill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B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6" name="Google Shape;426;p20"/>
          <p:cNvSpPr/>
          <p:nvPr/>
        </p:nvSpPr>
        <p:spPr>
          <a:xfrm>
            <a:off x="4823012" y="2708111"/>
            <a:ext cx="973320" cy="555812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C16149"/>
              </a:gs>
              <a:gs pos="50000">
                <a:srgbClr val="BE4510"/>
              </a:gs>
              <a:gs pos="100000">
                <a:srgbClr val="AF3A07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Victim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0"/>
          <p:cNvSpPr/>
          <p:nvPr/>
        </p:nvSpPr>
        <p:spPr>
          <a:xfrm>
            <a:off x="4839688" y="3175453"/>
            <a:ext cx="973320" cy="555812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C16149"/>
              </a:gs>
              <a:gs pos="50000">
                <a:srgbClr val="BE4510"/>
              </a:gs>
              <a:gs pos="100000">
                <a:srgbClr val="AF3A07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Victim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0"/>
          <p:cNvSpPr/>
          <p:nvPr/>
        </p:nvSpPr>
        <p:spPr>
          <a:xfrm>
            <a:off x="4823012" y="1936376"/>
            <a:ext cx="973320" cy="555812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C16149"/>
              </a:gs>
              <a:gs pos="50000">
                <a:srgbClr val="BE4510"/>
              </a:gs>
              <a:gs pos="100000">
                <a:srgbClr val="AF3A07"/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Victim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9" name="Google Shape;429;p20"/>
          <p:cNvGraphicFramePr/>
          <p:nvPr/>
        </p:nvGraphicFramePr>
        <p:xfrm>
          <a:off x="6114371" y="4029028"/>
          <a:ext cx="2184325" cy="211591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115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312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F#</a:t>
                      </a:r>
                      <a:endParaRPr sz="24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P#</a:t>
                      </a:r>
                      <a:endParaRPr sz="24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B13</a:t>
                      </a:r>
                      <a:endParaRPr sz="2400" b="1" u="none" strike="noStrike" cap="none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A31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A04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6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u="none" strike="noStrike" cap="non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2400" b="0" u="none" strike="noStrike" cap="non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A17</a:t>
                      </a:r>
                      <a:endParaRPr sz="2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30" name="Google Shape;430;p20"/>
          <p:cNvGraphicFramePr/>
          <p:nvPr/>
        </p:nvGraphicFramePr>
        <p:xfrm>
          <a:off x="4166840" y="4017792"/>
          <a:ext cx="1790850" cy="228601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69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8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P#</a:t>
                      </a:r>
                      <a:endParaRPr sz="24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/>
                        <a:t>F#</a:t>
                      </a:r>
                      <a:endParaRPr sz="2400" b="1" u="none" strike="noStrike" cap="none" baseline="300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2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….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2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F#0</a:t>
                      </a:r>
                      <a:endParaRPr sz="2400" b="1" u="none" strike="noStrike" cap="none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2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….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2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C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---</a:t>
                      </a:r>
                      <a:endParaRPr sz="2400" b="1" u="none" strike="noStrike" cap="none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275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….</a:t>
                      </a:r>
                      <a:endParaRPr sz="24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1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Calibri"/>
              <a:buNone/>
            </a:pPr>
            <a:r>
              <a:rPr lang="en-US">
                <a:solidFill>
                  <a:srgbClr val="C00000"/>
                </a:solidFill>
              </a:rPr>
              <a:t>BACKUP SLIDE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437" name="Google Shape;437;p21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Question 2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2"/>
          <p:cNvSpPr txBox="1">
            <a:spLocks noGrp="1"/>
          </p:cNvSpPr>
          <p:nvPr>
            <p:ph type="title"/>
          </p:nvPr>
        </p:nvSpPr>
        <p:spPr>
          <a:xfrm>
            <a:off x="0" y="-22051"/>
            <a:ext cx="9144000" cy="952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3-Level Page Table (Repeat!)</a:t>
            </a:r>
            <a:endParaRPr/>
          </a:p>
        </p:txBody>
      </p:sp>
      <p:graphicFrame>
        <p:nvGraphicFramePr>
          <p:cNvPr id="443" name="Google Shape;443;p22"/>
          <p:cNvGraphicFramePr/>
          <p:nvPr/>
        </p:nvGraphicFramePr>
        <p:xfrm>
          <a:off x="677812" y="666086"/>
          <a:ext cx="7632650" cy="797580"/>
        </p:xfrm>
        <a:graphic>
          <a:graphicData uri="http://schemas.openxmlformats.org/drawingml/2006/table">
            <a:tbl>
              <a:tblPr firstRow="1" bandRow="1">
                <a:noFill/>
                <a:tableStyleId>{F839F4D5-BAFB-4499-96DE-BF936FD148C4}</a:tableStyleId>
              </a:tblPr>
              <a:tblGrid>
                <a:gridCol w="155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9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5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1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26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35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36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u="none" strike="noStrike" cap="non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47</a:t>
                      </a:r>
                      <a:endParaRPr sz="1600" b="0" u="none" strike="noStrike" cap="non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/>
                        <a:t>000 0000 0000 0000 0000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strike="noStrike" cap="none"/>
                        <a:t>0 0000 000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EAD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libri"/>
                        <a:buNone/>
                      </a:pPr>
                      <a:r>
                        <a:rPr lang="en-US" sz="2200" u="none" strike="noStrike" cap="none"/>
                        <a:t>0 0000 0000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6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strike="noStrike" cap="none"/>
                        <a:t>0000 0000 1234</a:t>
                      </a:r>
                      <a:endParaRPr sz="2200" u="none" strike="noStrike" cap="none"/>
                    </a:p>
                  </a:txBody>
                  <a:tcPr marL="0" marR="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44" name="Google Shape;444;p22"/>
          <p:cNvGraphicFramePr/>
          <p:nvPr/>
        </p:nvGraphicFramePr>
        <p:xfrm>
          <a:off x="4152684" y="1759971"/>
          <a:ext cx="2839775" cy="461690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120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1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P#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PTE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F#: &lt;</a:t>
                      </a: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0xABCD</a:t>
                      </a: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A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0x1FF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9D7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45" name="Google Shape;445;p22"/>
          <p:cNvSpPr/>
          <p:nvPr/>
        </p:nvSpPr>
        <p:spPr>
          <a:xfrm>
            <a:off x="5319254" y="2141073"/>
            <a:ext cx="1744936" cy="1319882"/>
          </a:xfrm>
          <a:prstGeom prst="rect">
            <a:avLst/>
          </a:prstGeom>
          <a:solidFill>
            <a:srgbClr val="FF0000">
              <a:alpha val="29803"/>
            </a:srgbClr>
          </a:solidFill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2"/>
          <p:cNvSpPr/>
          <p:nvPr/>
        </p:nvSpPr>
        <p:spPr>
          <a:xfrm>
            <a:off x="5319254" y="3483796"/>
            <a:ext cx="1744936" cy="1319882"/>
          </a:xfrm>
          <a:prstGeom prst="rect">
            <a:avLst/>
          </a:prstGeom>
          <a:solidFill>
            <a:srgbClr val="FF0000">
              <a:alpha val="29803"/>
            </a:srgbClr>
          </a:solidFill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2"/>
          <p:cNvSpPr/>
          <p:nvPr/>
        </p:nvSpPr>
        <p:spPr>
          <a:xfrm>
            <a:off x="5319253" y="5056919"/>
            <a:ext cx="1744936" cy="1319882"/>
          </a:xfrm>
          <a:prstGeom prst="rect">
            <a:avLst/>
          </a:prstGeom>
          <a:solidFill>
            <a:srgbClr val="FF0000">
              <a:alpha val="29803"/>
            </a:srgbClr>
          </a:solidFill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8" name="Google Shape;448;p22"/>
          <p:cNvGraphicFramePr/>
          <p:nvPr/>
        </p:nvGraphicFramePr>
        <p:xfrm>
          <a:off x="1329005" y="1743264"/>
          <a:ext cx="3165125" cy="2524900"/>
        </p:xfrm>
        <a:graphic>
          <a:graphicData uri="http://schemas.openxmlformats.org/drawingml/2006/table">
            <a:tbl>
              <a:tblPr bandRow="1">
                <a:noFill/>
                <a:tableStyleId>{F839F4D5-BAFB-4499-96DE-BF936FD148C4}</a:tableStyleId>
              </a:tblPr>
              <a:tblGrid>
                <a:gridCol w="13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9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/>
                        <a:t>PDE</a:t>
                      </a:r>
                      <a:endParaRPr sz="1800" b="1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F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E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………………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40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0x7FF FFFF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FEA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9" name="Google Shape;449;p22"/>
          <p:cNvSpPr/>
          <p:nvPr/>
        </p:nvSpPr>
        <p:spPr>
          <a:xfrm>
            <a:off x="5319253" y="3483017"/>
            <a:ext cx="1744936" cy="1319882"/>
          </a:xfrm>
          <a:prstGeom prst="rect">
            <a:avLst/>
          </a:prstGeom>
          <a:solidFill>
            <a:srgbClr val="FFC9C9"/>
          </a:solidFill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0" name="Google Shape;450;p22"/>
          <p:cNvCxnSpPr/>
          <p:nvPr/>
        </p:nvCxnSpPr>
        <p:spPr>
          <a:xfrm rot="-5400000" flipH="1">
            <a:off x="4807274" y="1700253"/>
            <a:ext cx="732000" cy="292200"/>
          </a:xfrm>
          <a:prstGeom prst="bentConnector3">
            <a:avLst>
              <a:gd name="adj1" fmla="val 102669"/>
            </a:avLst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24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Welcome!</vt:lpstr>
      <vt:lpstr>Topic Summary</vt:lpstr>
      <vt:lpstr>Tutorial 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Tutorial 9</vt:lpstr>
      <vt:lpstr>Basic Parameters</vt:lpstr>
      <vt:lpstr>2-Level Page Table</vt:lpstr>
      <vt:lpstr>2-Level Page Table</vt:lpstr>
      <vt:lpstr>PowerPoint Presentation</vt:lpstr>
      <vt:lpstr>PowerPoint Presentation</vt:lpstr>
      <vt:lpstr>4-Level Page Table</vt:lpstr>
      <vt:lpstr>So, 1 GiB of data? (Array at 0x0)</vt:lpstr>
      <vt:lpstr>So, 1 GiB of data? (Array at 0x0)</vt:lpstr>
      <vt:lpstr>So, (Array at 0x7F9B 5522 6010 ??)</vt:lpstr>
      <vt:lpstr>Tutorial 9</vt:lpstr>
      <vt:lpstr>Page Replacement ( Access A8)</vt:lpstr>
      <vt:lpstr>Page Replacement ( Access B13)</vt:lpstr>
      <vt:lpstr>BACKUP SLIDE</vt:lpstr>
      <vt:lpstr>3-Level Page Table (Repeat!)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Welcome!</dc:title>
  <dc:creator>yuenjien soo</dc:creator>
  <cp:lastModifiedBy>Tan Keng Yan, Colin</cp:lastModifiedBy>
  <cp:revision>2</cp:revision>
  <dcterms:created xsi:type="dcterms:W3CDTF">2015-08-24T14:25:17Z</dcterms:created>
  <dcterms:modified xsi:type="dcterms:W3CDTF">2025-04-03T03:25:34Z</dcterms:modified>
</cp:coreProperties>
</file>