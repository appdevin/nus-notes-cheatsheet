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6"/>
  </p:notesMasterIdLst>
  <p:sldIdLst>
    <p:sldId id="287" r:id="rId2"/>
    <p:sldId id="341" r:id="rId3"/>
    <p:sldId id="288" r:id="rId4"/>
    <p:sldId id="289" r:id="rId5"/>
    <p:sldId id="294" r:id="rId6"/>
    <p:sldId id="295" r:id="rId7"/>
    <p:sldId id="297" r:id="rId8"/>
    <p:sldId id="298" r:id="rId9"/>
    <p:sldId id="290" r:id="rId10"/>
    <p:sldId id="299" r:id="rId11"/>
    <p:sldId id="300" r:id="rId12"/>
    <p:sldId id="301" r:id="rId13"/>
    <p:sldId id="302" r:id="rId14"/>
    <p:sldId id="291" r:id="rId15"/>
    <p:sldId id="303" r:id="rId16"/>
    <p:sldId id="292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0" r:id="rId44"/>
    <p:sldId id="331" r:id="rId45"/>
    <p:sldId id="332" r:id="rId46"/>
    <p:sldId id="333" r:id="rId47"/>
    <p:sldId id="334" r:id="rId48"/>
    <p:sldId id="335" r:id="rId49"/>
    <p:sldId id="336" r:id="rId50"/>
    <p:sldId id="337" r:id="rId51"/>
    <p:sldId id="338" r:id="rId52"/>
    <p:sldId id="339" r:id="rId53"/>
    <p:sldId id="293" r:id="rId54"/>
    <p:sldId id="340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66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023" autoAdjust="0"/>
    <p:restoredTop sz="96723" autoAdjust="0"/>
  </p:normalViewPr>
  <p:slideViewPr>
    <p:cSldViewPr snapToGrid="0">
      <p:cViewPr varScale="1">
        <p:scale>
          <a:sx n="105" d="100"/>
          <a:sy n="105" d="100"/>
        </p:scale>
        <p:origin x="19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C82B8-1A00-4CB0-BEC9-E45DC7047223}" type="datetimeFigureOut">
              <a:rPr lang="en-SG" smtClean="0"/>
              <a:t>19/3/25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7DC49-04F9-4D79-BF53-CC5EFB031B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233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7228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7249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2780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270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226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5254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4794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73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53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7952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4073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19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433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468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813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261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02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9" name="Shape 1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142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3545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9947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9807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9657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81682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2" name="Shape 2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6763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0" name="Shape 2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9459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8128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8" name="Shape 3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1136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86940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1" name="Shape 3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30507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73035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2" name="Shape 4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46022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4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2" name="Shape 4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2849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64" name="Shape 4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1037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785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06" name="Shape 5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17967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52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6" name="Shape 5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0317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45" name="Shape 5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87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63" name="Shape 5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9049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57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77" name="Shape 5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46038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90" name="Shape 5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51376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53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8347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348-1741-438D-9237-EC868475DB68}" type="datetime1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36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BFD4-F293-4695-A805-07A9F2F19108}" type="datetime1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1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205E-C2A8-4667-9E70-24B0277A5B96}" type="datetime1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9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4078-7B36-4DFC-8F39-E6EAFAA0FF8C}" type="datetime1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5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E5C84-E10B-4614-B00D-85502C7C2BC9}" type="datetime1">
              <a:rPr lang="en-US" smtClean="0"/>
              <a:t>3/19/25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9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2482-86A1-4433-B866-68FEB6A9D2BC}" type="datetime1">
              <a:rPr lang="en-US" smtClean="0"/>
              <a:t>3/19/25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9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813C-24E3-4A54-926E-1036589BAE8B}" type="datetime1">
              <a:rPr lang="en-US" smtClean="0"/>
              <a:t>3/19/25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6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BB52-EC1A-4E52-80D6-22BDBFE5E2D7}" type="datetime1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4E2D1-B139-4A30-8B91-E31874FBBB0B}" type="datetime1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21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C2848-A9E9-4B12-AFCF-0219AF9C820D}" type="datetime1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9B3F-9BC3-471A-BB37-A1C0997DD8C3}" type="datetime1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04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599" cy="4555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699" cy="5246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715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69CD7-7387-49C4-9351-86D8674E80A2}" type="datetime1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6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30877"/>
            <a:ext cx="7886700" cy="5246086"/>
          </a:xfrm>
        </p:spPr>
        <p:txBody>
          <a:bodyPr/>
          <a:lstStyle/>
          <a:p>
            <a:r>
              <a:rPr lang="en-US" dirty="0"/>
              <a:t>Please rename yourself to</a:t>
            </a:r>
          </a:p>
          <a:p>
            <a:pPr lvl="1"/>
            <a:r>
              <a:rPr lang="en-US" dirty="0"/>
              <a:t>[Row#] Name   </a:t>
            </a:r>
            <a:r>
              <a:rPr lang="en-US" dirty="0">
                <a:sym typeface="Wingdings" panose="05000000000000000000" pitchFamily="2" charset="2"/>
              </a:rPr>
              <a:t></a:t>
            </a:r>
            <a:endParaRPr lang="en-US" dirty="0"/>
          </a:p>
          <a:p>
            <a:pPr marL="257175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466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Summary</a:t>
            </a:r>
            <a:endParaRPr lang="en-SG" dirty="0"/>
          </a:p>
        </p:txBody>
      </p:sp>
      <p:grpSp>
        <p:nvGrpSpPr>
          <p:cNvPr id="4" name="Group 3"/>
          <p:cNvGrpSpPr/>
          <p:nvPr/>
        </p:nvGrpSpPr>
        <p:grpSpPr>
          <a:xfrm>
            <a:off x="2224127" y="1277273"/>
            <a:ext cx="1714500" cy="3487438"/>
            <a:chOff x="3129046" y="948037"/>
            <a:chExt cx="1714500" cy="3487438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3276600" y="3687538"/>
              <a:ext cx="1447800" cy="737040"/>
            </a:xfrm>
            <a:prstGeom prst="rect">
              <a:avLst/>
            </a:prstGeom>
            <a:pattFill prst="smConfetti">
              <a:fgClr>
                <a:srgbClr val="6600CC"/>
              </a:fgClr>
              <a:bgClr>
                <a:schemeClr val="bg1"/>
              </a:bgClr>
            </a:pattFill>
            <a:ln w="15875">
              <a:solidFill>
                <a:srgbClr val="660066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OS Context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276600" y="1457835"/>
              <a:ext cx="1447800" cy="10842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prstDash val="dash"/>
              <a:miter lim="800000"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Hardware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Context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276600" y="1445322"/>
              <a:ext cx="1447800" cy="1103139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Arial" charset="0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3276600" y="2542111"/>
              <a:ext cx="1447800" cy="1145427"/>
            </a:xfrm>
            <a:prstGeom prst="rect">
              <a:avLst/>
            </a:prstGeom>
            <a:pattFill prst="smConfetti">
              <a:fgClr>
                <a:srgbClr val="34F499"/>
              </a:fgClr>
              <a:bgClr>
                <a:schemeClr val="bg1"/>
              </a:bgClr>
            </a:pattFill>
            <a:ln w="19050">
              <a:solidFill>
                <a:srgbClr val="008000"/>
              </a:solidFill>
              <a:prstDash val="solid"/>
              <a:miter lim="800000"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Arial" charset="0"/>
                </a:rPr>
                <a:t>Memory Context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276600" y="3687538"/>
              <a:ext cx="1447800" cy="747937"/>
            </a:xfrm>
            <a:prstGeom prst="rect">
              <a:avLst/>
            </a:prstGeom>
            <a:noFill/>
            <a:ln w="19050">
              <a:solidFill>
                <a:srgbClr val="66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Arial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29046" y="948037"/>
              <a:ext cx="1714500" cy="441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rPr>
                <a:t>Process Control Block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633275" y="173397"/>
            <a:ext cx="1447800" cy="2830199"/>
            <a:chOff x="1524000" y="1143000"/>
            <a:chExt cx="1447800" cy="2178050"/>
          </a:xfrm>
        </p:grpSpPr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 err="1">
                  <a:latin typeface="Courier New" pitchFamily="49" charset="0"/>
                </a:rPr>
                <a:t>Text</a:t>
              </a:r>
              <a:r>
                <a:rPr lang="en-US" altLang="en-US" b="1" baseline="-25000" dirty="0" err="1">
                  <a:latin typeface="Courier New" pitchFamily="49" charset="0"/>
                </a:rPr>
                <a:t>X</a:t>
              </a:r>
              <a:endParaRPr lang="en-US" altLang="en-US" b="1" baseline="-25000" dirty="0">
                <a:latin typeface="Courier New" pitchFamily="49" charset="0"/>
              </a:endParaRP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1524000" y="1683902"/>
              <a:ext cx="1447800" cy="4762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 err="1">
                  <a:latin typeface="Courier New" pitchFamily="49" charset="0"/>
                </a:rPr>
                <a:t>Data</a:t>
              </a:r>
              <a:r>
                <a:rPr lang="en-US" altLang="en-US" b="1" baseline="-25000" dirty="0" err="1">
                  <a:latin typeface="Courier New" pitchFamily="49" charset="0"/>
                </a:rPr>
                <a:t>X</a:t>
              </a:r>
              <a:endParaRPr lang="en-US" altLang="en-US" b="1" dirty="0">
                <a:latin typeface="Courier New" pitchFamily="49" charset="0"/>
              </a:endParaRPr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 err="1">
                  <a:latin typeface="Courier New" pitchFamily="49" charset="0"/>
                </a:rPr>
                <a:t>Stack</a:t>
              </a:r>
              <a:r>
                <a:rPr lang="en-US" altLang="en-US" b="1" baseline="-25000" dirty="0" err="1">
                  <a:latin typeface="Courier New" pitchFamily="49" charset="0"/>
                </a:rPr>
                <a:t>X</a:t>
              </a:r>
              <a:endParaRPr lang="en-US" altLang="en-US" b="1" dirty="0">
                <a:latin typeface="Courier New" pitchFamily="49" charset="0"/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1524000" y="2152650"/>
              <a:ext cx="1447800" cy="46355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 err="1">
                  <a:latin typeface="Courier New" pitchFamily="49" charset="0"/>
                </a:rPr>
                <a:t>Heap</a:t>
              </a:r>
              <a:r>
                <a:rPr lang="en-US" altLang="en-US" b="1" baseline="-25000" dirty="0" err="1">
                  <a:latin typeface="Courier New" pitchFamily="49" charset="0"/>
                </a:rPr>
                <a:t>X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64885" y="1830772"/>
            <a:ext cx="1206137" cy="3381845"/>
            <a:chOff x="285816" y="2103829"/>
            <a:chExt cx="1206137" cy="3381845"/>
          </a:xfrm>
        </p:grpSpPr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01184" y="2819400"/>
              <a:ext cx="1053737" cy="21780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Arial" charset="0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285816" y="2103829"/>
              <a:ext cx="1206137" cy="3381845"/>
              <a:chOff x="285816" y="2103829"/>
              <a:chExt cx="1206137" cy="3381845"/>
            </a:xfrm>
          </p:grpSpPr>
          <p:sp>
            <p:nvSpPr>
              <p:cNvPr id="26" name="Rectangle 5"/>
              <p:cNvSpPr>
                <a:spLocks noChangeArrowheads="1"/>
              </p:cNvSpPr>
              <p:nvPr/>
            </p:nvSpPr>
            <p:spPr bwMode="auto">
              <a:xfrm>
                <a:off x="401184" y="3371850"/>
                <a:ext cx="1053737" cy="16255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rPr>
                  <a:t>………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285816" y="5044349"/>
                <a:ext cx="1206137" cy="4413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/>
                    <a:ea typeface="+mn-ea"/>
                    <a:cs typeface="+mn-cs"/>
                  </a:rPr>
                  <a:t>Process Table</a:t>
                </a:r>
              </a:p>
            </p:txBody>
          </p:sp>
          <p:sp>
            <p:nvSpPr>
              <p:cNvPr id="28" name="Rectangle 5"/>
              <p:cNvSpPr>
                <a:spLocks noChangeArrowheads="1"/>
              </p:cNvSpPr>
              <p:nvPr/>
            </p:nvSpPr>
            <p:spPr bwMode="auto">
              <a:xfrm>
                <a:off x="401184" y="2103829"/>
                <a:ext cx="1053737" cy="7087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Arial" charset="0"/>
                  </a:rPr>
                  <a:t>………</a:t>
                </a:r>
              </a:p>
            </p:txBody>
          </p:sp>
        </p:grpSp>
      </p:grp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80253" y="2547767"/>
            <a:ext cx="1053737" cy="551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Arial" charset="0"/>
              </a:rPr>
              <a:t>PCB</a:t>
            </a:r>
            <a:r>
              <a:rPr kumimoji="0" lang="en-US" altLang="en-US" sz="2800" b="1" i="0" u="none" strike="noStrike" kern="12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Arial" charset="0"/>
              </a:rPr>
              <a:t>x</a:t>
            </a:r>
            <a:endParaRPr kumimoji="0" lang="en-US" altLang="en-US" sz="2800" b="1" i="0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Courier New" pitchFamily="49" charset="0"/>
              <a:ea typeface="+mn-ea"/>
              <a:cs typeface="Arial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733990" y="1783922"/>
            <a:ext cx="637691" cy="2966743"/>
            <a:chOff x="1454921" y="2056979"/>
            <a:chExt cx="637691" cy="2966743"/>
          </a:xfrm>
        </p:grpSpPr>
        <p:cxnSp>
          <p:nvCxnSpPr>
            <p:cNvPr id="31" name="Straight Connector 30"/>
            <p:cNvCxnSpPr/>
            <p:nvPr/>
          </p:nvCxnSpPr>
          <p:spPr>
            <a:xfrm flipV="1">
              <a:off x="1489404" y="2056979"/>
              <a:ext cx="603208" cy="753467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454921" y="3371850"/>
              <a:ext cx="637691" cy="1651872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6633275" y="3328035"/>
            <a:ext cx="1447800" cy="1791535"/>
            <a:chOff x="1524000" y="1143000"/>
            <a:chExt cx="1447800" cy="2178050"/>
          </a:xfrm>
        </p:grpSpPr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 err="1">
                  <a:latin typeface="Courier New" pitchFamily="49" charset="0"/>
                </a:rPr>
                <a:t>Text</a:t>
              </a:r>
              <a:r>
                <a:rPr lang="en-US" altLang="en-US" b="1" baseline="-25000" dirty="0" err="1">
                  <a:latin typeface="Courier New" pitchFamily="49" charset="0"/>
                </a:rPr>
                <a:t>Y</a:t>
              </a:r>
              <a:endParaRPr lang="en-US" altLang="en-US" b="1" baseline="-25000" dirty="0">
                <a:latin typeface="Courier New" pitchFamily="49" charset="0"/>
              </a:endParaRPr>
            </a:p>
          </p:txBody>
        </p:sp>
        <p:sp>
          <p:nvSpPr>
            <p:cNvPr id="35" name="Rectangle 13"/>
            <p:cNvSpPr>
              <a:spLocks noChangeArrowheads="1"/>
            </p:cNvSpPr>
            <p:nvPr/>
          </p:nvSpPr>
          <p:spPr bwMode="auto"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sp>
          <p:nvSpPr>
            <p:cNvPr id="36" name="Rectangle 5"/>
            <p:cNvSpPr>
              <a:spLocks noChangeArrowheads="1"/>
            </p:cNvSpPr>
            <p:nvPr/>
          </p:nvSpPr>
          <p:spPr bwMode="auto">
            <a:xfrm>
              <a:off x="1524000" y="1682750"/>
              <a:ext cx="1447800" cy="4762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 err="1">
                  <a:latin typeface="Courier New" pitchFamily="49" charset="0"/>
                </a:rPr>
                <a:t>Data</a:t>
              </a:r>
              <a:r>
                <a:rPr lang="en-US" altLang="en-US" b="1" baseline="-25000" dirty="0" err="1">
                  <a:latin typeface="Courier New" pitchFamily="49" charset="0"/>
                </a:rPr>
                <a:t>Y</a:t>
              </a:r>
              <a:endParaRPr lang="en-US" altLang="en-US" b="1" dirty="0">
                <a:latin typeface="Courier New" pitchFamily="49" charset="0"/>
              </a:endParaRPr>
            </a:p>
          </p:txBody>
        </p:sp>
        <p:sp>
          <p:nvSpPr>
            <p:cNvPr id="37" name="Rectangle 5"/>
            <p:cNvSpPr>
              <a:spLocks noChangeArrowheads="1"/>
            </p:cNvSpPr>
            <p:nvPr/>
          </p:nvSpPr>
          <p:spPr bwMode="auto"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>
              <a:solidFill>
                <a:srgbClr val="00206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 err="1">
                  <a:latin typeface="Courier New" pitchFamily="49" charset="0"/>
                </a:rPr>
                <a:t>Stack</a:t>
              </a:r>
              <a:r>
                <a:rPr lang="en-US" altLang="en-US" b="1" baseline="-25000" dirty="0" err="1">
                  <a:latin typeface="Courier New" pitchFamily="49" charset="0"/>
                </a:rPr>
                <a:t>Y</a:t>
              </a:r>
              <a:endParaRPr lang="en-US" altLang="en-US" b="1" dirty="0">
                <a:latin typeface="Courier New" pitchFamily="49" charset="0"/>
              </a:endParaRPr>
            </a:p>
          </p:txBody>
        </p:sp>
        <p:sp>
          <p:nvSpPr>
            <p:cNvPr id="38" name="Rectangle 5"/>
            <p:cNvSpPr>
              <a:spLocks noChangeArrowheads="1"/>
            </p:cNvSpPr>
            <p:nvPr/>
          </p:nvSpPr>
          <p:spPr bwMode="auto">
            <a:xfrm>
              <a:off x="1524000" y="2152650"/>
              <a:ext cx="1447800" cy="46355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rgbClr val="00206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 err="1">
                  <a:latin typeface="Courier New" pitchFamily="49" charset="0"/>
                </a:rPr>
                <a:t>Heap</a:t>
              </a:r>
              <a:r>
                <a:rPr lang="en-US" altLang="en-US" b="1" baseline="-25000" dirty="0" err="1">
                  <a:latin typeface="Courier New" pitchFamily="49" charset="0"/>
                </a:rPr>
                <a:t>Y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633275" y="5291934"/>
            <a:ext cx="1447800" cy="1329491"/>
            <a:chOff x="1524000" y="1143000"/>
            <a:chExt cx="1447800" cy="2178050"/>
          </a:xfrm>
        </p:grpSpPr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 err="1">
                  <a:latin typeface="Courier New" pitchFamily="49" charset="0"/>
                </a:rPr>
                <a:t>Text</a:t>
              </a:r>
              <a:r>
                <a:rPr lang="en-US" altLang="en-US" b="1" baseline="-25000" dirty="0" err="1">
                  <a:latin typeface="Courier New" pitchFamily="49" charset="0"/>
                </a:rPr>
                <a:t>Z</a:t>
              </a:r>
              <a:endParaRPr lang="en-US" altLang="en-US" b="1" baseline="-25000" dirty="0">
                <a:latin typeface="Courier New" pitchFamily="49" charset="0"/>
              </a:endParaRPr>
            </a:p>
          </p:txBody>
        </p:sp>
        <p:sp>
          <p:nvSpPr>
            <p:cNvPr id="41" name="Rectangle 13"/>
            <p:cNvSpPr>
              <a:spLocks noChangeArrowheads="1"/>
            </p:cNvSpPr>
            <p:nvPr/>
          </p:nvSpPr>
          <p:spPr bwMode="auto"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sp>
          <p:nvSpPr>
            <p:cNvPr id="42" name="Rectangle 5"/>
            <p:cNvSpPr>
              <a:spLocks noChangeArrowheads="1"/>
            </p:cNvSpPr>
            <p:nvPr/>
          </p:nvSpPr>
          <p:spPr bwMode="auto">
            <a:xfrm>
              <a:off x="1524000" y="1682750"/>
              <a:ext cx="1447800" cy="4762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007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 err="1">
                  <a:latin typeface="Courier New" pitchFamily="49" charset="0"/>
                </a:rPr>
                <a:t>Data</a:t>
              </a:r>
              <a:r>
                <a:rPr lang="en-US" altLang="en-US" b="1" baseline="-25000" dirty="0" err="1">
                  <a:latin typeface="Courier New" pitchFamily="49" charset="0"/>
                </a:rPr>
                <a:t>Z</a:t>
              </a:r>
              <a:endParaRPr lang="en-US" altLang="en-US" b="1" dirty="0">
                <a:latin typeface="Courier New" pitchFamily="49" charset="0"/>
              </a:endParaRPr>
            </a:p>
          </p:txBody>
        </p:sp>
        <p:sp>
          <p:nvSpPr>
            <p:cNvPr id="43" name="Rectangle 5"/>
            <p:cNvSpPr>
              <a:spLocks noChangeArrowheads="1"/>
            </p:cNvSpPr>
            <p:nvPr/>
          </p:nvSpPr>
          <p:spPr bwMode="auto"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>
              <a:solidFill>
                <a:srgbClr val="007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 err="1">
                  <a:latin typeface="Courier New" pitchFamily="49" charset="0"/>
                </a:rPr>
                <a:t>Stack</a:t>
              </a:r>
              <a:r>
                <a:rPr lang="en-US" altLang="en-US" b="1" baseline="-25000" dirty="0" err="1">
                  <a:latin typeface="Courier New" pitchFamily="49" charset="0"/>
                </a:rPr>
                <a:t>Z</a:t>
              </a:r>
              <a:endParaRPr lang="en-US" altLang="en-US" b="1" dirty="0">
                <a:latin typeface="Courier New" pitchFamily="49" charset="0"/>
              </a:endParaRPr>
            </a:p>
          </p:txBody>
        </p:sp>
        <p:sp>
          <p:nvSpPr>
            <p:cNvPr id="44" name="Rectangle 5"/>
            <p:cNvSpPr>
              <a:spLocks noChangeArrowheads="1"/>
            </p:cNvSpPr>
            <p:nvPr/>
          </p:nvSpPr>
          <p:spPr bwMode="auto">
            <a:xfrm>
              <a:off x="1524000" y="2152650"/>
              <a:ext cx="1447800" cy="46355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rgbClr val="007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 err="1">
                  <a:latin typeface="Courier New" pitchFamily="49" charset="0"/>
                </a:rPr>
                <a:t>Heap</a:t>
              </a:r>
              <a:r>
                <a:rPr lang="en-US" altLang="en-US" b="1" baseline="-25000" dirty="0" err="1">
                  <a:latin typeface="Courier New" pitchFamily="49" charset="0"/>
                </a:rPr>
                <a:t>Z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25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Summary</a:t>
            </a:r>
            <a:endParaRPr lang="en-SG" dirty="0"/>
          </a:p>
        </p:txBody>
      </p:sp>
      <p:sp>
        <p:nvSpPr>
          <p:cNvPr id="33" name="Content Placeholder 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4646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7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31640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Bit-Map: Basic Idea</a:t>
            </a:r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934709"/>
              </p:ext>
            </p:extLst>
          </p:nvPr>
        </p:nvGraphicFramePr>
        <p:xfrm>
          <a:off x="892676" y="1390521"/>
          <a:ext cx="7358648" cy="580390"/>
        </p:xfrm>
        <a:graphic>
          <a:graphicData uri="http://schemas.openxmlformats.org/drawingml/2006/table">
            <a:tbl>
              <a:tblPr firstRow="1" firstCol="1" bandRow="1"/>
              <a:tblGrid>
                <a:gridCol w="459272">
                  <a:extLst>
                    <a:ext uri="{9D8B030D-6E8A-4147-A177-3AD203B41FA5}">
                      <a16:colId xmlns:a16="http://schemas.microsoft.com/office/drawing/2014/main" val="4150883809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1146913474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3649606328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2589914435"/>
                    </a:ext>
                  </a:extLst>
                </a:gridCol>
                <a:gridCol w="459272">
                  <a:extLst>
                    <a:ext uri="{9D8B030D-6E8A-4147-A177-3AD203B41FA5}">
                      <a16:colId xmlns:a16="http://schemas.microsoft.com/office/drawing/2014/main" val="722100232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3014646929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1326193160"/>
                    </a:ext>
                  </a:extLst>
                </a:gridCol>
                <a:gridCol w="459272">
                  <a:extLst>
                    <a:ext uri="{9D8B030D-6E8A-4147-A177-3AD203B41FA5}">
                      <a16:colId xmlns:a16="http://schemas.microsoft.com/office/drawing/2014/main" val="221227305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2441232728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2565622702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2973877266"/>
                    </a:ext>
                  </a:extLst>
                </a:gridCol>
                <a:gridCol w="459272">
                  <a:extLst>
                    <a:ext uri="{9D8B030D-6E8A-4147-A177-3AD203B41FA5}">
                      <a16:colId xmlns:a16="http://schemas.microsoft.com/office/drawing/2014/main" val="1924678908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3603174610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2429730840"/>
                    </a:ext>
                  </a:extLst>
                </a:gridCol>
                <a:gridCol w="460130">
                  <a:extLst>
                    <a:ext uri="{9D8B030D-6E8A-4147-A177-3AD203B41FA5}">
                      <a16:colId xmlns:a16="http://schemas.microsoft.com/office/drawing/2014/main" val="4260568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673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889405"/>
              </p:ext>
            </p:extLst>
          </p:nvPr>
        </p:nvGraphicFramePr>
        <p:xfrm>
          <a:off x="2522890" y="3708673"/>
          <a:ext cx="3183821" cy="902716"/>
        </p:xfrm>
        <a:graphic>
          <a:graphicData uri="http://schemas.openxmlformats.org/drawingml/2006/table">
            <a:tbl>
              <a:tblPr firstRow="1" firstCol="1" bandRow="1"/>
              <a:tblGrid>
                <a:gridCol w="397292">
                  <a:extLst>
                    <a:ext uri="{9D8B030D-6E8A-4147-A177-3AD203B41FA5}">
                      <a16:colId xmlns:a16="http://schemas.microsoft.com/office/drawing/2014/main" val="2195811911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2229594017"/>
                    </a:ext>
                  </a:extLst>
                </a:gridCol>
                <a:gridCol w="397292">
                  <a:extLst>
                    <a:ext uri="{9D8B030D-6E8A-4147-A177-3AD203B41FA5}">
                      <a16:colId xmlns:a16="http://schemas.microsoft.com/office/drawing/2014/main" val="2707133487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4244274101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1670132427"/>
                    </a:ext>
                  </a:extLst>
                </a:gridCol>
                <a:gridCol w="397292">
                  <a:extLst>
                    <a:ext uri="{9D8B030D-6E8A-4147-A177-3AD203B41FA5}">
                      <a16:colId xmlns:a16="http://schemas.microsoft.com/office/drawing/2014/main" val="3914146616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2358200737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1490979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271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8272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121" y="914425"/>
            <a:ext cx="500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Memory (16KB total, 1KB </a:t>
            </a:r>
            <a:r>
              <a:rPr lang="en-US" dirty="0" err="1"/>
              <a:t>alloctable</a:t>
            </a:r>
            <a:r>
              <a:rPr lang="en-US" dirty="0"/>
              <a:t>): </a:t>
            </a:r>
            <a:endParaRPr lang="en-SG" dirty="0"/>
          </a:p>
        </p:txBody>
      </p:sp>
      <p:sp>
        <p:nvSpPr>
          <p:cNvPr id="9" name="TextBox 8"/>
          <p:cNvSpPr txBox="1"/>
          <p:nvPr/>
        </p:nvSpPr>
        <p:spPr>
          <a:xfrm>
            <a:off x="0" y="3171127"/>
            <a:ext cx="427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 Bookkeep Info (1bit for each 1KB "box"):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965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Bit-Map: Allocate </a:t>
            </a:r>
            <a:r>
              <a:rPr lang="en-US" b="1" i="1" dirty="0"/>
              <a:t>X</a:t>
            </a:r>
            <a:r>
              <a:rPr lang="en-US" dirty="0"/>
              <a:t>-Kb (</a:t>
            </a:r>
            <a:r>
              <a:rPr lang="en-US" b="1" dirty="0"/>
              <a:t>first-fit</a:t>
            </a:r>
            <a:r>
              <a:rPr lang="en-US" dirty="0"/>
              <a:t>)</a:t>
            </a:r>
            <a:endParaRPr lang="en-SG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26959"/>
              </p:ext>
            </p:extLst>
          </p:nvPr>
        </p:nvGraphicFramePr>
        <p:xfrm>
          <a:off x="2615881" y="1762409"/>
          <a:ext cx="3183821" cy="902716"/>
        </p:xfrm>
        <a:graphic>
          <a:graphicData uri="http://schemas.openxmlformats.org/drawingml/2006/table">
            <a:tbl>
              <a:tblPr firstRow="1" firstCol="1" bandRow="1"/>
              <a:tblGrid>
                <a:gridCol w="397292">
                  <a:extLst>
                    <a:ext uri="{9D8B030D-6E8A-4147-A177-3AD203B41FA5}">
                      <a16:colId xmlns:a16="http://schemas.microsoft.com/office/drawing/2014/main" val="2195811911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2229594017"/>
                    </a:ext>
                  </a:extLst>
                </a:gridCol>
                <a:gridCol w="397292">
                  <a:extLst>
                    <a:ext uri="{9D8B030D-6E8A-4147-A177-3AD203B41FA5}">
                      <a16:colId xmlns:a16="http://schemas.microsoft.com/office/drawing/2014/main" val="2707133487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4244274101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1670132427"/>
                    </a:ext>
                  </a:extLst>
                </a:gridCol>
                <a:gridCol w="397292">
                  <a:extLst>
                    <a:ext uri="{9D8B030D-6E8A-4147-A177-3AD203B41FA5}">
                      <a16:colId xmlns:a16="http://schemas.microsoft.com/office/drawing/2014/main" val="3914146616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2358200737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1490979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271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8272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492" y="930877"/>
            <a:ext cx="427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 Bookkeep Info (1bit for each 1KB "box"): </a:t>
            </a:r>
            <a:endParaRPr lang="en-SG" dirty="0"/>
          </a:p>
        </p:txBody>
      </p:sp>
      <p:sp>
        <p:nvSpPr>
          <p:cNvPr id="10" name="TextBox 9"/>
          <p:cNvSpPr txBox="1"/>
          <p:nvPr/>
        </p:nvSpPr>
        <p:spPr>
          <a:xfrm>
            <a:off x="231932" y="2975232"/>
            <a:ext cx="8741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//Pseudo-Code: Given </a:t>
            </a:r>
            <a:r>
              <a:rPr lang="en-US" sz="2000" b="1" i="1" dirty="0">
                <a:latin typeface="Consolas" panose="020B0609020204030204" pitchFamily="49" charset="0"/>
              </a:rPr>
              <a:t>BM</a:t>
            </a:r>
            <a:r>
              <a:rPr lang="en-US" sz="2000" dirty="0">
                <a:latin typeface="Consolas" panose="020B0609020204030204" pitchFamily="49" charset="0"/>
              </a:rPr>
              <a:t>[], </a:t>
            </a:r>
            <a:r>
              <a:rPr lang="en-US" sz="2000" b="1" i="1" dirty="0">
                <a:latin typeface="Consolas" panose="020B0609020204030204" pitchFamily="49" charset="0"/>
              </a:rPr>
              <a:t>X</a:t>
            </a:r>
            <a:r>
              <a:rPr lang="en-US" sz="2000" dirty="0">
                <a:latin typeface="Consolas" panose="020B0609020204030204" pitchFamily="49" charset="0"/>
              </a:rPr>
              <a:t>, Return </a:t>
            </a:r>
            <a:r>
              <a:rPr lang="en-US" sz="2000" b="1" i="1" dirty="0">
                <a:latin typeface="Consolas" panose="020B0609020204030204" pitchFamily="49" charset="0"/>
              </a:rPr>
              <a:t>Start</a:t>
            </a:r>
            <a:endParaRPr lang="en-SG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27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Bit-Map: Deallocate </a:t>
            </a:r>
            <a:r>
              <a:rPr lang="en-US" b="1" i="1" dirty="0"/>
              <a:t>X</a:t>
            </a:r>
            <a:r>
              <a:rPr lang="en-US" dirty="0"/>
              <a:t>-Kb at starting at </a:t>
            </a:r>
            <a:r>
              <a:rPr lang="en-US" b="1" i="1" dirty="0"/>
              <a:t>Y</a:t>
            </a:r>
            <a:endParaRPr lang="en-SG" b="1" i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892220"/>
              </p:ext>
            </p:extLst>
          </p:nvPr>
        </p:nvGraphicFramePr>
        <p:xfrm>
          <a:off x="2615881" y="1762409"/>
          <a:ext cx="3183821" cy="902716"/>
        </p:xfrm>
        <a:graphic>
          <a:graphicData uri="http://schemas.openxmlformats.org/drawingml/2006/table">
            <a:tbl>
              <a:tblPr firstRow="1" firstCol="1" bandRow="1"/>
              <a:tblGrid>
                <a:gridCol w="397292">
                  <a:extLst>
                    <a:ext uri="{9D8B030D-6E8A-4147-A177-3AD203B41FA5}">
                      <a16:colId xmlns:a16="http://schemas.microsoft.com/office/drawing/2014/main" val="2195811911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2229594017"/>
                    </a:ext>
                  </a:extLst>
                </a:gridCol>
                <a:gridCol w="397292">
                  <a:extLst>
                    <a:ext uri="{9D8B030D-6E8A-4147-A177-3AD203B41FA5}">
                      <a16:colId xmlns:a16="http://schemas.microsoft.com/office/drawing/2014/main" val="2707133487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4244274101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1670132427"/>
                    </a:ext>
                  </a:extLst>
                </a:gridCol>
                <a:gridCol w="397292">
                  <a:extLst>
                    <a:ext uri="{9D8B030D-6E8A-4147-A177-3AD203B41FA5}">
                      <a16:colId xmlns:a16="http://schemas.microsoft.com/office/drawing/2014/main" val="3914146616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2358200737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1490979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271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8272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492" y="930877"/>
            <a:ext cx="427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 Bookkeep Info (1bit for each 1KB "box"): </a:t>
            </a:r>
            <a:endParaRPr lang="en-SG" dirty="0"/>
          </a:p>
        </p:txBody>
      </p:sp>
      <p:sp>
        <p:nvSpPr>
          <p:cNvPr id="10" name="TextBox 9"/>
          <p:cNvSpPr txBox="1"/>
          <p:nvPr/>
        </p:nvSpPr>
        <p:spPr>
          <a:xfrm>
            <a:off x="231932" y="2975232"/>
            <a:ext cx="8741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//Pseudo-Code: Given </a:t>
            </a:r>
            <a:r>
              <a:rPr lang="en-US" sz="2000" b="1" i="1" dirty="0">
                <a:latin typeface="Consolas" panose="020B0609020204030204" pitchFamily="49" charset="0"/>
              </a:rPr>
              <a:t>Y, X</a:t>
            </a:r>
            <a:endParaRPr lang="en-SG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08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Bit-Map: Merge nearby partitions?</a:t>
            </a:r>
            <a:endParaRPr lang="en-SG" b="1" i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615881" y="1762409"/>
          <a:ext cx="3183821" cy="902716"/>
        </p:xfrm>
        <a:graphic>
          <a:graphicData uri="http://schemas.openxmlformats.org/drawingml/2006/table">
            <a:tbl>
              <a:tblPr firstRow="1" firstCol="1" bandRow="1"/>
              <a:tblGrid>
                <a:gridCol w="397292">
                  <a:extLst>
                    <a:ext uri="{9D8B030D-6E8A-4147-A177-3AD203B41FA5}">
                      <a16:colId xmlns:a16="http://schemas.microsoft.com/office/drawing/2014/main" val="2195811911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2229594017"/>
                    </a:ext>
                  </a:extLst>
                </a:gridCol>
                <a:gridCol w="397292">
                  <a:extLst>
                    <a:ext uri="{9D8B030D-6E8A-4147-A177-3AD203B41FA5}">
                      <a16:colId xmlns:a16="http://schemas.microsoft.com/office/drawing/2014/main" val="2707133487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4244274101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1670132427"/>
                    </a:ext>
                  </a:extLst>
                </a:gridCol>
                <a:gridCol w="397292">
                  <a:extLst>
                    <a:ext uri="{9D8B030D-6E8A-4147-A177-3AD203B41FA5}">
                      <a16:colId xmlns:a16="http://schemas.microsoft.com/office/drawing/2014/main" val="3914146616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2358200737"/>
                    </a:ext>
                  </a:extLst>
                </a:gridCol>
                <a:gridCol w="398389">
                  <a:extLst>
                    <a:ext uri="{9D8B030D-6E8A-4147-A177-3AD203B41FA5}">
                      <a16:colId xmlns:a16="http://schemas.microsoft.com/office/drawing/2014/main" val="1490979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271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2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8272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492" y="930877"/>
            <a:ext cx="427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 Bookkeep Info (1bit for each 1KB "box"): </a:t>
            </a:r>
            <a:endParaRPr lang="en-SG" dirty="0"/>
          </a:p>
        </p:txBody>
      </p:sp>
      <p:sp>
        <p:nvSpPr>
          <p:cNvPr id="10" name="TextBox 9"/>
          <p:cNvSpPr txBox="1"/>
          <p:nvPr/>
        </p:nvSpPr>
        <p:spPr>
          <a:xfrm>
            <a:off x="231932" y="2975232"/>
            <a:ext cx="8741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//Pseudo-Code: Given </a:t>
            </a:r>
            <a:r>
              <a:rPr lang="en-US" sz="2000" b="1" i="1" dirty="0">
                <a:latin typeface="Consolas" panose="020B0609020204030204" pitchFamily="49" charset="0"/>
              </a:rPr>
              <a:t>BM[]</a:t>
            </a:r>
            <a:endParaRPr lang="en-SG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7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7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74845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Setup</a:t>
            </a:r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128730"/>
              </p:ext>
            </p:extLst>
          </p:nvPr>
        </p:nvGraphicFramePr>
        <p:xfrm>
          <a:off x="892674" y="1390521"/>
          <a:ext cx="6926220" cy="548132"/>
        </p:xfrm>
        <a:graphic>
          <a:graphicData uri="http://schemas.openxmlformats.org/drawingml/2006/table">
            <a:tbl>
              <a:tblPr firstRow="1" firstCol="1" bandRow="1"/>
              <a:tblGrid>
                <a:gridCol w="750146">
                  <a:extLst>
                    <a:ext uri="{9D8B030D-6E8A-4147-A177-3AD203B41FA5}">
                      <a16:colId xmlns:a16="http://schemas.microsoft.com/office/drawing/2014/main" val="4150883809"/>
                    </a:ext>
                  </a:extLst>
                </a:gridCol>
                <a:gridCol w="1162373">
                  <a:extLst>
                    <a:ext uri="{9D8B030D-6E8A-4147-A177-3AD203B41FA5}">
                      <a16:colId xmlns:a16="http://schemas.microsoft.com/office/drawing/2014/main" val="1146913474"/>
                    </a:ext>
                  </a:extLst>
                </a:gridCol>
                <a:gridCol w="1697065">
                  <a:extLst>
                    <a:ext uri="{9D8B030D-6E8A-4147-A177-3AD203B41FA5}">
                      <a16:colId xmlns:a16="http://schemas.microsoft.com/office/drawing/2014/main" val="3649606328"/>
                    </a:ext>
                  </a:extLst>
                </a:gridCol>
                <a:gridCol w="1363850">
                  <a:extLst>
                    <a:ext uri="{9D8B030D-6E8A-4147-A177-3AD203B41FA5}">
                      <a16:colId xmlns:a16="http://schemas.microsoft.com/office/drawing/2014/main" val="2589914435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722100232"/>
                    </a:ext>
                  </a:extLst>
                </a:gridCol>
                <a:gridCol w="991891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500KB</a:t>
                      </a:r>
                      <a:endParaRPr lang="en-SG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250KB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673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121" y="914425"/>
            <a:ext cx="500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Free Partitions:</a:t>
            </a:r>
            <a:endParaRPr lang="en-SG" dirty="0"/>
          </a:p>
        </p:txBody>
      </p:sp>
      <p:sp>
        <p:nvSpPr>
          <p:cNvPr id="9" name="TextBox 8"/>
          <p:cNvSpPr txBox="1"/>
          <p:nvPr/>
        </p:nvSpPr>
        <p:spPr>
          <a:xfrm>
            <a:off x="-1" y="3171127"/>
            <a:ext cx="8198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allocate </a:t>
            </a:r>
            <a:r>
              <a:rPr lang="en-US" sz="2800" dirty="0">
                <a:solidFill>
                  <a:srgbClr val="002060"/>
                </a:solidFill>
              </a:rPr>
              <a:t>P</a:t>
            </a:r>
            <a:r>
              <a:rPr lang="en-US" sz="2800" baseline="-25000" dirty="0">
                <a:solidFill>
                  <a:srgbClr val="002060"/>
                </a:solidFill>
              </a:rPr>
              <a:t>1</a:t>
            </a:r>
            <a:r>
              <a:rPr lang="en-US" sz="2800" dirty="0">
                <a:solidFill>
                  <a:srgbClr val="002060"/>
                </a:solidFill>
              </a:rPr>
              <a:t>=357KB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C00000"/>
                </a:solidFill>
              </a:rPr>
              <a:t>P</a:t>
            </a:r>
            <a:r>
              <a:rPr lang="en-US" sz="2800" baseline="-25000" dirty="0">
                <a:solidFill>
                  <a:srgbClr val="C00000"/>
                </a:solidFill>
              </a:rPr>
              <a:t>2</a:t>
            </a:r>
            <a:r>
              <a:rPr lang="en-US" sz="2800" dirty="0">
                <a:solidFill>
                  <a:srgbClr val="C00000"/>
                </a:solidFill>
              </a:rPr>
              <a:t>=210KB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2060"/>
                </a:solidFill>
              </a:rPr>
              <a:t>P</a:t>
            </a:r>
            <a:r>
              <a:rPr lang="en-US" sz="2800" baseline="-25000" dirty="0">
                <a:solidFill>
                  <a:srgbClr val="002060"/>
                </a:solidFill>
              </a:rPr>
              <a:t>3</a:t>
            </a:r>
            <a:r>
              <a:rPr lang="en-US" sz="2800" dirty="0">
                <a:solidFill>
                  <a:srgbClr val="002060"/>
                </a:solidFill>
              </a:rPr>
              <a:t>=468KB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C00000"/>
                </a:solidFill>
              </a:rPr>
              <a:t>P</a:t>
            </a:r>
            <a:r>
              <a:rPr lang="en-US" sz="2800" baseline="-25000" dirty="0">
                <a:solidFill>
                  <a:srgbClr val="C00000"/>
                </a:solidFill>
              </a:rPr>
              <a:t>4</a:t>
            </a:r>
            <a:r>
              <a:rPr lang="en-US" sz="2800" dirty="0">
                <a:solidFill>
                  <a:srgbClr val="C00000"/>
                </a:solidFill>
              </a:rPr>
              <a:t>=491KB</a:t>
            </a:r>
            <a:endParaRPr lang="en-SG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08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052"/>
            <a:ext cx="9144000" cy="1230919"/>
          </a:xfrm>
        </p:spPr>
        <p:txBody>
          <a:bodyPr>
            <a:normAutofit/>
          </a:bodyPr>
          <a:lstStyle/>
          <a:p>
            <a:r>
              <a:rPr lang="en-US" sz="3400" b="1" dirty="0"/>
              <a:t>First</a:t>
            </a:r>
            <a:r>
              <a:rPr lang="en-US" sz="3400" dirty="0"/>
              <a:t>-Fit: </a:t>
            </a:r>
            <a:br>
              <a:rPr lang="en-US" sz="3400" dirty="0"/>
            </a:br>
            <a:r>
              <a:rPr lang="en-US" sz="3400" dirty="0">
                <a:solidFill>
                  <a:srgbClr val="002060"/>
                </a:solidFill>
              </a:rPr>
              <a:t>P</a:t>
            </a:r>
            <a:r>
              <a:rPr lang="en-US" sz="3400" baseline="-25000" dirty="0">
                <a:solidFill>
                  <a:srgbClr val="002060"/>
                </a:solidFill>
              </a:rPr>
              <a:t>1</a:t>
            </a:r>
            <a:r>
              <a:rPr lang="en-US" sz="3400" dirty="0">
                <a:solidFill>
                  <a:srgbClr val="002060"/>
                </a:solidFill>
              </a:rPr>
              <a:t>=357KB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C00000"/>
                </a:solidFill>
              </a:rPr>
              <a:t>P</a:t>
            </a:r>
            <a:r>
              <a:rPr lang="en-US" sz="3400" baseline="-25000" dirty="0">
                <a:solidFill>
                  <a:srgbClr val="C00000"/>
                </a:solidFill>
              </a:rPr>
              <a:t>2</a:t>
            </a:r>
            <a:r>
              <a:rPr lang="en-US" sz="3400" dirty="0">
                <a:solidFill>
                  <a:srgbClr val="C00000"/>
                </a:solidFill>
              </a:rPr>
              <a:t>=210KB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002060"/>
                </a:solidFill>
              </a:rPr>
              <a:t>P</a:t>
            </a:r>
            <a:r>
              <a:rPr lang="en-US" sz="3400" baseline="-25000" dirty="0">
                <a:solidFill>
                  <a:srgbClr val="002060"/>
                </a:solidFill>
              </a:rPr>
              <a:t>3</a:t>
            </a:r>
            <a:r>
              <a:rPr lang="en-US" sz="3400" dirty="0">
                <a:solidFill>
                  <a:srgbClr val="002060"/>
                </a:solidFill>
              </a:rPr>
              <a:t>=468KB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C00000"/>
                </a:solidFill>
              </a:rPr>
              <a:t>P</a:t>
            </a:r>
            <a:r>
              <a:rPr lang="en-US" sz="3400" baseline="-25000" dirty="0">
                <a:solidFill>
                  <a:srgbClr val="C00000"/>
                </a:solidFill>
              </a:rPr>
              <a:t>4</a:t>
            </a:r>
            <a:r>
              <a:rPr lang="en-US" sz="3400" dirty="0">
                <a:solidFill>
                  <a:srgbClr val="C00000"/>
                </a:solidFill>
              </a:rPr>
              <a:t>=491KB</a:t>
            </a:r>
            <a:endParaRPr lang="en-SG" sz="3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441279"/>
              </p:ext>
            </p:extLst>
          </p:nvPr>
        </p:nvGraphicFramePr>
        <p:xfrm>
          <a:off x="870552" y="1991108"/>
          <a:ext cx="6926220" cy="548132"/>
        </p:xfrm>
        <a:graphic>
          <a:graphicData uri="http://schemas.openxmlformats.org/drawingml/2006/table">
            <a:tbl>
              <a:tblPr firstRow="1" firstCol="1" bandRow="1"/>
              <a:tblGrid>
                <a:gridCol w="750146">
                  <a:extLst>
                    <a:ext uri="{9D8B030D-6E8A-4147-A177-3AD203B41FA5}">
                      <a16:colId xmlns:a16="http://schemas.microsoft.com/office/drawing/2014/main" val="4150883809"/>
                    </a:ext>
                  </a:extLst>
                </a:gridCol>
                <a:gridCol w="1162373">
                  <a:extLst>
                    <a:ext uri="{9D8B030D-6E8A-4147-A177-3AD203B41FA5}">
                      <a16:colId xmlns:a16="http://schemas.microsoft.com/office/drawing/2014/main" val="1146913474"/>
                    </a:ext>
                  </a:extLst>
                </a:gridCol>
                <a:gridCol w="1697065">
                  <a:extLst>
                    <a:ext uri="{9D8B030D-6E8A-4147-A177-3AD203B41FA5}">
                      <a16:colId xmlns:a16="http://schemas.microsoft.com/office/drawing/2014/main" val="3649606328"/>
                    </a:ext>
                  </a:extLst>
                </a:gridCol>
                <a:gridCol w="1363850">
                  <a:extLst>
                    <a:ext uri="{9D8B030D-6E8A-4147-A177-3AD203B41FA5}">
                      <a16:colId xmlns:a16="http://schemas.microsoft.com/office/drawing/2014/main" val="2589914435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722100232"/>
                    </a:ext>
                  </a:extLst>
                </a:gridCol>
                <a:gridCol w="991891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500KB</a:t>
                      </a:r>
                      <a:endParaRPr lang="en-SG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250KB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673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-1" y="1515012"/>
            <a:ext cx="500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Info:</a:t>
            </a: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307475"/>
              </p:ext>
            </p:extLst>
          </p:nvPr>
        </p:nvGraphicFramePr>
        <p:xfrm>
          <a:off x="870552" y="3087523"/>
          <a:ext cx="1060872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060872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(357)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70158"/>
              </p:ext>
            </p:extLst>
          </p:nvPr>
        </p:nvGraphicFramePr>
        <p:xfrm>
          <a:off x="872161" y="3751642"/>
          <a:ext cx="803265" cy="324588"/>
        </p:xfrm>
        <a:graphic>
          <a:graphicData uri="http://schemas.openxmlformats.org/drawingml/2006/table">
            <a:tbl>
              <a:tblPr firstRow="1" firstCol="1" bandRow="1"/>
              <a:tblGrid>
                <a:gridCol w="803265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3245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600" b="1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 </a:t>
                      </a:r>
                      <a:r>
                        <a:rPr lang="en-SG" sz="1600" b="1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(210)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245283"/>
              </p:ext>
            </p:extLst>
          </p:nvPr>
        </p:nvGraphicFramePr>
        <p:xfrm>
          <a:off x="891591" y="4458639"/>
          <a:ext cx="1181250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181250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(468)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814369"/>
              </p:ext>
            </p:extLst>
          </p:nvPr>
        </p:nvGraphicFramePr>
        <p:xfrm>
          <a:off x="891591" y="5240880"/>
          <a:ext cx="1294269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294269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(491)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94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052"/>
            <a:ext cx="9144000" cy="1230919"/>
          </a:xfrm>
        </p:spPr>
        <p:txBody>
          <a:bodyPr>
            <a:normAutofit/>
          </a:bodyPr>
          <a:lstStyle/>
          <a:p>
            <a:r>
              <a:rPr lang="en-US" sz="3400" b="1" dirty="0"/>
              <a:t>Best</a:t>
            </a:r>
            <a:r>
              <a:rPr lang="en-US" sz="3400" dirty="0"/>
              <a:t>-Fit: </a:t>
            </a:r>
            <a:br>
              <a:rPr lang="en-US" sz="3400" dirty="0"/>
            </a:br>
            <a:r>
              <a:rPr lang="en-US" sz="3400" dirty="0">
                <a:solidFill>
                  <a:srgbClr val="002060"/>
                </a:solidFill>
              </a:rPr>
              <a:t>P</a:t>
            </a:r>
            <a:r>
              <a:rPr lang="en-US" sz="3400" baseline="-25000" dirty="0">
                <a:solidFill>
                  <a:srgbClr val="002060"/>
                </a:solidFill>
              </a:rPr>
              <a:t>1</a:t>
            </a:r>
            <a:r>
              <a:rPr lang="en-US" sz="3400" dirty="0">
                <a:solidFill>
                  <a:srgbClr val="002060"/>
                </a:solidFill>
              </a:rPr>
              <a:t>=357KB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C00000"/>
                </a:solidFill>
              </a:rPr>
              <a:t>P</a:t>
            </a:r>
            <a:r>
              <a:rPr lang="en-US" sz="3400" baseline="-25000" dirty="0">
                <a:solidFill>
                  <a:srgbClr val="C00000"/>
                </a:solidFill>
              </a:rPr>
              <a:t>2</a:t>
            </a:r>
            <a:r>
              <a:rPr lang="en-US" sz="3400" dirty="0">
                <a:solidFill>
                  <a:srgbClr val="C00000"/>
                </a:solidFill>
              </a:rPr>
              <a:t>=210KB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002060"/>
                </a:solidFill>
              </a:rPr>
              <a:t>P</a:t>
            </a:r>
            <a:r>
              <a:rPr lang="en-US" sz="3400" baseline="-25000" dirty="0">
                <a:solidFill>
                  <a:srgbClr val="002060"/>
                </a:solidFill>
              </a:rPr>
              <a:t>3</a:t>
            </a:r>
            <a:r>
              <a:rPr lang="en-US" sz="3400" dirty="0">
                <a:solidFill>
                  <a:srgbClr val="002060"/>
                </a:solidFill>
              </a:rPr>
              <a:t>=468KB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C00000"/>
                </a:solidFill>
              </a:rPr>
              <a:t>P</a:t>
            </a:r>
            <a:r>
              <a:rPr lang="en-US" sz="3400" baseline="-25000" dirty="0">
                <a:solidFill>
                  <a:srgbClr val="C00000"/>
                </a:solidFill>
              </a:rPr>
              <a:t>4</a:t>
            </a:r>
            <a:r>
              <a:rPr lang="en-US" sz="3400" dirty="0">
                <a:solidFill>
                  <a:srgbClr val="C00000"/>
                </a:solidFill>
              </a:rPr>
              <a:t>=491KB</a:t>
            </a:r>
            <a:endParaRPr lang="en-SG" sz="3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70552" y="1991108"/>
          <a:ext cx="6926220" cy="548132"/>
        </p:xfrm>
        <a:graphic>
          <a:graphicData uri="http://schemas.openxmlformats.org/drawingml/2006/table">
            <a:tbl>
              <a:tblPr firstRow="1" firstCol="1" bandRow="1"/>
              <a:tblGrid>
                <a:gridCol w="750146">
                  <a:extLst>
                    <a:ext uri="{9D8B030D-6E8A-4147-A177-3AD203B41FA5}">
                      <a16:colId xmlns:a16="http://schemas.microsoft.com/office/drawing/2014/main" val="4150883809"/>
                    </a:ext>
                  </a:extLst>
                </a:gridCol>
                <a:gridCol w="1162373">
                  <a:extLst>
                    <a:ext uri="{9D8B030D-6E8A-4147-A177-3AD203B41FA5}">
                      <a16:colId xmlns:a16="http://schemas.microsoft.com/office/drawing/2014/main" val="1146913474"/>
                    </a:ext>
                  </a:extLst>
                </a:gridCol>
                <a:gridCol w="1697065">
                  <a:extLst>
                    <a:ext uri="{9D8B030D-6E8A-4147-A177-3AD203B41FA5}">
                      <a16:colId xmlns:a16="http://schemas.microsoft.com/office/drawing/2014/main" val="3649606328"/>
                    </a:ext>
                  </a:extLst>
                </a:gridCol>
                <a:gridCol w="1363850">
                  <a:extLst>
                    <a:ext uri="{9D8B030D-6E8A-4147-A177-3AD203B41FA5}">
                      <a16:colId xmlns:a16="http://schemas.microsoft.com/office/drawing/2014/main" val="2589914435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722100232"/>
                    </a:ext>
                  </a:extLst>
                </a:gridCol>
                <a:gridCol w="991891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500KB</a:t>
                      </a:r>
                      <a:endParaRPr lang="en-SG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250KB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673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-1" y="1515012"/>
            <a:ext cx="500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Info:</a:t>
            </a: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70552" y="3087523"/>
          <a:ext cx="1060872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060872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(357)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72161" y="3751642"/>
          <a:ext cx="803265" cy="324588"/>
        </p:xfrm>
        <a:graphic>
          <a:graphicData uri="http://schemas.openxmlformats.org/drawingml/2006/table">
            <a:tbl>
              <a:tblPr firstRow="1" firstCol="1" bandRow="1"/>
              <a:tblGrid>
                <a:gridCol w="803265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3245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600" b="1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 </a:t>
                      </a:r>
                      <a:r>
                        <a:rPr lang="en-SG" sz="1600" b="1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(210)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91591" y="4458639"/>
          <a:ext cx="1181250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181250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(468)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91591" y="5240880"/>
          <a:ext cx="1294269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294269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(491)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932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052"/>
            <a:ext cx="9144000" cy="1230919"/>
          </a:xfrm>
        </p:spPr>
        <p:txBody>
          <a:bodyPr>
            <a:normAutofit/>
          </a:bodyPr>
          <a:lstStyle/>
          <a:p>
            <a:r>
              <a:rPr lang="en-US" sz="3400" b="1" dirty="0"/>
              <a:t>Worst</a:t>
            </a:r>
            <a:r>
              <a:rPr lang="en-US" sz="3400" dirty="0"/>
              <a:t>-Fit: </a:t>
            </a:r>
            <a:br>
              <a:rPr lang="en-US" sz="3400" dirty="0"/>
            </a:br>
            <a:r>
              <a:rPr lang="en-US" sz="3400" dirty="0">
                <a:solidFill>
                  <a:srgbClr val="002060"/>
                </a:solidFill>
              </a:rPr>
              <a:t>P</a:t>
            </a:r>
            <a:r>
              <a:rPr lang="en-US" sz="3400" baseline="-25000" dirty="0">
                <a:solidFill>
                  <a:srgbClr val="002060"/>
                </a:solidFill>
              </a:rPr>
              <a:t>1</a:t>
            </a:r>
            <a:r>
              <a:rPr lang="en-US" sz="3400" dirty="0">
                <a:solidFill>
                  <a:srgbClr val="002060"/>
                </a:solidFill>
              </a:rPr>
              <a:t>=357KB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C00000"/>
                </a:solidFill>
              </a:rPr>
              <a:t>P</a:t>
            </a:r>
            <a:r>
              <a:rPr lang="en-US" sz="3400" baseline="-25000" dirty="0">
                <a:solidFill>
                  <a:srgbClr val="C00000"/>
                </a:solidFill>
              </a:rPr>
              <a:t>2</a:t>
            </a:r>
            <a:r>
              <a:rPr lang="en-US" sz="3400" dirty="0">
                <a:solidFill>
                  <a:srgbClr val="C00000"/>
                </a:solidFill>
              </a:rPr>
              <a:t>=210KB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002060"/>
                </a:solidFill>
              </a:rPr>
              <a:t>P</a:t>
            </a:r>
            <a:r>
              <a:rPr lang="en-US" sz="3400" baseline="-25000" dirty="0">
                <a:solidFill>
                  <a:srgbClr val="002060"/>
                </a:solidFill>
              </a:rPr>
              <a:t>3</a:t>
            </a:r>
            <a:r>
              <a:rPr lang="en-US" sz="3400" dirty="0">
                <a:solidFill>
                  <a:srgbClr val="002060"/>
                </a:solidFill>
              </a:rPr>
              <a:t>=468KB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C00000"/>
                </a:solidFill>
              </a:rPr>
              <a:t>P</a:t>
            </a:r>
            <a:r>
              <a:rPr lang="en-US" sz="3400" baseline="-25000" dirty="0">
                <a:solidFill>
                  <a:srgbClr val="C00000"/>
                </a:solidFill>
              </a:rPr>
              <a:t>4</a:t>
            </a:r>
            <a:r>
              <a:rPr lang="en-US" sz="3400" dirty="0">
                <a:solidFill>
                  <a:srgbClr val="C00000"/>
                </a:solidFill>
              </a:rPr>
              <a:t>=491KB</a:t>
            </a:r>
            <a:endParaRPr lang="en-SG" sz="3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70552" y="1991108"/>
          <a:ext cx="6926220" cy="548132"/>
        </p:xfrm>
        <a:graphic>
          <a:graphicData uri="http://schemas.openxmlformats.org/drawingml/2006/table">
            <a:tbl>
              <a:tblPr firstRow="1" firstCol="1" bandRow="1"/>
              <a:tblGrid>
                <a:gridCol w="750146">
                  <a:extLst>
                    <a:ext uri="{9D8B030D-6E8A-4147-A177-3AD203B41FA5}">
                      <a16:colId xmlns:a16="http://schemas.microsoft.com/office/drawing/2014/main" val="4150883809"/>
                    </a:ext>
                  </a:extLst>
                </a:gridCol>
                <a:gridCol w="1162373">
                  <a:extLst>
                    <a:ext uri="{9D8B030D-6E8A-4147-A177-3AD203B41FA5}">
                      <a16:colId xmlns:a16="http://schemas.microsoft.com/office/drawing/2014/main" val="1146913474"/>
                    </a:ext>
                  </a:extLst>
                </a:gridCol>
                <a:gridCol w="1697065">
                  <a:extLst>
                    <a:ext uri="{9D8B030D-6E8A-4147-A177-3AD203B41FA5}">
                      <a16:colId xmlns:a16="http://schemas.microsoft.com/office/drawing/2014/main" val="3649606328"/>
                    </a:ext>
                  </a:extLst>
                </a:gridCol>
                <a:gridCol w="1363850">
                  <a:extLst>
                    <a:ext uri="{9D8B030D-6E8A-4147-A177-3AD203B41FA5}">
                      <a16:colId xmlns:a16="http://schemas.microsoft.com/office/drawing/2014/main" val="2589914435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722100232"/>
                    </a:ext>
                  </a:extLst>
                </a:gridCol>
                <a:gridCol w="991891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500KB</a:t>
                      </a:r>
                      <a:endParaRPr lang="en-SG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250KB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673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-1" y="1515012"/>
            <a:ext cx="500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Info:</a:t>
            </a: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70552" y="3087523"/>
          <a:ext cx="1060872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060872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(357)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72161" y="3751642"/>
          <a:ext cx="803265" cy="324588"/>
        </p:xfrm>
        <a:graphic>
          <a:graphicData uri="http://schemas.openxmlformats.org/drawingml/2006/table">
            <a:tbl>
              <a:tblPr firstRow="1" firstCol="1" bandRow="1"/>
              <a:tblGrid>
                <a:gridCol w="803265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3245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600" b="1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 </a:t>
                      </a:r>
                      <a:r>
                        <a:rPr lang="en-SG" sz="1600" b="1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(210)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91591" y="4458639"/>
          <a:ext cx="1181250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181250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(468)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91591" y="5240880"/>
          <a:ext cx="1294269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294269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(491)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071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7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3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56013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052"/>
            <a:ext cx="9144000" cy="1230919"/>
          </a:xfrm>
        </p:spPr>
        <p:txBody>
          <a:bodyPr>
            <a:normAutofit/>
          </a:bodyPr>
          <a:lstStyle/>
          <a:p>
            <a:r>
              <a:rPr lang="en-US" sz="3400" dirty="0"/>
              <a:t>Modified </a:t>
            </a:r>
            <a:r>
              <a:rPr lang="en-US" sz="3400" b="1" dirty="0"/>
              <a:t>First</a:t>
            </a:r>
            <a:r>
              <a:rPr lang="en-US" sz="3400" dirty="0"/>
              <a:t>-Fit </a:t>
            </a:r>
            <a:br>
              <a:rPr lang="en-US" sz="3400" dirty="0"/>
            </a:br>
            <a:r>
              <a:rPr lang="en-US" sz="3400" dirty="0">
                <a:solidFill>
                  <a:srgbClr val="002060"/>
                </a:solidFill>
              </a:rPr>
              <a:t>P</a:t>
            </a:r>
            <a:r>
              <a:rPr lang="en-US" sz="3400" baseline="-25000" dirty="0">
                <a:solidFill>
                  <a:srgbClr val="002060"/>
                </a:solidFill>
              </a:rPr>
              <a:t>1</a:t>
            </a:r>
            <a:r>
              <a:rPr lang="en-US" sz="3400" dirty="0">
                <a:solidFill>
                  <a:srgbClr val="002060"/>
                </a:solidFill>
              </a:rPr>
              <a:t>=357KB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C00000"/>
                </a:solidFill>
              </a:rPr>
              <a:t>P</a:t>
            </a:r>
            <a:r>
              <a:rPr lang="en-US" sz="3400" baseline="-25000" dirty="0">
                <a:solidFill>
                  <a:srgbClr val="C00000"/>
                </a:solidFill>
              </a:rPr>
              <a:t>2</a:t>
            </a:r>
            <a:r>
              <a:rPr lang="en-US" sz="3400" dirty="0">
                <a:solidFill>
                  <a:srgbClr val="C00000"/>
                </a:solidFill>
              </a:rPr>
              <a:t>=210KB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002060"/>
                </a:solidFill>
              </a:rPr>
              <a:t>P</a:t>
            </a:r>
            <a:r>
              <a:rPr lang="en-US" sz="3400" baseline="-25000" dirty="0">
                <a:solidFill>
                  <a:srgbClr val="002060"/>
                </a:solidFill>
              </a:rPr>
              <a:t>3</a:t>
            </a:r>
            <a:r>
              <a:rPr lang="en-US" sz="3400" dirty="0">
                <a:solidFill>
                  <a:srgbClr val="002060"/>
                </a:solidFill>
              </a:rPr>
              <a:t>=468KB</a:t>
            </a:r>
            <a:r>
              <a:rPr lang="en-US" sz="3400" dirty="0"/>
              <a:t>, </a:t>
            </a:r>
            <a:r>
              <a:rPr lang="en-US" sz="3400" dirty="0">
                <a:solidFill>
                  <a:srgbClr val="C00000"/>
                </a:solidFill>
              </a:rPr>
              <a:t>P</a:t>
            </a:r>
            <a:r>
              <a:rPr lang="en-US" sz="3400" baseline="-25000" dirty="0">
                <a:solidFill>
                  <a:srgbClr val="C00000"/>
                </a:solidFill>
              </a:rPr>
              <a:t>4</a:t>
            </a:r>
            <a:r>
              <a:rPr lang="en-US" sz="3400" dirty="0">
                <a:solidFill>
                  <a:srgbClr val="C00000"/>
                </a:solidFill>
              </a:rPr>
              <a:t>=491KB</a:t>
            </a:r>
            <a:endParaRPr lang="en-SG" sz="3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70552" y="1991108"/>
          <a:ext cx="6926220" cy="548132"/>
        </p:xfrm>
        <a:graphic>
          <a:graphicData uri="http://schemas.openxmlformats.org/drawingml/2006/table">
            <a:tbl>
              <a:tblPr firstRow="1" firstCol="1" bandRow="1"/>
              <a:tblGrid>
                <a:gridCol w="750146">
                  <a:extLst>
                    <a:ext uri="{9D8B030D-6E8A-4147-A177-3AD203B41FA5}">
                      <a16:colId xmlns:a16="http://schemas.microsoft.com/office/drawing/2014/main" val="4150883809"/>
                    </a:ext>
                  </a:extLst>
                </a:gridCol>
                <a:gridCol w="1162373">
                  <a:extLst>
                    <a:ext uri="{9D8B030D-6E8A-4147-A177-3AD203B41FA5}">
                      <a16:colId xmlns:a16="http://schemas.microsoft.com/office/drawing/2014/main" val="1146913474"/>
                    </a:ext>
                  </a:extLst>
                </a:gridCol>
                <a:gridCol w="1697065">
                  <a:extLst>
                    <a:ext uri="{9D8B030D-6E8A-4147-A177-3AD203B41FA5}">
                      <a16:colId xmlns:a16="http://schemas.microsoft.com/office/drawing/2014/main" val="3649606328"/>
                    </a:ext>
                  </a:extLst>
                </a:gridCol>
                <a:gridCol w="1363850">
                  <a:extLst>
                    <a:ext uri="{9D8B030D-6E8A-4147-A177-3AD203B41FA5}">
                      <a16:colId xmlns:a16="http://schemas.microsoft.com/office/drawing/2014/main" val="2589914435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722100232"/>
                    </a:ext>
                  </a:extLst>
                </a:gridCol>
                <a:gridCol w="991891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500KB</a:t>
                      </a:r>
                      <a:endParaRPr lang="en-SG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300KB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250KB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673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-1" y="1515012"/>
            <a:ext cx="500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Info:</a:t>
            </a: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70552" y="3087523"/>
          <a:ext cx="1060872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060872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(357)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72161" y="3751642"/>
          <a:ext cx="803265" cy="324588"/>
        </p:xfrm>
        <a:graphic>
          <a:graphicData uri="http://schemas.openxmlformats.org/drawingml/2006/table">
            <a:tbl>
              <a:tblPr firstRow="1" firstCol="1" bandRow="1"/>
              <a:tblGrid>
                <a:gridCol w="803265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3245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600" b="1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 </a:t>
                      </a:r>
                      <a:r>
                        <a:rPr lang="en-SG" sz="1600" b="1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(210)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91591" y="4458639"/>
          <a:ext cx="1181250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181250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(468)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91591" y="5240880"/>
          <a:ext cx="1294269" cy="290195"/>
        </p:xfrm>
        <a:graphic>
          <a:graphicData uri="http://schemas.openxmlformats.org/drawingml/2006/table">
            <a:tbl>
              <a:tblPr firstRow="1" firstCol="1" bandRow="1"/>
              <a:tblGrid>
                <a:gridCol w="1294269">
                  <a:extLst>
                    <a:ext uri="{9D8B030D-6E8A-4147-A177-3AD203B41FA5}">
                      <a16:colId xmlns:a16="http://schemas.microsoft.com/office/drawing/2014/main" val="392550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P</a:t>
                      </a:r>
                      <a:r>
                        <a:rPr lang="en-SG" sz="1800" baseline="-250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 </a:t>
                      </a:r>
                      <a:r>
                        <a:rPr lang="en-SG" sz="1800" baseline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(491)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1881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76414" y="4087339"/>
            <a:ext cx="5563891" cy="2083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27305" lvl="0" algn="just" fontAlgn="base">
              <a:lnSpc>
                <a:spcPct val="103000"/>
              </a:lnSpc>
              <a:spcAft>
                <a:spcPts val="75"/>
              </a:spcAft>
              <a:buClr>
                <a:srgbClr val="000000"/>
              </a:buClr>
              <a:buSzPts val="1200"/>
            </a:pPr>
            <a:r>
              <a:rPr lang="en-S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For the first allocation traverses the list of free partitions from the beginning of the list until the first partition which can accommodate the request. </a:t>
            </a:r>
            <a:endParaRPr lang="en-SG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R="27305" lvl="0" algn="just" fontAlgn="base">
              <a:lnSpc>
                <a:spcPct val="103000"/>
              </a:lnSpc>
              <a:spcAft>
                <a:spcPts val="75"/>
              </a:spcAft>
              <a:buClr>
                <a:srgbClr val="000000"/>
              </a:buClr>
              <a:buSzPts val="1200"/>
            </a:pPr>
            <a:endParaRPr lang="en-SG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27305" lvl="0" algn="just" fontAlgn="base">
              <a:lnSpc>
                <a:spcPct val="103000"/>
              </a:lnSpc>
              <a:spcAft>
                <a:spcPts val="75"/>
              </a:spcAft>
              <a:buClr>
                <a:srgbClr val="000000"/>
              </a:buClr>
              <a:buSzPts val="1200"/>
            </a:pPr>
            <a:r>
              <a:rPr lang="en-S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The following allocations, however, do not will start from the  beginning, but instead start from the partition where the previous allocation was performed. </a:t>
            </a:r>
            <a:endParaRPr lang="en-SG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374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7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80643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Shape 50"/>
          <p:cNvPicPr preferRelativeResize="0"/>
          <p:nvPr/>
        </p:nvPicPr>
        <p:blipFill rotWithShape="1">
          <a:blip r:embed="rId3">
            <a:alphaModFix/>
          </a:blip>
          <a:srcRect t="5720" b="5720"/>
          <a:stretch/>
        </p:blipFill>
        <p:spPr>
          <a:xfrm>
            <a:off x="0" y="392373"/>
            <a:ext cx="9144000" cy="607325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Shape 51"/>
          <p:cNvSpPr txBox="1">
            <a:spLocks noGrp="1"/>
          </p:cNvSpPr>
          <p:nvPr>
            <p:ph type="ctrTitle"/>
          </p:nvPr>
        </p:nvSpPr>
        <p:spPr>
          <a:xfrm>
            <a:off x="235500" y="333244"/>
            <a:ext cx="8520599" cy="997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solidFill>
                  <a:schemeClr val="lt1"/>
                </a:solidFill>
              </a:rPr>
              <a:t>Buddy System</a:t>
            </a:r>
          </a:p>
        </p:txBody>
      </p:sp>
    </p:spTree>
    <p:extLst>
      <p:ext uri="{BB962C8B-B14F-4D97-AF65-F5344CB8AC3E}">
        <p14:creationId xmlns:p14="http://schemas.microsoft.com/office/powerpoint/2010/main" val="249724817"/>
      </p:ext>
    </p:extLst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Shape 56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/>
              <a:t>Entire memory is free</a:t>
            </a:r>
          </a:p>
        </p:txBody>
      </p:sp>
      <p:sp>
        <p:nvSpPr>
          <p:cNvPr id="58" name="Shape 58"/>
          <p:cNvSpPr txBox="1"/>
          <p:nvPr/>
        </p:nvSpPr>
        <p:spPr>
          <a:xfrm>
            <a:off x="1752000" y="152617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11075438"/>
      </p:ext>
    </p:extLst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Shape 63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/>
              <a:t>Allocate </a:t>
            </a:r>
            <a:r>
              <a:rPr lang="en" b="1" dirty="0"/>
              <a:t>[A: 240KB]</a:t>
            </a:r>
          </a:p>
        </p:txBody>
      </p:sp>
      <p:sp>
        <p:nvSpPr>
          <p:cNvPr id="65" name="Shape 65"/>
          <p:cNvSpPr txBox="1"/>
          <p:nvPr/>
        </p:nvSpPr>
        <p:spPr>
          <a:xfrm>
            <a:off x="1741250" y="15154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66" name="Shape 66"/>
          <p:cNvSpPr txBox="1"/>
          <p:nvPr/>
        </p:nvSpPr>
        <p:spPr>
          <a:xfrm>
            <a:off x="4618200" y="3925250"/>
            <a:ext cx="4214100" cy="2690399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Smallest S, such that 2</a:t>
            </a:r>
            <a:r>
              <a:rPr lang="en" sz="1800" baseline="30000"/>
              <a:t>S</a:t>
            </a:r>
            <a:r>
              <a:rPr lang="en" sz="1800"/>
              <a:t> &gt;= 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A[S] has a free block?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Yes: Remove from list and return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No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Find smallest R from S+1 to K such that A[R] has a free block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For R-1 to S</a:t>
            </a:r>
          </a:p>
          <a:p>
            <a:pPr marL="1371600" lvl="2" indent="-342900" rtl="0">
              <a:spcBef>
                <a:spcPts val="0"/>
              </a:spcBef>
              <a:buSzPct val="100000"/>
              <a:buAutoNum type="romanLcPeriod"/>
            </a:pPr>
            <a:r>
              <a:rPr lang="en" sz="1800"/>
              <a:t>Split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2</a:t>
            </a:r>
          </a:p>
        </p:txBody>
      </p:sp>
    </p:spTree>
    <p:extLst>
      <p:ext uri="{BB962C8B-B14F-4D97-AF65-F5344CB8AC3E}">
        <p14:creationId xmlns:p14="http://schemas.microsoft.com/office/powerpoint/2010/main" val="2829924030"/>
      </p:ext>
    </p:extLst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Shape 71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Find a free block</a:t>
            </a:r>
          </a:p>
        </p:txBody>
      </p:sp>
      <p:sp>
        <p:nvSpPr>
          <p:cNvPr id="73" name="Shape 73"/>
          <p:cNvSpPr txBox="1"/>
          <p:nvPr/>
        </p:nvSpPr>
        <p:spPr>
          <a:xfrm>
            <a:off x="1741250" y="15154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74" name="Shape 74"/>
          <p:cNvSpPr txBox="1"/>
          <p:nvPr/>
        </p:nvSpPr>
        <p:spPr>
          <a:xfrm>
            <a:off x="4618200" y="3925250"/>
            <a:ext cx="4214100" cy="2690399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Smallest S, such that 2</a:t>
            </a:r>
            <a:r>
              <a:rPr lang="en" sz="1800" baseline="30000"/>
              <a:t>S</a:t>
            </a:r>
            <a:r>
              <a:rPr lang="en" sz="1800"/>
              <a:t> &gt;= 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A[S] has a free block?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Yes: Remove from list and return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No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Find smallest R from S+1 to K such that A[R] has a free block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For R-1 to S</a:t>
            </a:r>
          </a:p>
          <a:p>
            <a:pPr marL="1371600" lvl="2" indent="-342900" rtl="0">
              <a:spcBef>
                <a:spcPts val="0"/>
              </a:spcBef>
              <a:buSzPct val="100000"/>
              <a:buAutoNum type="romanLcPeriod"/>
            </a:pPr>
            <a:r>
              <a:rPr lang="en" sz="1800"/>
              <a:t>Split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2</a:t>
            </a:r>
          </a:p>
        </p:txBody>
      </p:sp>
      <p:sp>
        <p:nvSpPr>
          <p:cNvPr id="75" name="Shape 75"/>
          <p:cNvSpPr/>
          <p:nvPr/>
        </p:nvSpPr>
        <p:spPr>
          <a:xfrm>
            <a:off x="318631" y="3090246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6" name="Shape 76"/>
          <p:cNvSpPr/>
          <p:nvPr/>
        </p:nvSpPr>
        <p:spPr>
          <a:xfrm>
            <a:off x="367756" y="2242971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7" name="Shape 77"/>
          <p:cNvSpPr/>
          <p:nvPr/>
        </p:nvSpPr>
        <p:spPr>
          <a:xfrm>
            <a:off x="257956" y="1383171"/>
            <a:ext cx="1259999" cy="859799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431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Shape 82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Split #1</a:t>
            </a:r>
          </a:p>
        </p:txBody>
      </p:sp>
      <p:sp>
        <p:nvSpPr>
          <p:cNvPr id="84" name="Shape 84"/>
          <p:cNvSpPr txBox="1"/>
          <p:nvPr/>
        </p:nvSpPr>
        <p:spPr>
          <a:xfrm>
            <a:off x="1752000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85" name="Shape 85"/>
          <p:cNvSpPr txBox="1"/>
          <p:nvPr/>
        </p:nvSpPr>
        <p:spPr>
          <a:xfrm>
            <a:off x="4618200" y="3925250"/>
            <a:ext cx="4214100" cy="2690399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Smallest S, such that 2</a:t>
            </a:r>
            <a:r>
              <a:rPr lang="en" sz="1800" baseline="30000"/>
              <a:t>S</a:t>
            </a:r>
            <a:r>
              <a:rPr lang="en" sz="1800"/>
              <a:t> &gt;= 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A[S] has a free block?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Yes: Remove from list and return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No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Find smallest R from S+1 to K such that A[R] has a free block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For R-1 to S</a:t>
            </a:r>
          </a:p>
          <a:p>
            <a:pPr marL="1371600" lvl="2" indent="-342900" rtl="0">
              <a:spcBef>
                <a:spcPts val="0"/>
              </a:spcBef>
              <a:buSzPct val="100000"/>
              <a:buAutoNum type="romanLcPeriod"/>
            </a:pPr>
            <a:r>
              <a:rPr lang="en" sz="1800"/>
              <a:t>Split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2</a:t>
            </a:r>
          </a:p>
        </p:txBody>
      </p:sp>
      <p:sp>
        <p:nvSpPr>
          <p:cNvPr id="86" name="Shape 86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</p:spTree>
    <p:extLst>
      <p:ext uri="{BB962C8B-B14F-4D97-AF65-F5344CB8AC3E}">
        <p14:creationId xmlns:p14="http://schemas.microsoft.com/office/powerpoint/2010/main" val="3658754982"/>
      </p:ext>
    </p:extLst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Shape 91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Split #2</a:t>
            </a:r>
          </a:p>
        </p:txBody>
      </p:sp>
      <p:sp>
        <p:nvSpPr>
          <p:cNvPr id="93" name="Shape 93"/>
          <p:cNvSpPr txBox="1"/>
          <p:nvPr/>
        </p:nvSpPr>
        <p:spPr>
          <a:xfrm>
            <a:off x="170900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94" name="Shape 94"/>
          <p:cNvSpPr txBox="1"/>
          <p:nvPr/>
        </p:nvSpPr>
        <p:spPr>
          <a:xfrm>
            <a:off x="4618200" y="3925250"/>
            <a:ext cx="4214100" cy="2690399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Smallest S, such that 2</a:t>
            </a:r>
            <a:r>
              <a:rPr lang="en" sz="1800" baseline="30000"/>
              <a:t>S</a:t>
            </a:r>
            <a:r>
              <a:rPr lang="en" sz="1800"/>
              <a:t> &gt;= 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A[S] has a free block?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Yes: Remove from list and return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No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Find smallest R from S+1 to K such that A[R] has a free block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For R-1 to S</a:t>
            </a:r>
          </a:p>
          <a:p>
            <a:pPr marL="1371600" lvl="2" indent="-342900" rtl="0">
              <a:spcBef>
                <a:spcPts val="0"/>
              </a:spcBef>
              <a:buSzPct val="100000"/>
              <a:buAutoNum type="romanLcPeriod"/>
            </a:pPr>
            <a:r>
              <a:rPr lang="en" sz="1800"/>
              <a:t>Split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2</a:t>
            </a:r>
          </a:p>
        </p:txBody>
      </p:sp>
      <p:sp>
        <p:nvSpPr>
          <p:cNvPr id="95" name="Shape 95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3120975" y="31508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970018470"/>
      </p:ext>
    </p:extLst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Shape 101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Select free block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4618200" y="3925250"/>
            <a:ext cx="4214100" cy="2690399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Smallest S, such that 2</a:t>
            </a:r>
            <a:r>
              <a:rPr lang="en" sz="1800" baseline="30000"/>
              <a:t>S</a:t>
            </a:r>
            <a:r>
              <a:rPr lang="en" sz="1800"/>
              <a:t> &gt;= 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A[S] has a free block?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Yes: Remove from list and return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No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Find smallest R from S+1 to K such that A[R] has a free block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For R-1 to S</a:t>
            </a:r>
          </a:p>
          <a:p>
            <a:pPr marL="1371600" lvl="2" indent="-342900" rtl="0">
              <a:spcBef>
                <a:spcPts val="0"/>
              </a:spcBef>
              <a:buSzPct val="100000"/>
              <a:buAutoNum type="romanLcPeriod"/>
            </a:pPr>
            <a:r>
              <a:rPr lang="en" sz="1800"/>
              <a:t>Split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2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105" name="Shape 105"/>
          <p:cNvSpPr txBox="1"/>
          <p:nvPr/>
        </p:nvSpPr>
        <p:spPr>
          <a:xfrm>
            <a:off x="3120975" y="31508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256</a:t>
            </a:r>
          </a:p>
        </p:txBody>
      </p:sp>
      <p:sp>
        <p:nvSpPr>
          <p:cNvPr id="106" name="Shape 106"/>
          <p:cNvSpPr txBox="1"/>
          <p:nvPr/>
        </p:nvSpPr>
        <p:spPr>
          <a:xfrm>
            <a:off x="1719750" y="3160050"/>
            <a:ext cx="1259999" cy="537899"/>
          </a:xfrm>
          <a:prstGeom prst="rect">
            <a:avLst/>
          </a:prstGeom>
          <a:solidFill>
            <a:srgbClr val="38761D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419479659"/>
      </p:ext>
    </p:extLst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Shape 111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Done!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4773025" y="4043500"/>
            <a:ext cx="4214100" cy="2690399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Smallest S, such that 2</a:t>
            </a:r>
            <a:r>
              <a:rPr lang="en" sz="1800" baseline="30000"/>
              <a:t>S</a:t>
            </a:r>
            <a:r>
              <a:rPr lang="en" sz="1800"/>
              <a:t> &gt;= 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A[S] has a free block?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Yes: Remove from list and return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No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Find smallest R from S+1 to K such that A[R] has a free block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For R-1 to S</a:t>
            </a:r>
          </a:p>
          <a:p>
            <a:pPr marL="1371600" lvl="2" indent="-342900" rtl="0">
              <a:spcBef>
                <a:spcPts val="0"/>
              </a:spcBef>
              <a:buSzPct val="100000"/>
              <a:buAutoNum type="romanLcPeriod"/>
            </a:pPr>
            <a:r>
              <a:rPr lang="en" sz="1800"/>
              <a:t>Split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2</a:t>
            </a:r>
          </a:p>
        </p:txBody>
      </p:sp>
      <p:sp>
        <p:nvSpPr>
          <p:cNvPr id="114" name="Shape 114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115" name="Shape 115"/>
          <p:cNvSpPr txBox="1"/>
          <p:nvPr/>
        </p:nvSpPr>
        <p:spPr>
          <a:xfrm>
            <a:off x="3120975" y="31508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256</a:t>
            </a:r>
          </a:p>
        </p:txBody>
      </p:sp>
      <p:grpSp>
        <p:nvGrpSpPr>
          <p:cNvPr id="116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1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1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8479949"/>
      </p:ext>
    </p:extLst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Shape 111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/>
            <a:r>
              <a:rPr lang="en" dirty="0"/>
              <a:t>Allocate </a:t>
            </a:r>
            <a:r>
              <a:rPr lang="en" b="1" dirty="0"/>
              <a:t>[B:60KB]</a:t>
            </a:r>
            <a:endParaRPr lang="en" dirty="0"/>
          </a:p>
        </p:txBody>
      </p:sp>
      <p:sp>
        <p:nvSpPr>
          <p:cNvPr id="113" name="Shape 113"/>
          <p:cNvSpPr txBox="1"/>
          <p:nvPr/>
        </p:nvSpPr>
        <p:spPr>
          <a:xfrm>
            <a:off x="4773025" y="4043500"/>
            <a:ext cx="4214100" cy="2690399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Smallest S, such that 2</a:t>
            </a:r>
            <a:r>
              <a:rPr lang="en" sz="1800" baseline="30000"/>
              <a:t>S</a:t>
            </a:r>
            <a:r>
              <a:rPr lang="en" sz="1800"/>
              <a:t> &gt;= 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A[S] has a free block?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Yes: Remove from list and return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No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Find smallest R from S+1 to K such that A[R] has a free block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For R-1 to S</a:t>
            </a:r>
          </a:p>
          <a:p>
            <a:pPr marL="1371600" lvl="2" indent="-342900" rtl="0">
              <a:spcBef>
                <a:spcPts val="0"/>
              </a:spcBef>
              <a:buSzPct val="100000"/>
              <a:buAutoNum type="romanLcPeriod"/>
            </a:pPr>
            <a:r>
              <a:rPr lang="en" sz="1800"/>
              <a:t>Split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2</a:t>
            </a:r>
          </a:p>
        </p:txBody>
      </p:sp>
      <p:sp>
        <p:nvSpPr>
          <p:cNvPr id="114" name="Shape 114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115" name="Shape 115"/>
          <p:cNvSpPr txBox="1"/>
          <p:nvPr/>
        </p:nvSpPr>
        <p:spPr>
          <a:xfrm>
            <a:off x="3120975" y="31508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256</a:t>
            </a:r>
          </a:p>
        </p:txBody>
      </p:sp>
      <p:grpSp>
        <p:nvGrpSpPr>
          <p:cNvPr id="116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1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1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7970543"/>
      </p:ext>
    </p:extLst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Shape 123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/>
              <a:t>Allocate </a:t>
            </a:r>
            <a:r>
              <a:rPr lang="en" b="1" dirty="0"/>
              <a:t>[B:60KB]</a:t>
            </a:r>
          </a:p>
        </p:txBody>
      </p:sp>
      <p:sp>
        <p:nvSpPr>
          <p:cNvPr id="125" name="Shape 125"/>
          <p:cNvSpPr txBox="1"/>
          <p:nvPr/>
        </p:nvSpPr>
        <p:spPr>
          <a:xfrm>
            <a:off x="4773025" y="4043500"/>
            <a:ext cx="4214100" cy="2690399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Smallest S, such that 2</a:t>
            </a:r>
            <a:r>
              <a:rPr lang="en" sz="1800" baseline="30000"/>
              <a:t>S</a:t>
            </a:r>
            <a:r>
              <a:rPr lang="en" sz="1800"/>
              <a:t> &gt;= 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A[S] has a free block?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Yes: Remove from list and return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No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Find smallest R from S+1 to K such that A[R] has a free block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For R-1 to S</a:t>
            </a:r>
          </a:p>
          <a:p>
            <a:pPr marL="1371600" lvl="2" indent="-342900" rtl="0">
              <a:spcBef>
                <a:spcPts val="0"/>
              </a:spcBef>
              <a:buSzPct val="100000"/>
              <a:buAutoNum type="romanLcPeriod"/>
            </a:pPr>
            <a:r>
              <a:rPr lang="en" sz="1800"/>
              <a:t>Split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2</a:t>
            </a:r>
          </a:p>
        </p:txBody>
      </p:sp>
      <p:sp>
        <p:nvSpPr>
          <p:cNvPr id="126" name="Shape 126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127" name="Shape 127"/>
          <p:cNvSpPr txBox="1"/>
          <p:nvPr/>
        </p:nvSpPr>
        <p:spPr>
          <a:xfrm>
            <a:off x="3120975" y="31508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256</a:t>
            </a:r>
          </a:p>
        </p:txBody>
      </p:sp>
      <p:sp>
        <p:nvSpPr>
          <p:cNvPr id="128" name="Shape 128"/>
          <p:cNvSpPr/>
          <p:nvPr/>
        </p:nvSpPr>
        <p:spPr>
          <a:xfrm>
            <a:off x="296177" y="4712425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9" name="Shape 129"/>
          <p:cNvSpPr/>
          <p:nvPr/>
        </p:nvSpPr>
        <p:spPr>
          <a:xfrm>
            <a:off x="296177" y="3865150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30" name="Shape 130"/>
          <p:cNvSpPr/>
          <p:nvPr/>
        </p:nvSpPr>
        <p:spPr>
          <a:xfrm>
            <a:off x="235502" y="3005349"/>
            <a:ext cx="1259999" cy="859799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13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4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5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443408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Shape 138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9" name="Shape 139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Split #1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3120975" y="39804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256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4574050" y="39804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384</a:t>
            </a:r>
          </a:p>
        </p:txBody>
      </p:sp>
      <p:grpSp>
        <p:nvGrpSpPr>
          <p:cNvPr id="10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1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2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5233566"/>
      </p:ext>
    </p:extLst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Shape 150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1" name="Shape 151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Split #2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4574050" y="39804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384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3120975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256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grpSp>
        <p:nvGrpSpPr>
          <p:cNvPr id="11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2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3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0196830"/>
      </p:ext>
    </p:extLst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Shape 163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4" name="Shape 164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Select free block</a:t>
            </a:r>
          </a:p>
        </p:txBody>
      </p:sp>
      <p:sp>
        <p:nvSpPr>
          <p:cNvPr id="165" name="Shape 165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166" name="Shape 166"/>
          <p:cNvSpPr txBox="1"/>
          <p:nvPr/>
        </p:nvSpPr>
        <p:spPr>
          <a:xfrm>
            <a:off x="4574050" y="39804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384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3120975" y="4825226"/>
            <a:ext cx="1259999" cy="537899"/>
          </a:xfrm>
          <a:prstGeom prst="rect">
            <a:avLst/>
          </a:prstGeom>
          <a:solidFill>
            <a:srgbClr val="38761D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256</a:t>
            </a:r>
          </a:p>
        </p:txBody>
      </p:sp>
      <p:sp>
        <p:nvSpPr>
          <p:cNvPr id="168" name="Shape 168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grpSp>
        <p:nvGrpSpPr>
          <p:cNvPr id="11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2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3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3963071"/>
      </p:ext>
    </p:extLst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Shape 176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7" name="Shape 177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Remove from list</a:t>
            </a:r>
          </a:p>
        </p:txBody>
      </p:sp>
      <p:sp>
        <p:nvSpPr>
          <p:cNvPr id="178" name="Shape 178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179" name="Shape 179"/>
          <p:cNvSpPr txBox="1"/>
          <p:nvPr/>
        </p:nvSpPr>
        <p:spPr>
          <a:xfrm>
            <a:off x="4574050" y="39804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384</a:t>
            </a:r>
          </a:p>
        </p:txBody>
      </p:sp>
      <p:sp>
        <p:nvSpPr>
          <p:cNvPr id="180" name="Shape 180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grpSp>
        <p:nvGrpSpPr>
          <p:cNvPr id="13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4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5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16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1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1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2167300"/>
      </p:ext>
    </p:extLst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Shape 191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2" name="Shape 192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/>
              <a:t>Allocate </a:t>
            </a:r>
            <a:r>
              <a:rPr lang="en" b="1" dirty="0"/>
              <a:t>[C:100KB]</a:t>
            </a:r>
          </a:p>
        </p:txBody>
      </p:sp>
      <p:sp>
        <p:nvSpPr>
          <p:cNvPr id="193" name="Shape 193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194" name="Shape 194"/>
          <p:cNvSpPr txBox="1"/>
          <p:nvPr/>
        </p:nvSpPr>
        <p:spPr>
          <a:xfrm>
            <a:off x="4574050" y="39804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384</a:t>
            </a:r>
          </a:p>
        </p:txBody>
      </p:sp>
      <p:sp>
        <p:nvSpPr>
          <p:cNvPr id="195" name="Shape 195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grpSp>
        <p:nvGrpSpPr>
          <p:cNvPr id="13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4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5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16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1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1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2362109"/>
      </p:ext>
    </p:extLst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Shape 206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7" name="Shape 207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Search for 100KB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574050" y="39804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384</a:t>
            </a:r>
          </a:p>
        </p:txBody>
      </p:sp>
      <p:sp>
        <p:nvSpPr>
          <p:cNvPr id="210" name="Shape 210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211" name="Shape 211"/>
          <p:cNvSpPr/>
          <p:nvPr/>
        </p:nvSpPr>
        <p:spPr>
          <a:xfrm>
            <a:off x="311702" y="3867625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14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5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6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17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18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19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1094703"/>
      </p:ext>
    </p:extLst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Shape 222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3" name="Shape 223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Select free 100KB</a:t>
            </a:r>
          </a:p>
        </p:txBody>
      </p:sp>
      <p:sp>
        <p:nvSpPr>
          <p:cNvPr id="224" name="Shape 224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225" name="Shape 225"/>
          <p:cNvSpPr txBox="1"/>
          <p:nvPr/>
        </p:nvSpPr>
        <p:spPr>
          <a:xfrm>
            <a:off x="4574050" y="3980426"/>
            <a:ext cx="1259999" cy="537899"/>
          </a:xfrm>
          <a:prstGeom prst="rect">
            <a:avLst/>
          </a:prstGeom>
          <a:solidFill>
            <a:srgbClr val="274E1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384</a:t>
            </a:r>
          </a:p>
        </p:txBody>
      </p:sp>
      <p:sp>
        <p:nvSpPr>
          <p:cNvPr id="226" name="Shape 226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227" name="Shape 227"/>
          <p:cNvSpPr/>
          <p:nvPr/>
        </p:nvSpPr>
        <p:spPr>
          <a:xfrm>
            <a:off x="311702" y="3867625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14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5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6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17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18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19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929162"/>
      </p:ext>
    </p:extLst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Shape 238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9" name="Shape 239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Remove from list</a:t>
            </a:r>
          </a:p>
        </p:txBody>
      </p:sp>
      <p:sp>
        <p:nvSpPr>
          <p:cNvPr id="240" name="Shape 240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grpSp>
        <p:nvGrpSpPr>
          <p:cNvPr id="15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6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7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18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19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0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1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2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3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9066210"/>
      </p:ext>
    </p:extLst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Shape 238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9" name="Shape 239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/>
            <a:r>
              <a:rPr lang="en" dirty="0"/>
              <a:t>Allocate </a:t>
            </a:r>
            <a:r>
              <a:rPr lang="en" b="1" dirty="0"/>
              <a:t>[D:128KB]</a:t>
            </a:r>
            <a:endParaRPr lang="en" dirty="0"/>
          </a:p>
        </p:txBody>
      </p:sp>
      <p:sp>
        <p:nvSpPr>
          <p:cNvPr id="240" name="Shape 240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grpSp>
        <p:nvGrpSpPr>
          <p:cNvPr id="15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6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7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18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19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0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1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2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3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0503390"/>
      </p:ext>
    </p:extLst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Shape 255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 dirty="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/>
              <a:t>Allocate </a:t>
            </a:r>
            <a:r>
              <a:rPr lang="en" b="1" dirty="0"/>
              <a:t>[D:128KB]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3120975" y="232122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259" name="Shape 259"/>
          <p:cNvSpPr/>
          <p:nvPr/>
        </p:nvSpPr>
        <p:spPr>
          <a:xfrm>
            <a:off x="311702" y="3867625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0" name="Shape 260"/>
          <p:cNvSpPr/>
          <p:nvPr/>
        </p:nvSpPr>
        <p:spPr>
          <a:xfrm>
            <a:off x="345853" y="2283476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17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8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9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20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1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2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3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4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5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  <p:sp>
        <p:nvSpPr>
          <p:cNvPr id="26" name="Shape 259"/>
          <p:cNvSpPr/>
          <p:nvPr/>
        </p:nvSpPr>
        <p:spPr>
          <a:xfrm>
            <a:off x="345852" y="3079304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4474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" name="Shape 274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5" name="Shape 275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Split #1</a:t>
            </a:r>
          </a:p>
        </p:txBody>
      </p:sp>
      <p:sp>
        <p:nvSpPr>
          <p:cNvPr id="276" name="Shape 276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277" name="Shape 277"/>
          <p:cNvSpPr txBox="1"/>
          <p:nvPr/>
        </p:nvSpPr>
        <p:spPr>
          <a:xfrm>
            <a:off x="3120975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grpSp>
        <p:nvGrpSpPr>
          <p:cNvPr id="16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19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0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1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2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3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4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6413563"/>
      </p:ext>
    </p:extLst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Shape 292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3" name="Shape 293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Split #2</a:t>
            </a:r>
          </a:p>
        </p:txBody>
      </p:sp>
      <p:sp>
        <p:nvSpPr>
          <p:cNvPr id="294" name="Shape 294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297" name="Shape 297"/>
          <p:cNvSpPr txBox="1"/>
          <p:nvPr/>
        </p:nvSpPr>
        <p:spPr>
          <a:xfrm>
            <a:off x="3170112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512</a:t>
            </a:r>
          </a:p>
        </p:txBody>
      </p:sp>
      <p:grpSp>
        <p:nvGrpSpPr>
          <p:cNvPr id="17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8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9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20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1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2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3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4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5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28694"/>
      </p:ext>
    </p:extLst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Shape 311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Select block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3170100" y="3992651"/>
            <a:ext cx="1259999" cy="537899"/>
          </a:xfrm>
          <a:prstGeom prst="rect">
            <a:avLst/>
          </a:prstGeom>
          <a:solidFill>
            <a:srgbClr val="38761D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512</a:t>
            </a:r>
          </a:p>
        </p:txBody>
      </p:sp>
      <p:grpSp>
        <p:nvGrpSpPr>
          <p:cNvPr id="17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8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19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20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1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2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3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4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5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1874857"/>
      </p:ext>
    </p:extLst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" name="Shape 330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1" name="Shape 331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Select block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333" name="Shape 333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334" name="Shape 334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grpSp>
        <p:nvGrpSpPr>
          <p:cNvPr id="19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20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21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22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3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4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5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6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7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  <p:grpSp>
        <p:nvGrpSpPr>
          <p:cNvPr id="28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29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30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5515796"/>
      </p:ext>
    </p:extLst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1" name="Shape 351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Free A</a:t>
            </a:r>
          </a:p>
        </p:txBody>
      </p:sp>
      <p:sp>
        <p:nvSpPr>
          <p:cNvPr id="366" name="Shape 366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367" name="Shape 367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368" name="Shape 368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grpSp>
        <p:nvGrpSpPr>
          <p:cNvPr id="20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21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22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23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4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5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6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  <p:grpSp>
        <p:nvGrpSpPr>
          <p:cNvPr id="29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30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31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365" name="Shape 365"/>
          <p:cNvSpPr/>
          <p:nvPr/>
        </p:nvSpPr>
        <p:spPr>
          <a:xfrm>
            <a:off x="7452321" y="456512"/>
            <a:ext cx="1630756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703753"/>
      </p:ext>
    </p:extLst>
  </p:cSld>
  <p:clrMapOvr>
    <a:masterClrMapping/>
  </p:clrMapOvr>
  <p:transition spd="slow"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3" name="Shape 373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74" name="Shape 374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Free A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390" name="Shape 390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391" name="Shape 391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grpSp>
        <p:nvGrpSpPr>
          <p:cNvPr id="21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22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23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24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5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6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7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8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9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  <p:grpSp>
        <p:nvGrpSpPr>
          <p:cNvPr id="30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31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32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33" name="Shape 365"/>
          <p:cNvSpPr/>
          <p:nvPr/>
        </p:nvSpPr>
        <p:spPr>
          <a:xfrm>
            <a:off x="7452321" y="456512"/>
            <a:ext cx="1630756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Check A[S] where 2</a:t>
            </a:r>
            <a:r>
              <a:rPr lang="en" sz="1800" baseline="30000"/>
              <a:t>S</a:t>
            </a:r>
            <a:r>
              <a:rPr lang="en" sz="180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Insert B to A[S]</a:t>
            </a:r>
          </a:p>
        </p:txBody>
      </p:sp>
    </p:spTree>
    <p:extLst>
      <p:ext uri="{BB962C8B-B14F-4D97-AF65-F5344CB8AC3E}">
        <p14:creationId xmlns:p14="http://schemas.microsoft.com/office/powerpoint/2010/main" val="2113251560"/>
      </p:ext>
    </p:extLst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6" name="Shape 396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7" name="Shape 397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Does the buddy exist?</a:t>
            </a:r>
          </a:p>
        </p:txBody>
      </p:sp>
      <p:sp>
        <p:nvSpPr>
          <p:cNvPr id="411" name="Shape 411"/>
          <p:cNvSpPr/>
          <p:nvPr/>
        </p:nvSpPr>
        <p:spPr>
          <a:xfrm>
            <a:off x="311702" y="3079497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12" name="Shape 412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413" name="Shape 413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414" name="Shape 414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417" name="Shape 417"/>
          <p:cNvSpPr txBox="1"/>
          <p:nvPr/>
        </p:nvSpPr>
        <p:spPr>
          <a:xfrm>
            <a:off x="3314050" y="3160051"/>
            <a:ext cx="1259999" cy="537899"/>
          </a:xfrm>
          <a:prstGeom prst="rect">
            <a:avLst/>
          </a:prstGeom>
          <a:solidFill>
            <a:srgbClr val="274E1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0</a:t>
            </a:r>
          </a:p>
        </p:txBody>
      </p:sp>
      <p:sp>
        <p:nvSpPr>
          <p:cNvPr id="419" name="Shape 419"/>
          <p:cNvSpPr txBox="1"/>
          <p:nvPr/>
        </p:nvSpPr>
        <p:spPr>
          <a:xfrm>
            <a:off x="7529227" y="4179761"/>
            <a:ext cx="796500" cy="426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8th bit</a:t>
            </a:r>
          </a:p>
        </p:txBody>
      </p:sp>
      <p:grpSp>
        <p:nvGrpSpPr>
          <p:cNvPr id="26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2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2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29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30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31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32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33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34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  <p:grpSp>
        <p:nvGrpSpPr>
          <p:cNvPr id="35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36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37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38" name="Shape 365"/>
          <p:cNvSpPr/>
          <p:nvPr/>
        </p:nvSpPr>
        <p:spPr>
          <a:xfrm>
            <a:off x="7452321" y="456512"/>
            <a:ext cx="1630756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9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Check A[S] where 2</a:t>
            </a:r>
            <a:r>
              <a:rPr lang="en" sz="1800" baseline="30000"/>
              <a:t>S</a:t>
            </a:r>
            <a:r>
              <a:rPr lang="en" sz="180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Insert B to A[S]</a:t>
            </a:r>
          </a:p>
        </p:txBody>
      </p:sp>
      <p:sp>
        <p:nvSpPr>
          <p:cNvPr id="416" name="Shape 416"/>
          <p:cNvSpPr txBox="1"/>
          <p:nvPr/>
        </p:nvSpPr>
        <p:spPr>
          <a:xfrm>
            <a:off x="6369544" y="3187765"/>
            <a:ext cx="2636803" cy="763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 =   0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00000000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768 = 1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00000000</a:t>
            </a:r>
          </a:p>
        </p:txBody>
      </p:sp>
      <p:cxnSp>
        <p:nvCxnSpPr>
          <p:cNvPr id="418" name="Shape 418"/>
          <p:cNvCxnSpPr/>
          <p:nvPr/>
        </p:nvCxnSpPr>
        <p:spPr>
          <a:xfrm rot="10800000">
            <a:off x="7655695" y="3848238"/>
            <a:ext cx="64500" cy="47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4077357583"/>
      </p:ext>
    </p:extLst>
  </p:cSld>
  <p:clrMapOvr>
    <a:masterClrMapping/>
  </p:clrMapOvr>
  <p:transition spd="slow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4" name="Shape 424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25" name="Shape 425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/>
              <a:t>Insert free block into list</a:t>
            </a:r>
          </a:p>
        </p:txBody>
      </p:sp>
      <p:sp>
        <p:nvSpPr>
          <p:cNvPr id="435" name="Shape 435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436" name="Shape 436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437" name="Shape 437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17166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grpSp>
        <p:nvGrpSpPr>
          <p:cNvPr id="18" name="Shape 116"/>
          <p:cNvGrpSpPr/>
          <p:nvPr/>
        </p:nvGrpSpPr>
        <p:grpSpPr>
          <a:xfrm>
            <a:off x="7668344" y="624964"/>
            <a:ext cx="1318362" cy="426579"/>
            <a:chOff x="7572300" y="625003"/>
            <a:chExt cx="1414824" cy="717421"/>
          </a:xfrm>
        </p:grpSpPr>
        <p:sp>
          <p:nvSpPr>
            <p:cNvPr id="19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0, 256K</a:t>
              </a:r>
            </a:p>
          </p:txBody>
        </p:sp>
        <p:sp>
          <p:nvSpPr>
            <p:cNvPr id="20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/>
                <a:t>A</a:t>
              </a:r>
            </a:p>
          </p:txBody>
        </p:sp>
      </p:grpSp>
      <p:grpSp>
        <p:nvGrpSpPr>
          <p:cNvPr id="21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2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3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4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5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6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  <p:grpSp>
        <p:nvGrpSpPr>
          <p:cNvPr id="27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28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29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30" name="Shape 365"/>
          <p:cNvSpPr/>
          <p:nvPr/>
        </p:nvSpPr>
        <p:spPr>
          <a:xfrm>
            <a:off x="7452321" y="456512"/>
            <a:ext cx="1630756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1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Check A[S] where 2</a:t>
            </a:r>
            <a:r>
              <a:rPr lang="en" sz="1800" baseline="30000"/>
              <a:t>S</a:t>
            </a:r>
            <a:r>
              <a:rPr lang="en" sz="180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Insert B to A[S]</a:t>
            </a:r>
          </a:p>
        </p:txBody>
      </p:sp>
    </p:spTree>
    <p:extLst>
      <p:ext uri="{BB962C8B-B14F-4D97-AF65-F5344CB8AC3E}">
        <p14:creationId xmlns:p14="http://schemas.microsoft.com/office/powerpoint/2010/main" val="2985062589"/>
      </p:ext>
    </p:extLst>
  </p:cSld>
  <p:clrMapOvr>
    <a:masterClrMapping/>
  </p:clrMapOvr>
  <p:transition spd="slow"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" name="Shape 444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5" name="Shape 445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Free C</a:t>
            </a:r>
          </a:p>
        </p:txBody>
      </p:sp>
      <p:sp>
        <p:nvSpPr>
          <p:cNvPr id="455" name="Shape 455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456" name="Shape 456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459" name="Shape 459"/>
          <p:cNvSpPr txBox="1"/>
          <p:nvPr/>
        </p:nvSpPr>
        <p:spPr>
          <a:xfrm>
            <a:off x="17166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461" name="Shape 461"/>
          <p:cNvSpPr/>
          <p:nvPr/>
        </p:nvSpPr>
        <p:spPr>
          <a:xfrm>
            <a:off x="311702" y="3879850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23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4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5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6" name="Shape 116"/>
          <p:cNvGrpSpPr/>
          <p:nvPr/>
        </p:nvGrpSpPr>
        <p:grpSpPr>
          <a:xfrm>
            <a:off x="7687985" y="1865382"/>
            <a:ext cx="1318362" cy="426579"/>
            <a:chOff x="7572300" y="625003"/>
            <a:chExt cx="1414824" cy="717421"/>
          </a:xfrm>
        </p:grpSpPr>
        <p:sp>
          <p:nvSpPr>
            <p:cNvPr id="2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384, 128K</a:t>
              </a:r>
            </a:p>
          </p:txBody>
        </p:sp>
        <p:sp>
          <p:nvSpPr>
            <p:cNvPr id="2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C</a:t>
              </a:r>
            </a:p>
          </p:txBody>
        </p:sp>
      </p:grpSp>
      <p:grpSp>
        <p:nvGrpSpPr>
          <p:cNvPr id="29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30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31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33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Check A[S] where 2</a:t>
            </a:r>
            <a:r>
              <a:rPr lang="en" sz="1800" baseline="30000"/>
              <a:t>S</a:t>
            </a:r>
            <a:r>
              <a:rPr lang="en" sz="180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Insert B to A[S]</a:t>
            </a:r>
          </a:p>
        </p:txBody>
      </p:sp>
      <p:sp>
        <p:nvSpPr>
          <p:cNvPr id="34" name="Shape 365"/>
          <p:cNvSpPr/>
          <p:nvPr/>
        </p:nvSpPr>
        <p:spPr>
          <a:xfrm>
            <a:off x="7513244" y="1680860"/>
            <a:ext cx="1630756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814686"/>
      </p:ext>
    </p:extLst>
  </p:cSld>
  <p:clrMapOvr>
    <a:masterClrMapping/>
  </p:clrMapOvr>
  <p:transition spd="slow"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6" name="Shape 466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7" name="Shape 467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Check buddy and insert</a:t>
            </a:r>
          </a:p>
        </p:txBody>
      </p:sp>
      <p:sp>
        <p:nvSpPr>
          <p:cNvPr id="474" name="Shape 474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475" name="Shape 475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476" name="Shape 476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7166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479" name="Shape 479"/>
          <p:cNvSpPr/>
          <p:nvPr/>
        </p:nvSpPr>
        <p:spPr>
          <a:xfrm>
            <a:off x="311702" y="3879850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80" name="Shape 480"/>
          <p:cNvSpPr txBox="1"/>
          <p:nvPr/>
        </p:nvSpPr>
        <p:spPr>
          <a:xfrm>
            <a:off x="3170112" y="3992650"/>
            <a:ext cx="1259999" cy="537899"/>
          </a:xfrm>
          <a:prstGeom prst="rect">
            <a:avLst/>
          </a:prstGeom>
          <a:solidFill>
            <a:srgbClr val="274E1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384</a:t>
            </a:r>
          </a:p>
        </p:txBody>
      </p:sp>
      <p:sp>
        <p:nvSpPr>
          <p:cNvPr id="481" name="Shape 481"/>
          <p:cNvSpPr txBox="1"/>
          <p:nvPr/>
        </p:nvSpPr>
        <p:spPr>
          <a:xfrm>
            <a:off x="6019403" y="3879845"/>
            <a:ext cx="2718107" cy="763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384 = 01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0000000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640 = 10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0000000</a:t>
            </a:r>
          </a:p>
        </p:txBody>
      </p:sp>
      <p:cxnSp>
        <p:nvCxnSpPr>
          <p:cNvPr id="482" name="Shape 482"/>
          <p:cNvCxnSpPr>
            <a:stCxn id="483" idx="0"/>
          </p:cNvCxnSpPr>
          <p:nvPr/>
        </p:nvCxnSpPr>
        <p:spPr>
          <a:xfrm rot="10800000" flipH="1">
            <a:off x="7371800" y="4555683"/>
            <a:ext cx="66900" cy="420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83" name="Shape 483"/>
          <p:cNvSpPr txBox="1"/>
          <p:nvPr/>
        </p:nvSpPr>
        <p:spPr>
          <a:xfrm>
            <a:off x="6973550" y="4976283"/>
            <a:ext cx="796500" cy="426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7th bit</a:t>
            </a:r>
          </a:p>
        </p:txBody>
      </p:sp>
      <p:grpSp>
        <p:nvGrpSpPr>
          <p:cNvPr id="20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21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22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26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2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2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29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Check A[S] where 2</a:t>
            </a:r>
            <a:r>
              <a:rPr lang="en" sz="1800" baseline="30000"/>
              <a:t>S</a:t>
            </a:r>
            <a:r>
              <a:rPr lang="en" sz="180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Insert B to A[S]</a:t>
            </a:r>
          </a:p>
        </p:txBody>
      </p:sp>
    </p:spTree>
    <p:extLst>
      <p:ext uri="{BB962C8B-B14F-4D97-AF65-F5344CB8AC3E}">
        <p14:creationId xmlns:p14="http://schemas.microsoft.com/office/powerpoint/2010/main" val="32363270"/>
      </p:ext>
    </p:extLst>
  </p:cSld>
  <p:clrMapOvr>
    <a:masterClrMapping/>
  </p:clrMapOvr>
  <p:transition spd="slow"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8" name="Shape 488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89" name="Shape 489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Free B</a:t>
            </a:r>
          </a:p>
        </p:txBody>
      </p:sp>
      <p:sp>
        <p:nvSpPr>
          <p:cNvPr id="496" name="Shape 496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497" name="Shape 497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498" name="Shape 498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500" name="Shape 500"/>
          <p:cNvSpPr txBox="1"/>
          <p:nvPr/>
        </p:nvSpPr>
        <p:spPr>
          <a:xfrm>
            <a:off x="17166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501" name="Shape 501"/>
          <p:cNvSpPr/>
          <p:nvPr/>
        </p:nvSpPr>
        <p:spPr>
          <a:xfrm>
            <a:off x="311702" y="4733923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02" name="Shape 502"/>
          <p:cNvSpPr txBox="1"/>
          <p:nvPr/>
        </p:nvSpPr>
        <p:spPr>
          <a:xfrm>
            <a:off x="3170112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384</a:t>
            </a:r>
          </a:p>
        </p:txBody>
      </p:sp>
      <p:grpSp>
        <p:nvGrpSpPr>
          <p:cNvPr id="29" name="Shape 116"/>
          <p:cNvGrpSpPr/>
          <p:nvPr/>
        </p:nvGrpSpPr>
        <p:grpSpPr>
          <a:xfrm>
            <a:off x="7687985" y="1268760"/>
            <a:ext cx="1318362" cy="426579"/>
            <a:chOff x="7572300" y="625003"/>
            <a:chExt cx="1414824" cy="717421"/>
          </a:xfrm>
        </p:grpSpPr>
        <p:sp>
          <p:nvSpPr>
            <p:cNvPr id="30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256, 64K</a:t>
              </a:r>
            </a:p>
          </p:txBody>
        </p:sp>
        <p:sp>
          <p:nvSpPr>
            <p:cNvPr id="31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B</a:t>
              </a:r>
            </a:p>
          </p:txBody>
        </p:sp>
      </p:grpSp>
      <p:grpSp>
        <p:nvGrpSpPr>
          <p:cNvPr id="35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36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37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38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Check A[S] where 2</a:t>
            </a:r>
            <a:r>
              <a:rPr lang="en" sz="1800" baseline="30000" dirty="0"/>
              <a:t>S</a:t>
            </a:r>
            <a:r>
              <a:rPr lang="en" sz="1800" dirty="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Insert B to A[S]</a:t>
            </a:r>
          </a:p>
        </p:txBody>
      </p:sp>
      <p:sp>
        <p:nvSpPr>
          <p:cNvPr id="39" name="Shape 365"/>
          <p:cNvSpPr/>
          <p:nvPr/>
        </p:nvSpPr>
        <p:spPr>
          <a:xfrm>
            <a:off x="7459653" y="1081324"/>
            <a:ext cx="1630756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6738255"/>
      </p:ext>
    </p:extLst>
  </p:cSld>
  <p:clrMapOvr>
    <a:masterClrMapping/>
  </p:clrMapOvr>
  <p:transition spd="slow"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8" name="Shape 508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9" name="Shape 509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Check Buddy</a:t>
            </a:r>
          </a:p>
        </p:txBody>
      </p:sp>
      <p:sp>
        <p:nvSpPr>
          <p:cNvPr id="513" name="Shape 513"/>
          <p:cNvSpPr txBox="1"/>
          <p:nvPr/>
        </p:nvSpPr>
        <p:spPr>
          <a:xfrm>
            <a:off x="4574050" y="4825226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320</a:t>
            </a:r>
          </a:p>
        </p:txBody>
      </p:sp>
      <p:sp>
        <p:nvSpPr>
          <p:cNvPr id="514" name="Shape 514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515" name="Shape 515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517" name="Shape 517"/>
          <p:cNvSpPr txBox="1"/>
          <p:nvPr/>
        </p:nvSpPr>
        <p:spPr>
          <a:xfrm>
            <a:off x="17166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518" name="Shape 518"/>
          <p:cNvSpPr/>
          <p:nvPr/>
        </p:nvSpPr>
        <p:spPr>
          <a:xfrm>
            <a:off x="311702" y="4733923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19" name="Shape 519"/>
          <p:cNvSpPr txBox="1"/>
          <p:nvPr/>
        </p:nvSpPr>
        <p:spPr>
          <a:xfrm>
            <a:off x="3170112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384</a:t>
            </a:r>
          </a:p>
        </p:txBody>
      </p:sp>
      <p:sp>
        <p:nvSpPr>
          <p:cNvPr id="520" name="Shape 520"/>
          <p:cNvSpPr txBox="1"/>
          <p:nvPr/>
        </p:nvSpPr>
        <p:spPr>
          <a:xfrm>
            <a:off x="3324800" y="4825251"/>
            <a:ext cx="1259999" cy="537899"/>
          </a:xfrm>
          <a:prstGeom prst="rect">
            <a:avLst/>
          </a:prstGeom>
          <a:solidFill>
            <a:srgbClr val="274E1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256</a:t>
            </a:r>
          </a:p>
        </p:txBody>
      </p:sp>
      <p:sp>
        <p:nvSpPr>
          <p:cNvPr id="521" name="Shape 521"/>
          <p:cNvSpPr txBox="1"/>
          <p:nvPr/>
        </p:nvSpPr>
        <p:spPr>
          <a:xfrm>
            <a:off x="6019403" y="4718045"/>
            <a:ext cx="2554799" cy="763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256 = 10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320 = 10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</a:t>
            </a:r>
          </a:p>
        </p:txBody>
      </p:sp>
      <p:cxnSp>
        <p:nvCxnSpPr>
          <p:cNvPr id="522" name="Shape 522"/>
          <p:cNvCxnSpPr>
            <a:stCxn id="523" idx="0"/>
          </p:cNvCxnSpPr>
          <p:nvPr/>
        </p:nvCxnSpPr>
        <p:spPr>
          <a:xfrm flipV="1">
            <a:off x="7249650" y="5347209"/>
            <a:ext cx="114052" cy="420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23" name="Shape 523"/>
          <p:cNvSpPr txBox="1"/>
          <p:nvPr/>
        </p:nvSpPr>
        <p:spPr>
          <a:xfrm>
            <a:off x="6804248" y="5767809"/>
            <a:ext cx="890804" cy="3254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/>
              <a:t>6th bit</a:t>
            </a:r>
          </a:p>
        </p:txBody>
      </p:sp>
      <p:grpSp>
        <p:nvGrpSpPr>
          <p:cNvPr id="18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19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20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21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Check A[S] where 2</a:t>
            </a:r>
            <a:r>
              <a:rPr lang="en" sz="1800" baseline="30000" dirty="0"/>
              <a:t>S</a:t>
            </a:r>
            <a:r>
              <a:rPr lang="en" sz="1800" dirty="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Insert B to A[S]</a:t>
            </a:r>
          </a:p>
        </p:txBody>
      </p:sp>
    </p:spTree>
    <p:extLst>
      <p:ext uri="{BB962C8B-B14F-4D97-AF65-F5344CB8AC3E}">
        <p14:creationId xmlns:p14="http://schemas.microsoft.com/office/powerpoint/2010/main" val="1935910839"/>
      </p:ext>
    </p:extLst>
  </p:cSld>
  <p:clrMapOvr>
    <a:masterClrMapping/>
  </p:clrMapOvr>
  <p:transition spd="slow"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8" name="Shape 528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 dirty="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29" name="Shape 529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Merge and Check Buddy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534" name="Shape 534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536" name="Shape 536"/>
          <p:cNvSpPr txBox="1"/>
          <p:nvPr/>
        </p:nvSpPr>
        <p:spPr>
          <a:xfrm>
            <a:off x="17166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537" name="Shape 537"/>
          <p:cNvSpPr/>
          <p:nvPr/>
        </p:nvSpPr>
        <p:spPr>
          <a:xfrm>
            <a:off x="311702" y="3890597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38" name="Shape 538"/>
          <p:cNvSpPr txBox="1"/>
          <p:nvPr/>
        </p:nvSpPr>
        <p:spPr>
          <a:xfrm>
            <a:off x="3170112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384</a:t>
            </a:r>
          </a:p>
        </p:txBody>
      </p:sp>
      <p:sp>
        <p:nvSpPr>
          <p:cNvPr id="539" name="Shape 539"/>
          <p:cNvSpPr txBox="1"/>
          <p:nvPr/>
        </p:nvSpPr>
        <p:spPr>
          <a:xfrm>
            <a:off x="1910125" y="3992651"/>
            <a:ext cx="1259999" cy="537899"/>
          </a:xfrm>
          <a:prstGeom prst="rect">
            <a:avLst/>
          </a:prstGeom>
          <a:solidFill>
            <a:srgbClr val="274E1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256</a:t>
            </a:r>
          </a:p>
        </p:txBody>
      </p:sp>
      <p:sp>
        <p:nvSpPr>
          <p:cNvPr id="540" name="Shape 540"/>
          <p:cNvSpPr txBox="1"/>
          <p:nvPr/>
        </p:nvSpPr>
        <p:spPr>
          <a:xfrm>
            <a:off x="3396578" y="4733920"/>
            <a:ext cx="2554799" cy="763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256 = 1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0000000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384 = 1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0000000</a:t>
            </a:r>
          </a:p>
        </p:txBody>
      </p:sp>
      <p:cxnSp>
        <p:nvCxnSpPr>
          <p:cNvPr id="541" name="Shape 541"/>
          <p:cNvCxnSpPr>
            <a:stCxn id="542" idx="0"/>
          </p:cNvCxnSpPr>
          <p:nvPr/>
        </p:nvCxnSpPr>
        <p:spPr>
          <a:xfrm flipV="1">
            <a:off x="4574050" y="5384664"/>
            <a:ext cx="66900" cy="34859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42" name="Shape 542"/>
          <p:cNvSpPr txBox="1"/>
          <p:nvPr/>
        </p:nvSpPr>
        <p:spPr>
          <a:xfrm>
            <a:off x="4175800" y="5733256"/>
            <a:ext cx="796500" cy="28530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/>
              <a:t>7th bit</a:t>
            </a:r>
          </a:p>
        </p:txBody>
      </p:sp>
      <p:grpSp>
        <p:nvGrpSpPr>
          <p:cNvPr id="17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18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19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20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Check A[S] where 2</a:t>
            </a:r>
            <a:r>
              <a:rPr lang="en" sz="1800" baseline="30000" dirty="0"/>
              <a:t>S</a:t>
            </a:r>
            <a:r>
              <a:rPr lang="en" sz="1800" dirty="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Insert B to A[S]</a:t>
            </a:r>
          </a:p>
        </p:txBody>
      </p:sp>
    </p:spTree>
    <p:extLst>
      <p:ext uri="{BB962C8B-B14F-4D97-AF65-F5344CB8AC3E}">
        <p14:creationId xmlns:p14="http://schemas.microsoft.com/office/powerpoint/2010/main" val="1895622618"/>
      </p:ext>
    </p:extLst>
  </p:cSld>
  <p:clrMapOvr>
    <a:masterClrMapping/>
  </p:clrMapOvr>
  <p:transition spd="slow"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7" name="Shape 547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Merge and Check Buddy</a:t>
            </a:r>
          </a:p>
        </p:txBody>
      </p:sp>
      <p:sp>
        <p:nvSpPr>
          <p:cNvPr id="552" name="Shape 552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553" name="Shape 553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555" name="Shape 555"/>
          <p:cNvSpPr txBox="1"/>
          <p:nvPr/>
        </p:nvSpPr>
        <p:spPr>
          <a:xfrm>
            <a:off x="17166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sp>
        <p:nvSpPr>
          <p:cNvPr id="556" name="Shape 556"/>
          <p:cNvSpPr/>
          <p:nvPr/>
        </p:nvSpPr>
        <p:spPr>
          <a:xfrm>
            <a:off x="311702" y="3047247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57" name="Shape 557"/>
          <p:cNvSpPr txBox="1"/>
          <p:nvPr/>
        </p:nvSpPr>
        <p:spPr>
          <a:xfrm>
            <a:off x="2976650" y="3160051"/>
            <a:ext cx="1259999" cy="537899"/>
          </a:xfrm>
          <a:prstGeom prst="rect">
            <a:avLst/>
          </a:prstGeom>
          <a:solidFill>
            <a:srgbClr val="274E1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256</a:t>
            </a:r>
          </a:p>
        </p:txBody>
      </p:sp>
      <p:sp>
        <p:nvSpPr>
          <p:cNvPr id="558" name="Shape 558"/>
          <p:cNvSpPr txBox="1"/>
          <p:nvPr/>
        </p:nvSpPr>
        <p:spPr>
          <a:xfrm>
            <a:off x="6169878" y="3160045"/>
            <a:ext cx="2700331" cy="763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256 = 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00000000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   = </a:t>
            </a:r>
            <a:r>
              <a:rPr lang="e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2000" dirty="0">
                <a:latin typeface="Courier New"/>
                <a:ea typeface="Courier New"/>
                <a:cs typeface="Courier New"/>
                <a:sym typeface="Courier New"/>
              </a:rPr>
              <a:t>00000000</a:t>
            </a:r>
          </a:p>
        </p:txBody>
      </p:sp>
      <p:cxnSp>
        <p:nvCxnSpPr>
          <p:cNvPr id="559" name="Shape 559"/>
          <p:cNvCxnSpPr/>
          <p:nvPr/>
        </p:nvCxnSpPr>
        <p:spPr>
          <a:xfrm rot="10800000" flipH="1">
            <a:off x="7198296" y="3781165"/>
            <a:ext cx="66900" cy="420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60" name="Shape 560"/>
          <p:cNvSpPr txBox="1"/>
          <p:nvPr/>
        </p:nvSpPr>
        <p:spPr>
          <a:xfrm>
            <a:off x="6803674" y="4207716"/>
            <a:ext cx="796500" cy="426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/>
              <a:t>8th bit</a:t>
            </a:r>
          </a:p>
        </p:txBody>
      </p:sp>
      <p:grpSp>
        <p:nvGrpSpPr>
          <p:cNvPr id="16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17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18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19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Check A[S] where 2</a:t>
            </a:r>
            <a:r>
              <a:rPr lang="en" sz="1800" baseline="30000" dirty="0"/>
              <a:t>S</a:t>
            </a:r>
            <a:r>
              <a:rPr lang="en" sz="1800" dirty="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Insert B to A[S]</a:t>
            </a:r>
          </a:p>
        </p:txBody>
      </p:sp>
    </p:spTree>
    <p:extLst>
      <p:ext uri="{BB962C8B-B14F-4D97-AF65-F5344CB8AC3E}">
        <p14:creationId xmlns:p14="http://schemas.microsoft.com/office/powerpoint/2010/main" val="2335403044"/>
      </p:ext>
    </p:extLst>
  </p:cSld>
  <p:clrMapOvr>
    <a:masterClrMapping/>
  </p:clrMapOvr>
  <p:transition spd="slow"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5" name="Shape 565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66" name="Shape 566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Merge and Check Buddy</a:t>
            </a:r>
          </a:p>
        </p:txBody>
      </p:sp>
      <p:sp>
        <p:nvSpPr>
          <p:cNvPr id="570" name="Shape 570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571" name="Shape 571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573" name="Shape 573"/>
          <p:cNvSpPr/>
          <p:nvPr/>
        </p:nvSpPr>
        <p:spPr>
          <a:xfrm>
            <a:off x="311702" y="3047247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74" name="Shape 574"/>
          <p:cNvSpPr txBox="1"/>
          <p:nvPr/>
        </p:nvSpPr>
        <p:spPr>
          <a:xfrm>
            <a:off x="1716650" y="2332376"/>
            <a:ext cx="1259999" cy="537899"/>
          </a:xfrm>
          <a:prstGeom prst="rect">
            <a:avLst/>
          </a:prstGeom>
          <a:solidFill>
            <a:srgbClr val="274E1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</a:rPr>
              <a:t>0</a:t>
            </a:r>
          </a:p>
        </p:txBody>
      </p:sp>
      <p:grpSp>
        <p:nvGrpSpPr>
          <p:cNvPr id="12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13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14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  <p:sp>
        <p:nvSpPr>
          <p:cNvPr id="15" name="Shape 388"/>
          <p:cNvSpPr txBox="1"/>
          <p:nvPr/>
        </p:nvSpPr>
        <p:spPr>
          <a:xfrm>
            <a:off x="2987824" y="940583"/>
            <a:ext cx="4214100" cy="1558500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Check A[S] where 2</a:t>
            </a:r>
            <a:r>
              <a:rPr lang="en" sz="1800" baseline="30000" dirty="0"/>
              <a:t>S</a:t>
            </a:r>
            <a:r>
              <a:rPr lang="en" sz="1800" dirty="0"/>
              <a:t> == size of B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/>
              <a:t>Does the buddy C of B exist?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Merge: B’ = B + C</a:t>
            </a:r>
          </a:p>
          <a:p>
            <a:pPr marL="914400" lvl="1" indent="-342900" rtl="0">
              <a:spcBef>
                <a:spcPts val="0"/>
              </a:spcBef>
              <a:buSzPct val="100000"/>
              <a:buAutoNum type="alphaLcPeriod"/>
            </a:pPr>
            <a:r>
              <a:rPr lang="en" sz="1800" dirty="0"/>
              <a:t>Goto 1 with B = B’</a:t>
            </a:r>
          </a:p>
          <a:p>
            <a:pPr marL="457200" lvl="0" indent="-342900" rtl="0">
              <a:spcBef>
                <a:spcPts val="0"/>
              </a:spcBef>
              <a:buSzPct val="1000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Insert B to A[S]</a:t>
            </a:r>
          </a:p>
        </p:txBody>
      </p:sp>
    </p:spTree>
    <p:extLst>
      <p:ext uri="{BB962C8B-B14F-4D97-AF65-F5344CB8AC3E}">
        <p14:creationId xmlns:p14="http://schemas.microsoft.com/office/powerpoint/2010/main" val="3064577337"/>
      </p:ext>
    </p:extLst>
  </p:cSld>
  <p:clrMapOvr>
    <a:masterClrMapping/>
  </p:clrMapOvr>
  <p:transition spd="slow"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" name="Shape 579"/>
          <p:cNvGraphicFramePr/>
          <p:nvPr/>
        </p:nvGraphicFramePr>
        <p:xfrm>
          <a:off x="189300" y="779087"/>
          <a:ext cx="7221625" cy="61026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K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10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1024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9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512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8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256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7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128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6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64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...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2400"/>
                        <a:t>0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= 1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80" name="Shape 580"/>
          <p:cNvSpPr txBox="1">
            <a:spLocks noGrp="1"/>
          </p:cNvSpPr>
          <p:nvPr>
            <p:ph type="title"/>
          </p:nvPr>
        </p:nvSpPr>
        <p:spPr>
          <a:xfrm>
            <a:off x="311700" y="41029"/>
            <a:ext cx="8520599" cy="763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/>
              <a:t>Merge and Check Buddy</a:t>
            </a:r>
          </a:p>
        </p:txBody>
      </p:sp>
      <p:sp>
        <p:nvSpPr>
          <p:cNvPr id="584" name="Shape 584"/>
          <p:cNvSpPr txBox="1"/>
          <p:nvPr/>
        </p:nvSpPr>
        <p:spPr>
          <a:xfrm>
            <a:off x="4574050" y="39926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640</a:t>
            </a:r>
          </a:p>
        </p:txBody>
      </p:sp>
      <p:sp>
        <p:nvSpPr>
          <p:cNvPr id="585" name="Shape 585"/>
          <p:cNvSpPr txBox="1"/>
          <p:nvPr/>
        </p:nvSpPr>
        <p:spPr>
          <a:xfrm>
            <a:off x="4574050" y="3160050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768</a:t>
            </a:r>
          </a:p>
        </p:txBody>
      </p:sp>
      <p:sp>
        <p:nvSpPr>
          <p:cNvPr id="586" name="Shape 586"/>
          <p:cNvSpPr/>
          <p:nvPr/>
        </p:nvSpPr>
        <p:spPr>
          <a:xfrm>
            <a:off x="311702" y="3047247"/>
            <a:ext cx="1150199" cy="7635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87" name="Shape 587"/>
          <p:cNvSpPr txBox="1"/>
          <p:nvPr/>
        </p:nvSpPr>
        <p:spPr>
          <a:xfrm>
            <a:off x="1695175" y="2322075"/>
            <a:ext cx="1259999" cy="537899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0</a:t>
            </a:r>
          </a:p>
        </p:txBody>
      </p:sp>
      <p:grpSp>
        <p:nvGrpSpPr>
          <p:cNvPr id="11" name="Shape 116"/>
          <p:cNvGrpSpPr/>
          <p:nvPr/>
        </p:nvGrpSpPr>
        <p:grpSpPr>
          <a:xfrm>
            <a:off x="7696116" y="2444360"/>
            <a:ext cx="1318362" cy="426579"/>
            <a:chOff x="7572300" y="625003"/>
            <a:chExt cx="1414824" cy="717421"/>
          </a:xfrm>
        </p:grpSpPr>
        <p:sp>
          <p:nvSpPr>
            <p:cNvPr id="12" name="Shape 117"/>
            <p:cNvSpPr txBox="1"/>
            <p:nvPr/>
          </p:nvSpPr>
          <p:spPr>
            <a:xfrm>
              <a:off x="7572300" y="804524"/>
              <a:ext cx="1259999" cy="537899"/>
            </a:xfrm>
            <a:prstGeom prst="rect">
              <a:avLst/>
            </a:prstGeom>
            <a:solidFill>
              <a:srgbClr val="38761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dirty="0">
                  <a:solidFill>
                    <a:schemeClr val="lt1"/>
                  </a:solidFill>
                </a:rPr>
                <a:t>512, 128K</a:t>
              </a:r>
            </a:p>
          </p:txBody>
        </p:sp>
        <p:sp>
          <p:nvSpPr>
            <p:cNvPr id="13" name="Shape 118"/>
            <p:cNvSpPr txBox="1"/>
            <p:nvPr/>
          </p:nvSpPr>
          <p:spPr>
            <a:xfrm>
              <a:off x="8568025" y="625003"/>
              <a:ext cx="419099" cy="430199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0909865"/>
      </p:ext>
    </p:extLst>
  </p:cSld>
  <p:clrMapOvr>
    <a:masterClrMapping/>
  </p:clrMapOvr>
  <p:transition spd="slow"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7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5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439653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Bookkeeping Overhead for 16Mb (2</a:t>
            </a:r>
            <a:r>
              <a:rPr lang="en-US" baseline="30000" dirty="0"/>
              <a:t>24</a:t>
            </a:r>
            <a:r>
              <a:rPr lang="en-US" dirty="0"/>
              <a:t>)</a:t>
            </a:r>
            <a:endParaRPr lang="en-S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965234"/>
              </p:ext>
            </p:extLst>
          </p:nvPr>
        </p:nvGraphicFramePr>
        <p:xfrm>
          <a:off x="338380" y="986294"/>
          <a:ext cx="8131443" cy="5516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481">
                  <a:extLst>
                    <a:ext uri="{9D8B030D-6E8A-4147-A177-3AD203B41FA5}">
                      <a16:colId xmlns:a16="http://schemas.microsoft.com/office/drawing/2014/main" val="3332127100"/>
                    </a:ext>
                  </a:extLst>
                </a:gridCol>
                <a:gridCol w="2710481">
                  <a:extLst>
                    <a:ext uri="{9D8B030D-6E8A-4147-A177-3AD203B41FA5}">
                      <a16:colId xmlns:a16="http://schemas.microsoft.com/office/drawing/2014/main" val="556482530"/>
                    </a:ext>
                  </a:extLst>
                </a:gridCol>
                <a:gridCol w="2710481">
                  <a:extLst>
                    <a:ext uri="{9D8B030D-6E8A-4147-A177-3AD203B41FA5}">
                      <a16:colId xmlns:a16="http://schemas.microsoft.com/office/drawing/2014/main" val="3746350197"/>
                    </a:ext>
                  </a:extLst>
                </a:gridCol>
              </a:tblGrid>
              <a:tr h="5712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Memory</a:t>
                      </a:r>
                      <a:r>
                        <a:rPr lang="en-US" baseline="0" dirty="0"/>
                        <a:t> Allocation Scheme</a:t>
                      </a:r>
                      <a:endParaRPr lang="en-S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Minimum Overhead</a:t>
                      </a:r>
                      <a:endParaRPr lang="en-S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Maximum Overhead</a:t>
                      </a:r>
                      <a:endParaRPr lang="en-S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232895"/>
                  </a:ext>
                </a:extLst>
              </a:tr>
              <a:tr h="16253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Fixed Size (4Kb each)</a:t>
                      </a:r>
                    </a:p>
                    <a:p>
                      <a:pPr algn="ctr"/>
                      <a:r>
                        <a:rPr lang="en-US" dirty="0"/>
                        <a:t>[]</a:t>
                      </a:r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590097"/>
                  </a:ext>
                </a:extLst>
              </a:tr>
              <a:tr h="16253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Dynamic Size</a:t>
                      </a:r>
                      <a:r>
                        <a:rPr lang="en-US" baseline="0" dirty="0"/>
                        <a:t> (1KB to 4KB)</a:t>
                      </a:r>
                    </a:p>
                    <a:p>
                      <a:pPr algn="ctr"/>
                      <a:r>
                        <a:rPr lang="en-US" baseline="0" dirty="0"/>
                        <a:t>[Linked List]</a:t>
                      </a:r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9958"/>
                  </a:ext>
                </a:extLst>
              </a:tr>
              <a:tr h="16253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Dynamic Size</a:t>
                      </a:r>
                      <a:r>
                        <a:rPr lang="en-US" baseline="0" dirty="0"/>
                        <a:t> (1KB to 4KB)</a:t>
                      </a:r>
                    </a:p>
                    <a:p>
                      <a:pPr algn="ctr"/>
                      <a:r>
                        <a:rPr lang="en-US" baseline="0" dirty="0"/>
                        <a:t>[Bitmap]</a:t>
                      </a:r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251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21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590</TotalTime>
  <Words>2833</Words>
  <Application>Microsoft Office PowerPoint</Application>
  <PresentationFormat>On-screen Show (4:3)</PresentationFormat>
  <Paragraphs>1141</Paragraphs>
  <Slides>54</Slides>
  <Notes>41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Office Theme</vt:lpstr>
      <vt:lpstr>Welcome!</vt:lpstr>
      <vt:lpstr>Topic Summary</vt:lpstr>
      <vt:lpstr>Topic Summary</vt:lpstr>
      <vt:lpstr>Tutorial 7</vt:lpstr>
      <vt:lpstr>Bit-Map: Basic Idea</vt:lpstr>
      <vt:lpstr>Bit-Map: Allocate X-Kb (first-fit)</vt:lpstr>
      <vt:lpstr>Bit-Map: Deallocate X-Kb at starting at Y</vt:lpstr>
      <vt:lpstr>Bit-Map: Merge nearby partitions?</vt:lpstr>
      <vt:lpstr>Tutorial 7</vt:lpstr>
      <vt:lpstr>Memory Setup</vt:lpstr>
      <vt:lpstr>First-Fit:  P1=357KB, P2=210KB, P3=468KB, P4=491KB</vt:lpstr>
      <vt:lpstr>Best-Fit:  P1=357KB, P2=210KB, P3=468KB, P4=491KB</vt:lpstr>
      <vt:lpstr>Worst-Fit:  P1=357KB, P2=210KB, P3=468KB, P4=491KB</vt:lpstr>
      <vt:lpstr>Tutorial 7</vt:lpstr>
      <vt:lpstr>Modified First-Fit  P1=357KB, P2=210KB, P3=468KB, P4=491KB</vt:lpstr>
      <vt:lpstr>Tutorial 7</vt:lpstr>
      <vt:lpstr>Buddy System</vt:lpstr>
      <vt:lpstr>Entire memory is free</vt:lpstr>
      <vt:lpstr>Allocate [A: 240KB]</vt:lpstr>
      <vt:lpstr>Find a free block</vt:lpstr>
      <vt:lpstr>Split #1</vt:lpstr>
      <vt:lpstr>Split #2</vt:lpstr>
      <vt:lpstr>Select free block</vt:lpstr>
      <vt:lpstr>Done!</vt:lpstr>
      <vt:lpstr>Allocate [B:60KB]</vt:lpstr>
      <vt:lpstr>Allocate [B:60KB]</vt:lpstr>
      <vt:lpstr>Split #1</vt:lpstr>
      <vt:lpstr>Split #2</vt:lpstr>
      <vt:lpstr>Select free block</vt:lpstr>
      <vt:lpstr>Remove from list</vt:lpstr>
      <vt:lpstr>Allocate [C:100KB]</vt:lpstr>
      <vt:lpstr>Search for 100KB</vt:lpstr>
      <vt:lpstr>Select free 100KB</vt:lpstr>
      <vt:lpstr>Remove from list</vt:lpstr>
      <vt:lpstr>Allocate [D:128KB]</vt:lpstr>
      <vt:lpstr>Allocate [D:128KB]</vt:lpstr>
      <vt:lpstr>Split #1</vt:lpstr>
      <vt:lpstr>Split #2</vt:lpstr>
      <vt:lpstr>Select block</vt:lpstr>
      <vt:lpstr>Select block</vt:lpstr>
      <vt:lpstr>Free A</vt:lpstr>
      <vt:lpstr>Free A</vt:lpstr>
      <vt:lpstr>Does the buddy exist?</vt:lpstr>
      <vt:lpstr>Insert free block into list</vt:lpstr>
      <vt:lpstr>Free C</vt:lpstr>
      <vt:lpstr>Check buddy and insert</vt:lpstr>
      <vt:lpstr>Free B</vt:lpstr>
      <vt:lpstr>Check Buddy</vt:lpstr>
      <vt:lpstr>Merge and Check Buddy</vt:lpstr>
      <vt:lpstr>Merge and Check Buddy</vt:lpstr>
      <vt:lpstr>Merge and Check Buddy</vt:lpstr>
      <vt:lpstr>Merge and Check Buddy</vt:lpstr>
      <vt:lpstr>Tutorial 7</vt:lpstr>
      <vt:lpstr>Bookkeeping Overhead for 16Mb (224)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yuenjien soo</dc:creator>
  <cp:lastModifiedBy>Tan Keng Yan, Colin</cp:lastModifiedBy>
  <cp:revision>97</cp:revision>
  <dcterms:created xsi:type="dcterms:W3CDTF">2015-08-24T14:25:17Z</dcterms:created>
  <dcterms:modified xsi:type="dcterms:W3CDTF">2025-03-18T22:49:10Z</dcterms:modified>
</cp:coreProperties>
</file>