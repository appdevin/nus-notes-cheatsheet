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jzylPODGEjIFAgFQlCQ2iAqU79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350DE71-D1B7-42B5-A061-26278255303A}">
  <a:tblStyle styleId="{0350DE71-D1B7-42B5-A061-26278255303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FEB"/>
          </a:solidFill>
        </a:fill>
      </a:tcStyle>
    </a:wholeTbl>
    <a:band1H>
      <a:tcTxStyle/>
      <a:tcStyle>
        <a:tcBdr/>
        <a:fill>
          <a:solidFill>
            <a:srgbClr val="CBDDD5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DDD5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8C32E87-224B-4E0D-933E-EBD509D4959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210" y="7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Load W() pages when a process become runnable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Total W() exceeds physical frame# 🡺 Stop making more task runnable</a:t>
            </a:r>
            <a:endParaRPr/>
          </a:p>
        </p:txBody>
      </p:sp>
      <p:sp>
        <p:nvSpPr>
          <p:cNvPr id="113" name="Google Shape;11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(Linux uses 1024 bytes buffer by default)</a:t>
            </a:r>
            <a:endParaRPr/>
          </a:p>
        </p:txBody>
      </p:sp>
      <p:sp>
        <p:nvSpPr>
          <p:cNvPr id="147" name="Google Shape;14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(Linux uses 1024 bytes buffer by default)</a:t>
            </a:r>
            <a:endParaRPr/>
          </a:p>
        </p:txBody>
      </p:sp>
      <p:sp>
        <p:nvSpPr>
          <p:cNvPr id="177" name="Google Shape;17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 tries to open a file that is currently being written by Process B.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 tries to use a bogus file descriptor in a file-related system call.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 can never "accidentally" access files opened by Process B.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 and Process B reads from the same file. However, their reading should not affect each other.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Redirect Process A's standard input / output, e.g. " </a:t>
            </a:r>
            <a:r>
              <a:rPr lang="en-US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a.out &lt; test.in &gt; test.out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". (Hint: *nix processes has 3 default file descriptors: 0 = stdin, 1 = stdout, 2 = stderr)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 tries to open a file that is currently being written by Process B.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 tries to use a bogus file descriptor in a file-related system call.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 can never "accidentally" access files opened by Process B.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 and Process B reads from the same file. However, their reading should not affect each other.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Redirect Process A's standard input / output, e.g. " </a:t>
            </a:r>
            <a:r>
              <a:rPr lang="en-US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a.out &lt; test.in &gt; test.out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". (Hint: *nix processes has 3 default file descriptors: 0 = stdin, 1 = stdout, 2 = stderr)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 tries to open a file that is currently being written by Process B.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 tries to use a bogus file descriptor in a file-related system call.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 can never "accidentally" access files opened by Process B.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 and Process B reads from the same file. However, their reading should not affect each other.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Redirect Process A's standard input / output, e.g. " </a:t>
            </a:r>
            <a:r>
              <a:rPr lang="en-US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a.out &lt; test.in &gt; test.out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". (Hint: *nix processes has 3 default file descriptors: 0 = stdin, 1 = stdout, 2 = stderr)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 tries to open a file that is currently being written by Process B.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 tries to use a bogus file descriptor in a file-related system call.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 can never "accidentally" access files opened by Process B.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 and Process B reads from the same file. However, their reading should not affect each other.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Redirect Process A's standard input / output, e.g. " </a:t>
            </a:r>
            <a:r>
              <a:rPr lang="en-US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a.out &lt; test.in &gt; test.out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". (Hint: *nix processes has 3 default file descriptors: 0 = stdin, 1 = stdout, 2 = stderr)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 tries to open a file that is currently being written by Process B.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 tries to use a bogus file descriptor in a file-related system call.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 can never "accidentally" access files opened by Process B.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 and Process B reads from the same file. However, their reading should not affect each other.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Redirect Process A's standard input / output, e.g. " </a:t>
            </a:r>
            <a:r>
              <a:rPr lang="en-US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a.out &lt; test.in &gt; test.out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". (Hint: *nix processes has 3 default file descriptors: 0 = stdin, 1 = stdout, 2 = stderr)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body" idx="1"/>
          </p:nvPr>
        </p:nvSpPr>
        <p:spPr>
          <a:xfrm>
            <a:off x="628650" y="930877"/>
            <a:ext cx="7886700" cy="524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9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body" idx="1"/>
          </p:nvPr>
        </p:nvSpPr>
        <p:spPr>
          <a:xfrm rot="5400000">
            <a:off x="1948957" y="-389430"/>
            <a:ext cx="5246086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body" idx="1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628650" y="930877"/>
            <a:ext cx="7886700" cy="524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Topic Summary</a:t>
            </a:r>
            <a:endParaRPr/>
          </a:p>
        </p:txBody>
      </p:sp>
      <p:sp>
        <p:nvSpPr>
          <p:cNvPr id="95" name="Google Shape;95;p2"/>
          <p:cNvSpPr txBox="1">
            <a:spLocks noGrp="1"/>
          </p:cNvSpPr>
          <p:nvPr>
            <p:ph type="body" idx="1"/>
          </p:nvPr>
        </p:nvSpPr>
        <p:spPr>
          <a:xfrm>
            <a:off x="628650" y="930877"/>
            <a:ext cx="7886700" cy="524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C00000"/>
                </a:solidFill>
              </a:rPr>
              <a:t>Tutorial 10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02" name="Google Shape;102;p3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Question 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a. Working Set </a:t>
            </a:r>
            <a:r>
              <a:rPr lang="en-US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(T,</a:t>
            </a:r>
            <a:r>
              <a:rPr lang="en-US" b="1">
                <a:latin typeface="Consolas"/>
                <a:ea typeface="Consolas"/>
                <a:cs typeface="Consolas"/>
                <a:sym typeface="Consolas"/>
              </a:rPr>
              <a:t>Δ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08" name="Google Shape;108;p4"/>
          <p:cNvGraphicFramePr/>
          <p:nvPr/>
        </p:nvGraphicFramePr>
        <p:xfrm>
          <a:off x="295834" y="101156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{0350DE71-D1B7-42B5-A061-26278255303A}</a:tableStyleId>
              </a:tblPr>
              <a:tblGrid>
                <a:gridCol w="64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5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5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5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5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5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5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54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54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54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454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Time</a:t>
                      </a: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</a:t>
                      </a:r>
                      <a:endParaRPr sz="2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</a:t>
                      </a:r>
                      <a:endParaRPr sz="2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3</a:t>
                      </a:r>
                      <a:endParaRPr sz="2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4</a:t>
                      </a:r>
                      <a:endParaRPr sz="2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5</a:t>
                      </a:r>
                      <a:endParaRPr sz="2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6</a:t>
                      </a:r>
                      <a:endParaRPr sz="2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7</a:t>
                      </a:r>
                      <a:endParaRPr sz="2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8</a:t>
                      </a:r>
                      <a:endParaRPr sz="2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9</a:t>
                      </a:r>
                      <a:endParaRPr sz="2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10</a:t>
                      </a:r>
                      <a:endParaRPr sz="2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11</a:t>
                      </a:r>
                      <a:endParaRPr sz="2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12</a:t>
                      </a:r>
                      <a:endParaRPr sz="2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Page</a:t>
                      </a:r>
                      <a:endParaRPr sz="18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rgbClr val="C00000"/>
                          </a:solidFill>
                        </a:rPr>
                        <a:t>2</a:t>
                      </a:r>
                      <a:endParaRPr sz="2400" b="1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rgbClr val="C00000"/>
                          </a:solidFill>
                        </a:rPr>
                        <a:t>3</a:t>
                      </a:r>
                      <a:endParaRPr sz="2400" b="1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rgbClr val="C00000"/>
                          </a:solidFill>
                        </a:rPr>
                        <a:t>2</a:t>
                      </a:r>
                      <a:endParaRPr sz="2400" b="1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rgbClr val="C00000"/>
                          </a:solidFill>
                        </a:rPr>
                        <a:t>1</a:t>
                      </a:r>
                      <a:endParaRPr sz="2400" b="1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rgbClr val="C00000"/>
                          </a:solidFill>
                        </a:rPr>
                        <a:t>5</a:t>
                      </a:r>
                      <a:endParaRPr sz="2400" b="1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rgbClr val="C00000"/>
                          </a:solidFill>
                        </a:rPr>
                        <a:t>2</a:t>
                      </a:r>
                      <a:endParaRPr sz="2400" b="1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rgbClr val="C00000"/>
                          </a:solidFill>
                        </a:rPr>
                        <a:t>4</a:t>
                      </a:r>
                      <a:endParaRPr sz="2400" b="1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rgbClr val="C00000"/>
                          </a:solidFill>
                        </a:rPr>
                        <a:t>5</a:t>
                      </a:r>
                      <a:endParaRPr sz="2400" b="1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rgbClr val="C00000"/>
                          </a:solidFill>
                        </a:rPr>
                        <a:t>3</a:t>
                      </a:r>
                      <a:endParaRPr sz="2400" b="1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rgbClr val="C00000"/>
                          </a:solidFill>
                        </a:rPr>
                        <a:t>2</a:t>
                      </a:r>
                      <a:endParaRPr sz="2400" b="1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rgbClr val="C00000"/>
                          </a:solidFill>
                        </a:rPr>
                        <a:t>5</a:t>
                      </a:r>
                      <a:endParaRPr sz="2400" b="1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>
                          <a:solidFill>
                            <a:srgbClr val="C00000"/>
                          </a:solidFill>
                        </a:rPr>
                        <a:t>2</a:t>
                      </a:r>
                      <a:endParaRPr sz="2400" b="1">
                        <a:solidFill>
                          <a:srgbClr val="C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9" name="Google Shape;109;p4"/>
          <p:cNvSpPr/>
          <p:nvPr/>
        </p:nvSpPr>
        <p:spPr>
          <a:xfrm>
            <a:off x="874866" y="2258216"/>
            <a:ext cx="1620957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W( 9, 3 ) 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W( 11, 3 )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W( 9, 4 )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W(11, 4) 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Google Shape;115;p5"/>
          <p:cNvGraphicFramePr/>
          <p:nvPr/>
        </p:nvGraphicFramePr>
        <p:xfrm>
          <a:off x="7375585" y="1783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{0350DE71-D1B7-42B5-A061-26278255303A}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HDD</a:t>
                      </a: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0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16" name="Google Shape;116;p5"/>
          <p:cNvGraphicFramePr/>
          <p:nvPr/>
        </p:nvGraphicFramePr>
        <p:xfrm>
          <a:off x="5492832" y="1783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{0350DE71-D1B7-42B5-A061-26278255303A}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0066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RAM</a:t>
                      </a: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0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117" name="Google Shape;117;p5"/>
          <p:cNvCxnSpPr/>
          <p:nvPr/>
        </p:nvCxnSpPr>
        <p:spPr>
          <a:xfrm>
            <a:off x="7458102" y="0"/>
            <a:ext cx="21000" cy="618514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18" name="Google Shape;118;p5"/>
          <p:cNvSpPr/>
          <p:nvPr/>
        </p:nvSpPr>
        <p:spPr>
          <a:xfrm>
            <a:off x="435596" y="2114780"/>
            <a:ext cx="1184940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2800" b="0" i="0" u="none" strike="noStrike" cap="none" baseline="-250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-US" sz="2800" b="0" i="0" u="none" strike="noStrike" cap="none" baseline="-25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(T,</a:t>
            </a:r>
            <a:r>
              <a:rPr lang="en-US" sz="2800" b="1" i="0" u="none" strike="noStrike" cap="none" baseline="-25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Δ</a:t>
            </a:r>
            <a:r>
              <a:rPr lang="en-US" sz="2800" b="0" i="0" u="none" strike="noStrike" cap="none" baseline="-25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lang="en-US" sz="2800" b="0" i="0" u="none" strike="noStrike" cap="none" baseline="-250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-US" sz="2800" b="0" i="0" u="none" strike="noStrike" cap="none" baseline="-25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(T,</a:t>
            </a:r>
            <a:r>
              <a:rPr lang="en-US" sz="2800" b="1" i="0" u="none" strike="noStrike" cap="none" baseline="-25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Δ</a:t>
            </a:r>
            <a:r>
              <a:rPr lang="en-US" sz="2800" b="0" i="0" u="none" strike="noStrike" cap="none" baseline="-25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8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-US" sz="2800" b="0" i="0" u="none" strike="noStrike" cap="none" baseline="-250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-US" sz="2800" b="0" i="0" u="none" strike="noStrike" cap="none" baseline="-25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(T,</a:t>
            </a:r>
            <a:r>
              <a:rPr lang="en-US" sz="2800" b="1" i="0" u="none" strike="noStrike" cap="none" baseline="-25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Δ</a:t>
            </a:r>
            <a:r>
              <a:rPr lang="en-US" sz="2800" b="0" i="0" u="none" strike="noStrike" cap="none" baseline="-25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-US" sz="2800" b="0" i="0" u="none" strike="noStrike" cap="none" baseline="-250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-US" sz="2800" b="0" i="0" u="none" strike="noStrike" cap="none" baseline="-25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(T,</a:t>
            </a:r>
            <a:r>
              <a:rPr lang="en-US" sz="2800" b="1" i="0" u="none" strike="noStrike" cap="none" baseline="-25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Δ</a:t>
            </a:r>
            <a:r>
              <a:rPr lang="en-US" sz="2800" b="0" i="0" u="none" strike="noStrike" cap="none" baseline="-25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baseline="-25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.......</a:t>
            </a:r>
            <a:endParaRPr sz="28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b. Usage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c. Implementation</a:t>
            </a:r>
            <a:endParaRPr/>
          </a:p>
        </p:txBody>
      </p:sp>
      <p:graphicFrame>
        <p:nvGraphicFramePr>
          <p:cNvPr id="125" name="Google Shape;125;p6"/>
          <p:cNvGraphicFramePr/>
          <p:nvPr/>
        </p:nvGraphicFramePr>
        <p:xfrm>
          <a:off x="-275231" y="1122634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{0350DE71-D1B7-42B5-A061-26278255303A}</a:tableStyleId>
              </a:tblPr>
              <a:tblGrid>
                <a:gridCol w="117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22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/>
                        <a:t>P#</a:t>
                      </a:r>
                      <a:endParaRPr sz="24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8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8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8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….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8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….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8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8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8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….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26" name="Google Shape;126;p6"/>
          <p:cNvGraphicFramePr/>
          <p:nvPr/>
        </p:nvGraphicFramePr>
        <p:xfrm>
          <a:off x="2268071" y="170472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{0350DE71-D1B7-42B5-A061-26278255303A}</a:tableStyleId>
              </a:tblPr>
              <a:tblGrid>
                <a:gridCol w="37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" name="Google Shape;127;p6"/>
          <p:cNvGraphicFramePr/>
          <p:nvPr/>
        </p:nvGraphicFramePr>
        <p:xfrm>
          <a:off x="2268071" y="220674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{0350DE71-D1B7-42B5-A061-26278255303A}</a:tableStyleId>
              </a:tblPr>
              <a:tblGrid>
                <a:gridCol w="37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8" name="Google Shape;128;p6"/>
          <p:cNvGraphicFramePr/>
          <p:nvPr/>
        </p:nvGraphicFramePr>
        <p:xfrm>
          <a:off x="2268071" y="369488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{0350DE71-D1B7-42B5-A061-26278255303A}</a:tableStyleId>
              </a:tblPr>
              <a:tblGrid>
                <a:gridCol w="37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9" name="Google Shape;129;p6"/>
          <p:cNvGraphicFramePr/>
          <p:nvPr/>
        </p:nvGraphicFramePr>
        <p:xfrm>
          <a:off x="2268071" y="42058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{0350DE71-D1B7-42B5-A061-26278255303A}</a:tableStyleId>
              </a:tblPr>
              <a:tblGrid>
                <a:gridCol w="37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0" name="Google Shape;130;p6"/>
          <p:cNvGraphicFramePr/>
          <p:nvPr/>
        </p:nvGraphicFramePr>
        <p:xfrm>
          <a:off x="2268071" y="122626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{0350DE71-D1B7-42B5-A061-26278255303A}</a:tableStyleId>
              </a:tblPr>
              <a:tblGrid>
                <a:gridCol w="37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r>
                        <a:rPr lang="en-US" sz="1600" b="1" baseline="30000">
                          <a:solidFill>
                            <a:srgbClr val="00206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 baseline="30000">
                        <a:solidFill>
                          <a:srgbClr val="00206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600"/>
                        <a:buFont typeface="Consolas"/>
                        <a:buNone/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r>
                        <a:rPr lang="en-US" sz="1600" b="1" baseline="30000">
                          <a:solidFill>
                            <a:srgbClr val="00206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 baseline="30000">
                        <a:solidFill>
                          <a:srgbClr val="00206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r>
                        <a:rPr lang="en-US" sz="1600" b="1" baseline="30000">
                          <a:solidFill>
                            <a:srgbClr val="00206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600" b="1">
                        <a:solidFill>
                          <a:srgbClr val="00206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…</a:t>
                      </a:r>
                      <a:endParaRPr sz="1600" b="1">
                        <a:solidFill>
                          <a:srgbClr val="00206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r>
                        <a:rPr lang="en-US" sz="1600" b="1" baseline="30000">
                          <a:solidFill>
                            <a:srgbClr val="00206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K-2</a:t>
                      </a:r>
                      <a:endParaRPr sz="1600" b="1" baseline="30000">
                        <a:solidFill>
                          <a:srgbClr val="00206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600"/>
                        <a:buFont typeface="Consolas"/>
                        <a:buNone/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r>
                        <a:rPr lang="en-US" sz="1600" b="1" baseline="30000">
                          <a:solidFill>
                            <a:srgbClr val="00206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K-1</a:t>
                      </a:r>
                      <a:endParaRPr sz="1600" b="1" baseline="30000">
                        <a:solidFill>
                          <a:srgbClr val="00206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1" name="Google Shape;131;p6"/>
          <p:cNvGraphicFramePr/>
          <p:nvPr/>
        </p:nvGraphicFramePr>
        <p:xfrm>
          <a:off x="5295465" y="1226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{68C32E87-224B-4E0D-933E-EBD509D4959B}</a:tableStyleId>
              </a:tblPr>
              <a:tblGrid>
                <a:gridCol w="349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49275">
                <a:tc>
                  <a:txBody>
                    <a:bodyPr/>
                    <a:lstStyle/>
                    <a:p>
                      <a:pPr marL="342900" marR="0" lvl="0" indent="-34290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AutoNum type="arabicPeriod"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PTE has an additional K-bit, M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M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… M</a:t>
                      </a:r>
                      <a:r>
                        <a:rPr lang="en-US" sz="1800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K-1</a:t>
                      </a: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All K-bit are initialized to '0'.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42900" marR="0" lvl="0" indent="-34290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AutoNum type="arabicPeriod"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Page P is referenced: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742950" marR="0" lvl="1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AutoNum type="alphaLcPeriod"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r>
                        <a:rPr lang="en-US" sz="1800" u="none" strike="noStrike" cap="none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K-1 </a:t>
                      </a: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🡨 M</a:t>
                      </a:r>
                      <a:r>
                        <a:rPr lang="en-US" sz="1800" u="none" strike="noStrike" cap="none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K-2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742950" marR="0" lvl="1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AutoNum type="alphaLcPeriod"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742950" marR="0" lvl="1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AutoNum type="alphaLcPeriod"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r>
                        <a:rPr lang="en-US" sz="1800" u="none" strike="noStrike" cap="none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🡨 M</a:t>
                      </a:r>
                      <a:r>
                        <a:rPr lang="en-US" sz="1800" u="none" strike="noStrike" cap="none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742950" marR="0" lvl="1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AutoNum type="alphaLcPeriod"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r>
                        <a:rPr lang="en-US" sz="1800" u="none" strike="noStrike" cap="none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🡨 M</a:t>
                      </a:r>
                      <a:r>
                        <a:rPr lang="en-US" sz="1800" u="none" strike="noStrike" cap="none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742950" marR="0" lvl="1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AutoNum type="alphaLcPeriod"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r>
                        <a:rPr lang="en-US" sz="1800" u="none" strike="noStrike" cap="none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 </a:t>
                      </a: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🡨 </a:t>
                      </a: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42900" marR="0" lvl="0" indent="-34290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AutoNum type="arabicPeriod"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 other Non-P pages: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742950" marR="0" lvl="1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AutoNum type="alphaLcPeriod"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r>
                        <a:rPr lang="en-US" sz="1800" u="none" strike="noStrike" cap="none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K-1 </a:t>
                      </a: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🡨 M</a:t>
                      </a:r>
                      <a:r>
                        <a:rPr lang="en-US" sz="1800" u="none" strike="noStrike" cap="none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K-2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742950" marR="0" lvl="1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AutoNum type="alphaLcPeriod"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742950" marR="0" lvl="1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AutoNum type="alphaLcPeriod"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r>
                        <a:rPr lang="en-US" sz="1800" u="none" strike="noStrike" cap="none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🡨 M</a:t>
                      </a:r>
                      <a:r>
                        <a:rPr lang="en-US" sz="1800" u="none" strike="noStrike" cap="none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742950" marR="0" lvl="1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AutoNum type="alphaLcPeriod"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r>
                        <a:rPr lang="en-US" sz="1800" u="none" strike="noStrike" cap="none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🡨 M</a:t>
                      </a:r>
                      <a:r>
                        <a:rPr lang="en-US" sz="1800" u="none" strike="noStrike" cap="none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742950" marR="0" lvl="1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AutoNum type="alphaLcPeriod"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r>
                        <a:rPr lang="en-US" sz="1800" u="none" strike="noStrike" cap="none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 </a:t>
                      </a: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🡨</a:t>
                      </a: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0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C00000"/>
                </a:solidFill>
              </a:rPr>
              <a:t>Tutorial 10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Question 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a. One / Two </a:t>
            </a:r>
            <a:r>
              <a:rPr lang="en-US" b="1"/>
              <a:t>Buffered File Operations</a:t>
            </a:r>
            <a:r>
              <a:rPr lang="en-US"/>
              <a:t>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b. That's Weird…?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b. That's Weird…?</a:t>
            </a:r>
            <a:endParaRPr/>
          </a:p>
        </p:txBody>
      </p:sp>
      <p:pic>
        <p:nvPicPr>
          <p:cNvPr id="155" name="Google Shape;155;p10" descr="7 Fixed | Screen Innovation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3158" y="0"/>
            <a:ext cx="6102240" cy="40681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0"/>
          <p:cNvCxnSpPr/>
          <p:nvPr/>
        </p:nvCxnSpPr>
        <p:spPr>
          <a:xfrm>
            <a:off x="4284597" y="609600"/>
            <a:ext cx="21000" cy="618514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graphicFrame>
        <p:nvGraphicFramePr>
          <p:cNvPr id="157" name="Google Shape;157;p10"/>
          <p:cNvGraphicFramePr/>
          <p:nvPr/>
        </p:nvGraphicFramePr>
        <p:xfrm>
          <a:off x="457642" y="48140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{68C32E87-224B-4E0D-933E-EBD509D4959B}</a:tableStyleId>
              </a:tblPr>
              <a:tblGrid>
                <a:gridCol w="349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277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printf</a:t>
                      </a: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("a");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8" name="Google Shape;158;p10"/>
          <p:cNvGrpSpPr/>
          <p:nvPr/>
        </p:nvGrpSpPr>
        <p:grpSpPr>
          <a:xfrm>
            <a:off x="457642" y="1084456"/>
            <a:ext cx="3496236" cy="3576011"/>
            <a:chOff x="457642" y="1084456"/>
            <a:chExt cx="3496236" cy="3576011"/>
          </a:xfrm>
        </p:grpSpPr>
        <p:cxnSp>
          <p:nvCxnSpPr>
            <p:cNvPr id="159" name="Google Shape;159;p10"/>
            <p:cNvCxnSpPr/>
            <p:nvPr/>
          </p:nvCxnSpPr>
          <p:spPr>
            <a:xfrm>
              <a:off x="457642" y="1084456"/>
              <a:ext cx="0" cy="3576011"/>
            </a:xfrm>
            <a:prstGeom prst="straightConnector1">
              <a:avLst/>
            </a:prstGeom>
            <a:noFill/>
            <a:ln w="28575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0" name="Google Shape;160;p10"/>
            <p:cNvCxnSpPr/>
            <p:nvPr/>
          </p:nvCxnSpPr>
          <p:spPr>
            <a:xfrm>
              <a:off x="3953878" y="1084456"/>
              <a:ext cx="0" cy="3576011"/>
            </a:xfrm>
            <a:prstGeom prst="straightConnector1">
              <a:avLst/>
            </a:prstGeom>
            <a:noFill/>
            <a:ln w="28575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61" name="Google Shape;161;p10"/>
            <p:cNvSpPr/>
            <p:nvPr/>
          </p:nvSpPr>
          <p:spPr>
            <a:xfrm>
              <a:off x="546847" y="1255059"/>
              <a:ext cx="3343836" cy="905435"/>
            </a:xfrm>
            <a:prstGeom prst="roundRect">
              <a:avLst>
                <a:gd name="adj" fmla="val 10726"/>
              </a:avLst>
            </a:prstGeom>
            <a:solidFill>
              <a:srgbClr val="E6F2D9"/>
            </a:solidFill>
            <a:ln w="19050" cap="flat" cmpd="sng">
              <a:solidFill>
                <a:srgbClr val="0066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b. That's Weird…?</a:t>
            </a:r>
            <a:endParaRPr/>
          </a:p>
        </p:txBody>
      </p:sp>
      <p:pic>
        <p:nvPicPr>
          <p:cNvPr id="167" name="Google Shape;167;p11" descr="7 Fixed | Screen Innovation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3158" y="0"/>
            <a:ext cx="6102240" cy="40681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11"/>
          <p:cNvCxnSpPr/>
          <p:nvPr/>
        </p:nvCxnSpPr>
        <p:spPr>
          <a:xfrm>
            <a:off x="4284597" y="609600"/>
            <a:ext cx="21000" cy="618514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graphicFrame>
        <p:nvGraphicFramePr>
          <p:cNvPr id="169" name="Google Shape;169;p11"/>
          <p:cNvGraphicFramePr/>
          <p:nvPr/>
        </p:nvGraphicFramePr>
        <p:xfrm>
          <a:off x="457642" y="48140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{68C32E87-224B-4E0D-933E-EBD509D4959B}</a:tableStyleId>
              </a:tblPr>
              <a:tblGrid>
                <a:gridCol w="349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277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i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printf</a:t>
                      </a: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("a</a:t>
                      </a:r>
                      <a:r>
                        <a:rPr lang="en-US" sz="1800" b="1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\n</a:t>
                      </a:r>
                      <a:r>
                        <a:rPr lang="en-US" sz="1800" b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");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70" name="Google Shape;170;p11"/>
          <p:cNvGrpSpPr/>
          <p:nvPr/>
        </p:nvGrpSpPr>
        <p:grpSpPr>
          <a:xfrm>
            <a:off x="457642" y="1084456"/>
            <a:ext cx="3496236" cy="3576011"/>
            <a:chOff x="457642" y="1084456"/>
            <a:chExt cx="3496236" cy="3576011"/>
          </a:xfrm>
        </p:grpSpPr>
        <p:cxnSp>
          <p:nvCxnSpPr>
            <p:cNvPr id="171" name="Google Shape;171;p11"/>
            <p:cNvCxnSpPr/>
            <p:nvPr/>
          </p:nvCxnSpPr>
          <p:spPr>
            <a:xfrm>
              <a:off x="457642" y="1084456"/>
              <a:ext cx="0" cy="3576011"/>
            </a:xfrm>
            <a:prstGeom prst="straightConnector1">
              <a:avLst/>
            </a:prstGeom>
            <a:noFill/>
            <a:ln w="28575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2" name="Google Shape;172;p11"/>
            <p:cNvCxnSpPr/>
            <p:nvPr/>
          </p:nvCxnSpPr>
          <p:spPr>
            <a:xfrm>
              <a:off x="3953878" y="1084456"/>
              <a:ext cx="0" cy="3576011"/>
            </a:xfrm>
            <a:prstGeom prst="straightConnector1">
              <a:avLst/>
            </a:prstGeom>
            <a:noFill/>
            <a:ln w="28575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73" name="Google Shape;173;p11"/>
            <p:cNvSpPr/>
            <p:nvPr/>
          </p:nvSpPr>
          <p:spPr>
            <a:xfrm>
              <a:off x="546847" y="1255059"/>
              <a:ext cx="3343836" cy="905435"/>
            </a:xfrm>
            <a:prstGeom prst="roundRect">
              <a:avLst>
                <a:gd name="adj" fmla="val 10726"/>
              </a:avLst>
            </a:prstGeom>
            <a:solidFill>
              <a:srgbClr val="E6F2D9"/>
            </a:solidFill>
            <a:ln w="19050" cap="flat" cmpd="sng">
              <a:solidFill>
                <a:srgbClr val="0066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/>
          <p:nvPr/>
        </p:nvSpPr>
        <p:spPr>
          <a:xfrm>
            <a:off x="457642" y="806825"/>
            <a:ext cx="5638358" cy="5940088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1553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BufferedFileRead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>
              <a:rPr lang="en-US" sz="2000" b="1" i="0" u="none" strike="noStrike" cap="none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 b="1" i="0" u="none" strike="noStrike" cap="none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outArr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 b="1" i="0" u="none" strike="noStrike" cap="none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rSize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Buffer.available &lt; </a:t>
            </a:r>
            <a:r>
              <a:rPr lang="en-US" sz="2000" b="1" i="0" u="none" strike="noStrike" cap="none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rSize</a:t>
            </a:r>
            <a:endParaRPr sz="2000" b="1" i="0" u="none" strike="noStrike" cap="none">
              <a:solidFill>
                <a:srgbClr val="0066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000" b="1" i="1" u="none" strike="noStrike" cap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read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 b="1" i="0" u="none" strike="noStrike" cap="none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Buffer,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Buffer.size – Buffer.available)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Buffer.available = Buffer.size</a:t>
            </a: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 u="none" strike="noStrike" cap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copy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>
              <a:rPr lang="en-US" sz="2000" b="1" i="0" u="none" strike="noStrike" cap="none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outArr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 b="1" i="0" u="none" strike="noStrike" cap="none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Buffer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 b="1" i="0" u="none" strike="noStrike" cap="none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rSize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)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Buffer.available -= </a:t>
            </a:r>
            <a:r>
              <a:rPr lang="en-US" sz="2000" b="1" i="0" u="none" strike="noStrike" cap="none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rSize</a:t>
            </a:r>
            <a:endParaRPr sz="2000" b="1" i="0" u="none" strike="noStrike" cap="none">
              <a:solidFill>
                <a:srgbClr val="0066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" name="Google Shape;180;p12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c. Implement Buffered File Reader</a:t>
            </a:r>
            <a:endParaRPr/>
          </a:p>
        </p:txBody>
      </p:sp>
      <p:cxnSp>
        <p:nvCxnSpPr>
          <p:cNvPr id="181" name="Google Shape;181;p12"/>
          <p:cNvCxnSpPr/>
          <p:nvPr/>
        </p:nvCxnSpPr>
        <p:spPr>
          <a:xfrm>
            <a:off x="6265797" y="609600"/>
            <a:ext cx="21000" cy="618514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grpSp>
        <p:nvGrpSpPr>
          <p:cNvPr id="182" name="Google Shape;182;p12"/>
          <p:cNvGrpSpPr/>
          <p:nvPr/>
        </p:nvGrpSpPr>
        <p:grpSpPr>
          <a:xfrm>
            <a:off x="493280" y="1226712"/>
            <a:ext cx="5567082" cy="681317"/>
            <a:chOff x="493280" y="1226712"/>
            <a:chExt cx="5567082" cy="681317"/>
          </a:xfrm>
        </p:grpSpPr>
        <p:sp>
          <p:nvSpPr>
            <p:cNvPr id="183" name="Google Shape;183;p12"/>
            <p:cNvSpPr/>
            <p:nvPr/>
          </p:nvSpPr>
          <p:spPr>
            <a:xfrm>
              <a:off x="493280" y="1226712"/>
              <a:ext cx="5567082" cy="681317"/>
            </a:xfrm>
            <a:prstGeom prst="roundRect">
              <a:avLst>
                <a:gd name="adj" fmla="val 10726"/>
              </a:avLst>
            </a:prstGeom>
            <a:solidFill>
              <a:srgbClr val="E6F2D9"/>
            </a:solidFill>
            <a:ln w="19050" cap="flat" cmpd="sng">
              <a:solidFill>
                <a:srgbClr val="0066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0" i="0" u="none" strike="noStrike" cap="non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Buffer </a:t>
              </a:r>
              <a:endParaRPr sz="4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2"/>
            <p:cNvSpPr/>
            <p:nvPr/>
          </p:nvSpPr>
          <p:spPr>
            <a:xfrm>
              <a:off x="2402009" y="1226712"/>
              <a:ext cx="1282485" cy="681317"/>
            </a:xfrm>
            <a:prstGeom prst="roundRect">
              <a:avLst>
                <a:gd name="adj" fmla="val 10726"/>
              </a:avLst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.available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.size </a:t>
              </a:r>
              <a:endParaRPr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12"/>
          <p:cNvSpPr/>
          <p:nvPr/>
        </p:nvSpPr>
        <p:spPr>
          <a:xfrm>
            <a:off x="6786282" y="1559859"/>
            <a:ext cx="1936377" cy="3074894"/>
          </a:xfrm>
          <a:prstGeom prst="foldedCorner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File</a:t>
            </a:r>
            <a:endParaRPr sz="5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C00000"/>
                </a:solidFill>
              </a:rPr>
              <a:t>Tutorial 10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Question 3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7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Open File Table: </a:t>
            </a:r>
            <a:r>
              <a:rPr lang="en-US" b="1"/>
              <a:t>Overview</a:t>
            </a:r>
            <a:endParaRPr b="1"/>
          </a:p>
        </p:txBody>
      </p:sp>
      <p:pic>
        <p:nvPicPr>
          <p:cNvPr id="199" name="Google Shape;19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30" y="1074311"/>
            <a:ext cx="9059340" cy="5595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Open File Table: </a:t>
            </a:r>
            <a:r>
              <a:rPr lang="en-US" b="1"/>
              <a:t>a. (B write then A open)</a:t>
            </a:r>
            <a:endParaRPr b="1"/>
          </a:p>
        </p:txBody>
      </p:sp>
      <p:pic>
        <p:nvPicPr>
          <p:cNvPr id="206" name="Google Shape;20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60" y="930876"/>
            <a:ext cx="9059340" cy="5595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Open File Table: </a:t>
            </a:r>
            <a:r>
              <a:rPr lang="en-US" b="1"/>
              <a:t>b. (A bogus fd)</a:t>
            </a:r>
            <a:endParaRPr b="1"/>
          </a:p>
        </p:txBody>
      </p:sp>
      <p:pic>
        <p:nvPicPr>
          <p:cNvPr id="213" name="Google Shape;21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60" y="930876"/>
            <a:ext cx="9059340" cy="5595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Open File Table: </a:t>
            </a:r>
            <a:r>
              <a:rPr lang="en-US" b="1"/>
              <a:t>c. (A access B's FD</a:t>
            </a:r>
            <a:r>
              <a:rPr lang="en-US" b="1" baseline="-25000"/>
              <a:t>Table</a:t>
            </a:r>
            <a:r>
              <a:rPr lang="en-US" b="1"/>
              <a:t>)</a:t>
            </a:r>
            <a:endParaRPr b="1"/>
          </a:p>
        </p:txBody>
      </p:sp>
      <p:pic>
        <p:nvPicPr>
          <p:cNvPr id="220" name="Google Shape;22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60" y="930876"/>
            <a:ext cx="9059340" cy="5595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Open File Table: </a:t>
            </a:r>
            <a:r>
              <a:rPr lang="en-US" b="1"/>
              <a:t>d. (A B reads from F)</a:t>
            </a:r>
            <a:endParaRPr b="1"/>
          </a:p>
        </p:txBody>
      </p:sp>
      <p:pic>
        <p:nvPicPr>
          <p:cNvPr id="227" name="Google Shape;22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60" y="930876"/>
            <a:ext cx="9059340" cy="5595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Open File Table: </a:t>
            </a:r>
            <a:r>
              <a:rPr lang="en-US" b="1"/>
              <a:t>e. (A &lt; t.in &gt; t.out)</a:t>
            </a:r>
            <a:endParaRPr/>
          </a:p>
        </p:txBody>
      </p:sp>
      <p:grpSp>
        <p:nvGrpSpPr>
          <p:cNvPr id="233" name="Google Shape;233;p19"/>
          <p:cNvGrpSpPr/>
          <p:nvPr/>
        </p:nvGrpSpPr>
        <p:grpSpPr>
          <a:xfrm>
            <a:off x="4700179" y="1077102"/>
            <a:ext cx="2164080" cy="5399898"/>
            <a:chOff x="4465320" y="1077102"/>
            <a:chExt cx="2164080" cy="5399898"/>
          </a:xfrm>
        </p:grpSpPr>
        <p:sp>
          <p:nvSpPr>
            <p:cNvPr id="234" name="Google Shape;234;p19"/>
            <p:cNvSpPr/>
            <p:nvPr/>
          </p:nvSpPr>
          <p:spPr>
            <a:xfrm>
              <a:off x="4963797" y="1077102"/>
              <a:ext cx="1657710" cy="942088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6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35" name="Google Shape;235;p19"/>
            <p:cNvSpPr/>
            <p:nvPr/>
          </p:nvSpPr>
          <p:spPr>
            <a:xfrm>
              <a:off x="4963797" y="2007202"/>
              <a:ext cx="1657710" cy="749097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ourier New"/>
                <a:buNone/>
              </a:pPr>
              <a:r>
                <a:rPr lang="en-US" sz="1600" b="1" i="0" u="none" strike="noStrike" cap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…</a:t>
              </a:r>
              <a:endParaRPr/>
            </a:p>
          </p:txBody>
        </p:sp>
        <p:sp>
          <p:nvSpPr>
            <p:cNvPr id="236" name="Google Shape;236;p19"/>
            <p:cNvSpPr/>
            <p:nvPr/>
          </p:nvSpPr>
          <p:spPr>
            <a:xfrm>
              <a:off x="4971690" y="2752325"/>
              <a:ext cx="1657710" cy="942088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6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37" name="Google Shape;237;p19"/>
            <p:cNvSpPr/>
            <p:nvPr/>
          </p:nvSpPr>
          <p:spPr>
            <a:xfrm>
              <a:off x="4495800" y="1077102"/>
              <a:ext cx="484718" cy="942088"/>
            </a:xfrm>
            <a:prstGeom prst="rect">
              <a:avLst/>
            </a:prstGeom>
            <a:solidFill>
              <a:srgbClr val="F2E9DD"/>
            </a:solidFill>
            <a:ln w="1905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ourier New"/>
                <a:buNone/>
              </a:pPr>
              <a:r>
                <a:rPr lang="en-US" sz="1600" b="1" i="0" u="none" strike="noStrike" cap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endParaRPr/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4495800" y="2019190"/>
              <a:ext cx="484718" cy="734476"/>
            </a:xfrm>
            <a:prstGeom prst="rect">
              <a:avLst/>
            </a:prstGeom>
            <a:solidFill>
              <a:srgbClr val="F2E9DD"/>
            </a:solidFill>
            <a:ln w="1905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ourier New"/>
                <a:buNone/>
              </a:pPr>
              <a:r>
                <a:rPr lang="en-US" sz="1600" b="1" i="0" u="none" strike="noStrike" cap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…</a:t>
              </a:r>
              <a:endParaRPr/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4495800" y="2749689"/>
              <a:ext cx="484718" cy="942088"/>
            </a:xfrm>
            <a:prstGeom prst="rect">
              <a:avLst/>
            </a:prstGeom>
            <a:solidFill>
              <a:srgbClr val="F2E9DD"/>
            </a:solidFill>
            <a:ln w="1905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ourier New"/>
                <a:buNone/>
              </a:pPr>
              <a:r>
                <a:rPr lang="en-US" sz="1600" b="1" i="0" u="none" strike="noStrike" cap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</a:t>
              </a:r>
              <a:endParaRPr/>
            </a:p>
          </p:txBody>
        </p:sp>
        <p:sp>
          <p:nvSpPr>
            <p:cNvPr id="240" name="Google Shape;240;p19"/>
            <p:cNvSpPr/>
            <p:nvPr/>
          </p:nvSpPr>
          <p:spPr>
            <a:xfrm>
              <a:off x="4963797" y="3664089"/>
              <a:ext cx="1657710" cy="727495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ourier New"/>
                <a:buNone/>
              </a:pPr>
              <a:r>
                <a:rPr lang="en-US" sz="1600" b="1" i="0" u="none" strike="noStrike" cap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…</a:t>
              </a: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4971690" y="4390242"/>
              <a:ext cx="1657710" cy="942088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6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4495800" y="3664089"/>
              <a:ext cx="484718" cy="727494"/>
            </a:xfrm>
            <a:prstGeom prst="rect">
              <a:avLst/>
            </a:prstGeom>
            <a:solidFill>
              <a:srgbClr val="F2E9DD"/>
            </a:solidFill>
            <a:ln w="1905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ourier New"/>
                <a:buNone/>
              </a:pPr>
              <a:r>
                <a:rPr lang="en-US" sz="1600" b="1" i="0" u="none" strike="noStrike" cap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…</a:t>
              </a:r>
              <a:endParaRPr/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4495800" y="4387606"/>
              <a:ext cx="484718" cy="944724"/>
            </a:xfrm>
            <a:prstGeom prst="rect">
              <a:avLst/>
            </a:prstGeom>
            <a:solidFill>
              <a:srgbClr val="F2E9DD"/>
            </a:solidFill>
            <a:ln w="1905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ourier New"/>
                <a:buNone/>
              </a:pPr>
              <a:r>
                <a:rPr lang="en-US" sz="1600" b="1" i="0" u="none" strike="noStrike" cap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y</a:t>
              </a:r>
              <a:endParaRPr/>
            </a:p>
          </p:txBody>
        </p:sp>
        <p:sp>
          <p:nvSpPr>
            <p:cNvPr id="244" name="Google Shape;244;p19"/>
            <p:cNvSpPr txBox="1"/>
            <p:nvPr/>
          </p:nvSpPr>
          <p:spPr>
            <a:xfrm>
              <a:off x="4465320" y="6107668"/>
              <a:ext cx="20955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Open File Table</a:t>
              </a:r>
              <a:endParaRPr/>
            </a:p>
          </p:txBody>
        </p:sp>
        <p:sp>
          <p:nvSpPr>
            <p:cNvPr id="245" name="Google Shape;245;p19"/>
            <p:cNvSpPr/>
            <p:nvPr/>
          </p:nvSpPr>
          <p:spPr>
            <a:xfrm>
              <a:off x="4963797" y="5334966"/>
              <a:ext cx="1657710" cy="727495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ourier New"/>
                <a:buNone/>
              </a:pPr>
              <a:r>
                <a:rPr lang="en-US" sz="1600" b="1" i="0" u="none" strike="noStrike" cap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…</a:t>
              </a: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4495800" y="5334966"/>
              <a:ext cx="484718" cy="727494"/>
            </a:xfrm>
            <a:prstGeom prst="rect">
              <a:avLst/>
            </a:prstGeom>
            <a:solidFill>
              <a:srgbClr val="F2E9DD"/>
            </a:solidFill>
            <a:ln w="1905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ourier New"/>
                <a:buNone/>
              </a:pPr>
              <a:r>
                <a:rPr lang="en-US" sz="1600" b="1" i="0" u="none" strike="noStrike" cap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…</a:t>
              </a:r>
              <a:endParaRPr/>
            </a:p>
          </p:txBody>
        </p:sp>
      </p:grpSp>
      <p:sp>
        <p:nvSpPr>
          <p:cNvPr id="247" name="Google Shape;247;p19"/>
          <p:cNvSpPr/>
          <p:nvPr/>
        </p:nvSpPr>
        <p:spPr>
          <a:xfrm>
            <a:off x="2182284" y="1256405"/>
            <a:ext cx="1676400" cy="2438400"/>
          </a:xfrm>
          <a:prstGeom prst="rect">
            <a:avLst/>
          </a:prstGeom>
          <a:solidFill>
            <a:srgbClr val="FFFF99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 A PCB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8" name="Google Shape;248;p19"/>
          <p:cNvGrpSpPr/>
          <p:nvPr/>
        </p:nvGrpSpPr>
        <p:grpSpPr>
          <a:xfrm>
            <a:off x="2580702" y="1762590"/>
            <a:ext cx="1219200" cy="1923507"/>
            <a:chOff x="1974809" y="1803103"/>
            <a:chExt cx="1219200" cy="1923507"/>
          </a:xfrm>
        </p:grpSpPr>
        <p:grpSp>
          <p:nvGrpSpPr>
            <p:cNvPr id="249" name="Google Shape;249;p19"/>
            <p:cNvGrpSpPr/>
            <p:nvPr/>
          </p:nvGrpSpPr>
          <p:grpSpPr>
            <a:xfrm>
              <a:off x="2133740" y="1803103"/>
              <a:ext cx="907869" cy="1426029"/>
              <a:chOff x="3429000" y="1936569"/>
              <a:chExt cx="907869" cy="1426029"/>
            </a:xfrm>
          </p:grpSpPr>
          <p:sp>
            <p:nvSpPr>
              <p:cNvPr id="250" name="Google Shape;250;p19"/>
              <p:cNvSpPr/>
              <p:nvPr/>
            </p:nvSpPr>
            <p:spPr>
              <a:xfrm>
                <a:off x="3879669" y="1936569"/>
                <a:ext cx="457200" cy="304800"/>
              </a:xfrm>
              <a:prstGeom prst="rect">
                <a:avLst/>
              </a:prstGeom>
              <a:solidFill>
                <a:srgbClr val="BBFFBB"/>
              </a:solidFill>
              <a:ln w="1905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endParaRPr sz="1600" b="1" i="0" u="none" strike="noStrike" cap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51" name="Google Shape;251;p19"/>
              <p:cNvSpPr/>
              <p:nvPr/>
            </p:nvSpPr>
            <p:spPr>
              <a:xfrm>
                <a:off x="3429000" y="1936569"/>
                <a:ext cx="457200" cy="304800"/>
              </a:xfrm>
              <a:prstGeom prst="rect">
                <a:avLst/>
              </a:prstGeom>
              <a:solidFill>
                <a:srgbClr val="D8EAD5"/>
              </a:solidFill>
              <a:ln w="1905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ourier New"/>
                  <a:buNone/>
                </a:pPr>
                <a:r>
                  <a:rPr lang="en-US" sz="1600" b="1" i="0" u="none" strike="noStrike" cap="none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0</a:t>
                </a:r>
                <a:endParaRPr/>
              </a:p>
            </p:txBody>
          </p:sp>
          <p:sp>
            <p:nvSpPr>
              <p:cNvPr id="252" name="Google Shape;252;p19"/>
              <p:cNvSpPr/>
              <p:nvPr/>
            </p:nvSpPr>
            <p:spPr>
              <a:xfrm>
                <a:off x="3879669" y="2231571"/>
                <a:ext cx="457200" cy="304800"/>
              </a:xfrm>
              <a:prstGeom prst="rect">
                <a:avLst/>
              </a:prstGeom>
              <a:solidFill>
                <a:srgbClr val="BBFFBB"/>
              </a:solidFill>
              <a:ln w="1905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endParaRPr sz="1600" b="1" i="0" u="none" strike="noStrike" cap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53" name="Google Shape;253;p19"/>
              <p:cNvSpPr/>
              <p:nvPr/>
            </p:nvSpPr>
            <p:spPr>
              <a:xfrm>
                <a:off x="3429000" y="2231571"/>
                <a:ext cx="457200" cy="304800"/>
              </a:xfrm>
              <a:prstGeom prst="rect">
                <a:avLst/>
              </a:prstGeom>
              <a:solidFill>
                <a:srgbClr val="D8EAD5"/>
              </a:solidFill>
              <a:ln w="1905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ourier New"/>
                  <a:buNone/>
                </a:pPr>
                <a:r>
                  <a:rPr lang="en-US" sz="1600" b="1" i="0" u="none" strike="noStrike" cap="none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1</a:t>
                </a:r>
                <a:endParaRPr/>
              </a:p>
            </p:txBody>
          </p:sp>
          <p:sp>
            <p:nvSpPr>
              <p:cNvPr id="254" name="Google Shape;254;p19"/>
              <p:cNvSpPr/>
              <p:nvPr/>
            </p:nvSpPr>
            <p:spPr>
              <a:xfrm>
                <a:off x="3879669" y="2831373"/>
                <a:ext cx="457200" cy="226424"/>
              </a:xfrm>
              <a:prstGeom prst="rect">
                <a:avLst/>
              </a:prstGeom>
              <a:solidFill>
                <a:srgbClr val="BBFFBB"/>
              </a:solidFill>
              <a:ln w="1905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ourier New"/>
                  <a:buNone/>
                </a:pPr>
                <a:r>
                  <a:rPr lang="en-US" sz="1600" b="1" i="0" u="none" strike="noStrike" cap="none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…</a:t>
                </a:r>
                <a:endParaRPr/>
              </a:p>
            </p:txBody>
          </p:sp>
          <p:sp>
            <p:nvSpPr>
              <p:cNvPr id="255" name="Google Shape;255;p19"/>
              <p:cNvSpPr/>
              <p:nvPr/>
            </p:nvSpPr>
            <p:spPr>
              <a:xfrm>
                <a:off x="3429000" y="2831373"/>
                <a:ext cx="457200" cy="226424"/>
              </a:xfrm>
              <a:prstGeom prst="rect">
                <a:avLst/>
              </a:prstGeom>
              <a:solidFill>
                <a:srgbClr val="D8EAD5"/>
              </a:solidFill>
              <a:ln w="1905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ourier New"/>
                  <a:buNone/>
                </a:pPr>
                <a:r>
                  <a:rPr lang="en-US" sz="1600" b="1" i="0" u="none" strike="noStrike" cap="none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…</a:t>
                </a:r>
                <a:endParaRPr/>
              </a:p>
            </p:txBody>
          </p:sp>
          <p:sp>
            <p:nvSpPr>
              <p:cNvPr id="256" name="Google Shape;256;p19"/>
              <p:cNvSpPr/>
              <p:nvPr/>
            </p:nvSpPr>
            <p:spPr>
              <a:xfrm>
                <a:off x="3881846" y="3057798"/>
                <a:ext cx="455023" cy="304800"/>
              </a:xfrm>
              <a:prstGeom prst="rect">
                <a:avLst/>
              </a:prstGeom>
              <a:solidFill>
                <a:srgbClr val="BBFFBB"/>
              </a:solidFill>
              <a:ln w="1905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endParaRPr sz="1600" b="1" i="0" u="none" strike="noStrike" cap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57" name="Google Shape;257;p19"/>
              <p:cNvSpPr/>
              <p:nvPr/>
            </p:nvSpPr>
            <p:spPr>
              <a:xfrm>
                <a:off x="3429000" y="3057798"/>
                <a:ext cx="457200" cy="304800"/>
              </a:xfrm>
              <a:prstGeom prst="rect">
                <a:avLst/>
              </a:prstGeom>
              <a:solidFill>
                <a:srgbClr val="D8EAD5"/>
              </a:solidFill>
              <a:ln w="1905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ourier New"/>
                  <a:buNone/>
                </a:pPr>
                <a:r>
                  <a:rPr lang="en-US" sz="1600" b="1" i="0" u="none" strike="noStrike" cap="none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fd</a:t>
                </a:r>
                <a:endParaRPr sz="1600" b="1" i="0" u="none" strike="noStrike" cap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258" name="Google Shape;258;p19"/>
            <p:cNvSpPr txBox="1"/>
            <p:nvPr/>
          </p:nvSpPr>
          <p:spPr>
            <a:xfrm>
              <a:off x="1974809" y="3264945"/>
              <a:ext cx="12192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File Descriptor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Table</a:t>
              </a:r>
              <a:endParaRPr/>
            </a:p>
          </p:txBody>
        </p:sp>
      </p:grpSp>
      <p:sp>
        <p:nvSpPr>
          <p:cNvPr id="259" name="Google Shape;259;p19"/>
          <p:cNvSpPr/>
          <p:nvPr/>
        </p:nvSpPr>
        <p:spPr>
          <a:xfrm>
            <a:off x="5258239" y="1123052"/>
            <a:ext cx="1555265" cy="838200"/>
          </a:xfrm>
          <a:prstGeom prst="roundRect">
            <a:avLst>
              <a:gd name="adj" fmla="val 16667"/>
            </a:avLst>
          </a:prstGeom>
          <a:solidFill>
            <a:srgbClr val="E6D5BB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Op.Type: …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 offset: …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"File Data":</a:t>
            </a:r>
            <a:endParaRPr/>
          </a:p>
        </p:txBody>
      </p:sp>
      <p:grpSp>
        <p:nvGrpSpPr>
          <p:cNvPr id="260" name="Google Shape;260;p19"/>
          <p:cNvGrpSpPr/>
          <p:nvPr/>
        </p:nvGrpSpPr>
        <p:grpSpPr>
          <a:xfrm>
            <a:off x="2172828" y="3849450"/>
            <a:ext cx="1676400" cy="2438400"/>
            <a:chOff x="1566935" y="3889963"/>
            <a:chExt cx="1676400" cy="2438400"/>
          </a:xfrm>
        </p:grpSpPr>
        <p:sp>
          <p:nvSpPr>
            <p:cNvPr id="261" name="Google Shape;261;p19"/>
            <p:cNvSpPr/>
            <p:nvPr/>
          </p:nvSpPr>
          <p:spPr>
            <a:xfrm>
              <a:off x="1566935" y="3889963"/>
              <a:ext cx="1676400" cy="2438400"/>
            </a:xfrm>
            <a:prstGeom prst="rect">
              <a:avLst/>
            </a:prstGeom>
            <a:solidFill>
              <a:srgbClr val="FFFF99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Proc B PCB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9"/>
            <p:cNvSpPr txBox="1"/>
            <p:nvPr/>
          </p:nvSpPr>
          <p:spPr>
            <a:xfrm>
              <a:off x="1934712" y="5859650"/>
              <a:ext cx="12192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File Descriptor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Table</a:t>
              </a:r>
              <a:endParaRPr/>
            </a:p>
          </p:txBody>
        </p:sp>
        <p:grpSp>
          <p:nvGrpSpPr>
            <p:cNvPr id="263" name="Google Shape;263;p19"/>
            <p:cNvGrpSpPr/>
            <p:nvPr/>
          </p:nvGrpSpPr>
          <p:grpSpPr>
            <a:xfrm>
              <a:off x="2093643" y="4397808"/>
              <a:ext cx="907869" cy="1426029"/>
              <a:chOff x="3429000" y="1936569"/>
              <a:chExt cx="907869" cy="1426029"/>
            </a:xfrm>
          </p:grpSpPr>
          <p:sp>
            <p:nvSpPr>
              <p:cNvPr id="264" name="Google Shape;264;p19"/>
              <p:cNvSpPr/>
              <p:nvPr/>
            </p:nvSpPr>
            <p:spPr>
              <a:xfrm>
                <a:off x="3879669" y="1936569"/>
                <a:ext cx="457200" cy="304800"/>
              </a:xfrm>
              <a:prstGeom prst="rect">
                <a:avLst/>
              </a:prstGeom>
              <a:solidFill>
                <a:srgbClr val="BBFFBB"/>
              </a:solidFill>
              <a:ln w="1905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endParaRPr sz="1600" b="1" i="0" u="none" strike="noStrike" cap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65" name="Google Shape;265;p19"/>
              <p:cNvSpPr/>
              <p:nvPr/>
            </p:nvSpPr>
            <p:spPr>
              <a:xfrm>
                <a:off x="3429000" y="1936569"/>
                <a:ext cx="457200" cy="304800"/>
              </a:xfrm>
              <a:prstGeom prst="rect">
                <a:avLst/>
              </a:prstGeom>
              <a:solidFill>
                <a:srgbClr val="D8EAD5"/>
              </a:solidFill>
              <a:ln w="1905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ourier New"/>
                  <a:buNone/>
                </a:pPr>
                <a:r>
                  <a:rPr lang="en-US" sz="1600" b="1" i="0" u="none" strike="noStrike" cap="none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0</a:t>
                </a:r>
                <a:endParaRPr/>
              </a:p>
            </p:txBody>
          </p:sp>
          <p:sp>
            <p:nvSpPr>
              <p:cNvPr id="266" name="Google Shape;266;p19"/>
              <p:cNvSpPr/>
              <p:nvPr/>
            </p:nvSpPr>
            <p:spPr>
              <a:xfrm>
                <a:off x="3879669" y="2231571"/>
                <a:ext cx="457200" cy="304800"/>
              </a:xfrm>
              <a:prstGeom prst="rect">
                <a:avLst/>
              </a:prstGeom>
              <a:solidFill>
                <a:srgbClr val="BBFFBB"/>
              </a:solidFill>
              <a:ln w="1905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endParaRPr sz="1600" b="1" i="0" u="none" strike="noStrike" cap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>
                <a:off x="3429000" y="2231571"/>
                <a:ext cx="457200" cy="304800"/>
              </a:xfrm>
              <a:prstGeom prst="rect">
                <a:avLst/>
              </a:prstGeom>
              <a:solidFill>
                <a:srgbClr val="D8EAD5"/>
              </a:solidFill>
              <a:ln w="1905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ourier New"/>
                  <a:buNone/>
                </a:pPr>
                <a:r>
                  <a:rPr lang="en-US" sz="1600" b="1" i="0" u="none" strike="noStrike" cap="none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1</a:t>
                </a:r>
                <a:endParaRPr/>
              </a:p>
            </p:txBody>
          </p:sp>
          <p:sp>
            <p:nvSpPr>
              <p:cNvPr id="268" name="Google Shape;268;p19"/>
              <p:cNvSpPr/>
              <p:nvPr/>
            </p:nvSpPr>
            <p:spPr>
              <a:xfrm>
                <a:off x="3879669" y="2828076"/>
                <a:ext cx="457200" cy="229721"/>
              </a:xfrm>
              <a:prstGeom prst="rect">
                <a:avLst/>
              </a:prstGeom>
              <a:solidFill>
                <a:srgbClr val="BBFFBB"/>
              </a:solidFill>
              <a:ln w="1905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ourier New"/>
                  <a:buNone/>
                </a:pPr>
                <a:r>
                  <a:rPr lang="en-US" sz="1600" b="1" i="0" u="none" strike="noStrike" cap="none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…</a:t>
                </a:r>
                <a:endParaRPr/>
              </a:p>
            </p:txBody>
          </p:sp>
          <p:sp>
            <p:nvSpPr>
              <p:cNvPr id="269" name="Google Shape;269;p19"/>
              <p:cNvSpPr/>
              <p:nvPr/>
            </p:nvSpPr>
            <p:spPr>
              <a:xfrm>
                <a:off x="3429000" y="2828075"/>
                <a:ext cx="457200" cy="229721"/>
              </a:xfrm>
              <a:prstGeom prst="rect">
                <a:avLst/>
              </a:prstGeom>
              <a:solidFill>
                <a:srgbClr val="D8EAD5"/>
              </a:solidFill>
              <a:ln w="1905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ourier New"/>
                  <a:buNone/>
                </a:pPr>
                <a:r>
                  <a:rPr lang="en-US" sz="1600" b="1" i="0" u="none" strike="noStrike" cap="none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…</a:t>
                </a:r>
                <a:endParaRPr/>
              </a:p>
            </p:txBody>
          </p:sp>
          <p:sp>
            <p:nvSpPr>
              <p:cNvPr id="270" name="Google Shape;270;p19"/>
              <p:cNvSpPr/>
              <p:nvPr/>
            </p:nvSpPr>
            <p:spPr>
              <a:xfrm>
                <a:off x="3881846" y="3057798"/>
                <a:ext cx="455023" cy="304800"/>
              </a:xfrm>
              <a:prstGeom prst="rect">
                <a:avLst/>
              </a:prstGeom>
              <a:solidFill>
                <a:srgbClr val="BBFFBB"/>
              </a:solidFill>
              <a:ln w="1905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endParaRPr sz="1600" b="1" i="0" u="none" strike="noStrike" cap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71" name="Google Shape;271;p19"/>
              <p:cNvSpPr/>
              <p:nvPr/>
            </p:nvSpPr>
            <p:spPr>
              <a:xfrm>
                <a:off x="3429000" y="3057798"/>
                <a:ext cx="457200" cy="304800"/>
              </a:xfrm>
              <a:prstGeom prst="rect">
                <a:avLst/>
              </a:prstGeom>
              <a:solidFill>
                <a:srgbClr val="D8EAD5"/>
              </a:solidFill>
              <a:ln w="1905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ourier New"/>
                  <a:buNone/>
                </a:pPr>
                <a:r>
                  <a:rPr lang="en-US" sz="1600" b="1" i="0" u="none" strike="noStrike" cap="none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fd</a:t>
                </a:r>
                <a:endParaRPr sz="1600" b="1" i="0" u="none" strike="noStrike" cap="non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272" name="Google Shape;272;p19"/>
          <p:cNvGrpSpPr/>
          <p:nvPr/>
        </p:nvGrpSpPr>
        <p:grpSpPr>
          <a:xfrm>
            <a:off x="7022373" y="3694413"/>
            <a:ext cx="2095500" cy="2763870"/>
            <a:chOff x="7022373" y="3694413"/>
            <a:chExt cx="2095500" cy="2763870"/>
          </a:xfrm>
        </p:grpSpPr>
        <p:sp>
          <p:nvSpPr>
            <p:cNvPr id="273" name="Google Shape;273;p19"/>
            <p:cNvSpPr/>
            <p:nvPr/>
          </p:nvSpPr>
          <p:spPr>
            <a:xfrm>
              <a:off x="7529647" y="3694413"/>
              <a:ext cx="1080951" cy="1018938"/>
            </a:xfrm>
            <a:prstGeom prst="rect">
              <a:avLst/>
            </a:prstGeom>
            <a:solidFill>
              <a:srgbClr val="C2E0F2"/>
            </a:solidFill>
            <a:ln w="19050" cap="flat" cmpd="sng">
              <a:solidFill>
                <a:srgbClr val="1B587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t.in</a:t>
              </a:r>
              <a:endParaRPr/>
            </a:p>
          </p:txBody>
        </p:sp>
        <p:sp>
          <p:nvSpPr>
            <p:cNvPr id="274" name="Google Shape;274;p19"/>
            <p:cNvSpPr/>
            <p:nvPr/>
          </p:nvSpPr>
          <p:spPr>
            <a:xfrm>
              <a:off x="7529648" y="4947298"/>
              <a:ext cx="1080951" cy="1011881"/>
            </a:xfrm>
            <a:prstGeom prst="rect">
              <a:avLst/>
            </a:prstGeom>
            <a:solidFill>
              <a:srgbClr val="C2E0F2"/>
            </a:solidFill>
            <a:ln w="19050" cap="flat" cmpd="sng">
              <a:solidFill>
                <a:srgbClr val="1B587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t.out</a:t>
              </a:r>
              <a:endParaRPr sz="2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9"/>
            <p:cNvSpPr txBox="1"/>
            <p:nvPr/>
          </p:nvSpPr>
          <p:spPr>
            <a:xfrm>
              <a:off x="7022373" y="6088951"/>
              <a:ext cx="20955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"</a:t>
              </a:r>
              <a:r>
                <a:rPr lang="en-US" sz="1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Actual File</a:t>
              </a: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"</a:t>
              </a:r>
              <a:endParaRPr/>
            </a:p>
          </p:txBody>
        </p:sp>
      </p:grpSp>
      <p:cxnSp>
        <p:nvCxnSpPr>
          <p:cNvPr id="276" name="Google Shape;276;p19"/>
          <p:cNvCxnSpPr/>
          <p:nvPr/>
        </p:nvCxnSpPr>
        <p:spPr>
          <a:xfrm>
            <a:off x="1981200" y="1051476"/>
            <a:ext cx="0" cy="5285873"/>
          </a:xfrm>
          <a:prstGeom prst="straightConnector1">
            <a:avLst/>
          </a:prstGeom>
          <a:noFill/>
          <a:ln w="76200" cap="flat" cmpd="sng">
            <a:solidFill>
              <a:srgbClr val="9F293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7" name="Google Shape;277;p19"/>
          <p:cNvSpPr/>
          <p:nvPr/>
        </p:nvSpPr>
        <p:spPr>
          <a:xfrm>
            <a:off x="5249878" y="2802949"/>
            <a:ext cx="1555265" cy="838200"/>
          </a:xfrm>
          <a:prstGeom prst="roundRect">
            <a:avLst>
              <a:gd name="adj" fmla="val 16667"/>
            </a:avLst>
          </a:prstGeom>
          <a:solidFill>
            <a:srgbClr val="E6D5BB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Op.Type: Read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 offset: 1234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"File Data":</a:t>
            </a:r>
            <a:endParaRPr/>
          </a:p>
        </p:txBody>
      </p:sp>
      <p:sp>
        <p:nvSpPr>
          <p:cNvPr id="278" name="Google Shape;278;p19"/>
          <p:cNvSpPr/>
          <p:nvPr/>
        </p:nvSpPr>
        <p:spPr>
          <a:xfrm>
            <a:off x="5249878" y="4440866"/>
            <a:ext cx="1555265" cy="838200"/>
          </a:xfrm>
          <a:prstGeom prst="roundRect">
            <a:avLst>
              <a:gd name="adj" fmla="val 16667"/>
            </a:avLst>
          </a:prstGeom>
          <a:solidFill>
            <a:srgbClr val="E6D5BB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Op.Type: Write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 offset: 5678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"File Data":</a:t>
            </a:r>
            <a:endParaRPr/>
          </a:p>
        </p:txBody>
      </p:sp>
      <p:sp>
        <p:nvSpPr>
          <p:cNvPr id="279" name="Google Shape;279;p19"/>
          <p:cNvSpPr/>
          <p:nvPr/>
        </p:nvSpPr>
        <p:spPr>
          <a:xfrm>
            <a:off x="3190302" y="2349297"/>
            <a:ext cx="457200" cy="304800"/>
          </a:xfrm>
          <a:prstGeom prst="rect">
            <a:avLst/>
          </a:prstGeom>
          <a:solidFill>
            <a:srgbClr val="BBFFBB"/>
          </a:solidFill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2739633" y="2349297"/>
            <a:ext cx="457200" cy="304800"/>
          </a:xfrm>
          <a:prstGeom prst="rect">
            <a:avLst/>
          </a:prstGeom>
          <a:solidFill>
            <a:srgbClr val="D8EAD5"/>
          </a:solidFill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/>
          </a:p>
        </p:txBody>
      </p:sp>
      <p:sp>
        <p:nvSpPr>
          <p:cNvPr id="281" name="Google Shape;281;p19"/>
          <p:cNvSpPr/>
          <p:nvPr/>
        </p:nvSpPr>
        <p:spPr>
          <a:xfrm>
            <a:off x="3150205" y="4953504"/>
            <a:ext cx="457200" cy="304800"/>
          </a:xfrm>
          <a:prstGeom prst="rect">
            <a:avLst/>
          </a:prstGeom>
          <a:solidFill>
            <a:srgbClr val="BBFFBB"/>
          </a:solidFill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2699536" y="4953504"/>
            <a:ext cx="457200" cy="304800"/>
          </a:xfrm>
          <a:prstGeom prst="rect">
            <a:avLst/>
          </a:prstGeom>
          <a:solidFill>
            <a:srgbClr val="D8EAD5"/>
          </a:solidFill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/>
          </a:p>
        </p:txBody>
      </p:sp>
      <p:grpSp>
        <p:nvGrpSpPr>
          <p:cNvPr id="283" name="Google Shape;283;p19"/>
          <p:cNvGrpSpPr/>
          <p:nvPr/>
        </p:nvGrpSpPr>
        <p:grpSpPr>
          <a:xfrm>
            <a:off x="7430792" y="2259839"/>
            <a:ext cx="1278659" cy="970963"/>
            <a:chOff x="7430792" y="791628"/>
            <a:chExt cx="1278659" cy="970963"/>
          </a:xfrm>
        </p:grpSpPr>
        <p:sp>
          <p:nvSpPr>
            <p:cNvPr id="284" name="Google Shape;284;p19"/>
            <p:cNvSpPr/>
            <p:nvPr/>
          </p:nvSpPr>
          <p:spPr>
            <a:xfrm>
              <a:off x="7529647" y="962525"/>
              <a:ext cx="1080951" cy="800066"/>
            </a:xfrm>
            <a:prstGeom prst="rect">
              <a:avLst/>
            </a:prstGeom>
            <a:solidFill>
              <a:srgbClr val="C2E0F2"/>
            </a:solidFill>
            <a:ln w="19050" cap="flat" cmpd="sng">
              <a:solidFill>
                <a:srgbClr val="1B587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5" name="Google Shape;285;p19" descr="7 Fixed | Screen Innovati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430792" y="791628"/>
              <a:ext cx="1278659" cy="8524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6" name="Google Shape;286;p19"/>
          <p:cNvGrpSpPr/>
          <p:nvPr/>
        </p:nvGrpSpPr>
        <p:grpSpPr>
          <a:xfrm>
            <a:off x="7529647" y="1056371"/>
            <a:ext cx="1080951" cy="1068580"/>
            <a:chOff x="7529647" y="2160473"/>
            <a:chExt cx="1080951" cy="1068580"/>
          </a:xfrm>
        </p:grpSpPr>
        <p:sp>
          <p:nvSpPr>
            <p:cNvPr id="287" name="Google Shape;287;p19"/>
            <p:cNvSpPr/>
            <p:nvPr/>
          </p:nvSpPr>
          <p:spPr>
            <a:xfrm>
              <a:off x="7529647" y="2160473"/>
              <a:ext cx="1080951" cy="1011881"/>
            </a:xfrm>
            <a:prstGeom prst="rect">
              <a:avLst/>
            </a:prstGeom>
            <a:solidFill>
              <a:srgbClr val="C2E0F2"/>
            </a:solidFill>
            <a:ln w="19050" cap="flat" cmpd="sng">
              <a:solidFill>
                <a:srgbClr val="1B587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8" name="Google Shape;288;p19" descr="Device, keyboard icon - Download on Iconfinder on Iconfinder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591537" y="2209992"/>
              <a:ext cx="1019061" cy="101906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1087</Words>
  <Application>Microsoft Office PowerPoint</Application>
  <PresentationFormat>On-screen Show (4:3)</PresentationFormat>
  <Paragraphs>224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Consolas</vt:lpstr>
      <vt:lpstr>Courier New</vt:lpstr>
      <vt:lpstr>Times New Roman</vt:lpstr>
      <vt:lpstr>Office Theme</vt:lpstr>
      <vt:lpstr>Topic Summary</vt:lpstr>
      <vt:lpstr>Tutorial 10</vt:lpstr>
      <vt:lpstr>a. Working Set W(T,Δ)</vt:lpstr>
      <vt:lpstr>b. Usage</vt:lpstr>
      <vt:lpstr>c. Implementation</vt:lpstr>
      <vt:lpstr>Tutorial 10</vt:lpstr>
      <vt:lpstr>a. One / Two Buffered File Operations?</vt:lpstr>
      <vt:lpstr>b. That's Weird…?</vt:lpstr>
      <vt:lpstr>b. That's Weird…?</vt:lpstr>
      <vt:lpstr>b. That's Weird…?</vt:lpstr>
      <vt:lpstr>c. Implement Buffered File Reader</vt:lpstr>
      <vt:lpstr>Tutorial 10</vt:lpstr>
      <vt:lpstr>Open File Table: Overview</vt:lpstr>
      <vt:lpstr>Open File Table: a. (B write then A open)</vt:lpstr>
      <vt:lpstr>Open File Table: b. (A bogus fd)</vt:lpstr>
      <vt:lpstr>Open File Table: c. (A access B's FDTable)</vt:lpstr>
      <vt:lpstr>Open File Table: d. (A B reads from F)</vt:lpstr>
      <vt:lpstr>Open File Table: e. (A &lt; t.in &gt; t.out)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yuenjien soo</dc:creator>
  <cp:lastModifiedBy>Tan Keng Yan, Colin</cp:lastModifiedBy>
  <cp:revision>1</cp:revision>
  <dcterms:created xsi:type="dcterms:W3CDTF">2015-08-24T14:25:17Z</dcterms:created>
  <dcterms:modified xsi:type="dcterms:W3CDTF">2025-10-29T00:23:05Z</dcterms:modified>
</cp:coreProperties>
</file>