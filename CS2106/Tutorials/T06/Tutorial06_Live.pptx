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0"/>
  </p:notesMasterIdLst>
  <p:sldIdLst>
    <p:sldId id="305" r:id="rId2"/>
    <p:sldId id="291" r:id="rId3"/>
    <p:sldId id="302" r:id="rId4"/>
    <p:sldId id="303" r:id="rId5"/>
    <p:sldId id="292" r:id="rId6"/>
    <p:sldId id="304" r:id="rId7"/>
    <p:sldId id="293" r:id="rId8"/>
    <p:sldId id="294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  <a:srgbClr val="FFFFCC"/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693" autoAdjust="0"/>
    <p:restoredTop sz="96723" autoAdjust="0"/>
  </p:normalViewPr>
  <p:slideViewPr>
    <p:cSldViewPr snapToGrid="0">
      <p:cViewPr varScale="1">
        <p:scale>
          <a:sx n="105" d="100"/>
          <a:sy n="105" d="100"/>
        </p:scale>
        <p:origin x="1296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FC82B8-1A00-4CB0-BEC9-E45DC7047223}" type="datetimeFigureOut">
              <a:rPr lang="en-SG" smtClean="0"/>
              <a:t>1/3/22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E7DC49-04F9-4D79-BF53-CC5EFB031B8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72337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0BDB6E-CDAD-4C42-8943-78D52EA37214}" type="slidenum">
              <a:rPr lang="en-SG" smtClean="0"/>
              <a:t>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899577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0BDB6E-CDAD-4C42-8943-78D52EA37214}" type="slidenum">
              <a:rPr lang="en-SG" smtClean="0"/>
              <a:t>2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384968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0BDB6E-CDAD-4C42-8943-78D52EA37214}" type="slidenum">
              <a:rPr lang="en-SG" smtClean="0"/>
              <a:t>5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914867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7" name="Google Shape;29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9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0" name="Google Shape;360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14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2" name="Google Shape;392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17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B8348-1741-438D-9237-EC868475DB68}" type="datetime1">
              <a:rPr lang="en-US" smtClean="0"/>
              <a:t>3/1/22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8521-783C-4978-8BE5-F190A7289E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136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7BFD4-F293-4695-A805-07A9F2F19108}" type="datetime1">
              <a:rPr lang="en-US" smtClean="0"/>
              <a:t>3/1/22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8521-783C-4978-8BE5-F190A7289E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419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4205E-C2A8-4667-9E70-24B0277A5B96}" type="datetime1">
              <a:rPr lang="en-US" smtClean="0"/>
              <a:t>3/1/22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8521-783C-4978-8BE5-F190A7289E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294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14078-7B36-4DFC-8F39-E6EAFAA0FF8C}" type="datetime1">
              <a:rPr lang="en-US" smtClean="0"/>
              <a:t>3/1/22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8521-783C-4978-8BE5-F190A7289E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351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E5C84-E10B-4614-B00D-85502C7C2BC9}" type="datetime1">
              <a:rPr lang="en-US" smtClean="0"/>
              <a:t>3/1/22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8521-783C-4978-8BE5-F190A7289E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296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32482-86A1-4433-B866-68FEB6A9D2BC}" type="datetime1">
              <a:rPr lang="en-US" smtClean="0"/>
              <a:t>3/1/22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8521-783C-4978-8BE5-F190A7289E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992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6813C-24E3-4A54-926E-1036589BAE8B}" type="datetime1">
              <a:rPr lang="en-US" smtClean="0"/>
              <a:t>3/1/22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8521-783C-4978-8BE5-F190A7289E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065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0BB52-EC1A-4E52-80D6-22BDBFE5E2D7}" type="datetime1">
              <a:rPr lang="en-US" smtClean="0"/>
              <a:t>3/1/22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8521-783C-4978-8BE5-F190A7289E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18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4E2D1-B139-4A30-8B91-E31874FBBB0B}" type="datetime1">
              <a:rPr lang="en-US" smtClean="0"/>
              <a:t>3/1/22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8521-783C-4978-8BE5-F190A7289E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021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C2848-A9E9-4B12-AFCF-0219AF9C820D}" type="datetime1">
              <a:rPr lang="en-US" smtClean="0"/>
              <a:t>3/1/22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8521-783C-4978-8BE5-F190A7289E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80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99B3F-9BC3-471A-BB37-A1C0997DD8C3}" type="datetime1">
              <a:rPr lang="en-US" smtClean="0"/>
              <a:t>3/1/22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8521-783C-4978-8BE5-F190A7289E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004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-22051"/>
            <a:ext cx="9144000" cy="9529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930877"/>
            <a:ext cx="7886700" cy="52460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769CD7-7387-49C4-9351-86D8674E80A2}" type="datetime1">
              <a:rPr lang="en-US" smtClean="0"/>
              <a:t>3/1/22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218521-783C-4978-8BE5-F190A7289E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860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TOPIC RECAP</a:t>
            </a:r>
            <a:endParaRPr lang="en-SG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971103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6</a:t>
            </a:r>
            <a:endParaRPr lang="en-SG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Question 1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153030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 again…?</a:t>
            </a:r>
            <a:endParaRPr lang="en-SG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0266146"/>
              </p:ext>
            </p:extLst>
          </p:nvPr>
        </p:nvGraphicFramePr>
        <p:xfrm>
          <a:off x="812332" y="997543"/>
          <a:ext cx="7046973" cy="2327547"/>
        </p:xfrm>
        <a:graphic>
          <a:graphicData uri="http://schemas.openxmlformats.org/drawingml/2006/table">
            <a:tbl>
              <a:tblPr firstRow="1" firstCol="1" bandRow="1"/>
              <a:tblGrid>
                <a:gridCol w="2348991">
                  <a:extLst>
                    <a:ext uri="{9D8B030D-6E8A-4147-A177-3AD203B41FA5}">
                      <a16:colId xmlns:a16="http://schemas.microsoft.com/office/drawing/2014/main" val="3565573818"/>
                    </a:ext>
                  </a:extLst>
                </a:gridCol>
                <a:gridCol w="2348991">
                  <a:extLst>
                    <a:ext uri="{9D8B030D-6E8A-4147-A177-3AD203B41FA5}">
                      <a16:colId xmlns:a16="http://schemas.microsoft.com/office/drawing/2014/main" val="3447053297"/>
                    </a:ext>
                  </a:extLst>
                </a:gridCol>
                <a:gridCol w="2348991">
                  <a:extLst>
                    <a:ext uri="{9D8B030D-6E8A-4147-A177-3AD203B41FA5}">
                      <a16:colId xmlns:a16="http://schemas.microsoft.com/office/drawing/2014/main" val="2869692779"/>
                    </a:ext>
                  </a:extLst>
                </a:gridCol>
              </a:tblGrid>
              <a:tr h="46550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A</a:t>
                      </a:r>
                      <a:endParaRPr lang="en-SG" sz="24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B</a:t>
                      </a:r>
                      <a:endParaRPr lang="en-SG" sz="24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C</a:t>
                      </a:r>
                      <a:endParaRPr lang="en-SG" sz="24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3151724"/>
                  </a:ext>
                </a:extLst>
              </a:tr>
              <a:tr h="1862038">
                <a:tc>
                  <a:txBody>
                    <a:bodyPr/>
                    <a:lstStyle/>
                    <a:p>
                      <a:pPr marL="457200" indent="-457200" algn="ctr"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P</a:t>
                      </a: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(</a:t>
                      </a:r>
                      <a:r>
                        <a:rPr lang="en-US" sz="2400" b="1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S2</a:t>
                      </a: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);</a:t>
                      </a:r>
                      <a:endParaRPr lang="en-SG" sz="2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  <a:p>
                      <a:pPr marL="457200" indent="-457200" algn="ctr"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P</a:t>
                      </a: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(</a:t>
                      </a:r>
                      <a:r>
                        <a:rPr lang="en-US" sz="2400" b="1" dirty="0">
                          <a:solidFill>
                            <a:srgbClr val="0066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S1</a:t>
                      </a: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);</a:t>
                      </a:r>
                      <a:endParaRPr lang="en-SG" sz="2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  <a:p>
                      <a:pPr marL="457200" indent="-457200" algn="ctr"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x = x * 2;</a:t>
                      </a:r>
                      <a:endParaRPr lang="en-SG" sz="2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  <a:p>
                      <a:pPr marL="457200" indent="-457200" algn="ctr"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V</a:t>
                      </a: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(</a:t>
                      </a:r>
                      <a:r>
                        <a:rPr lang="en-US" sz="2400" b="1" kern="1200" dirty="0">
                          <a:solidFill>
                            <a:srgbClr val="0066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DengXian" panose="02010600030101010101" pitchFamily="2" charset="-122"/>
                          <a:cs typeface="+mn-cs"/>
                        </a:rPr>
                        <a:t>S1</a:t>
                      </a: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);</a:t>
                      </a:r>
                      <a:endParaRPr lang="en-SG" sz="2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P</a:t>
                      </a: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(</a:t>
                      </a:r>
                      <a:r>
                        <a:rPr lang="en-US" sz="2400" b="1" kern="1200" dirty="0">
                          <a:solidFill>
                            <a:srgbClr val="0066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DengXian" panose="02010600030101010101" pitchFamily="2" charset="-122"/>
                          <a:cs typeface="+mn-cs"/>
                        </a:rPr>
                        <a:t>S1</a:t>
                      </a: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);</a:t>
                      </a:r>
                      <a:endParaRPr lang="en-SG" sz="2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x = x * x;</a:t>
                      </a:r>
                      <a:endParaRPr lang="en-SG" sz="2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V</a:t>
                      </a: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(</a:t>
                      </a:r>
                      <a:r>
                        <a:rPr lang="en-US" sz="2400" b="1" kern="1200" dirty="0">
                          <a:solidFill>
                            <a:srgbClr val="0066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DengXian" panose="02010600030101010101" pitchFamily="2" charset="-122"/>
                          <a:cs typeface="+mn-cs"/>
                        </a:rPr>
                        <a:t>S1</a:t>
                      </a: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);</a:t>
                      </a:r>
                      <a:endParaRPr lang="en-SG" sz="2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P</a:t>
                      </a: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(</a:t>
                      </a:r>
                      <a:r>
                        <a:rPr lang="en-US" sz="2400" b="1" kern="1200" dirty="0">
                          <a:solidFill>
                            <a:srgbClr val="0066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DengXian" panose="02010600030101010101" pitchFamily="2" charset="-122"/>
                          <a:cs typeface="+mn-cs"/>
                        </a:rPr>
                        <a:t>S1</a:t>
                      </a: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);</a:t>
                      </a:r>
                      <a:endParaRPr lang="en-SG" sz="2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x = x + 3;</a:t>
                      </a:r>
                      <a:endParaRPr lang="en-SG" sz="2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V</a:t>
                      </a: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(</a:t>
                      </a:r>
                      <a:r>
                        <a:rPr lang="en-US" sz="2400" b="1" kern="120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DengXian" panose="02010600030101010101" pitchFamily="2" charset="-122"/>
                          <a:cs typeface="+mn-cs"/>
                        </a:rPr>
                        <a:t>S2</a:t>
                      </a: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);</a:t>
                      </a:r>
                      <a:endParaRPr lang="en-SG" sz="2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V</a:t>
                      </a: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(</a:t>
                      </a:r>
                      <a:r>
                        <a:rPr lang="en-US" sz="2400" b="1" kern="1200" dirty="0">
                          <a:solidFill>
                            <a:srgbClr val="0066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DengXian" panose="02010600030101010101" pitchFamily="2" charset="-122"/>
                          <a:cs typeface="+mn-cs"/>
                        </a:rPr>
                        <a:t>S1</a:t>
                      </a: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);</a:t>
                      </a:r>
                      <a:endParaRPr lang="en-SG" sz="2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3114809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6144085"/>
              </p:ext>
            </p:extLst>
          </p:nvPr>
        </p:nvGraphicFramePr>
        <p:xfrm>
          <a:off x="3161322" y="3681547"/>
          <a:ext cx="2348991" cy="2327547"/>
        </p:xfrm>
        <a:graphic>
          <a:graphicData uri="http://schemas.openxmlformats.org/drawingml/2006/table">
            <a:tbl>
              <a:tblPr firstRow="1" firstCol="1" bandRow="1"/>
              <a:tblGrid>
                <a:gridCol w="2348991">
                  <a:extLst>
                    <a:ext uri="{9D8B030D-6E8A-4147-A177-3AD203B41FA5}">
                      <a16:colId xmlns:a16="http://schemas.microsoft.com/office/drawing/2014/main" val="3565573818"/>
                    </a:ext>
                  </a:extLst>
                </a:gridCol>
              </a:tblGrid>
              <a:tr h="46550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Initialization</a:t>
                      </a:r>
                      <a:endParaRPr lang="en-SG" sz="2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3151724"/>
                  </a:ext>
                </a:extLst>
              </a:tr>
              <a:tr h="1862038">
                <a:tc>
                  <a:txBody>
                    <a:bodyPr/>
                    <a:lstStyle/>
                    <a:p>
                      <a:pPr marL="457200" indent="-457200" algn="ctr"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66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S1 </a:t>
                      </a:r>
                      <a:r>
                        <a:rPr lang="en-US" sz="2400" kern="1200" baseline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  <a:cs typeface="+mn-cs"/>
                        </a:rPr>
                        <a:t>= 1;</a:t>
                      </a:r>
                    </a:p>
                    <a:p>
                      <a:pPr marL="457200" indent="-457200" algn="ctr"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S2</a:t>
                      </a:r>
                      <a:r>
                        <a:rPr lang="en-US" sz="2400" b="0" baseline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 = 0;</a:t>
                      </a:r>
                      <a:endParaRPr lang="en-SG" sz="2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  <a:p>
                      <a:pPr marL="457200" indent="-457200" algn="ctr"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x</a:t>
                      </a:r>
                      <a:r>
                        <a:rPr lang="en-US" sz="2400" baseline="0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 = 0;</a:t>
                      </a:r>
                      <a:endParaRPr lang="en-SG" sz="2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31148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9876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B-C-A                C-B-A              C-A-B</a:t>
            </a:r>
            <a:endParaRPr lang="en-SG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5184665"/>
              </p:ext>
            </p:extLst>
          </p:nvPr>
        </p:nvGraphicFramePr>
        <p:xfrm>
          <a:off x="812332" y="997543"/>
          <a:ext cx="7046973" cy="2327547"/>
        </p:xfrm>
        <a:graphic>
          <a:graphicData uri="http://schemas.openxmlformats.org/drawingml/2006/table">
            <a:tbl>
              <a:tblPr firstRow="1" firstCol="1" bandRow="1"/>
              <a:tblGrid>
                <a:gridCol w="2348991">
                  <a:extLst>
                    <a:ext uri="{9D8B030D-6E8A-4147-A177-3AD203B41FA5}">
                      <a16:colId xmlns:a16="http://schemas.microsoft.com/office/drawing/2014/main" val="3565573818"/>
                    </a:ext>
                  </a:extLst>
                </a:gridCol>
                <a:gridCol w="2348991">
                  <a:extLst>
                    <a:ext uri="{9D8B030D-6E8A-4147-A177-3AD203B41FA5}">
                      <a16:colId xmlns:a16="http://schemas.microsoft.com/office/drawing/2014/main" val="3447053297"/>
                    </a:ext>
                  </a:extLst>
                </a:gridCol>
                <a:gridCol w="2348991">
                  <a:extLst>
                    <a:ext uri="{9D8B030D-6E8A-4147-A177-3AD203B41FA5}">
                      <a16:colId xmlns:a16="http://schemas.microsoft.com/office/drawing/2014/main" val="2869692779"/>
                    </a:ext>
                  </a:extLst>
                </a:gridCol>
              </a:tblGrid>
              <a:tr h="46550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A</a:t>
                      </a:r>
                      <a:endParaRPr lang="en-SG" sz="24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B</a:t>
                      </a:r>
                      <a:endParaRPr lang="en-SG" sz="24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C</a:t>
                      </a:r>
                      <a:endParaRPr lang="en-SG" sz="24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3151724"/>
                  </a:ext>
                </a:extLst>
              </a:tr>
              <a:tr h="1862038">
                <a:tc>
                  <a:txBody>
                    <a:bodyPr/>
                    <a:lstStyle/>
                    <a:p>
                      <a:pPr marL="457200" indent="-457200" algn="ctr"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P</a:t>
                      </a: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(</a:t>
                      </a:r>
                      <a:r>
                        <a:rPr lang="en-US" sz="2400" b="1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S2</a:t>
                      </a: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);</a:t>
                      </a:r>
                      <a:endParaRPr lang="en-SG" sz="2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  <a:p>
                      <a:pPr marL="457200" indent="-457200" algn="ctr"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P</a:t>
                      </a: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(</a:t>
                      </a:r>
                      <a:r>
                        <a:rPr lang="en-US" sz="2400" b="1" dirty="0">
                          <a:solidFill>
                            <a:srgbClr val="0066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S1</a:t>
                      </a: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);</a:t>
                      </a:r>
                      <a:endParaRPr lang="en-SG" sz="2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  <a:p>
                      <a:pPr marL="457200" indent="-457200" algn="ctr"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x = x * 2;</a:t>
                      </a:r>
                      <a:endParaRPr lang="en-SG" sz="2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  <a:p>
                      <a:pPr marL="457200" indent="-457200" algn="ctr"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V</a:t>
                      </a: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(</a:t>
                      </a:r>
                      <a:r>
                        <a:rPr lang="en-US" sz="2400" b="1" kern="1200" dirty="0">
                          <a:solidFill>
                            <a:srgbClr val="0066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DengXian" panose="02010600030101010101" pitchFamily="2" charset="-122"/>
                          <a:cs typeface="+mn-cs"/>
                        </a:rPr>
                        <a:t>S1</a:t>
                      </a: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);</a:t>
                      </a:r>
                      <a:endParaRPr lang="en-SG" sz="2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P</a:t>
                      </a: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(</a:t>
                      </a:r>
                      <a:r>
                        <a:rPr lang="en-US" sz="2400" b="1" kern="1200" dirty="0">
                          <a:solidFill>
                            <a:srgbClr val="0066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DengXian" panose="02010600030101010101" pitchFamily="2" charset="-122"/>
                          <a:cs typeface="+mn-cs"/>
                        </a:rPr>
                        <a:t>S1</a:t>
                      </a: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);</a:t>
                      </a:r>
                      <a:endParaRPr lang="en-SG" sz="2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x = x * x;</a:t>
                      </a:r>
                      <a:endParaRPr lang="en-SG" sz="2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V</a:t>
                      </a: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(</a:t>
                      </a:r>
                      <a:r>
                        <a:rPr lang="en-US" sz="2400" b="1" kern="1200" dirty="0">
                          <a:solidFill>
                            <a:srgbClr val="0066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DengXian" panose="02010600030101010101" pitchFamily="2" charset="-122"/>
                          <a:cs typeface="+mn-cs"/>
                        </a:rPr>
                        <a:t>S1</a:t>
                      </a: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);</a:t>
                      </a:r>
                      <a:endParaRPr lang="en-SG" sz="2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P</a:t>
                      </a: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(</a:t>
                      </a:r>
                      <a:r>
                        <a:rPr lang="en-US" sz="2400" b="1" kern="1200" dirty="0">
                          <a:solidFill>
                            <a:srgbClr val="0066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DengXian" panose="02010600030101010101" pitchFamily="2" charset="-122"/>
                          <a:cs typeface="+mn-cs"/>
                        </a:rPr>
                        <a:t>S1</a:t>
                      </a: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);</a:t>
                      </a:r>
                      <a:endParaRPr lang="en-SG" sz="2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x = x + 3;</a:t>
                      </a:r>
                      <a:endParaRPr lang="en-SG" sz="2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V</a:t>
                      </a: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(</a:t>
                      </a:r>
                      <a:r>
                        <a:rPr lang="en-US" sz="2400" b="1" kern="1200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DengXian" panose="02010600030101010101" pitchFamily="2" charset="-122"/>
                          <a:cs typeface="+mn-cs"/>
                        </a:rPr>
                        <a:t>S2</a:t>
                      </a: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);</a:t>
                      </a:r>
                      <a:endParaRPr lang="en-SG" sz="2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V</a:t>
                      </a: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(</a:t>
                      </a:r>
                      <a:r>
                        <a:rPr lang="en-US" sz="2400" b="1" kern="1200" dirty="0">
                          <a:solidFill>
                            <a:srgbClr val="0066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DengXian" panose="02010600030101010101" pitchFamily="2" charset="-122"/>
                          <a:cs typeface="+mn-cs"/>
                        </a:rPr>
                        <a:t>S1</a:t>
                      </a: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);</a:t>
                      </a:r>
                      <a:endParaRPr lang="en-SG" sz="2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3114809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161322" y="3681547"/>
          <a:ext cx="2348991" cy="2327547"/>
        </p:xfrm>
        <a:graphic>
          <a:graphicData uri="http://schemas.openxmlformats.org/drawingml/2006/table">
            <a:tbl>
              <a:tblPr firstRow="1" firstCol="1" bandRow="1"/>
              <a:tblGrid>
                <a:gridCol w="2348991">
                  <a:extLst>
                    <a:ext uri="{9D8B030D-6E8A-4147-A177-3AD203B41FA5}">
                      <a16:colId xmlns:a16="http://schemas.microsoft.com/office/drawing/2014/main" val="3565573818"/>
                    </a:ext>
                  </a:extLst>
                </a:gridCol>
              </a:tblGrid>
              <a:tr h="46550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Initialization</a:t>
                      </a:r>
                      <a:endParaRPr lang="en-SG" sz="2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3151724"/>
                  </a:ext>
                </a:extLst>
              </a:tr>
              <a:tr h="1862038">
                <a:tc>
                  <a:txBody>
                    <a:bodyPr/>
                    <a:lstStyle/>
                    <a:p>
                      <a:pPr marL="457200" indent="-457200" algn="ctr"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66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S1 </a:t>
                      </a:r>
                      <a:r>
                        <a:rPr lang="en-US" sz="2400" kern="1200" baseline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  <a:cs typeface="+mn-cs"/>
                        </a:rPr>
                        <a:t>= 1;</a:t>
                      </a:r>
                    </a:p>
                    <a:p>
                      <a:pPr marL="457200" indent="-457200" algn="ctr"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S2</a:t>
                      </a:r>
                      <a:r>
                        <a:rPr lang="en-US" sz="2400" b="0" baseline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 = 0;</a:t>
                      </a:r>
                      <a:endParaRPr lang="en-SG" sz="2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  <a:p>
                      <a:pPr marL="457200" indent="-457200" algn="ctr"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x</a:t>
                      </a:r>
                      <a:r>
                        <a:rPr lang="en-US" sz="2400" baseline="0" dirty="0">
                          <a:effectLst/>
                          <a:latin typeface="Consolas" panose="020B0609020204030204" pitchFamily="49" charset="0"/>
                          <a:ea typeface="DengXian" panose="02010600030101010101" pitchFamily="2" charset="-122"/>
                        </a:rPr>
                        <a:t> = 0;</a:t>
                      </a:r>
                      <a:endParaRPr lang="en-SG" sz="2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31148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03367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6</a:t>
            </a:r>
            <a:endParaRPr lang="en-SG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Question 2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2875968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6551065"/>
              </p:ext>
            </p:extLst>
          </p:nvPr>
        </p:nvGraphicFramePr>
        <p:xfrm>
          <a:off x="-1" y="2904946"/>
          <a:ext cx="9144001" cy="476410"/>
        </p:xfrm>
        <a:graphic>
          <a:graphicData uri="http://schemas.openxmlformats.org/drawingml/2006/table">
            <a:tbl>
              <a:tblPr firstRow="1" firstCol="1" bandRow="1"/>
              <a:tblGrid>
                <a:gridCol w="9144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6410"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  <a:latin typeface="Courier New"/>
                          <a:ea typeface="SimSun"/>
                        </a:rPr>
                        <a:t>Barrier( N );</a:t>
                      </a:r>
                      <a:endParaRPr lang="en-US" sz="2400" dirty="0">
                        <a:effectLst/>
                        <a:latin typeface="Courier New"/>
                        <a:ea typeface="SimSu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47068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3764368"/>
              </p:ext>
            </p:extLst>
          </p:nvPr>
        </p:nvGraphicFramePr>
        <p:xfrm>
          <a:off x="261257" y="184417"/>
          <a:ext cx="3219610" cy="476410"/>
        </p:xfrm>
        <a:graphic>
          <a:graphicData uri="http://schemas.openxmlformats.org/drawingml/2006/table">
            <a:tbl>
              <a:tblPr firstRow="1" firstCol="1" bandRow="1"/>
              <a:tblGrid>
                <a:gridCol w="3219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6410">
                <a:tc>
                  <a:txBody>
                    <a:bodyPr/>
                    <a:lstStyle/>
                    <a:p>
                      <a:pPr marL="4572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  <a:latin typeface="Courier New"/>
                          <a:ea typeface="SimSun"/>
                        </a:rPr>
                        <a:t>Barrier( N );</a:t>
                      </a:r>
                      <a:endParaRPr lang="en-US" sz="2400" dirty="0">
                        <a:effectLst/>
                        <a:latin typeface="Courier New"/>
                        <a:ea typeface="SimSu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61257" y="1052713"/>
            <a:ext cx="773013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>
              <a:latin typeface="Consolas" panose="020B0609020204030204" pitchFamily="49" charset="0"/>
            </a:endParaRPr>
          </a:p>
          <a:p>
            <a:endParaRPr lang="en-US" sz="2400" dirty="0">
              <a:latin typeface="Consolas" panose="020B0609020204030204" pitchFamily="49" charset="0"/>
            </a:endParaRPr>
          </a:p>
          <a:p>
            <a:endParaRPr lang="en-US" sz="2400" dirty="0">
              <a:latin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</a:rPr>
              <a:t>Barrier( N) {</a:t>
            </a:r>
          </a:p>
          <a:p>
            <a:endParaRPr lang="en-US" sz="2400" dirty="0">
              <a:latin typeface="Consolas" panose="020B0609020204030204" pitchFamily="49" charset="0"/>
            </a:endParaRPr>
          </a:p>
          <a:p>
            <a:endParaRPr lang="en-US" sz="2400" dirty="0">
              <a:latin typeface="Consolas" panose="020B0609020204030204" pitchFamily="49" charset="0"/>
            </a:endParaRPr>
          </a:p>
          <a:p>
            <a:endParaRPr lang="en-US" sz="2400" dirty="0">
              <a:latin typeface="Consolas" panose="020B0609020204030204" pitchFamily="49" charset="0"/>
            </a:endParaRPr>
          </a:p>
          <a:p>
            <a:endParaRPr lang="en-US" sz="2400" dirty="0">
              <a:latin typeface="Consolas" panose="020B0609020204030204" pitchFamily="49" charset="0"/>
            </a:endParaRPr>
          </a:p>
          <a:p>
            <a:endParaRPr lang="en-US" sz="2400" dirty="0">
              <a:latin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</a:rPr>
              <a:t>}</a:t>
            </a:r>
            <a:endParaRPr lang="en-SG" sz="2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69506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pic>
        <p:nvPicPr>
          <p:cNvPr id="1025" name="Picture 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55311" y="1337593"/>
            <a:ext cx="9130384" cy="441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81928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2"/>
          <p:cNvSpPr txBox="1"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6000"/>
              <a:buFont typeface="Calibri"/>
              <a:buNone/>
            </a:pPr>
            <a:r>
              <a:rPr lang="en-SG">
                <a:solidFill>
                  <a:srgbClr val="C00000"/>
                </a:solidFill>
              </a:rPr>
              <a:t>Tutorial 6</a:t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301" name="Google Shape;301;p12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SG"/>
              <a:t>Question 3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3"/>
          <p:cNvSpPr txBox="1">
            <a:spLocks noGrp="1"/>
          </p:cNvSpPr>
          <p:nvPr>
            <p:ph type="title"/>
          </p:nvPr>
        </p:nvSpPr>
        <p:spPr>
          <a:xfrm>
            <a:off x="0" y="-22051"/>
            <a:ext cx="9144000" cy="952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SG"/>
              <a:t>Welcome to StubbornVille!</a:t>
            </a:r>
            <a:endParaRPr/>
          </a:p>
        </p:txBody>
      </p:sp>
      <p:pic>
        <p:nvPicPr>
          <p:cNvPr id="307" name="Google Shape;307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96797" y="1008805"/>
            <a:ext cx="5477774" cy="2920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13" descr="C:\Users\dcssooyj\AppData\Local\Microsoft\Windows\Temporary Internet Files\Content.IE5\LV9DRA03\User[1]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5546" y="2260574"/>
            <a:ext cx="815062" cy="1198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13" descr="C:\Users\dcssooyj\AppData\Local\Microsoft\Windows\Temporary Internet Files\Content.IE5\LV9DRA03\User[1]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15041" y="2260573"/>
            <a:ext cx="815062" cy="1198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13" descr="C:\Users\dcssooyj\AppData\Local\Microsoft\Windows\Temporary Internet Files\Content.IE5\LV9DRA03\User[1]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899963" y="2260573"/>
            <a:ext cx="815062" cy="1198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13" descr="C:\Users\dcssooyj\AppData\Local\Microsoft\Windows\Temporary Internet Files\Content.IE5\LV9DRA03\User[1]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40417" y="2260573"/>
            <a:ext cx="815062" cy="1198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13" descr="C:\Users\dcssooyj\AppData\Local\Microsoft\Windows\Temporary Internet Files\Content.IE5\LV9DRA03\User[1]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980871" y="2260573"/>
            <a:ext cx="815062" cy="1198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13" descr="Angry woman - Free people icons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861106" y="930877"/>
            <a:ext cx="1092298" cy="10922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3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4"/>
          <p:cNvSpPr txBox="1">
            <a:spLocks noGrp="1"/>
          </p:cNvSpPr>
          <p:nvPr>
            <p:ph type="title"/>
          </p:nvPr>
        </p:nvSpPr>
        <p:spPr>
          <a:xfrm>
            <a:off x="0" y="-22051"/>
            <a:ext cx="9144000" cy="952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SG"/>
              <a:t>Let's be civilized v1.0</a:t>
            </a:r>
            <a:endParaRPr/>
          </a:p>
        </p:txBody>
      </p:sp>
      <p:pic>
        <p:nvPicPr>
          <p:cNvPr id="319" name="Google Shape;319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96797" y="1008805"/>
            <a:ext cx="5477774" cy="2920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14" descr="C:\Users\dcssooyj\AppData\Local\Microsoft\Windows\Temporary Internet Files\Content.IE5\LV9DRA03\User[1]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5546" y="2260574"/>
            <a:ext cx="815062" cy="1198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14" descr="C:\Users\dcssooyj\AppData\Local\Microsoft\Windows\Temporary Internet Files\Content.IE5\LV9DRA03\User[1]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15041" y="2260573"/>
            <a:ext cx="815062" cy="1198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14" descr="C:\Users\dcssooyj\AppData\Local\Microsoft\Windows\Temporary Internet Files\Content.IE5\LV9DRA03\User[1]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899963" y="2260573"/>
            <a:ext cx="815062" cy="1198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14" descr="C:\Users\dcssooyj\AppData\Local\Microsoft\Windows\Temporary Internet Files\Content.IE5\LV9DRA03\User[1]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40417" y="2260573"/>
            <a:ext cx="815062" cy="1198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14" descr="C:\Users\dcssooyj\AppData\Local\Microsoft\Windows\Temporary Internet Files\Content.IE5\LV9DRA03\User[1]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980871" y="2260573"/>
            <a:ext cx="815062" cy="119862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14"/>
          <p:cNvSpPr txBox="1"/>
          <p:nvPr/>
        </p:nvSpPr>
        <p:spPr>
          <a:xfrm>
            <a:off x="526714" y="3926131"/>
            <a:ext cx="3557907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 </a:t>
            </a:r>
            <a:r>
              <a:rPr lang="en-SG" sz="2400" b="1" i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enter_bridge</a:t>
            </a:r>
            <a:r>
              <a:rPr lang="en-SG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SG" sz="2400" b="1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sem</a:t>
            </a:r>
            <a:r>
              <a:rPr lang="en-SG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SG" sz="2400" b="1" i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wait</a:t>
            </a:r>
            <a:r>
              <a:rPr lang="en-SG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 </a:t>
            </a:r>
            <a:endParaRPr/>
          </a:p>
        </p:txBody>
      </p:sp>
      <p:sp>
        <p:nvSpPr>
          <p:cNvPr id="326" name="Google Shape;326;p14"/>
          <p:cNvSpPr txBox="1"/>
          <p:nvPr/>
        </p:nvSpPr>
        <p:spPr>
          <a:xfrm>
            <a:off x="4963740" y="3929143"/>
            <a:ext cx="3566382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 </a:t>
            </a:r>
            <a:r>
              <a:rPr lang="en-SG" sz="2400" b="1" i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exit_bridge</a:t>
            </a:r>
            <a:r>
              <a:rPr lang="en-SG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SG" sz="2400" b="1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sem</a:t>
            </a:r>
            <a:r>
              <a:rPr lang="en-SG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SG" sz="2400" b="1" i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signal</a:t>
            </a:r>
            <a:r>
              <a:rPr lang="en-SG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 </a:t>
            </a:r>
            <a:endParaRPr/>
          </a:p>
        </p:txBody>
      </p:sp>
      <p:sp>
        <p:nvSpPr>
          <p:cNvPr id="327" name="Google Shape;327;p14"/>
          <p:cNvSpPr txBox="1"/>
          <p:nvPr/>
        </p:nvSpPr>
        <p:spPr>
          <a:xfrm>
            <a:off x="2709203" y="1564337"/>
            <a:ext cx="334135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Semaphore</a:t>
            </a:r>
            <a:r>
              <a:rPr lang="en-SG" sz="2400" b="1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 sem </a:t>
            </a:r>
            <a:r>
              <a:rPr lang="en-SG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= 1;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5"/>
          <p:cNvSpPr txBox="1">
            <a:spLocks noGrp="1"/>
          </p:cNvSpPr>
          <p:nvPr>
            <p:ph type="title"/>
          </p:nvPr>
        </p:nvSpPr>
        <p:spPr>
          <a:xfrm>
            <a:off x="0" y="-22051"/>
            <a:ext cx="9144000" cy="952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SG"/>
              <a:t>Let's be civilized v2.0</a:t>
            </a:r>
            <a:endParaRPr/>
          </a:p>
        </p:txBody>
      </p:sp>
      <p:pic>
        <p:nvPicPr>
          <p:cNvPr id="333" name="Google Shape;333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96796" y="0"/>
            <a:ext cx="5477774" cy="2920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15" descr="C:\Users\dcssooyj\AppData\Local\Microsoft\Windows\Temporary Internet Files\Content.IE5\LV9DRA03\User[1]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5545" y="1251769"/>
            <a:ext cx="815062" cy="1198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15" descr="C:\Users\dcssooyj\AppData\Local\Microsoft\Windows\Temporary Internet Files\Content.IE5\LV9DRA03\User[1]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15040" y="1251768"/>
            <a:ext cx="815062" cy="1198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15" descr="C:\Users\dcssooyj\AppData\Local\Microsoft\Windows\Temporary Internet Files\Content.IE5\LV9DRA03\User[1]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899962" y="1251768"/>
            <a:ext cx="815062" cy="1198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15" descr="C:\Users\dcssooyj\AppData\Local\Microsoft\Windows\Temporary Internet Files\Content.IE5\LV9DRA03\User[1]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40416" y="1251768"/>
            <a:ext cx="815062" cy="1198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15" descr="C:\Users\dcssooyj\AppData\Local\Microsoft\Windows\Temporary Internet Files\Content.IE5\LV9DRA03\User[1]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980870" y="1251768"/>
            <a:ext cx="815062" cy="119862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15"/>
          <p:cNvSpPr txBox="1"/>
          <p:nvPr/>
        </p:nvSpPr>
        <p:spPr>
          <a:xfrm>
            <a:off x="455545" y="2702633"/>
            <a:ext cx="4010780" cy="403187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 </a:t>
            </a:r>
            <a:r>
              <a:rPr lang="en-SG" sz="2400" b="1" i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enter_bridge_LR</a:t>
            </a:r>
            <a:r>
              <a:rPr lang="en-SG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SG" sz="20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bool </a:t>
            </a:r>
            <a:r>
              <a:rPr lang="en-SG" sz="2000" b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pass</a:t>
            </a:r>
            <a:r>
              <a:rPr lang="en-SG" sz="20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= false;</a:t>
            </a:r>
            <a:endParaRPr sz="20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0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	while (!pass) {</a:t>
            </a:r>
            <a:endParaRPr sz="20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0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SG" sz="2000" b="1" i="0" u="none" strike="noStrike" cap="none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sem</a:t>
            </a:r>
            <a:r>
              <a:rPr lang="en-SG" sz="20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SG" sz="2000" b="1" i="1" u="none" strike="noStrike" cap="none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wait</a:t>
            </a:r>
            <a:r>
              <a:rPr lang="en-SG" sz="20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0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SG" sz="20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if (nCross &gt;= 0){</a:t>
            </a:r>
            <a:endParaRPr sz="20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0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SG" sz="2000" b="1" i="0" u="none" strike="noStrike" cap="none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nCross</a:t>
            </a:r>
            <a:r>
              <a:rPr lang="en-SG" sz="20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++;</a:t>
            </a:r>
            <a:endParaRPr sz="20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0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SG" sz="20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SG" sz="20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pass</a:t>
            </a:r>
            <a:r>
              <a:rPr lang="en-SG" sz="20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= true;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0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 }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0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SG" sz="2000" b="1" i="0" u="none" strike="noStrike" cap="none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sem</a:t>
            </a:r>
            <a:r>
              <a:rPr lang="en-SG" sz="20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SG" sz="2000" b="1" i="1" u="none" strike="noStrike" cap="none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signal</a:t>
            </a:r>
            <a:r>
              <a:rPr lang="en-SG" sz="20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0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0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 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0" name="Google Shape;340;p15"/>
          <p:cNvSpPr txBox="1"/>
          <p:nvPr/>
        </p:nvSpPr>
        <p:spPr>
          <a:xfrm>
            <a:off x="5001687" y="2702633"/>
            <a:ext cx="3832193" cy="2185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 </a:t>
            </a:r>
            <a:r>
              <a:rPr lang="en-SG" sz="2400" b="1" i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exit_bridge_LR</a:t>
            </a:r>
            <a:r>
              <a:rPr lang="en-SG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SG" sz="2000" b="1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sem</a:t>
            </a:r>
            <a:r>
              <a:rPr lang="en-SG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SG" sz="2000" b="1" i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wait</a:t>
            </a:r>
            <a:r>
              <a:rPr lang="en-SG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000" b="1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	nCross</a:t>
            </a:r>
            <a:r>
              <a:rPr lang="en-SG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--;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SG" sz="2000" b="1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sem</a:t>
            </a:r>
            <a:r>
              <a:rPr lang="en-SG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SG" sz="2000" b="1" i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signal</a:t>
            </a:r>
            <a:r>
              <a:rPr lang="en-SG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 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1" name="Google Shape;341;p15"/>
          <p:cNvSpPr txBox="1"/>
          <p:nvPr/>
        </p:nvSpPr>
        <p:spPr>
          <a:xfrm>
            <a:off x="2709202" y="1167522"/>
            <a:ext cx="334135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Semaphore</a:t>
            </a:r>
            <a:r>
              <a:rPr lang="en-SG" sz="2400" b="1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 sem </a:t>
            </a:r>
            <a:r>
              <a:rPr lang="en-SG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= 1;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2" name="Google Shape;342;p15"/>
          <p:cNvSpPr txBox="1"/>
          <p:nvPr/>
        </p:nvSpPr>
        <p:spPr>
          <a:xfrm>
            <a:off x="2709201" y="705857"/>
            <a:ext cx="334135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 </a:t>
            </a:r>
            <a:r>
              <a:rPr lang="en-SG" sz="2400" b="1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nCross</a:t>
            </a:r>
            <a:r>
              <a:rPr lang="en-SG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0;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6"/>
          <p:cNvSpPr txBox="1"/>
          <p:nvPr/>
        </p:nvSpPr>
        <p:spPr>
          <a:xfrm>
            <a:off x="450453" y="2702633"/>
            <a:ext cx="4010780" cy="403187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 </a:t>
            </a:r>
            <a:r>
              <a:rPr lang="en-SG" sz="2400" b="1" i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enter_bridge_LR</a:t>
            </a:r>
            <a:r>
              <a:rPr lang="en-SG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bool </a:t>
            </a:r>
            <a:r>
              <a:rPr lang="en-SG" sz="2000" b="1">
                <a:solidFill>
                  <a:srgbClr val="006600"/>
                </a:solidFill>
                <a:latin typeface="Consolas"/>
                <a:ea typeface="Consolas"/>
                <a:cs typeface="Consolas"/>
                <a:sym typeface="Consolas"/>
              </a:rPr>
              <a:t>pass</a:t>
            </a:r>
            <a:r>
              <a:rPr lang="en-SG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false;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while (!pass)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0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SG" sz="2000" b="1" i="0" u="none" strike="noStrike" cap="none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sem</a:t>
            </a:r>
            <a:r>
              <a:rPr lang="en-SG" sz="20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SG" sz="2000" b="1" i="1" u="none" strike="noStrike" cap="none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wait</a:t>
            </a:r>
            <a:r>
              <a:rPr lang="en-SG" sz="20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0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if (nCross &gt;= 0){</a:t>
            </a:r>
            <a:endParaRPr sz="20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0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	</a:t>
            </a:r>
            <a:r>
              <a:rPr lang="en-SG" sz="2000" b="1" i="0" u="none" strike="noStrike" cap="none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nCross</a:t>
            </a:r>
            <a:r>
              <a:rPr lang="en-SG" sz="20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++;</a:t>
            </a:r>
            <a:endParaRPr sz="20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0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	</a:t>
            </a:r>
            <a:r>
              <a:rPr lang="en-SG" sz="2000" b="1" i="0" u="none" strike="noStrike" cap="none">
                <a:solidFill>
                  <a:srgbClr val="006600"/>
                </a:solidFill>
                <a:latin typeface="Consolas"/>
                <a:ea typeface="Consolas"/>
                <a:cs typeface="Consolas"/>
                <a:sym typeface="Consolas"/>
              </a:rPr>
              <a:t>pass</a:t>
            </a:r>
            <a:r>
              <a:rPr lang="en-SG" sz="20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true;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0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}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0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SG" sz="2000" b="1" i="0" u="none" strike="noStrike" cap="none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sem</a:t>
            </a:r>
            <a:r>
              <a:rPr lang="en-SG" sz="20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SG" sz="2000" b="1" i="1" u="none" strike="noStrike" cap="none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signal</a:t>
            </a:r>
            <a:r>
              <a:rPr lang="en-SG" sz="20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0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0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 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8" name="Google Shape;348;p16"/>
          <p:cNvSpPr txBox="1">
            <a:spLocks noGrp="1"/>
          </p:cNvSpPr>
          <p:nvPr>
            <p:ph type="title"/>
          </p:nvPr>
        </p:nvSpPr>
        <p:spPr>
          <a:xfrm>
            <a:off x="0" y="-22051"/>
            <a:ext cx="9144000" cy="952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SG"/>
              <a:t>Let's be civilized v2.0</a:t>
            </a:r>
            <a:endParaRPr/>
          </a:p>
        </p:txBody>
      </p:sp>
      <p:pic>
        <p:nvPicPr>
          <p:cNvPr id="349" name="Google Shape;349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96796" y="0"/>
            <a:ext cx="5477774" cy="2920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16" descr="C:\Users\dcssooyj\AppData\Local\Microsoft\Windows\Temporary Internet Files\Content.IE5\LV9DRA03\User[1]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5545" y="1251769"/>
            <a:ext cx="815062" cy="1198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16" descr="C:\Users\dcssooyj\AppData\Local\Microsoft\Windows\Temporary Internet Files\Content.IE5\LV9DRA03\User[1]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15040" y="1251768"/>
            <a:ext cx="815062" cy="1198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16" descr="C:\Users\dcssooyj\AppData\Local\Microsoft\Windows\Temporary Internet Files\Content.IE5\LV9DRA03\User[1]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899962" y="1251768"/>
            <a:ext cx="815062" cy="1198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16" descr="C:\Users\dcssooyj\AppData\Local\Microsoft\Windows\Temporary Internet Files\Content.IE5\LV9DRA03\User[1]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40416" y="1251768"/>
            <a:ext cx="815062" cy="1198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16" descr="C:\Users\dcssooyj\AppData\Local\Microsoft\Windows\Temporary Internet Files\Content.IE5\LV9DRA03\User[1]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980870" y="1251768"/>
            <a:ext cx="815062" cy="119862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16"/>
          <p:cNvSpPr txBox="1"/>
          <p:nvPr/>
        </p:nvSpPr>
        <p:spPr>
          <a:xfrm>
            <a:off x="5001687" y="2702633"/>
            <a:ext cx="3832193" cy="2185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 </a:t>
            </a:r>
            <a:r>
              <a:rPr lang="en-SG" sz="2400" b="1" i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exit_bridge_LR</a:t>
            </a:r>
            <a:r>
              <a:rPr lang="en-SG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SG" sz="2000" b="1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sem</a:t>
            </a:r>
            <a:r>
              <a:rPr lang="en-SG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SG" sz="2000" b="1" i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wait</a:t>
            </a:r>
            <a:r>
              <a:rPr lang="en-SG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000" b="1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	nCross</a:t>
            </a:r>
            <a:r>
              <a:rPr lang="en-SG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--;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SG" sz="2000" b="1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sem</a:t>
            </a:r>
            <a:r>
              <a:rPr lang="en-SG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SG" sz="2000" b="1" i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signal</a:t>
            </a:r>
            <a:r>
              <a:rPr lang="en-SG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 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6" name="Google Shape;356;p16"/>
          <p:cNvSpPr txBox="1"/>
          <p:nvPr/>
        </p:nvSpPr>
        <p:spPr>
          <a:xfrm>
            <a:off x="2709202" y="1167522"/>
            <a:ext cx="334135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Semaphore</a:t>
            </a:r>
            <a:r>
              <a:rPr lang="en-SG" sz="2400" b="1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 sem </a:t>
            </a:r>
            <a:r>
              <a:rPr lang="en-SG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= 1;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7" name="Google Shape;357;p16"/>
          <p:cNvSpPr txBox="1"/>
          <p:nvPr/>
        </p:nvSpPr>
        <p:spPr>
          <a:xfrm>
            <a:off x="2709201" y="705857"/>
            <a:ext cx="334135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 </a:t>
            </a:r>
            <a:r>
              <a:rPr lang="en-SG" sz="2400" b="1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nCross</a:t>
            </a:r>
            <a:r>
              <a:rPr lang="en-SG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0;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7"/>
          <p:cNvSpPr txBox="1"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6000"/>
              <a:buFont typeface="Calibri"/>
              <a:buNone/>
            </a:pPr>
            <a:r>
              <a:rPr lang="en-SG">
                <a:solidFill>
                  <a:srgbClr val="C00000"/>
                </a:solidFill>
              </a:rPr>
              <a:t>Tutorial 6</a:t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364" name="Google Shape;364;p17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SG"/>
              <a:t>Question 4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8"/>
          <p:cNvSpPr txBox="1">
            <a:spLocks noGrp="1"/>
          </p:cNvSpPr>
          <p:nvPr>
            <p:ph type="title"/>
          </p:nvPr>
        </p:nvSpPr>
        <p:spPr>
          <a:xfrm>
            <a:off x="-16933" y="0"/>
            <a:ext cx="9083295" cy="771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SG"/>
              <a:t>General Semaphore: </a:t>
            </a:r>
            <a:r>
              <a:rPr lang="en-SG" b="1"/>
              <a:t>Is it wrong?</a:t>
            </a:r>
            <a:endParaRPr b="1"/>
          </a:p>
        </p:txBody>
      </p:sp>
      <p:pic>
        <p:nvPicPr>
          <p:cNvPr id="370" name="Google Shape;370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609600" y="1544128"/>
            <a:ext cx="9498261" cy="4572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1" name="Google Shape;371;p18"/>
          <p:cNvGrpSpPr/>
          <p:nvPr/>
        </p:nvGrpSpPr>
        <p:grpSpPr>
          <a:xfrm>
            <a:off x="6003985" y="771726"/>
            <a:ext cx="2884676" cy="962183"/>
            <a:chOff x="4191000" y="3425284"/>
            <a:chExt cx="3579223" cy="1379217"/>
          </a:xfrm>
        </p:grpSpPr>
        <p:sp>
          <p:nvSpPr>
            <p:cNvPr id="372" name="Google Shape;372;p18"/>
            <p:cNvSpPr/>
            <p:nvPr/>
          </p:nvSpPr>
          <p:spPr>
            <a:xfrm>
              <a:off x="4191000" y="3585301"/>
              <a:ext cx="3505200" cy="1219200"/>
            </a:xfrm>
            <a:prstGeom prst="roundRect">
              <a:avLst>
                <a:gd name="adj" fmla="val 16667"/>
              </a:avLst>
            </a:prstGeom>
            <a:solidFill>
              <a:srgbClr val="F2F2F2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" name="Google Shape;373;p18"/>
            <p:cNvSpPr/>
            <p:nvPr/>
          </p:nvSpPr>
          <p:spPr>
            <a:xfrm>
              <a:off x="6170023" y="3425284"/>
              <a:ext cx="1600200" cy="369887"/>
            </a:xfrm>
            <a:prstGeom prst="rect">
              <a:avLst/>
            </a:prstGeom>
            <a:solidFill>
              <a:srgbClr val="FFCC99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SG" sz="18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Semaphore S</a:t>
              </a:r>
              <a:endParaRPr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" name="Google Shape;374;p18"/>
            <p:cNvSpPr/>
            <p:nvPr/>
          </p:nvSpPr>
          <p:spPr>
            <a:xfrm>
              <a:off x="4343400" y="3886200"/>
              <a:ext cx="838200" cy="762000"/>
            </a:xfrm>
            <a:prstGeom prst="rect">
              <a:avLst/>
            </a:prstGeom>
            <a:solidFill>
              <a:srgbClr val="C5F5E8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" name="Google Shape;375;p18"/>
            <p:cNvSpPr/>
            <p:nvPr/>
          </p:nvSpPr>
          <p:spPr>
            <a:xfrm>
              <a:off x="5181600" y="4572000"/>
              <a:ext cx="2133600" cy="76200"/>
            </a:xfrm>
            <a:prstGeom prst="rect">
              <a:avLst/>
            </a:prstGeom>
            <a:solidFill>
              <a:srgbClr val="800000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6" name="Google Shape;376;p18"/>
          <p:cNvGrpSpPr/>
          <p:nvPr/>
        </p:nvGrpSpPr>
        <p:grpSpPr>
          <a:xfrm>
            <a:off x="3242136" y="5501379"/>
            <a:ext cx="2884675" cy="962183"/>
            <a:chOff x="4191000" y="3425284"/>
            <a:chExt cx="3579222" cy="1379217"/>
          </a:xfrm>
        </p:grpSpPr>
        <p:sp>
          <p:nvSpPr>
            <p:cNvPr id="377" name="Google Shape;377;p18"/>
            <p:cNvSpPr/>
            <p:nvPr/>
          </p:nvSpPr>
          <p:spPr>
            <a:xfrm>
              <a:off x="4191000" y="3585301"/>
              <a:ext cx="3505200" cy="1219200"/>
            </a:xfrm>
            <a:prstGeom prst="roundRect">
              <a:avLst>
                <a:gd name="adj" fmla="val 16667"/>
              </a:avLst>
            </a:prstGeom>
            <a:solidFill>
              <a:srgbClr val="F2F2F2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" name="Google Shape;378;p18"/>
            <p:cNvSpPr/>
            <p:nvPr/>
          </p:nvSpPr>
          <p:spPr>
            <a:xfrm>
              <a:off x="6600997" y="3425284"/>
              <a:ext cx="1169225" cy="369887"/>
            </a:xfrm>
            <a:prstGeom prst="rect">
              <a:avLst/>
            </a:prstGeom>
            <a:solidFill>
              <a:srgbClr val="FFCC99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SG" sz="18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queue</a:t>
              </a:r>
              <a:endParaRPr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" name="Google Shape;379;p18"/>
            <p:cNvSpPr/>
            <p:nvPr/>
          </p:nvSpPr>
          <p:spPr>
            <a:xfrm>
              <a:off x="4343400" y="3886200"/>
              <a:ext cx="838200" cy="762000"/>
            </a:xfrm>
            <a:prstGeom prst="rect">
              <a:avLst/>
            </a:prstGeom>
            <a:solidFill>
              <a:srgbClr val="C5F5E8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" name="Google Shape;380;p18"/>
            <p:cNvSpPr/>
            <p:nvPr/>
          </p:nvSpPr>
          <p:spPr>
            <a:xfrm>
              <a:off x="5181600" y="4572000"/>
              <a:ext cx="2133600" cy="76200"/>
            </a:xfrm>
            <a:prstGeom prst="rect">
              <a:avLst/>
            </a:prstGeom>
            <a:solidFill>
              <a:srgbClr val="800000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1" name="Google Shape;381;p18"/>
          <p:cNvGrpSpPr/>
          <p:nvPr/>
        </p:nvGrpSpPr>
        <p:grpSpPr>
          <a:xfrm>
            <a:off x="1129644" y="5896560"/>
            <a:ext cx="1708781" cy="457961"/>
            <a:chOff x="6856122" y="3196388"/>
            <a:chExt cx="1708781" cy="457961"/>
          </a:xfrm>
        </p:grpSpPr>
        <p:sp>
          <p:nvSpPr>
            <p:cNvPr id="382" name="Google Shape;382;p18"/>
            <p:cNvSpPr/>
            <p:nvPr/>
          </p:nvSpPr>
          <p:spPr>
            <a:xfrm>
              <a:off x="7502471" y="3196388"/>
              <a:ext cx="1062432" cy="457200"/>
            </a:xfrm>
            <a:prstGeom prst="rect">
              <a:avLst/>
            </a:prstGeom>
            <a:solidFill>
              <a:srgbClr val="FCEAD0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228600" rIns="0" bIns="2286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" name="Google Shape;383;p18"/>
            <p:cNvSpPr/>
            <p:nvPr/>
          </p:nvSpPr>
          <p:spPr>
            <a:xfrm>
              <a:off x="6856122" y="3197149"/>
              <a:ext cx="376686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228600" rIns="0" bIns="2286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SG" sz="2000" b="1">
                  <a:solidFill>
                    <a:srgbClr val="660066"/>
                  </a:solidFill>
                  <a:latin typeface="Consolas"/>
                  <a:ea typeface="Consolas"/>
                  <a:cs typeface="Consolas"/>
                  <a:sym typeface="Consolas"/>
                </a:rPr>
                <a:t>count</a:t>
              </a:r>
              <a:endParaRPr sz="2000" b="1">
                <a:solidFill>
                  <a:srgbClr val="660066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802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SG"/>
              <a:t>General Semaphore: </a:t>
            </a:r>
            <a:r>
              <a:rPr lang="en-SG" b="1"/>
              <a:t>Fixing the bug</a:t>
            </a:r>
            <a:endParaRPr/>
          </a:p>
        </p:txBody>
      </p:sp>
      <p:pic>
        <p:nvPicPr>
          <p:cNvPr id="389" name="Google Shape;389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609601" y="1537270"/>
            <a:ext cx="9542640" cy="42941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0"/>
          <p:cNvSpPr txBox="1"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6000"/>
              <a:buFont typeface="Calibri"/>
              <a:buNone/>
            </a:pPr>
            <a:r>
              <a:rPr lang="en-SG">
                <a:solidFill>
                  <a:srgbClr val="C00000"/>
                </a:solidFill>
              </a:rPr>
              <a:t>Tutorial 6</a:t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396" name="Google Shape;396;p20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SG"/>
              <a:t>Question 5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824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SG"/>
              <a:t>Right Handed Dining Philosophers</a:t>
            </a:r>
            <a:endParaRPr/>
          </a:p>
        </p:txBody>
      </p:sp>
      <p:sp>
        <p:nvSpPr>
          <p:cNvPr id="402" name="Google Shape;402;p21"/>
          <p:cNvSpPr txBox="1"/>
          <p:nvPr/>
        </p:nvSpPr>
        <p:spPr>
          <a:xfrm>
            <a:off x="304088" y="843353"/>
            <a:ext cx="3810712" cy="2751522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rgbClr val="7D4F0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40"/>
              <a:buFont typeface="Noto Sans Symbols"/>
              <a:buNone/>
            </a:pPr>
            <a:r>
              <a:rPr lang="en-SG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while (TRUE){</a:t>
            </a:r>
            <a:endParaRPr/>
          </a:p>
          <a:p>
            <a:pPr marL="0" marR="0" lvl="0" indent="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040"/>
              <a:buFont typeface="Noto Sans Symbols"/>
              <a:buNone/>
            </a:pPr>
            <a:r>
              <a:rPr lang="en-SG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SG" sz="1600" b="1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Think( );</a:t>
            </a:r>
            <a:endParaRPr/>
          </a:p>
          <a:p>
            <a:pPr marL="0" marR="0" lvl="0" indent="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040"/>
              <a:buFont typeface="Noto Sans Symbols"/>
              <a:buNone/>
            </a:pPr>
            <a:r>
              <a:rPr lang="en-SG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//hungry, need food!</a:t>
            </a:r>
            <a:endParaRPr/>
          </a:p>
          <a:p>
            <a:pPr marL="0" marR="0" lvl="0" indent="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040"/>
              <a:buFont typeface="Noto Sans Symbols"/>
              <a:buNone/>
            </a:pPr>
            <a:r>
              <a:rPr lang="en-SG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SG" sz="1600" b="1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takeChpStck( LEFT );</a:t>
            </a:r>
            <a:endParaRPr/>
          </a:p>
          <a:p>
            <a:pPr marL="0" marR="0" lvl="0" indent="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040"/>
              <a:buFont typeface="Noto Sans Symbols"/>
              <a:buNone/>
            </a:pPr>
            <a:r>
              <a:rPr lang="en-SG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SG" sz="1600" b="1">
                <a:solidFill>
                  <a:srgbClr val="9900CC"/>
                </a:solidFill>
                <a:latin typeface="Courier New"/>
                <a:ea typeface="Courier New"/>
                <a:cs typeface="Courier New"/>
                <a:sym typeface="Courier New"/>
              </a:rPr>
              <a:t>takeChpStck( RIGHT );</a:t>
            </a:r>
            <a:endParaRPr/>
          </a:p>
          <a:p>
            <a:pPr marL="0" marR="0" lvl="0" indent="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040"/>
              <a:buFont typeface="Noto Sans Symbols"/>
              <a:buNone/>
            </a:pPr>
            <a:endParaRPr sz="1600" b="1">
              <a:solidFill>
                <a:srgbClr val="9900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040"/>
              <a:buFont typeface="Noto Sans Symbols"/>
              <a:buNone/>
            </a:pPr>
            <a:r>
              <a:rPr lang="en-SG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SG" sz="1600" b="1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Eat( );</a:t>
            </a:r>
            <a:endParaRPr/>
          </a:p>
          <a:p>
            <a:pPr marL="0" marR="0" lvl="0" indent="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040"/>
              <a:buFont typeface="Noto Sans Symbols"/>
              <a:buNone/>
            </a:pPr>
            <a:endParaRPr sz="1600" b="1">
              <a:solidFill>
                <a:srgbClr val="008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040"/>
              <a:buFont typeface="Noto Sans Symbols"/>
              <a:buNone/>
            </a:pPr>
            <a:r>
              <a:rPr lang="en-SG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SG" sz="1600" b="1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putChpStck( LEFT );</a:t>
            </a:r>
            <a:endParaRPr/>
          </a:p>
          <a:p>
            <a:pPr marL="0" marR="0" lvl="0" indent="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040"/>
              <a:buFont typeface="Noto Sans Symbols"/>
              <a:buNone/>
            </a:pPr>
            <a:r>
              <a:rPr lang="en-SG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SG" sz="1600" b="1">
                <a:solidFill>
                  <a:srgbClr val="9900CC"/>
                </a:solidFill>
                <a:latin typeface="Courier New"/>
                <a:ea typeface="Courier New"/>
                <a:cs typeface="Courier New"/>
                <a:sym typeface="Courier New"/>
              </a:rPr>
              <a:t>putChpStck( RIGHT );</a:t>
            </a:r>
            <a:endParaRPr/>
          </a:p>
          <a:p>
            <a:pPr marL="0" marR="0" lvl="0" indent="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040"/>
              <a:buFont typeface="Noto Sans Symbols"/>
              <a:buNone/>
            </a:pPr>
            <a:r>
              <a:rPr lang="en-SG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6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403" name="Google Shape;403;p21"/>
          <p:cNvGrpSpPr/>
          <p:nvPr/>
        </p:nvGrpSpPr>
        <p:grpSpPr>
          <a:xfrm>
            <a:off x="2959234" y="4005161"/>
            <a:ext cx="3048000" cy="2362200"/>
            <a:chOff x="1776" y="624"/>
            <a:chExt cx="1920" cy="1488"/>
          </a:xfrm>
        </p:grpSpPr>
        <p:sp>
          <p:nvSpPr>
            <p:cNvPr id="404" name="Google Shape;404;p21"/>
            <p:cNvSpPr/>
            <p:nvPr/>
          </p:nvSpPr>
          <p:spPr>
            <a:xfrm>
              <a:off x="2496" y="624"/>
              <a:ext cx="480" cy="384"/>
            </a:xfrm>
            <a:prstGeom prst="smileyFace">
              <a:avLst>
                <a:gd name="adj" fmla="val 4653"/>
              </a:avLst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" name="Google Shape;405;p21"/>
            <p:cNvSpPr/>
            <p:nvPr/>
          </p:nvSpPr>
          <p:spPr>
            <a:xfrm>
              <a:off x="1776" y="1056"/>
              <a:ext cx="480" cy="384"/>
            </a:xfrm>
            <a:prstGeom prst="smileyFace">
              <a:avLst>
                <a:gd name="adj" fmla="val 4653"/>
              </a:avLst>
            </a:prstGeom>
            <a:solidFill>
              <a:srgbClr val="FFFFCC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" name="Google Shape;406;p21"/>
            <p:cNvSpPr/>
            <p:nvPr/>
          </p:nvSpPr>
          <p:spPr>
            <a:xfrm>
              <a:off x="3216" y="1056"/>
              <a:ext cx="480" cy="384"/>
            </a:xfrm>
            <a:prstGeom prst="smileyFace">
              <a:avLst>
                <a:gd name="adj" fmla="val 4653"/>
              </a:avLst>
            </a:prstGeom>
            <a:solidFill>
              <a:srgbClr val="FFFFCC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" name="Google Shape;407;p21"/>
            <p:cNvSpPr/>
            <p:nvPr/>
          </p:nvSpPr>
          <p:spPr>
            <a:xfrm>
              <a:off x="2016" y="1680"/>
              <a:ext cx="480" cy="384"/>
            </a:xfrm>
            <a:prstGeom prst="smileyFace">
              <a:avLst>
                <a:gd name="adj" fmla="val 4653"/>
              </a:avLst>
            </a:prstGeom>
            <a:solidFill>
              <a:srgbClr val="FFFFCC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" name="Google Shape;408;p21"/>
            <p:cNvSpPr/>
            <p:nvPr/>
          </p:nvSpPr>
          <p:spPr>
            <a:xfrm>
              <a:off x="2976" y="1680"/>
              <a:ext cx="480" cy="384"/>
            </a:xfrm>
            <a:prstGeom prst="smileyFace">
              <a:avLst>
                <a:gd name="adj" fmla="val 4653"/>
              </a:avLst>
            </a:prstGeom>
            <a:solidFill>
              <a:srgbClr val="FFFFCC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09" name="Google Shape;409;p21"/>
            <p:cNvGrpSpPr/>
            <p:nvPr/>
          </p:nvGrpSpPr>
          <p:grpSpPr>
            <a:xfrm>
              <a:off x="1871" y="740"/>
              <a:ext cx="1729" cy="1372"/>
              <a:chOff x="1871" y="740"/>
              <a:chExt cx="1729" cy="1372"/>
            </a:xfrm>
          </p:grpSpPr>
          <p:sp>
            <p:nvSpPr>
              <p:cNvPr id="410" name="Google Shape;410;p21"/>
              <p:cNvSpPr/>
              <p:nvPr/>
            </p:nvSpPr>
            <p:spPr>
              <a:xfrm rot="1800000">
                <a:off x="3072" y="720"/>
                <a:ext cx="48" cy="480"/>
              </a:xfrm>
              <a:prstGeom prst="cube">
                <a:avLst>
                  <a:gd name="adj" fmla="val 25000"/>
                </a:avLst>
              </a:prstGeom>
              <a:solidFill>
                <a:srgbClr val="993300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1" name="Google Shape;411;p21"/>
              <p:cNvSpPr/>
              <p:nvPr/>
            </p:nvSpPr>
            <p:spPr>
              <a:xfrm>
                <a:off x="2736" y="1632"/>
                <a:ext cx="48" cy="480"/>
              </a:xfrm>
              <a:prstGeom prst="cube">
                <a:avLst>
                  <a:gd name="adj" fmla="val 25000"/>
                </a:avLst>
              </a:prstGeom>
              <a:solidFill>
                <a:srgbClr val="993300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2" name="Google Shape;412;p21"/>
              <p:cNvSpPr/>
              <p:nvPr/>
            </p:nvSpPr>
            <p:spPr>
              <a:xfrm rot="-2100000">
                <a:off x="2352" y="768"/>
                <a:ext cx="48" cy="480"/>
              </a:xfrm>
              <a:prstGeom prst="cube">
                <a:avLst>
                  <a:gd name="adj" fmla="val 25000"/>
                </a:avLst>
              </a:prstGeom>
              <a:solidFill>
                <a:srgbClr val="993300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3" name="Google Shape;413;p21"/>
              <p:cNvSpPr/>
              <p:nvPr/>
            </p:nvSpPr>
            <p:spPr>
              <a:xfrm rot="4800000">
                <a:off x="2088" y="1320"/>
                <a:ext cx="48" cy="480"/>
              </a:xfrm>
              <a:prstGeom prst="cube">
                <a:avLst>
                  <a:gd name="adj" fmla="val 25000"/>
                </a:avLst>
              </a:prstGeom>
              <a:solidFill>
                <a:srgbClr val="993300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4" name="Google Shape;414;p21"/>
              <p:cNvSpPr/>
              <p:nvPr/>
            </p:nvSpPr>
            <p:spPr>
              <a:xfrm rot="-4800000">
                <a:off x="3336" y="1320"/>
                <a:ext cx="48" cy="480"/>
              </a:xfrm>
              <a:prstGeom prst="cube">
                <a:avLst>
                  <a:gd name="adj" fmla="val 25000"/>
                </a:avLst>
              </a:prstGeom>
              <a:solidFill>
                <a:srgbClr val="993300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15" name="Google Shape;415;p21"/>
          <p:cNvSpPr txBox="1"/>
          <p:nvPr/>
        </p:nvSpPr>
        <p:spPr>
          <a:xfrm>
            <a:off x="4876800" y="838200"/>
            <a:ext cx="4037166" cy="2751522"/>
          </a:xfrm>
          <a:prstGeom prst="rect">
            <a:avLst/>
          </a:prstGeom>
          <a:solidFill>
            <a:srgbClr val="F8D6C7"/>
          </a:solidFill>
          <a:ln w="9525" cap="flat" cmpd="sng">
            <a:solidFill>
              <a:srgbClr val="7D4F0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40"/>
              <a:buFont typeface="Noto Sans Symbols"/>
              <a:buNone/>
            </a:pPr>
            <a:r>
              <a:rPr lang="en-SG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while (TRUE){</a:t>
            </a:r>
            <a:endParaRPr/>
          </a:p>
          <a:p>
            <a:pPr marL="0" marR="0" lvl="0" indent="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040"/>
              <a:buFont typeface="Noto Sans Symbols"/>
              <a:buNone/>
            </a:pPr>
            <a:r>
              <a:rPr lang="en-SG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SG" sz="1600" b="1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Think( );</a:t>
            </a:r>
            <a:endParaRPr/>
          </a:p>
          <a:p>
            <a:pPr marL="0" marR="0" lvl="0" indent="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040"/>
              <a:buFont typeface="Noto Sans Symbols"/>
              <a:buNone/>
            </a:pPr>
            <a:r>
              <a:rPr lang="en-SG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//hungry, need food!</a:t>
            </a:r>
            <a:endParaRPr/>
          </a:p>
          <a:p>
            <a:pPr marL="0" marR="0" lvl="0" indent="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040"/>
              <a:buFont typeface="Noto Sans Symbols"/>
              <a:buNone/>
            </a:pPr>
            <a:r>
              <a:rPr lang="en-SG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SG" sz="1600" b="1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takeChpStck( </a:t>
            </a:r>
            <a:r>
              <a:rPr lang="en-SG" sz="1600" b="1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RIGHT</a:t>
            </a:r>
            <a:r>
              <a:rPr lang="en-SG" sz="1600" b="1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);</a:t>
            </a:r>
            <a:endParaRPr/>
          </a:p>
          <a:p>
            <a:pPr marL="0" marR="0" lvl="0" indent="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040"/>
              <a:buFont typeface="Noto Sans Symbols"/>
              <a:buNone/>
            </a:pPr>
            <a:r>
              <a:rPr lang="en-SG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SG" sz="1600" b="1">
                <a:solidFill>
                  <a:srgbClr val="9900CC"/>
                </a:solidFill>
                <a:latin typeface="Courier New"/>
                <a:ea typeface="Courier New"/>
                <a:cs typeface="Courier New"/>
                <a:sym typeface="Courier New"/>
              </a:rPr>
              <a:t>takeChpStck( </a:t>
            </a:r>
            <a:r>
              <a:rPr lang="en-SG" sz="1600" b="1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LEFT</a:t>
            </a:r>
            <a:r>
              <a:rPr lang="en-SG" sz="1600" b="1">
                <a:solidFill>
                  <a:srgbClr val="9900CC"/>
                </a:solidFill>
                <a:latin typeface="Courier New"/>
                <a:ea typeface="Courier New"/>
                <a:cs typeface="Courier New"/>
                <a:sym typeface="Courier New"/>
              </a:rPr>
              <a:t> );</a:t>
            </a:r>
            <a:endParaRPr sz="1600" b="1">
              <a:solidFill>
                <a:srgbClr val="9900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040"/>
              <a:buFont typeface="Noto Sans Symbols"/>
              <a:buNone/>
            </a:pPr>
            <a:endParaRPr sz="1600" b="1">
              <a:solidFill>
                <a:srgbClr val="9900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040"/>
              <a:buFont typeface="Noto Sans Symbols"/>
              <a:buNone/>
            </a:pPr>
            <a:r>
              <a:rPr lang="en-SG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SG" sz="1600" b="1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Eat( );</a:t>
            </a:r>
            <a:endParaRPr/>
          </a:p>
          <a:p>
            <a:pPr marL="0" marR="0" lvl="0" indent="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040"/>
              <a:buFont typeface="Noto Sans Symbols"/>
              <a:buNone/>
            </a:pPr>
            <a:endParaRPr sz="1600" b="1">
              <a:solidFill>
                <a:srgbClr val="008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040"/>
              <a:buFont typeface="Noto Sans Symbols"/>
              <a:buNone/>
            </a:pPr>
            <a:r>
              <a:rPr lang="en-SG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SG" sz="1600" b="1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putChpStck( </a:t>
            </a:r>
            <a:r>
              <a:rPr lang="en-SG" sz="1600" b="1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RIGHT</a:t>
            </a:r>
            <a:r>
              <a:rPr lang="en-SG" sz="1600" b="1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);</a:t>
            </a:r>
            <a:endParaRPr/>
          </a:p>
          <a:p>
            <a:pPr marL="0" marR="0" lvl="0" indent="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040"/>
              <a:buFont typeface="Noto Sans Symbols"/>
              <a:buNone/>
            </a:pPr>
            <a:r>
              <a:rPr lang="en-SG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SG" sz="1600" b="1">
                <a:solidFill>
                  <a:srgbClr val="9900CC"/>
                </a:solidFill>
                <a:latin typeface="Courier New"/>
                <a:ea typeface="Courier New"/>
                <a:cs typeface="Courier New"/>
                <a:sym typeface="Courier New"/>
              </a:rPr>
              <a:t>putChpStck( </a:t>
            </a:r>
            <a:r>
              <a:rPr lang="en-SG" sz="1600" b="1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LEFT</a:t>
            </a:r>
            <a:r>
              <a:rPr lang="en-SG" sz="1600" b="1">
                <a:solidFill>
                  <a:srgbClr val="9900CC"/>
                </a:solidFill>
                <a:latin typeface="Courier New"/>
                <a:ea typeface="Courier New"/>
                <a:cs typeface="Courier New"/>
                <a:sym typeface="Courier New"/>
              </a:rPr>
              <a:t> );</a:t>
            </a:r>
            <a:endParaRPr/>
          </a:p>
          <a:p>
            <a:pPr marL="0" marR="0" lvl="0" indent="0" algn="l" rtl="0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040"/>
              <a:buFont typeface="Noto Sans Symbols"/>
              <a:buNone/>
            </a:pPr>
            <a:r>
              <a:rPr lang="en-SG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6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16" name="Google Shape;416;p21"/>
          <p:cNvSpPr/>
          <p:nvPr/>
        </p:nvSpPr>
        <p:spPr>
          <a:xfrm>
            <a:off x="4102234" y="4005161"/>
            <a:ext cx="762000" cy="609600"/>
          </a:xfrm>
          <a:prstGeom prst="smileyFace">
            <a:avLst>
              <a:gd name="adj" fmla="val 4653"/>
            </a:avLst>
          </a:prstGeom>
          <a:solidFill>
            <a:srgbClr val="F8D6C7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434</TotalTime>
  <Words>491</Words>
  <Application>Microsoft Macintosh PowerPoint</Application>
  <PresentationFormat>On-screen Show (4:3)</PresentationFormat>
  <Paragraphs>148</Paragraphs>
  <Slides>18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Noto Sans Symbols</vt:lpstr>
      <vt:lpstr>Arial</vt:lpstr>
      <vt:lpstr>Calibri</vt:lpstr>
      <vt:lpstr>Calibri Light</vt:lpstr>
      <vt:lpstr>Consolas</vt:lpstr>
      <vt:lpstr>Courier New</vt:lpstr>
      <vt:lpstr>Times New Roman</vt:lpstr>
      <vt:lpstr>Office Theme</vt:lpstr>
      <vt:lpstr>TOPIC RECAP</vt:lpstr>
      <vt:lpstr>Tutorial 6</vt:lpstr>
      <vt:lpstr>Not again…?</vt:lpstr>
      <vt:lpstr>B-C-A                C-B-A              C-A-B</vt:lpstr>
      <vt:lpstr>Tutorial 6</vt:lpstr>
      <vt:lpstr>PowerPoint Presentation</vt:lpstr>
      <vt:lpstr>PowerPoint Presentation</vt:lpstr>
      <vt:lpstr>PowerPoint Presentation</vt:lpstr>
      <vt:lpstr>Tutorial 6</vt:lpstr>
      <vt:lpstr>Welcome to StubbornVille!</vt:lpstr>
      <vt:lpstr>Let's be civilized v1.0</vt:lpstr>
      <vt:lpstr>Let's be civilized v2.0</vt:lpstr>
      <vt:lpstr>Let's be civilized v2.0</vt:lpstr>
      <vt:lpstr>Tutorial 6</vt:lpstr>
      <vt:lpstr>General Semaphore: Is it wrong?</vt:lpstr>
      <vt:lpstr>General Semaphore: Fixing the bug</vt:lpstr>
      <vt:lpstr>Tutorial 6</vt:lpstr>
      <vt:lpstr>Right Handed Dining Philosophers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yuenjien soo</dc:creator>
  <cp:lastModifiedBy>Tan Keng Yan, Colin</cp:lastModifiedBy>
  <cp:revision>58</cp:revision>
  <dcterms:created xsi:type="dcterms:W3CDTF">2015-08-24T14:25:17Z</dcterms:created>
  <dcterms:modified xsi:type="dcterms:W3CDTF">2022-03-01T13:26:00Z</dcterms:modified>
</cp:coreProperties>
</file>